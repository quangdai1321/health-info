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giây ]  Trang tiêu đề
Kính chào quý vị. Tôi là Võ Hoàng Khang, Trường Đại học Công nghệ TP.HCM.
Bài trình bày hôm nay nói về một hệ thống giúp bệnh nhân hiểu kết quả xét nghiệm máu của mình. Điểm khác biệt nằm ở chỗ: trong hệ thống này, AI không được phép tự quyết định một chỉ số là bất thường hay không.
--- Nhấn mạnh ---
&gt; Nói ngay ý chính ở câu thứ hai — đừng để đến giữa bài mới 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giây ]  Nội dung trình bày
Tôi sẽ đi qua sáu phần: vấn đề, nguy cơ, cách làm, cách thử nghiệm, kết quả, và hạn chế.
--- Ghi chú ---
Lướt nhanh. Đừng đọc lại cả sáu dòng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Cầm kết quả mà không hiểu gì
Người bệnh rời phòng xét nghiệm, cầm trên tay bảng số này. PDW, MCHC, Monocyte, đơn vị G/L, fL, pg.
Bên cạnh có in khoảng bình thường, nên họ thấy được số nào nằm ngoài. Nhưng không biết chỉ số đó là gì, lệch vậy có sao không, và giờ phải làm gì.
Đây chính là khoảng cách mà người ta gọi là hiểu biết về sức khỏe. Và ở Việt Nam khoảng cách này rất rõ: một nghiên cứu cắt ngang trên 204 người cao tuổi tại Đà Nẵng ghi nhận 60,3% có hiểu biết về sức khỏe còn hạn chế.
Và người bệnh phải tự xoay xở. Khảo sát 93 người nhận kết quả qua mạng cho thấy gần hai phần ba không được giải thích gì, 46% phải tự lên mạng tra.
--- Nhấn mạnh ---
&gt; Hai con số 60,3% và 46% là nền cho toàn bộ phần sau. Nói chậm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Không hiểu thì người ta đi hỏi AI
Ngày nay, tra cứu thường có nghĩa là chụp ảnh phiếu rồi hỏi một chatbot phổ thông.
Và nó sai rất dễ. Đây là câu trả lời thật, từ chính con AI chúng tôi dùng trong nghiên cứu, khi hỏi bằng tiếng Việt bạch cầu là gì.
Nó bảo bạch cầu là tế bào lympho. Sai: lympho chỉ là một loại bạch cầu thôi. Rồi nó tự nhắc tới ung thư và suy giảm miễn dịch, dù không ai hỏi.
Người có kết quả hoàn toàn bình thường vẫn nghe thấy hai chữ ung thư, chỉ trong một câu trả lời ngắn.
--- Ghi chú ---
Nếu còn thời gian, để khán giả đọc đoạn trích vài giây rồi hãy 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Lỗi đáng sợ nhất lại là lỗi ngược lại
Nhưng lỗi nặng hơn lại đi theo chiều ngược lại.
Lỗi thuật ngữ thì người đọc nhìn thấy được, và nó khiến họ muốn đi kiểm chứng. Còn nói nhầm là bình thường thì trôi chảy, dễ chịu, và tác động bằng cách khiến người ta không làm gì cả.
Nói nhầm là bình thường là khi hệ thống khẳng định mọi kết quả đều bình thường, trên một phiếu không bình thường.
Câu này AI thật sự đã viết ra, cho một ca đáng lẽ phải đi khám sớm.
--- Nhấn mạnh ---
&gt; Đây là slide quan trọng nhất phần đầu. Nó giải thích vì sao phải đếm riêng lỗi này.
&gt; Câu chốt: lỗi này không chỉ nói sai, nó làm người ta mất luôn lý do đi khám.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giây ]  Bài này đóng góp gì
Bài này có bốn đóng góp.
Thứ nhất, cách làm bốn bước, trong đó mọi phán đoán lâm sàng hoàn tất bằng quy tắc trước khi mô hình được gọi.
Thứ hai, bộ kiểm tra tự động, đối chiếu câu AI viết với kết quả máy tính đã tính.
Thứ ba, chỉ số nói nhầm là bình thường, mà theo hiểu biết của chúng tôi chưa từng được báo cáo riêng.
Thứ tư, chỉ ra vấn đề đơn vị đo không thống nhất giữa các phòng xét nghiệm Việt Nam.
--- Ghi chú ---
Nói nhanh, mỗi ý một câu. Chi tiết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Bốn bước xử lý
Nguyên tắc ghi ngay trên đầu slide: AI không được quyết định chỉ số nào là bất thường.
Bước 1 nhận diện tên chỉ số và quy đổi đơn vị. Bước 2 so với khoảng bình thường rồi chia ba mức. Hai bước này máy tính làm hết, không có AI.
Đến bước 3 mới gọi AI, nhưng nó nhận sẵn kết quả rồi, việc duy nhất là viết lại cho dễ hiểu.
Bước 4 kiểm tra lại câu AI viết. Sai thì bắt viết lại; viết mấy lần vẫn sai thì dùng câu mẫu có sẵn.
Nhờ vậy, người bệnh không bao giờ đọc phải câu chưa qua kiểm tra.
--- Nhấn mạnh ---
&gt; Chỉ vào các nhãn “Máy tính làm” ở bước 1, 2 và 4 — ba trên bốn bước là máy tính, không phải AI.
--- Tránh nói ---
X Đừng nói “chúng tôi ràng buộc AI để nó không sai”. Nói đúng hơn: chúng tôi không giao cho nó việc mà nó hay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Bước 1 — Đọc phiếu và quy đổi đơn vị
Bước này tưởng đơn giản nhưng lại là nơi chúng tôi gặp lỗi đáng nhớ nhất.
Về tên: cùng chỉ số bạch cầu mà mỗi phòng xét nghiệm viết một kiểu, tới bốn kiểu khác nhau. Dấu phần trăm và dấu thăng dùng để phân biệt tỷ lệ với số lượng, mà có nơi viết trước, có nơi viết sau.
Nhưng đơn vị mới là chỗ nguy hiểm. Huyết sắc tố có nơi ghi g trên decilit, nơi khác ghi g trên lit — chênh nhau mười lần.
Không quy đổi mà đem so luôn thì một kết quả hoàn toàn bình thường bị báo là nên đi khám sớm. Và đáng nói là lỗi này xảy ra ngay ở bước máy tính — bước mà chúng tôi bảo là không thể sai.
Nguyên tắc: gặp đơn vị lạ hoặc phiếu quên ghi đơn vị thì bỏ qua chỉ số đó, không đoán bừa.
--- Nhấn mạnh ---
&gt; Câu “lỗi xảy ra ngay ở bước được coi là không thể sai” là điểm nhấn của slide này.
--- Ghi chú ---
Nếu có ai hỏi về LOINC hay FHIR, đây là chỗ nối sang Panel 3 của hội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giây ]  Bước 2 — Máy tính đối chiếu ngưỡng
Bước 2 không có AI gì cả. Chỉ là phép so sánh số học với khoảng bình thường, như bấm máy tính.
Nằm trong khoảng là bình thường. Lệch ra ngoài nhưng chưa nhiều là nên theo dõi. Lệch nhiều là nên đi khám sớm.
Vì máy tính làm nên bước này không thể sai. Đó là do cách thiết kế, không phải do chúng tôi đo được. Và AI không có cơ hội nào can thiệp vào.
--- Nhấn mạnh ---
&gt; Câu cuối là lý lẽ mạnh nhất của cả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phút ]  Bước 3 và 4 — AI viết, máy kiểm tra lại
Bước 3 đặt ba giới hạn cho AI. Thứ nhất, nó nhận sẵn kết quả, không được tự chấm. Thứ hai, cấm nêu tên bệnh, cấm nói nguyên nhân, cấm nhắc thuốc và liều lượng. Thứ ba, bắt trả lời theo một khuôn cố định, nhờ vậy máy mới kiểm tra tự động được.
Tầng 4 chạy bốn phép kiểm tra: trạng thái có khớp nhãn tầng 2 không, có từ khóa bị cấm không, có thiếu hay bịa thêm chỉ số không, và câu kết có nói nhầm là bình thường không.
AI dùng ở đây là Qwen 2.5, ba tỷ tham số, chạy ngay trên máy tính thường. Đây là chọn có chủ đích: dữ liệu xét nghiệm nhạy cảm, không nên gửi ra ngoài. Và máy nhỏ vậy thì bệnh viện tuyến tỉnh cũng chạy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Cách chúng tôi thử nghiệm
Chúng tôi thử trên 150 ca xét nghiệm máu tự tạo, không phải hồ sơ bệnh nhân thật.
Dùng dữ liệu tự tạo là bắt buộc chứ không phải cho tiện. Muốn chấm điểm thì phải biết trước đáp án đúng, mà phiếu thật không có sẵn. Với lại phiếu thật hầu hết là bình thường, sẽ không đủ ca nặng để thử.
Chúng tôi so ba cách. Cách 1 đưa thẳng số cho AI, không hướng dẫn gì — giống hệt việc người dân dán phiếu vào chatbot. Cách 2 có máy tính chấm trước nhưng không kiểm tra lại. Cách 3 là đủ bốn bước.
--- Tránh nói ---
X Đừng nói “dùng dữ liệu giả vì không có dữ liệu thật”. Hãy nêu ba lý do: cần biết đáp án trước, cần đủ ca nặng, và tránh đụng dữ liệu người bệnh.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Kết quả
Đây là bảng kết quả chính. Mọi loại lỗi đều giảm dần qua ba cách làm.
Cách 1 không có nổi một ca nào đạt trong cả 150 ca. Nó nói sai cao thấp ở 91,3% số ca, và dùng từ bị cấm ở 79,3%.
Nghiêm trọng nhất là cột nói nhầm là bình thường: 32%. Nghĩa là cứ khoảng ba bệnh nhân có kết quả bất thường thì một người bị nói rằng không có gì cần quan tâm.
Cách 2 đỡ hơn nhiều, nhưng vẫn còn 52% số câu không đạt. Dặn dò thôi thì AI không nhất thiết nghe theo.
Cách 3 đạt 100% kết quả an toàn.
--- Nhấn mạnh ---
&gt; Dừng lại ở con số 32% và nói rõ: cứ ba người thì một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phút ]  Ba con số đáng nhớ
Tóm lại bằng ba con số.
Nói nhầm là bình thường từ 32% về 0. Sai chiều lệch từ 91,3% về 0 — mô hình tự phán đoán thì sai gần như luôn, tách sang tầng quy tắc thì đúng tuyệt đối.
Và 48%: dù đã dặn AI rất kỹ trong câu lệnh, hơn một nửa số câu nó viết vẫn không đạt.
Tôi muốn nói rõ về con số 100%. Trong đó 64% là câu AI tự viết được, còn 36% là hệ thống phải dùng câu mẫu có sẵn. An toàn là nhờ cách làm, không phải vì AI ba tỷ tham số giỏi.
--- Nhấn mạnh ---
&gt; ĐỪNG BỎ đoạn nói rõ về 64% và 36%. Nếu khán giả tự phát hiện ra, uy tín bài giảm nhiều hơn.
--- Tránh nói ---
X Không nói “hệ thống đạt 100% chính xác”. Nói “100% kết quả an toàn”, rồi giải thích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Hai điều rút ra
Có hai điều đáng rút ra.
Thứ nhất, nói nhầm là bình thường xứng đáng là một chỉ số riêng. Các đánh giá hiện nay đo độ dễ đọc và độ chính xác, nhưng một câu nói nhầm là bình thường có thể được chấm điểm dễ đọc cao chính vì nó đơn giản và êm tai.
Thứ hai, chuyện đơn vị đo không phải chuyện nhỏ. Lỗi đơn vị xảy ra ngay ở bước máy tính, và các bước kiểm tra phía sau không phát hiện được, vì chúng cứ thế chép lại một kết quả sai rất tự tin.
Đây chính là lý do ngành y tế cần chuẩn hóa dữ liệu — đúng chủ đề Panel 3 của hội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giây ]  Những gì chưa làm được
Có bốn điều bài này chưa làm được, tôi xin nói thẳng.
Chưa có bác sĩ kiểm tra — toàn bộ chấm điểm do máy làm.
Ngưỡng nặng nhẹ là do chúng tôi tự chọn, chưa dựa trên danh mục chuẩn nào.
Dữ liệu là tự tạo, và mới chỉ làm được xét nghiệm máu.
--- Nhấn mạnh ---
&gt; Nói phần này thẳng thắn và bình thản. Tự nêu hạn chế trước khi bị hỏi sẽ được thiện cảm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giây ]  Kết luận và việc làm tiếp
Tóm lại: đừng để AI quyết định chỉ số nào bất thường. Máy tính tính trước, AI viết lại cho dễ hiểu, rồi máy kiểm tra xem AI có viết đúng không.
Việc cần làm tiếp, quan trọng nhất là nhờ bác sĩ kiểm tra lại. Sau đó là thay ngưỡng tự đặt bằng danh mục chuẩn, làm thêm sinh hóa, và thêm phần đọc thành tiếng cho người già.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còn lại ]  Cảm ơn và hỏi đáp
Xin cảm ơn quý vị đã lắng nghe. Tôi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BDD7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09539" y="609539"/>
            <a:ext cx="10972526" cy="4084259"/>
          </a:xfrm>
          <a:prstGeom prst="roundRect">
            <a:avLst>
              <a:gd name="adj" fmla="val 179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4" name="Text 1"/>
          <p:cNvSpPr txBox="1"/>
          <p:nvPr/>
        </p:nvSpPr>
        <p:spPr>
          <a:xfrm>
            <a:off x="975299" y="1036290"/>
            <a:ext cx="10241006" cy="1828709"/>
          </a:xfrm>
          <a:prstGeom prst="rect">
            <a:avLst/>
          </a:prstGeom>
          <a:noFill/>
          <a:ln/>
        </p:spPr>
        <p:txBody>
          <a:bodyPr wrap="square" lIns="0" tIns="0" rIns="0" bIns="0" rtlCol="0" anchor="ctr"/>
          <a:lstStyle/>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Giúp bệnh nhân hiểu kết quả xét nghiệm máu:</a:t>
            </a:r>
            <a:endParaRPr lang="en-US" sz="2933" dirty="0"/>
          </a:p>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để máy tính quyết định, AI chỉ viết lời giải thích</a:t>
            </a:r>
            <a:endParaRPr lang="en-US" sz="2933" dirty="0"/>
          </a:p>
        </p:txBody>
      </p:sp>
      <p:sp>
        <p:nvSpPr>
          <p:cNvPr id="5" name="Shape 2"/>
          <p:cNvSpPr/>
          <p:nvPr/>
        </p:nvSpPr>
        <p:spPr>
          <a:xfrm>
            <a:off x="4389029" y="3023555"/>
            <a:ext cx="3413638" cy="0"/>
          </a:xfrm>
          <a:prstGeom prst="line">
            <a:avLst/>
          </a:prstGeom>
          <a:noFill/>
          <a:ln w="25400">
            <a:solidFill>
              <a:srgbClr val="1565C0"/>
            </a:solidFill>
            <a:prstDash val="solid"/>
          </a:ln>
        </p:spPr>
      </p:sp>
      <p:sp>
        <p:nvSpPr>
          <p:cNvPr id="6" name="Text 3"/>
          <p:cNvSpPr txBox="1"/>
          <p:nvPr/>
        </p:nvSpPr>
        <p:spPr>
          <a:xfrm>
            <a:off x="975299" y="3169859"/>
            <a:ext cx="10241006" cy="365760"/>
          </a:xfrm>
          <a:prstGeom prst="rect">
            <a:avLst/>
          </a:prstGeom>
          <a:noFill/>
          <a:ln/>
        </p:spPr>
        <p:txBody>
          <a:bodyPr wrap="square" lIns="0" tIns="0" rIns="0" bIns="0" rtlCol="0" anchor="ctr"/>
          <a:lstStyle/>
          <a:p>
            <a:pPr algn="ctr" indent="0" marL="0">
              <a:buNone/>
            </a:pPr>
            <a:r>
              <a:rPr lang="en-US" sz="1600" b="1" dirty="0">
                <a:solidFill>
                  <a:srgbClr val="1565C0"/>
                </a:solidFill>
                <a:latin typeface="Calibri" pitchFamily="34" charset="0"/>
                <a:ea typeface="Calibri" pitchFamily="34" charset="-122"/>
                <a:cs typeface="Calibri" pitchFamily="34" charset="-120"/>
              </a:rPr>
              <a:t>Track B · Mã bài HI26-0013 · Báo cáo tại hội nghị</a:t>
            </a:r>
            <a:endParaRPr lang="en-US" sz="1600" dirty="0"/>
          </a:p>
        </p:txBody>
      </p:sp>
      <p:sp>
        <p:nvSpPr>
          <p:cNvPr id="7" name="Text 4"/>
          <p:cNvSpPr txBox="1"/>
          <p:nvPr/>
        </p:nvSpPr>
        <p:spPr>
          <a:xfrm>
            <a:off x="975299" y="3657509"/>
            <a:ext cx="10241006" cy="365760"/>
          </a:xfrm>
          <a:prstGeom prst="rect">
            <a:avLst/>
          </a:prstGeom>
          <a:noFill/>
          <a:ln/>
        </p:spPr>
        <p:txBody>
          <a:bodyPr wrap="square" lIns="0" tIns="0" rIns="0" bIns="0" rtlCol="0" anchor="ctr"/>
          <a:lstStyle/>
          <a:p>
            <a:pPr algn="ctr" indent="0" marL="0">
              <a:buNone/>
            </a:pPr>
            <a:r>
              <a:rPr lang="en-US" sz="1867" b="1" dirty="0">
                <a:solidFill>
                  <a:srgbClr val="203864"/>
                </a:solidFill>
                <a:latin typeface="Calibri" pitchFamily="34" charset="0"/>
                <a:ea typeface="Calibri" pitchFamily="34" charset="-122"/>
                <a:cs typeface="Calibri" pitchFamily="34" charset="-120"/>
              </a:rPr>
              <a:t>Võ Hoàng Khang¹ · Trương Quang Đại</a:t>
            </a:r>
            <a:endParaRPr lang="en-US" sz="1867" dirty="0"/>
          </a:p>
        </p:txBody>
      </p:sp>
      <p:sp>
        <p:nvSpPr>
          <p:cNvPr id="8" name="Text 5"/>
          <p:cNvSpPr txBox="1"/>
          <p:nvPr/>
        </p:nvSpPr>
        <p:spPr>
          <a:xfrm>
            <a:off x="975299" y="4096421"/>
            <a:ext cx="10241006" cy="365760"/>
          </a:xfrm>
          <a:prstGeom prst="rect">
            <a:avLst/>
          </a:prstGeom>
          <a:noFill/>
          <a:ln/>
        </p:spPr>
        <p:txBody>
          <a:bodyPr wrap="square" lIns="0" tIns="0" rIns="0" bIns="0" rtlCol="0" anchor="ctr"/>
          <a:lstStyle/>
          <a:p>
            <a:pPr algn="ctr" indent="0" marL="0">
              <a:buNone/>
            </a:pPr>
            <a:r>
              <a:rPr lang="en-US" sz="1467" dirty="0">
                <a:solidFill>
                  <a:srgbClr val="5A6B85"/>
                </a:solidFill>
                <a:latin typeface="Calibri" pitchFamily="34" charset="0"/>
                <a:ea typeface="Calibri" pitchFamily="34" charset="-122"/>
                <a:cs typeface="Calibri" pitchFamily="34" charset="-120"/>
              </a:rPr>
              <a:t>¹ Trường Đại học Công nghệ TP.HCM (HUTECH)</a:t>
            </a:r>
            <a:endParaRPr lang="en-US" sz="1467" dirty="0"/>
          </a:p>
        </p:txBody>
      </p:sp>
      <p:sp>
        <p:nvSpPr>
          <p:cNvPr id="9" name="Text 6"/>
          <p:cNvSpPr txBox="1"/>
          <p:nvPr/>
        </p:nvSpPr>
        <p:spPr>
          <a:xfrm>
            <a:off x="609539" y="5059558"/>
            <a:ext cx="10972526" cy="914400"/>
          </a:xfrm>
          <a:prstGeom prst="rect">
            <a:avLst/>
          </a:prstGeom>
          <a:noFill/>
          <a:ln/>
        </p:spPr>
        <p:txBody>
          <a:bodyPr wrap="square" lIns="0" tIns="0" rIns="0" bIns="0" rtlCol="0" anchor="ctr"/>
          <a:lstStyle/>
          <a:p>
            <a:pPr algn="ctr" indent="0" marL="0">
              <a:lnSpc>
                <a:spcPts val="2267"/>
              </a:lnSpc>
              <a:buNone/>
            </a:pPr>
            <a:r>
              <a:rPr lang="en-US" sz="1467" dirty="0">
                <a:solidFill>
                  <a:srgbClr val="1F3864"/>
                </a:solidFill>
                <a:latin typeface="Calibri" pitchFamily="34" charset="0"/>
                <a:ea typeface="Calibri" pitchFamily="34" charset="-122"/>
                <a:cs typeface="Calibri" pitchFamily="34" charset="-120"/>
              </a:rPr>
              <a:t>HEALTHINFO IV — Hội nghị Quốc tế Tin học Y tế lần thứ 4</a:t>
            </a:r>
            <a:endParaRPr lang="en-US" sz="1467" dirty="0"/>
          </a:p>
          <a:p>
            <a:pPr algn="ctr" indent="0" marL="0">
              <a:lnSpc>
                <a:spcPts val="2267"/>
              </a:lnSpc>
              <a:buNone/>
            </a:pPr>
            <a:r>
              <a:rPr lang="en-US" sz="1467" dirty="0">
                <a:solidFill>
                  <a:srgbClr val="1F3864"/>
                </a:solidFill>
                <a:latin typeface="Calibri" pitchFamily="34" charset="0"/>
                <a:ea typeface="Calibri" pitchFamily="34" charset="-122"/>
                <a:cs typeface="Calibri" pitchFamily="34" charset="-120"/>
              </a:rPr>
              <a:t>02–03/10/2026 · Trường ĐH Công nghệ Thông tin, ĐHQG-HCM</a:t>
            </a:r>
            <a:endParaRPr lang="en-US" sz="14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Nội dung</a:t>
            </a:r>
            <a:endParaRPr lang="en-US" sz="3000" dirty="0"/>
          </a:p>
        </p:txBody>
      </p:sp>
      <p:sp>
        <p:nvSpPr>
          <p:cNvPr id="4" name="Shape 1"/>
          <p:cNvSpPr/>
          <p:nvPr/>
        </p:nvSpPr>
        <p:spPr>
          <a:xfrm>
            <a:off x="609539" y="1402050"/>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853410" y="1767810"/>
            <a:ext cx="609539" cy="609539"/>
          </a:xfrm>
          <a:prstGeom prst="ellipse">
            <a:avLst/>
          </a:prstGeom>
          <a:solidFill>
            <a:srgbClr val="1565C0"/>
          </a:solidFill>
          <a:ln/>
        </p:spPr>
      </p:sp>
      <p:sp>
        <p:nvSpPr>
          <p:cNvPr id="6" name="Text 3"/>
          <p:cNvSpPr txBox="1"/>
          <p:nvPr/>
        </p:nvSpPr>
        <p:spPr>
          <a:xfrm>
            <a:off x="853410" y="1767810"/>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1</a:t>
            </a:r>
            <a:endParaRPr lang="en-US" sz="2133" dirty="0"/>
          </a:p>
        </p:txBody>
      </p:sp>
      <p:sp>
        <p:nvSpPr>
          <p:cNvPr id="7" name="Text 4"/>
          <p:cNvSpPr txBox="1"/>
          <p:nvPr/>
        </p:nvSpPr>
        <p:spPr>
          <a:xfrm>
            <a:off x="1609344" y="1645920"/>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Vấn đề</a:t>
            </a:r>
            <a:endParaRPr lang="en-US" sz="1867" dirty="0"/>
          </a:p>
        </p:txBody>
      </p:sp>
      <p:sp>
        <p:nvSpPr>
          <p:cNvPr id="8" name="Text 5"/>
          <p:cNvSpPr txBox="1"/>
          <p:nvPr/>
        </p:nvSpPr>
        <p:spPr>
          <a:xfrm>
            <a:off x="1609344" y="2060418"/>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Cầm phiếu xét nghiệm mà không hiểu gì</a:t>
            </a:r>
            <a:endParaRPr lang="en-US" sz="1400" dirty="0"/>
          </a:p>
        </p:txBody>
      </p:sp>
      <p:sp>
        <p:nvSpPr>
          <p:cNvPr id="9" name="Shape 6"/>
          <p:cNvSpPr/>
          <p:nvPr/>
        </p:nvSpPr>
        <p:spPr>
          <a:xfrm>
            <a:off x="6217737" y="1402050"/>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6461608" y="1767810"/>
            <a:ext cx="609539" cy="609539"/>
          </a:xfrm>
          <a:prstGeom prst="ellipse">
            <a:avLst/>
          </a:prstGeom>
          <a:solidFill>
            <a:srgbClr val="1565C0"/>
          </a:solidFill>
          <a:ln/>
        </p:spPr>
      </p:sp>
      <p:sp>
        <p:nvSpPr>
          <p:cNvPr id="11" name="Text 8"/>
          <p:cNvSpPr txBox="1"/>
          <p:nvPr/>
        </p:nvSpPr>
        <p:spPr>
          <a:xfrm>
            <a:off x="6461608" y="1767810"/>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2</a:t>
            </a:r>
            <a:endParaRPr lang="en-US" sz="2133" dirty="0"/>
          </a:p>
        </p:txBody>
      </p:sp>
      <p:sp>
        <p:nvSpPr>
          <p:cNvPr id="12" name="Text 9"/>
          <p:cNvSpPr txBox="1"/>
          <p:nvPr/>
        </p:nvSpPr>
        <p:spPr>
          <a:xfrm>
            <a:off x="7217451" y="1645920"/>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Nguy cơ</a:t>
            </a:r>
            <a:endParaRPr lang="en-US" sz="1867" dirty="0"/>
          </a:p>
        </p:txBody>
      </p:sp>
      <p:sp>
        <p:nvSpPr>
          <p:cNvPr id="13" name="Text 10"/>
          <p:cNvSpPr txBox="1"/>
          <p:nvPr/>
        </p:nvSpPr>
        <p:spPr>
          <a:xfrm>
            <a:off x="7217451" y="2060418"/>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Khi hỏi AI, nó trả lời sai thế nào</a:t>
            </a:r>
            <a:endParaRPr lang="en-US" sz="1400" dirty="0"/>
          </a:p>
        </p:txBody>
      </p:sp>
      <p:sp>
        <p:nvSpPr>
          <p:cNvPr id="14" name="Shape 11"/>
          <p:cNvSpPr/>
          <p:nvPr/>
        </p:nvSpPr>
        <p:spPr>
          <a:xfrm>
            <a:off x="609539" y="3011394"/>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Shape 12"/>
          <p:cNvSpPr/>
          <p:nvPr/>
        </p:nvSpPr>
        <p:spPr>
          <a:xfrm>
            <a:off x="853410" y="3377062"/>
            <a:ext cx="609539" cy="609539"/>
          </a:xfrm>
          <a:prstGeom prst="ellipse">
            <a:avLst/>
          </a:prstGeom>
          <a:solidFill>
            <a:srgbClr val="1565C0"/>
          </a:solidFill>
          <a:ln/>
        </p:spPr>
      </p:sp>
      <p:sp>
        <p:nvSpPr>
          <p:cNvPr id="16" name="Text 13"/>
          <p:cNvSpPr txBox="1"/>
          <p:nvPr/>
        </p:nvSpPr>
        <p:spPr>
          <a:xfrm>
            <a:off x="853410" y="3377062"/>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3</a:t>
            </a:r>
            <a:endParaRPr lang="en-US" sz="2133" dirty="0"/>
          </a:p>
        </p:txBody>
      </p:sp>
      <p:sp>
        <p:nvSpPr>
          <p:cNvPr id="17" name="Text 14"/>
          <p:cNvSpPr txBox="1"/>
          <p:nvPr/>
        </p:nvSpPr>
        <p:spPr>
          <a:xfrm>
            <a:off x="1609344" y="3255173"/>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Cách làm</a:t>
            </a:r>
            <a:endParaRPr lang="en-US" sz="1867" dirty="0"/>
          </a:p>
        </p:txBody>
      </p:sp>
      <p:sp>
        <p:nvSpPr>
          <p:cNvPr id="18" name="Text 15"/>
          <p:cNvSpPr txBox="1"/>
          <p:nvPr/>
        </p:nvSpPr>
        <p:spPr>
          <a:xfrm>
            <a:off x="1609344" y="3669670"/>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Bốn bước, AI không được tự phán đoán</a:t>
            </a:r>
            <a:endParaRPr lang="en-US" sz="1400" dirty="0"/>
          </a:p>
        </p:txBody>
      </p:sp>
      <p:sp>
        <p:nvSpPr>
          <p:cNvPr id="19" name="Shape 16"/>
          <p:cNvSpPr/>
          <p:nvPr/>
        </p:nvSpPr>
        <p:spPr>
          <a:xfrm>
            <a:off x="6217737" y="3011394"/>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6461608" y="3377062"/>
            <a:ext cx="609539" cy="609539"/>
          </a:xfrm>
          <a:prstGeom prst="ellipse">
            <a:avLst/>
          </a:prstGeom>
          <a:solidFill>
            <a:srgbClr val="1565C0"/>
          </a:solidFill>
          <a:ln/>
        </p:spPr>
      </p:sp>
      <p:sp>
        <p:nvSpPr>
          <p:cNvPr id="21" name="Text 18"/>
          <p:cNvSpPr txBox="1"/>
          <p:nvPr/>
        </p:nvSpPr>
        <p:spPr>
          <a:xfrm>
            <a:off x="6461608" y="3377062"/>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4</a:t>
            </a:r>
            <a:endParaRPr lang="en-US" sz="2133" dirty="0"/>
          </a:p>
        </p:txBody>
      </p:sp>
      <p:sp>
        <p:nvSpPr>
          <p:cNvPr id="22" name="Text 19"/>
          <p:cNvSpPr txBox="1"/>
          <p:nvPr/>
        </p:nvSpPr>
        <p:spPr>
          <a:xfrm>
            <a:off x="7217451" y="3255173"/>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Thử nghiệm</a:t>
            </a:r>
            <a:endParaRPr lang="en-US" sz="1867" dirty="0"/>
          </a:p>
        </p:txBody>
      </p:sp>
      <p:sp>
        <p:nvSpPr>
          <p:cNvPr id="23" name="Text 20"/>
          <p:cNvSpPr txBox="1"/>
          <p:nvPr/>
        </p:nvSpPr>
        <p:spPr>
          <a:xfrm>
            <a:off x="7217451" y="3669670"/>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150 ca, so sánh ba cách</a:t>
            </a:r>
            <a:endParaRPr lang="en-US" sz="1400" dirty="0"/>
          </a:p>
        </p:txBody>
      </p:sp>
      <p:sp>
        <p:nvSpPr>
          <p:cNvPr id="24" name="Shape 21"/>
          <p:cNvSpPr/>
          <p:nvPr/>
        </p:nvSpPr>
        <p:spPr>
          <a:xfrm>
            <a:off x="609539" y="4620646"/>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5" name="Shape 22"/>
          <p:cNvSpPr/>
          <p:nvPr/>
        </p:nvSpPr>
        <p:spPr>
          <a:xfrm>
            <a:off x="853410" y="4986406"/>
            <a:ext cx="609539" cy="609539"/>
          </a:xfrm>
          <a:prstGeom prst="ellipse">
            <a:avLst/>
          </a:prstGeom>
          <a:solidFill>
            <a:srgbClr val="1565C0"/>
          </a:solidFill>
          <a:ln/>
        </p:spPr>
      </p:sp>
      <p:sp>
        <p:nvSpPr>
          <p:cNvPr id="26" name="Text 23"/>
          <p:cNvSpPr txBox="1"/>
          <p:nvPr/>
        </p:nvSpPr>
        <p:spPr>
          <a:xfrm>
            <a:off x="853410" y="4986406"/>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5</a:t>
            </a:r>
            <a:endParaRPr lang="en-US" sz="2133" dirty="0"/>
          </a:p>
        </p:txBody>
      </p:sp>
      <p:sp>
        <p:nvSpPr>
          <p:cNvPr id="27" name="Text 24"/>
          <p:cNvSpPr txBox="1"/>
          <p:nvPr/>
        </p:nvSpPr>
        <p:spPr>
          <a:xfrm>
            <a:off x="1609344" y="4864517"/>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Kết quả</a:t>
            </a:r>
            <a:endParaRPr lang="en-US" sz="1867" dirty="0"/>
          </a:p>
        </p:txBody>
      </p:sp>
      <p:sp>
        <p:nvSpPr>
          <p:cNvPr id="28" name="Text 25"/>
          <p:cNvSpPr txBox="1"/>
          <p:nvPr/>
        </p:nvSpPr>
        <p:spPr>
          <a:xfrm>
            <a:off x="1609344" y="5279014"/>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Nói nhầm là bình thường: 32% → 0%</a:t>
            </a:r>
            <a:endParaRPr lang="en-US" sz="1400" dirty="0"/>
          </a:p>
        </p:txBody>
      </p:sp>
      <p:sp>
        <p:nvSpPr>
          <p:cNvPr id="29" name="Shape 26"/>
          <p:cNvSpPr/>
          <p:nvPr/>
        </p:nvSpPr>
        <p:spPr>
          <a:xfrm>
            <a:off x="6217737" y="4620646"/>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30" name="Shape 27"/>
          <p:cNvSpPr/>
          <p:nvPr/>
        </p:nvSpPr>
        <p:spPr>
          <a:xfrm>
            <a:off x="6461608" y="4986406"/>
            <a:ext cx="609539" cy="609539"/>
          </a:xfrm>
          <a:prstGeom prst="ellipse">
            <a:avLst/>
          </a:prstGeom>
          <a:solidFill>
            <a:srgbClr val="1565C0"/>
          </a:solidFill>
          <a:ln/>
        </p:spPr>
      </p:sp>
      <p:sp>
        <p:nvSpPr>
          <p:cNvPr id="31" name="Text 28"/>
          <p:cNvSpPr txBox="1"/>
          <p:nvPr/>
        </p:nvSpPr>
        <p:spPr>
          <a:xfrm>
            <a:off x="6461608" y="4986406"/>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6</a:t>
            </a:r>
            <a:endParaRPr lang="en-US" sz="2133" dirty="0"/>
          </a:p>
        </p:txBody>
      </p:sp>
      <p:sp>
        <p:nvSpPr>
          <p:cNvPr id="32" name="Text 29"/>
          <p:cNvSpPr txBox="1"/>
          <p:nvPr/>
        </p:nvSpPr>
        <p:spPr>
          <a:xfrm>
            <a:off x="7217451" y="4864517"/>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Hạn chế</a:t>
            </a:r>
            <a:endParaRPr lang="en-US" sz="1867" dirty="0"/>
          </a:p>
        </p:txBody>
      </p:sp>
      <p:sp>
        <p:nvSpPr>
          <p:cNvPr id="33" name="Text 30"/>
          <p:cNvSpPr txBox="1"/>
          <p:nvPr/>
        </p:nvSpPr>
        <p:spPr>
          <a:xfrm>
            <a:off x="7217451" y="5279014"/>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Và việc cần làm tiếp</a:t>
            </a:r>
            <a:endParaRPr lang="en-US" sz="1400" dirty="0"/>
          </a:p>
        </p:txBody>
      </p:sp>
      <p:sp>
        <p:nvSpPr>
          <p:cNvPr id="34" name="Text 31"/>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 Cầm kết quả trong tay mà không hiểu gì</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Người bệnh rời phòng xét nghiệm với một bảng số đầy chữ lạ:</a:t>
            </a:r>
            <a:endParaRPr lang="en-US" sz="1733" dirty="0"/>
          </a:p>
        </p:txBody>
      </p:sp>
      <p:sp>
        <p:nvSpPr>
          <p:cNvPr id="5" name="Shape 2"/>
          <p:cNvSpPr/>
          <p:nvPr/>
        </p:nvSpPr>
        <p:spPr>
          <a:xfrm>
            <a:off x="609539" y="1609344"/>
            <a:ext cx="1645920" cy="548640"/>
          </a:xfrm>
          <a:prstGeom prst="roundRect">
            <a:avLst>
              <a:gd name="adj" fmla="val 13333"/>
            </a:avLst>
          </a:prstGeom>
          <a:solidFill>
            <a:srgbClr val="FFFFFF"/>
          </a:solidFill>
          <a:ln w="12700">
            <a:solidFill>
              <a:srgbClr val="FFFFFF"/>
            </a:solidFill>
            <a:prstDash val="solid"/>
          </a:ln>
        </p:spPr>
      </p:sp>
      <p:sp>
        <p:nvSpPr>
          <p:cNvPr id="6" name="Text 3"/>
          <p:cNvSpPr txBox="1"/>
          <p:nvPr/>
        </p:nvSpPr>
        <p:spPr>
          <a:xfrm>
            <a:off x="6095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PDW</a:t>
            </a:r>
            <a:endParaRPr lang="en-US" sz="1733" dirty="0"/>
          </a:p>
        </p:txBody>
      </p:sp>
      <p:sp>
        <p:nvSpPr>
          <p:cNvPr id="7" name="Shape 4"/>
          <p:cNvSpPr/>
          <p:nvPr/>
        </p:nvSpPr>
        <p:spPr>
          <a:xfrm>
            <a:off x="2438339" y="1609344"/>
            <a:ext cx="1645920" cy="548640"/>
          </a:xfrm>
          <a:prstGeom prst="roundRect">
            <a:avLst>
              <a:gd name="adj" fmla="val 13333"/>
            </a:avLst>
          </a:prstGeom>
          <a:solidFill>
            <a:srgbClr val="FFFFFF"/>
          </a:solidFill>
          <a:ln w="12700">
            <a:solidFill>
              <a:srgbClr val="FFFFFF"/>
            </a:solidFill>
            <a:prstDash val="solid"/>
          </a:ln>
        </p:spPr>
      </p:sp>
      <p:sp>
        <p:nvSpPr>
          <p:cNvPr id="8" name="Text 5"/>
          <p:cNvSpPr txBox="1"/>
          <p:nvPr/>
        </p:nvSpPr>
        <p:spPr>
          <a:xfrm>
            <a:off x="24383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MCHC</a:t>
            </a:r>
            <a:endParaRPr lang="en-US" sz="1733" dirty="0"/>
          </a:p>
        </p:txBody>
      </p:sp>
      <p:sp>
        <p:nvSpPr>
          <p:cNvPr id="9" name="Shape 6"/>
          <p:cNvSpPr/>
          <p:nvPr/>
        </p:nvSpPr>
        <p:spPr>
          <a:xfrm>
            <a:off x="4267048" y="1609344"/>
            <a:ext cx="1645920" cy="548640"/>
          </a:xfrm>
          <a:prstGeom prst="roundRect">
            <a:avLst>
              <a:gd name="adj" fmla="val 13333"/>
            </a:avLst>
          </a:prstGeom>
          <a:solidFill>
            <a:srgbClr val="FFFFFF"/>
          </a:solidFill>
          <a:ln w="12700">
            <a:solidFill>
              <a:srgbClr val="FFFFFF"/>
            </a:solidFill>
            <a:prstDash val="solid"/>
          </a:ln>
        </p:spPr>
      </p:sp>
      <p:sp>
        <p:nvSpPr>
          <p:cNvPr id="10" name="Text 7"/>
          <p:cNvSpPr txBox="1"/>
          <p:nvPr/>
        </p:nvSpPr>
        <p:spPr>
          <a:xfrm>
            <a:off x="42670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Monocyte</a:t>
            </a:r>
            <a:endParaRPr lang="en-US" sz="1733" dirty="0"/>
          </a:p>
        </p:txBody>
      </p:sp>
      <p:sp>
        <p:nvSpPr>
          <p:cNvPr id="11" name="Shape 8"/>
          <p:cNvSpPr/>
          <p:nvPr/>
        </p:nvSpPr>
        <p:spPr>
          <a:xfrm>
            <a:off x="6095848" y="1609344"/>
            <a:ext cx="1645920" cy="548640"/>
          </a:xfrm>
          <a:prstGeom prst="roundRect">
            <a:avLst>
              <a:gd name="adj" fmla="val 13333"/>
            </a:avLst>
          </a:prstGeom>
          <a:solidFill>
            <a:srgbClr val="FFFFFF"/>
          </a:solidFill>
          <a:ln w="12700">
            <a:solidFill>
              <a:srgbClr val="FFFFFF"/>
            </a:solidFill>
            <a:prstDash val="solid"/>
          </a:ln>
        </p:spPr>
      </p:sp>
      <p:sp>
        <p:nvSpPr>
          <p:cNvPr id="12" name="Text 9"/>
          <p:cNvSpPr txBox="1"/>
          <p:nvPr/>
        </p:nvSpPr>
        <p:spPr>
          <a:xfrm>
            <a:off x="60958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G/L</a:t>
            </a:r>
            <a:endParaRPr lang="en-US" sz="1733" dirty="0"/>
          </a:p>
        </p:txBody>
      </p:sp>
      <p:sp>
        <p:nvSpPr>
          <p:cNvPr id="13" name="Shape 10"/>
          <p:cNvSpPr/>
          <p:nvPr/>
        </p:nvSpPr>
        <p:spPr>
          <a:xfrm>
            <a:off x="7924556" y="1609344"/>
            <a:ext cx="1645920" cy="548640"/>
          </a:xfrm>
          <a:prstGeom prst="roundRect">
            <a:avLst>
              <a:gd name="adj" fmla="val 13333"/>
            </a:avLst>
          </a:prstGeom>
          <a:solidFill>
            <a:srgbClr val="FFFFFF"/>
          </a:solidFill>
          <a:ln w="12700">
            <a:solidFill>
              <a:srgbClr val="FFFFFF"/>
            </a:solidFill>
            <a:prstDash val="solid"/>
          </a:ln>
        </p:spPr>
      </p:sp>
      <p:sp>
        <p:nvSpPr>
          <p:cNvPr id="14" name="Text 11"/>
          <p:cNvSpPr txBox="1"/>
          <p:nvPr/>
        </p:nvSpPr>
        <p:spPr>
          <a:xfrm>
            <a:off x="79245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fL</a:t>
            </a:r>
            <a:endParaRPr lang="en-US" sz="1733" dirty="0"/>
          </a:p>
        </p:txBody>
      </p:sp>
      <p:sp>
        <p:nvSpPr>
          <p:cNvPr id="15" name="Shape 12"/>
          <p:cNvSpPr/>
          <p:nvPr/>
        </p:nvSpPr>
        <p:spPr>
          <a:xfrm>
            <a:off x="9753356" y="1609344"/>
            <a:ext cx="1645920" cy="548640"/>
          </a:xfrm>
          <a:prstGeom prst="roundRect">
            <a:avLst>
              <a:gd name="adj" fmla="val 13333"/>
            </a:avLst>
          </a:prstGeom>
          <a:solidFill>
            <a:srgbClr val="FFFFFF"/>
          </a:solidFill>
          <a:ln w="12700">
            <a:solidFill>
              <a:srgbClr val="FFFFFF"/>
            </a:solidFill>
            <a:prstDash val="solid"/>
          </a:ln>
        </p:spPr>
      </p:sp>
      <p:sp>
        <p:nvSpPr>
          <p:cNvPr id="16" name="Text 13"/>
          <p:cNvSpPr txBox="1"/>
          <p:nvPr/>
        </p:nvSpPr>
        <p:spPr>
          <a:xfrm>
            <a:off x="97533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pg</a:t>
            </a:r>
            <a:endParaRPr lang="en-US" sz="1733" dirty="0"/>
          </a:p>
        </p:txBody>
      </p:sp>
      <p:sp>
        <p:nvSpPr>
          <p:cNvPr id="17" name="Text 14"/>
          <p:cNvSpPr txBox="1"/>
          <p:nvPr/>
        </p:nvSpPr>
        <p:spPr>
          <a:xfrm>
            <a:off x="609539" y="2377349"/>
            <a:ext cx="10972526" cy="731520"/>
          </a:xfrm>
          <a:prstGeom prst="rect">
            <a:avLst/>
          </a:prstGeom>
          <a:noFill/>
          <a:ln/>
        </p:spPr>
        <p:txBody>
          <a:bodyPr wrap="square" lIns="0" tIns="0" rIns="0" bIns="0" rtlCol="0" anchor="ctr"/>
          <a:lstStyle/>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Bên cạnh mỗi con số có in khoảng bình thường, nên họ thấy được số nào nằm ngoài.</a:t>
            </a:r>
            <a:endParaRPr lang="en-US" sz="1667" dirty="0"/>
          </a:p>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Nhưng không biết chỉ số đó là gì, lệch như vậy có sao không, và giờ phải làm gì.</a:t>
            </a:r>
            <a:endParaRPr lang="en-US" sz="1667" dirty="0"/>
          </a:p>
        </p:txBody>
      </p:sp>
      <p:sp>
        <p:nvSpPr>
          <p:cNvPr id="18" name="Shape 15"/>
          <p:cNvSpPr/>
          <p:nvPr/>
        </p:nvSpPr>
        <p:spPr>
          <a:xfrm>
            <a:off x="609539"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9" name="Text 16"/>
          <p:cNvSpPr txBox="1"/>
          <p:nvPr/>
        </p:nvSpPr>
        <p:spPr>
          <a:xfrm>
            <a:off x="792419"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60,3%</a:t>
            </a:r>
            <a:endParaRPr lang="en-US" sz="5600" dirty="0"/>
          </a:p>
        </p:txBody>
      </p:sp>
      <p:sp>
        <p:nvSpPr>
          <p:cNvPr id="20" name="Text 17"/>
          <p:cNvSpPr txBox="1"/>
          <p:nvPr/>
        </p:nvSpPr>
        <p:spPr>
          <a:xfrm>
            <a:off x="914400"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cao tuổi ở Đà Nẵng</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hiểu biết về sức khỏe còn hạn chế</a:t>
            </a:r>
            <a:endParaRPr lang="en-US" sz="1467" dirty="0"/>
          </a:p>
        </p:txBody>
      </p:sp>
      <p:sp>
        <p:nvSpPr>
          <p:cNvPr id="21" name="Shape 18"/>
          <p:cNvSpPr/>
          <p:nvPr/>
        </p:nvSpPr>
        <p:spPr>
          <a:xfrm>
            <a:off x="6278728"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2" name="Text 19"/>
          <p:cNvSpPr txBox="1"/>
          <p:nvPr/>
        </p:nvSpPr>
        <p:spPr>
          <a:xfrm>
            <a:off x="6461608"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46%</a:t>
            </a:r>
            <a:endParaRPr lang="en-US" sz="5600" dirty="0"/>
          </a:p>
        </p:txBody>
      </p:sp>
      <p:sp>
        <p:nvSpPr>
          <p:cNvPr id="23" name="Text 20"/>
          <p:cNvSpPr txBox="1"/>
          <p:nvPr/>
        </p:nvSpPr>
        <p:spPr>
          <a:xfrm>
            <a:off x="6583497"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bệnh phải tự lên mạng tra</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mới hiểu kết quả của mình</a:t>
            </a:r>
            <a:endParaRPr lang="en-US" sz="1467" dirty="0"/>
          </a:p>
        </p:txBody>
      </p:sp>
      <p:sp>
        <p:nvSpPr>
          <p:cNvPr id="24" name="Text 21"/>
          <p:cNvSpPr txBox="1"/>
          <p:nvPr/>
        </p:nvSpPr>
        <p:spPr>
          <a:xfrm>
            <a:off x="609539" y="5632521"/>
            <a:ext cx="10972526" cy="304770"/>
          </a:xfrm>
          <a:prstGeom prst="rect">
            <a:avLst/>
          </a:prstGeom>
          <a:noFill/>
          <a:ln/>
        </p:spPr>
        <p:txBody>
          <a:bodyPr wrap="square" lIns="0" tIns="0" rIns="0" bIns="0" rtlCol="0" anchor="ctr"/>
          <a:lstStyle/>
          <a:p>
            <a:pPr indent="0" marL="0">
              <a:buNone/>
            </a:pPr>
            <a:r>
              <a:rPr lang="en-US" sz="1200" i="1" dirty="0">
                <a:solidFill>
                  <a:srgbClr val="5A6B85"/>
                </a:solidFill>
                <a:latin typeface="Calibri" pitchFamily="34" charset="0"/>
                <a:ea typeface="Calibri" pitchFamily="34" charset="-122"/>
                <a:cs typeface="Calibri" pitchFamily="34" charset="-120"/>
              </a:rPr>
              <a:t>Nguồn: nghiên cứu cắt ngang tại Đà Nẵng (n=204); Giardina và cộng sự, JAMIA 2018 (n=93)</a:t>
            </a:r>
            <a:endParaRPr lang="en-US" sz="1200" dirty="0"/>
          </a:p>
        </p:txBody>
      </p:sp>
      <p:sp>
        <p:nvSpPr>
          <p:cNvPr id="25" name="Text 2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2. Không hiểu thì người ta đi hỏi AI</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Cách phổ biến nhất: chụp ảnh phiếu rồi hỏi một chatbot.</a:t>
            </a:r>
            <a:endParaRPr lang="en-US" sz="1733" dirty="0"/>
          </a:p>
        </p:txBody>
      </p:sp>
      <p:sp>
        <p:nvSpPr>
          <p:cNvPr id="5" name="Shape 2"/>
          <p:cNvSpPr/>
          <p:nvPr/>
        </p:nvSpPr>
        <p:spPr>
          <a:xfrm>
            <a:off x="609539" y="1584930"/>
            <a:ext cx="10972526" cy="633954"/>
          </a:xfrm>
          <a:prstGeom prst="roundRect">
            <a:avLst>
              <a:gd name="adj" fmla="val 11539"/>
            </a:avLst>
          </a:prstGeom>
          <a:solidFill>
            <a:srgbClr val="FFFFFF"/>
          </a:solidFill>
          <a:ln w="12700">
            <a:solidFill>
              <a:srgbClr val="FFFFFF"/>
            </a:solidFill>
            <a:prstDash val="solid"/>
          </a:ln>
        </p:spPr>
      </p:sp>
      <p:sp>
        <p:nvSpPr>
          <p:cNvPr id="6" name="Text 3"/>
          <p:cNvSpPr txBox="1"/>
          <p:nvPr/>
        </p:nvSpPr>
        <p:spPr>
          <a:xfrm>
            <a:off x="853410" y="1584930"/>
            <a:ext cx="10484876" cy="633954"/>
          </a:xfrm>
          <a:prstGeom prst="rect">
            <a:avLst/>
          </a:prstGeom>
          <a:noFill/>
          <a:ln/>
        </p:spPr>
        <p:txBody>
          <a:bodyPr wrap="square" lIns="0" tIns="0" rIns="0" bIns="0" rtlCol="0" anchor="ctr"/>
          <a:lstStyle/>
          <a:p>
            <a:pPr indent="0" marL="0">
              <a:buNone/>
            </a:pPr>
            <a:r>
              <a:rPr lang="en-US" sz="1333" b="1" dirty="0">
                <a:solidFill>
                  <a:srgbClr val="5A6B85"/>
                </a:solidFill>
                <a:latin typeface="Calibri" pitchFamily="34" charset="0"/>
                <a:ea typeface="Calibri" pitchFamily="34" charset="-122"/>
                <a:cs typeface="Calibri" pitchFamily="34" charset="-120"/>
              </a:rPr>
              <a:t>Câu hỏi  </a:t>
            </a:r>
            <a:pPr indent="0" marL="0">
              <a:buNone/>
            </a:pPr>
            <a:r>
              <a:rPr lang="en-US" sz="1600" i="1" dirty="0">
                <a:solidFill>
                  <a:srgbClr val="203864"/>
                </a:solidFill>
                <a:latin typeface="Calibri" pitchFamily="34" charset="0"/>
                <a:ea typeface="Calibri" pitchFamily="34" charset="-122"/>
                <a:cs typeface="Calibri" pitchFamily="34" charset="-120"/>
              </a:rPr>
              <a:t>"Giải thích ngắn gọn bạch cầu là gì"</a:t>
            </a:r>
            <a:endParaRPr lang="en-US" sz="1333" dirty="0"/>
          </a:p>
        </p:txBody>
      </p:sp>
      <p:sp>
        <p:nvSpPr>
          <p:cNvPr id="7" name="Shape 4"/>
          <p:cNvSpPr/>
          <p:nvPr/>
        </p:nvSpPr>
        <p:spPr>
          <a:xfrm>
            <a:off x="609539" y="2340773"/>
            <a:ext cx="10972526" cy="1402050"/>
          </a:xfrm>
          <a:prstGeom prst="roundRect">
            <a:avLst>
              <a:gd name="adj" fmla="val 5218"/>
            </a:avLst>
          </a:prstGeom>
          <a:solidFill>
            <a:srgbClr val="FFF4F4"/>
          </a:solidFill>
          <a:ln w="12700">
            <a:solidFill>
              <a:srgbClr val="FFFFFF"/>
            </a:solidFill>
            <a:prstDash val="solid"/>
          </a:ln>
        </p:spPr>
      </p:sp>
      <p:sp>
        <p:nvSpPr>
          <p:cNvPr id="8" name="Text 5"/>
          <p:cNvSpPr txBox="1"/>
          <p:nvPr/>
        </p:nvSpPr>
        <p:spPr>
          <a:xfrm>
            <a:off x="853410" y="2426178"/>
            <a:ext cx="3657509" cy="292608"/>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AI trả lời</a:t>
            </a:r>
            <a:endParaRPr lang="en-US" sz="1333" dirty="0"/>
          </a:p>
        </p:txBody>
      </p:sp>
      <p:sp>
        <p:nvSpPr>
          <p:cNvPr id="9" name="Text 6"/>
          <p:cNvSpPr txBox="1"/>
          <p:nvPr/>
        </p:nvSpPr>
        <p:spPr>
          <a:xfrm>
            <a:off x="853410" y="2730947"/>
            <a:ext cx="10484876" cy="950976"/>
          </a:xfrm>
          <a:prstGeom prst="rect">
            <a:avLst/>
          </a:prstGeom>
          <a:noFill/>
          <a:ln/>
        </p:spPr>
        <p:txBody>
          <a:bodyPr wrap="square" lIns="0" tIns="0" rIns="0" bIns="0" rtlCol="0" anchor="ctr"/>
          <a:lstStyle/>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"Bạch cầu ... là tế bào lympho có khả năng di chuyển qua máu ...</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Bạch cầu giúp cơ thể chống lại vi-rút, vi khuẩn và tế bào gây ung thư.</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Khi hệ miễn dịch bị suy yếu, bạch cầu cũng giảm số lượng ..."</a:t>
            </a:r>
            <a:endParaRPr lang="en-US" sz="1467" dirty="0"/>
          </a:p>
        </p:txBody>
      </p:sp>
      <p:sp>
        <p:nvSpPr>
          <p:cNvPr id="10" name="Shape 7"/>
          <p:cNvSpPr/>
          <p:nvPr/>
        </p:nvSpPr>
        <p:spPr>
          <a:xfrm>
            <a:off x="609539"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1" name="Shape 8"/>
          <p:cNvSpPr/>
          <p:nvPr/>
        </p:nvSpPr>
        <p:spPr>
          <a:xfrm>
            <a:off x="828995" y="4169573"/>
            <a:ext cx="512064" cy="512064"/>
          </a:xfrm>
          <a:prstGeom prst="ellipse">
            <a:avLst/>
          </a:prstGeom>
          <a:solidFill>
            <a:srgbClr val="C62828"/>
          </a:solidFill>
          <a:ln/>
        </p:spPr>
      </p:sp>
      <p:sp>
        <p:nvSpPr>
          <p:cNvPr id="12" name="Text 9"/>
          <p:cNvSpPr txBox="1"/>
          <p:nvPr/>
        </p:nvSpPr>
        <p:spPr>
          <a:xfrm>
            <a:off x="828995"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3" name="Text 10"/>
          <p:cNvSpPr txBox="1"/>
          <p:nvPr/>
        </p:nvSpPr>
        <p:spPr>
          <a:xfrm>
            <a:off x="1487363"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Nói sai kiến thức</a:t>
            </a:r>
            <a:endParaRPr lang="en-US" sz="1600" dirty="0"/>
          </a:p>
        </p:txBody>
      </p:sp>
      <p:sp>
        <p:nvSpPr>
          <p:cNvPr id="14" name="Text 11"/>
          <p:cNvSpPr txBox="1"/>
          <p:nvPr/>
        </p:nvSpPr>
        <p:spPr>
          <a:xfrm>
            <a:off x="1487363"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Lympho chỉ là MỘT loại bạch cầu, không phải cùng nghĩa</a:t>
            </a:r>
            <a:endParaRPr lang="en-US" sz="1333" dirty="0"/>
          </a:p>
        </p:txBody>
      </p:sp>
      <p:sp>
        <p:nvSpPr>
          <p:cNvPr id="15" name="Shape 12"/>
          <p:cNvSpPr/>
          <p:nvPr/>
        </p:nvSpPr>
        <p:spPr>
          <a:xfrm>
            <a:off x="6278728"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Shape 13"/>
          <p:cNvSpPr/>
          <p:nvPr/>
        </p:nvSpPr>
        <p:spPr>
          <a:xfrm>
            <a:off x="6498184" y="4169573"/>
            <a:ext cx="512064" cy="512064"/>
          </a:xfrm>
          <a:prstGeom prst="ellipse">
            <a:avLst/>
          </a:prstGeom>
          <a:solidFill>
            <a:srgbClr val="C62828"/>
          </a:solidFill>
          <a:ln/>
        </p:spPr>
      </p:sp>
      <p:sp>
        <p:nvSpPr>
          <p:cNvPr id="17" name="Text 14"/>
          <p:cNvSpPr txBox="1"/>
          <p:nvPr/>
        </p:nvSpPr>
        <p:spPr>
          <a:xfrm>
            <a:off x="6498184"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5"/>
          <p:cNvSpPr txBox="1"/>
          <p:nvPr/>
        </p:nvSpPr>
        <p:spPr>
          <a:xfrm>
            <a:off x="7156552"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Tự nhắc tới bệnh</a:t>
            </a:r>
            <a:endParaRPr lang="en-US" sz="1600" dirty="0"/>
          </a:p>
        </p:txBody>
      </p:sp>
      <p:sp>
        <p:nvSpPr>
          <p:cNvPr id="19" name="Text 16"/>
          <p:cNvSpPr txBox="1"/>
          <p:nvPr/>
        </p:nvSpPr>
        <p:spPr>
          <a:xfrm>
            <a:off x="7156552"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Nói tới ung thư dù người ta không hề hỏi</a:t>
            </a:r>
            <a:endParaRPr lang="en-US" sz="1333" dirty="0"/>
          </a:p>
        </p:txBody>
      </p:sp>
      <p:sp>
        <p:nvSpPr>
          <p:cNvPr id="20" name="Text 17"/>
          <p:cNvSpPr txBox="1"/>
          <p:nvPr/>
        </p:nvSpPr>
        <p:spPr>
          <a:xfrm>
            <a:off x="609539" y="5266853"/>
            <a:ext cx="10972526" cy="512064"/>
          </a:xfrm>
          <a:prstGeom prst="rect">
            <a:avLst/>
          </a:prstGeom>
          <a:noFill/>
          <a:ln/>
        </p:spPr>
        <p:txBody>
          <a:bodyPr wrap="square" lIns="0" tIns="0" rIns="0" bIns="0" rtlCol="0" anchor="ctr"/>
          <a:lstStyle/>
          <a:p>
            <a:pPr algn="ctr" indent="0" marL="0">
              <a:buNone/>
            </a:pPr>
            <a:r>
              <a:rPr lang="en-US" sz="1533" b="1" dirty="0">
                <a:solidFill>
                  <a:srgbClr val="1F3864"/>
                </a:solidFill>
                <a:latin typeface="Calibri" pitchFamily="34" charset="0"/>
                <a:ea typeface="Calibri" pitchFamily="34" charset="-122"/>
                <a:cs typeface="Calibri" pitchFamily="34" charset="-120"/>
              </a:rPr>
              <a:t>Người có kết quả hoàn toàn bình thường vẫn nghe thấy hai chữ "ung thư" trong một câu trả lời ngắn.</a:t>
            </a:r>
            <a:endParaRPr lang="en-US" sz="1533"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3. Nhưng lỗi đáng sợ nhất lại là lỗi ngược lại</a:t>
            </a:r>
            <a:endParaRPr lang="en-US" sz="3000" dirty="0"/>
          </a:p>
        </p:txBody>
      </p:sp>
      <p:sp>
        <p:nvSpPr>
          <p:cNvPr id="4" name="Shape 1"/>
          <p:cNvSpPr/>
          <p:nvPr/>
        </p:nvSpPr>
        <p:spPr>
          <a:xfrm>
            <a:off x="609539" y="1219170"/>
            <a:ext cx="5303429" cy="1523939"/>
          </a:xfrm>
          <a:prstGeom prst="roundRect">
            <a:avLst>
              <a:gd name="adj" fmla="val 4800"/>
            </a:avLst>
          </a:prstGeom>
          <a:solidFill>
            <a:srgbClr val="F4F6F8"/>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402050"/>
            <a:ext cx="4815688" cy="390174"/>
          </a:xfrm>
          <a:prstGeom prst="rect">
            <a:avLst/>
          </a:prstGeom>
          <a:noFill/>
          <a:ln/>
        </p:spPr>
        <p:txBody>
          <a:bodyPr wrap="square" lIns="0" tIns="0" rIns="0" bIns="0" rtlCol="0" anchor="ctr"/>
          <a:lstStyle/>
          <a:p>
            <a:pPr algn="ctr" indent="0" marL="0">
              <a:buNone/>
            </a:pPr>
            <a:r>
              <a:rPr lang="en-US" sz="2000" b="1" dirty="0">
                <a:solidFill>
                  <a:srgbClr val="5A6B85"/>
                </a:solidFill>
                <a:latin typeface="Arial" pitchFamily="34" charset="0"/>
                <a:ea typeface="Arial" pitchFamily="34" charset="-122"/>
                <a:cs typeface="Arial" pitchFamily="34" charset="-120"/>
              </a:rPr>
              <a:t>Nói sai kiến thức</a:t>
            </a:r>
            <a:endParaRPr lang="en-US" sz="2000" dirty="0"/>
          </a:p>
        </p:txBody>
      </p:sp>
      <p:sp>
        <p:nvSpPr>
          <p:cNvPr id="6" name="Text 3"/>
          <p:cNvSpPr txBox="1"/>
          <p:nvPr/>
        </p:nvSpPr>
        <p:spPr>
          <a:xfrm>
            <a:off x="853410"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đọc nhận ra được</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và sẽ đi hỏi lại cho chắc</a:t>
            </a:r>
            <a:endParaRPr lang="en-US" sz="1467" dirty="0"/>
          </a:p>
        </p:txBody>
      </p:sp>
      <p:sp>
        <p:nvSpPr>
          <p:cNvPr id="7" name="Shape 4"/>
          <p:cNvSpPr/>
          <p:nvPr/>
        </p:nvSpPr>
        <p:spPr>
          <a:xfrm>
            <a:off x="6278728" y="1219170"/>
            <a:ext cx="5303429" cy="1523939"/>
          </a:xfrm>
          <a:prstGeom prst="roundRect">
            <a:avLst>
              <a:gd name="adj" fmla="val 4800"/>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8" name="Text 5"/>
          <p:cNvSpPr txBox="1"/>
          <p:nvPr/>
        </p:nvSpPr>
        <p:spPr>
          <a:xfrm>
            <a:off x="6522598" y="1402050"/>
            <a:ext cx="4815688" cy="390174"/>
          </a:xfrm>
          <a:prstGeom prst="rect">
            <a:avLst/>
          </a:prstGeom>
          <a:noFill/>
          <a:ln/>
        </p:spPr>
        <p:txBody>
          <a:bodyPr wrap="square" lIns="0" tIns="0" rIns="0" bIns="0" rtlCol="0" anchor="ctr"/>
          <a:lstStyle/>
          <a:p>
            <a:pPr algn="ctr" indent="0" marL="0">
              <a:buNone/>
            </a:pPr>
            <a:r>
              <a:rPr lang="en-US" sz="2000" b="1" dirty="0">
                <a:solidFill>
                  <a:srgbClr val="C62828"/>
                </a:solidFill>
                <a:latin typeface="Arial" pitchFamily="34" charset="0"/>
                <a:ea typeface="Arial" pitchFamily="34" charset="-122"/>
                <a:cs typeface="Arial" pitchFamily="34" charset="-120"/>
              </a:rPr>
              <a:t>Nói nhầm là bình thường</a:t>
            </a:r>
            <a:endParaRPr lang="en-US" sz="2000" dirty="0"/>
          </a:p>
        </p:txBody>
      </p:sp>
      <p:sp>
        <p:nvSpPr>
          <p:cNvPr id="9" name="Text 6"/>
          <p:cNvSpPr txBox="1"/>
          <p:nvPr/>
        </p:nvSpPr>
        <p:spPr>
          <a:xfrm>
            <a:off x="6522598"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Nghe êm tai, dễ tin —</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và khiến người ta không đi khám</a:t>
            </a:r>
            <a:endParaRPr lang="en-US" sz="1467" dirty="0"/>
          </a:p>
        </p:txBody>
      </p:sp>
      <p:sp>
        <p:nvSpPr>
          <p:cNvPr id="10" name="Shape 7"/>
          <p:cNvSpPr/>
          <p:nvPr/>
        </p:nvSpPr>
        <p:spPr>
          <a:xfrm>
            <a:off x="609539" y="2950403"/>
            <a:ext cx="10972526" cy="585216"/>
          </a:xfrm>
          <a:prstGeom prst="roundRect">
            <a:avLst>
              <a:gd name="adj" fmla="val 12500"/>
            </a:avLst>
          </a:prstGeom>
          <a:solidFill>
            <a:srgbClr val="FFFFFF"/>
          </a:solidFill>
          <a:ln w="12700">
            <a:solidFill>
              <a:srgbClr val="FFFFFF"/>
            </a:solidFill>
            <a:prstDash val="solid"/>
          </a:ln>
        </p:spPr>
      </p:sp>
      <p:sp>
        <p:nvSpPr>
          <p:cNvPr id="11" name="Text 8"/>
          <p:cNvSpPr txBox="1"/>
          <p:nvPr/>
        </p:nvSpPr>
        <p:spPr>
          <a:xfrm>
            <a:off x="853410" y="2950403"/>
            <a:ext cx="10484876" cy="585216"/>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Tức là: kết quả có chỉ số bất thường, nhưng AI lại bảo "mọi thứ đều bình thường".</a:t>
            </a:r>
            <a:endParaRPr lang="en-US" sz="1600" dirty="0"/>
          </a:p>
        </p:txBody>
      </p:sp>
      <p:sp>
        <p:nvSpPr>
          <p:cNvPr id="12" name="Text 9"/>
          <p:cNvSpPr txBox="1"/>
          <p:nvPr/>
        </p:nvSpPr>
        <p:spPr>
          <a:xfrm>
            <a:off x="609539" y="3681923"/>
            <a:ext cx="10972526" cy="317022"/>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Câu này AI thật sự đã viết ra, cho một ca đáng lẽ phải đi khám sớm:</a:t>
            </a:r>
            <a:endParaRPr lang="en-US" sz="1400" dirty="0"/>
          </a:p>
        </p:txBody>
      </p:sp>
      <p:sp>
        <p:nvSpPr>
          <p:cNvPr id="13" name="Shape 10"/>
          <p:cNvSpPr/>
          <p:nvPr/>
        </p:nvSpPr>
        <p:spPr>
          <a:xfrm>
            <a:off x="609539" y="4047683"/>
            <a:ext cx="10972526" cy="731520"/>
          </a:xfrm>
          <a:prstGeom prst="roundRect">
            <a:avLst>
              <a:gd name="adj" fmla="val 10000"/>
            </a:avLst>
          </a:prstGeom>
          <a:solidFill>
            <a:srgbClr val="FFF4F4"/>
          </a:solidFill>
          <a:ln w="12700">
            <a:solidFill>
              <a:srgbClr val="FFFFFF"/>
            </a:solidFill>
            <a:prstDash val="solid"/>
          </a:ln>
        </p:spPr>
      </p:sp>
      <p:sp>
        <p:nvSpPr>
          <p:cNvPr id="14" name="Text 11"/>
          <p:cNvSpPr txBox="1"/>
          <p:nvPr/>
        </p:nvSpPr>
        <p:spPr>
          <a:xfrm>
            <a:off x="853410" y="4047683"/>
            <a:ext cx="10484876" cy="731520"/>
          </a:xfrm>
          <a:prstGeom prst="rect">
            <a:avLst/>
          </a:prstGeom>
          <a:noFill/>
          <a:ln/>
        </p:spPr>
        <p:txBody>
          <a:bodyPr wrap="square" lIns="0" tIns="0" rIns="0" bIns="0" rtlCol="0" anchor="ctr"/>
          <a:lstStyle/>
          <a:p>
            <a:pPr algn="ctr" indent="0" marL="0">
              <a:buNone/>
            </a:pPr>
            <a:r>
              <a:rPr lang="en-US" sz="2000" b="1" i="1" dirty="0">
                <a:solidFill>
                  <a:srgbClr val="C62828"/>
                </a:solidFill>
                <a:latin typeface="Calibri" pitchFamily="34" charset="0"/>
                <a:ea typeface="Calibri" pitchFamily="34" charset="-122"/>
                <a:cs typeface="Calibri" pitchFamily="34" charset="-120"/>
              </a:rPr>
              <a:t>"Tất cả các kết quả đều nằm trong khoảng bình thường."</a:t>
            </a:r>
            <a:endParaRPr lang="en-US" sz="2000" dirty="0"/>
          </a:p>
        </p:txBody>
      </p:sp>
      <p:sp>
        <p:nvSpPr>
          <p:cNvPr id="15" name="Text 12"/>
          <p:cNvSpPr txBox="1"/>
          <p:nvPr/>
        </p:nvSpPr>
        <p:spPr>
          <a:xfrm>
            <a:off x="609539" y="5059558"/>
            <a:ext cx="10972526" cy="426750"/>
          </a:xfrm>
          <a:prstGeom prst="rect">
            <a:avLst/>
          </a:prstGeom>
          <a:noFill/>
          <a:ln/>
        </p:spPr>
        <p:txBody>
          <a:bodyPr wrap="square" lIns="0" tIns="0" rIns="0" bIns="0" rtlCol="0" anchor="ctr"/>
          <a:lstStyle/>
          <a:p>
            <a:pPr algn="ctr" indent="0" marL="0">
              <a:buNone/>
            </a:pPr>
            <a:r>
              <a:rPr lang="en-US" sz="1600" b="1" dirty="0">
                <a:solidFill>
                  <a:srgbClr val="1F3864"/>
                </a:solidFill>
                <a:latin typeface="Calibri" pitchFamily="34" charset="0"/>
                <a:ea typeface="Calibri" pitchFamily="34" charset="-122"/>
                <a:cs typeface="Calibri" pitchFamily="34" charset="-120"/>
              </a:rPr>
              <a:t>Chúng tôi tách riêng lỗi này và đếm riêng, vì hậu quả của nó nặng hơn hẳn.</a:t>
            </a:r>
            <a:endParaRPr lang="en-US" sz="1600"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4. Bài này đóng góp gì</a:t>
            </a:r>
            <a:endParaRPr lang="en-US" sz="3000" dirty="0"/>
          </a:p>
        </p:txBody>
      </p:sp>
      <p:sp>
        <p:nvSpPr>
          <p:cNvPr id="4" name="Shape 1"/>
          <p:cNvSpPr/>
          <p:nvPr/>
        </p:nvSpPr>
        <p:spPr>
          <a:xfrm>
            <a:off x="609539" y="1219170"/>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877824" y="1499616"/>
            <a:ext cx="560802" cy="560802"/>
          </a:xfrm>
          <a:prstGeom prst="ellipse">
            <a:avLst/>
          </a:prstGeom>
          <a:solidFill>
            <a:srgbClr val="1565C0"/>
          </a:solidFill>
          <a:ln/>
        </p:spPr>
      </p:sp>
      <p:sp>
        <p:nvSpPr>
          <p:cNvPr id="6" name="Text 3"/>
          <p:cNvSpPr txBox="1"/>
          <p:nvPr/>
        </p:nvSpPr>
        <p:spPr>
          <a:xfrm>
            <a:off x="877824" y="1499616"/>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609344" y="137763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Cách làm bốn bước</a:t>
            </a:r>
            <a:endParaRPr lang="en-US" sz="1800" dirty="0"/>
          </a:p>
        </p:txBody>
      </p:sp>
      <p:sp>
        <p:nvSpPr>
          <p:cNvPr id="8" name="Text 5"/>
          <p:cNvSpPr txBox="1"/>
          <p:nvPr/>
        </p:nvSpPr>
        <p:spPr>
          <a:xfrm>
            <a:off x="1609344" y="1731234"/>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Máy tính quyết định chỉ số nào bất thường TRƯỚC. AI chỉ viết lại cho dễ hiểu, không được tự phán đoán.</a:t>
            </a:r>
            <a:endParaRPr lang="en-US" sz="1400" dirty="0"/>
          </a:p>
        </p:txBody>
      </p:sp>
      <p:sp>
        <p:nvSpPr>
          <p:cNvPr id="9" name="Shape 6"/>
          <p:cNvSpPr/>
          <p:nvPr/>
        </p:nvSpPr>
        <p:spPr>
          <a:xfrm>
            <a:off x="609539" y="2499330"/>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877824" y="2779685"/>
            <a:ext cx="560802" cy="560802"/>
          </a:xfrm>
          <a:prstGeom prst="ellipse">
            <a:avLst/>
          </a:prstGeom>
          <a:solidFill>
            <a:srgbClr val="1565C0"/>
          </a:solidFill>
          <a:ln/>
        </p:spPr>
      </p:sp>
      <p:sp>
        <p:nvSpPr>
          <p:cNvPr id="11" name="Text 8"/>
          <p:cNvSpPr txBox="1"/>
          <p:nvPr/>
        </p:nvSpPr>
        <p:spPr>
          <a:xfrm>
            <a:off x="877824" y="277968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9"/>
          <p:cNvSpPr txBox="1"/>
          <p:nvPr/>
        </p:nvSpPr>
        <p:spPr>
          <a:xfrm>
            <a:off x="1609344" y="265779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Bộ kiểm tra tự động</a:t>
            </a:r>
            <a:endParaRPr lang="en-US" sz="1800" dirty="0"/>
          </a:p>
        </p:txBody>
      </p:sp>
      <p:sp>
        <p:nvSpPr>
          <p:cNvPr id="13" name="Text 10"/>
          <p:cNvSpPr txBox="1"/>
          <p:nvPr/>
        </p:nvSpPr>
        <p:spPr>
          <a:xfrm>
            <a:off x="1609344" y="3011394"/>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Đối chiếu câu AI viết với kết quả máy tính đã tính. Sai thì bắt viết lại, viết lại vẫn sai thì dùng câu mẫu.</a:t>
            </a:r>
            <a:endParaRPr lang="en-US" sz="1400" dirty="0"/>
          </a:p>
        </p:txBody>
      </p:sp>
      <p:sp>
        <p:nvSpPr>
          <p:cNvPr id="14" name="Shape 11"/>
          <p:cNvSpPr/>
          <p:nvPr/>
        </p:nvSpPr>
        <p:spPr>
          <a:xfrm>
            <a:off x="609539" y="3779398"/>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Shape 12"/>
          <p:cNvSpPr/>
          <p:nvPr/>
        </p:nvSpPr>
        <p:spPr>
          <a:xfrm>
            <a:off x="877824" y="4059845"/>
            <a:ext cx="560802" cy="560802"/>
          </a:xfrm>
          <a:prstGeom prst="ellipse">
            <a:avLst/>
          </a:prstGeom>
          <a:solidFill>
            <a:srgbClr val="1565C0"/>
          </a:solidFill>
          <a:ln/>
        </p:spPr>
      </p:sp>
      <p:sp>
        <p:nvSpPr>
          <p:cNvPr id="16" name="Text 13"/>
          <p:cNvSpPr txBox="1"/>
          <p:nvPr/>
        </p:nvSpPr>
        <p:spPr>
          <a:xfrm>
            <a:off x="877824" y="405984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txBox="1"/>
          <p:nvPr/>
        </p:nvSpPr>
        <p:spPr>
          <a:xfrm>
            <a:off x="1609344" y="393795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Đếm riêng lỗi "nói nhầm là bình thường"</a:t>
            </a:r>
            <a:endParaRPr lang="en-US" sz="1800" dirty="0"/>
          </a:p>
        </p:txBody>
      </p:sp>
      <p:sp>
        <p:nvSpPr>
          <p:cNvPr id="18" name="Text 15"/>
          <p:cNvSpPr txBox="1"/>
          <p:nvPr/>
        </p:nvSpPr>
        <p:spPr>
          <a:xfrm>
            <a:off x="1609344" y="4291462"/>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Các nghiên cứu trước chưa ai tách riêng lỗi này, dù nó nguy hiểm nhất.</a:t>
            </a:r>
            <a:endParaRPr lang="en-US" sz="1400" dirty="0"/>
          </a:p>
        </p:txBody>
      </p:sp>
      <p:sp>
        <p:nvSpPr>
          <p:cNvPr id="19" name="Shape 16"/>
          <p:cNvSpPr/>
          <p:nvPr/>
        </p:nvSpPr>
        <p:spPr>
          <a:xfrm>
            <a:off x="609539" y="5059558"/>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877824" y="5340005"/>
            <a:ext cx="560802" cy="560802"/>
          </a:xfrm>
          <a:prstGeom prst="ellipse">
            <a:avLst/>
          </a:prstGeom>
          <a:solidFill>
            <a:srgbClr val="1565C0"/>
          </a:solidFill>
          <a:ln/>
        </p:spPr>
      </p:sp>
      <p:sp>
        <p:nvSpPr>
          <p:cNvPr id="21" name="Text 18"/>
          <p:cNvSpPr txBox="1"/>
          <p:nvPr/>
        </p:nvSpPr>
        <p:spPr>
          <a:xfrm>
            <a:off x="877824" y="534000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9"/>
          <p:cNvSpPr txBox="1"/>
          <p:nvPr/>
        </p:nvSpPr>
        <p:spPr>
          <a:xfrm>
            <a:off x="1609344" y="5218024"/>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Chỉ ra vấn đề đơn vị đo</a:t>
            </a:r>
            <a:endParaRPr lang="en-US" sz="1800" dirty="0"/>
          </a:p>
        </p:txBody>
      </p:sp>
      <p:sp>
        <p:nvSpPr>
          <p:cNvPr id="23" name="Text 20"/>
          <p:cNvSpPr txBox="1"/>
          <p:nvPr/>
        </p:nvSpPr>
        <p:spPr>
          <a:xfrm>
            <a:off x="1609344" y="5571622"/>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Mỗi phòng xét nghiệm ghi đơn vị một kiểu, và chính điều đó gây báo động nhầm.</a:t>
            </a:r>
            <a:endParaRPr lang="en-US" sz="1400" dirty="0"/>
          </a:p>
        </p:txBody>
      </p:sp>
      <p:sp>
        <p:nvSpPr>
          <p:cNvPr id="24" name="Text 21"/>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5. Bốn bước xử lý</a:t>
            </a:r>
            <a:endParaRPr lang="en-US" sz="3000" dirty="0"/>
          </a:p>
        </p:txBody>
      </p:sp>
      <p:sp>
        <p:nvSpPr>
          <p:cNvPr id="4" name="Shape 1"/>
          <p:cNvSpPr/>
          <p:nvPr/>
        </p:nvSpPr>
        <p:spPr>
          <a:xfrm>
            <a:off x="609539" y="1158179"/>
            <a:ext cx="10972526" cy="512064"/>
          </a:xfrm>
          <a:prstGeom prst="roundRect">
            <a:avLst>
              <a:gd name="adj" fmla="val 14286"/>
            </a:avLst>
          </a:prstGeom>
          <a:solidFill>
            <a:srgbClr val="1F3864"/>
          </a:solidFill>
          <a:ln w="12700">
            <a:solidFill>
              <a:srgbClr val="FFFFFF"/>
            </a:solidFill>
            <a:prstDash val="solid"/>
          </a:ln>
        </p:spPr>
      </p:sp>
      <p:sp>
        <p:nvSpPr>
          <p:cNvPr id="5" name="Text 2"/>
          <p:cNvSpPr txBox="1"/>
          <p:nvPr/>
        </p:nvSpPr>
        <p:spPr>
          <a:xfrm>
            <a:off x="609539" y="1158179"/>
            <a:ext cx="10972526"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Arial" pitchFamily="34" charset="0"/>
                <a:ea typeface="Arial" pitchFamily="34" charset="-122"/>
                <a:cs typeface="Arial" pitchFamily="34" charset="-120"/>
              </a:rPr>
              <a:t>Nguyên tắc: AI KHÔNG được quyết định chỉ số nào là bất thường</a:t>
            </a:r>
            <a:endParaRPr lang="en-US" sz="1667" dirty="0"/>
          </a:p>
        </p:txBody>
      </p:sp>
      <p:sp>
        <p:nvSpPr>
          <p:cNvPr id="6" name="Shape 3"/>
          <p:cNvSpPr/>
          <p:nvPr/>
        </p:nvSpPr>
        <p:spPr>
          <a:xfrm>
            <a:off x="609539"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7" name="Shape 4"/>
          <p:cNvSpPr/>
          <p:nvPr/>
        </p:nvSpPr>
        <p:spPr>
          <a:xfrm>
            <a:off x="609539" y="1975013"/>
            <a:ext cx="2499330" cy="512064"/>
          </a:xfrm>
          <a:prstGeom prst="roundRect">
            <a:avLst>
              <a:gd name="adj" fmla="val 14286"/>
            </a:avLst>
          </a:prstGeom>
          <a:solidFill>
            <a:srgbClr val="2E7D32"/>
          </a:solidFill>
          <a:ln w="12700">
            <a:solidFill>
              <a:srgbClr val="333333"/>
            </a:solidFill>
            <a:prstDash val="solid"/>
          </a:ln>
        </p:spPr>
      </p:sp>
      <p:sp>
        <p:nvSpPr>
          <p:cNvPr id="8" name="Text 5"/>
          <p:cNvSpPr txBox="1"/>
          <p:nvPr/>
        </p:nvSpPr>
        <p:spPr>
          <a:xfrm>
            <a:off x="670530"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B1 · Đọc phiếu</a:t>
            </a:r>
            <a:endParaRPr lang="en-US" sz="1307" dirty="0"/>
          </a:p>
        </p:txBody>
      </p:sp>
      <p:sp>
        <p:nvSpPr>
          <p:cNvPr id="9" name="Text 6"/>
          <p:cNvSpPr txBox="1"/>
          <p:nvPr/>
        </p:nvSpPr>
        <p:spPr>
          <a:xfrm>
            <a:off x="755843"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Nhận ra tên chỉ số</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Quy đổi đơn vị</a:t>
            </a:r>
            <a:endParaRPr lang="en-US" sz="1333" dirty="0"/>
          </a:p>
        </p:txBody>
      </p:sp>
      <p:sp>
        <p:nvSpPr>
          <p:cNvPr id="10" name="Shape 7"/>
          <p:cNvSpPr/>
          <p:nvPr/>
        </p:nvSpPr>
        <p:spPr>
          <a:xfrm>
            <a:off x="975299" y="3925702"/>
            <a:ext cx="1767810" cy="390174"/>
          </a:xfrm>
          <a:prstGeom prst="roundRect">
            <a:avLst>
              <a:gd name="adj" fmla="val 15632"/>
            </a:avLst>
          </a:prstGeom>
          <a:solidFill>
            <a:srgbClr val="F2F6FB"/>
          </a:solidFill>
          <a:ln w="12700">
            <a:solidFill>
              <a:srgbClr val="2E7D32"/>
            </a:solidFill>
            <a:prstDash val="solid"/>
          </a:ln>
        </p:spPr>
      </p:sp>
      <p:sp>
        <p:nvSpPr>
          <p:cNvPr id="11" name="Text 8"/>
          <p:cNvSpPr txBox="1"/>
          <p:nvPr/>
        </p:nvSpPr>
        <p:spPr>
          <a:xfrm>
            <a:off x="975299"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Máy tính làm</a:t>
            </a:r>
            <a:endParaRPr lang="en-US" sz="1200" dirty="0"/>
          </a:p>
        </p:txBody>
      </p:sp>
      <p:sp>
        <p:nvSpPr>
          <p:cNvPr id="12" name="Shape 9"/>
          <p:cNvSpPr/>
          <p:nvPr/>
        </p:nvSpPr>
        <p:spPr>
          <a:xfrm>
            <a:off x="3157606" y="3108869"/>
            <a:ext cx="231618" cy="317022"/>
          </a:xfrm>
          <a:prstGeom prst="rightArrow">
            <a:avLst/>
          </a:prstGeom>
          <a:solidFill>
            <a:srgbClr val="1F3864"/>
          </a:solidFill>
          <a:ln w="12700">
            <a:solidFill>
              <a:srgbClr val="333333"/>
            </a:solidFill>
            <a:prstDash val="solid"/>
          </a:ln>
        </p:spPr>
      </p:sp>
      <p:sp>
        <p:nvSpPr>
          <p:cNvPr id="13" name="Shape 10"/>
          <p:cNvSpPr/>
          <p:nvPr/>
        </p:nvSpPr>
        <p:spPr>
          <a:xfrm>
            <a:off x="3438053"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3438053" y="1975013"/>
            <a:ext cx="2499330" cy="512064"/>
          </a:xfrm>
          <a:prstGeom prst="roundRect">
            <a:avLst>
              <a:gd name="adj" fmla="val 14286"/>
            </a:avLst>
          </a:prstGeom>
          <a:solidFill>
            <a:srgbClr val="2E7D32"/>
          </a:solidFill>
          <a:ln w="12700">
            <a:solidFill>
              <a:srgbClr val="333333"/>
            </a:solidFill>
            <a:prstDash val="solid"/>
          </a:ln>
        </p:spPr>
      </p:sp>
      <p:sp>
        <p:nvSpPr>
          <p:cNvPr id="15" name="Text 12"/>
          <p:cNvSpPr txBox="1"/>
          <p:nvPr/>
        </p:nvSpPr>
        <p:spPr>
          <a:xfrm>
            <a:off x="3499043"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B2 · Đối chiếu ngưỡng</a:t>
            </a:r>
            <a:endParaRPr lang="en-US" sz="1307" dirty="0"/>
          </a:p>
        </p:txBody>
      </p:sp>
      <p:sp>
        <p:nvSpPr>
          <p:cNvPr id="16" name="Text 13"/>
          <p:cNvSpPr txBox="1"/>
          <p:nvPr/>
        </p:nvSpPr>
        <p:spPr>
          <a:xfrm>
            <a:off x="3584357"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So với khoảng bình thường</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Chia 3 mức</a:t>
            </a:r>
            <a:endParaRPr lang="en-US" sz="1333" dirty="0"/>
          </a:p>
        </p:txBody>
      </p:sp>
      <p:sp>
        <p:nvSpPr>
          <p:cNvPr id="17" name="Shape 14"/>
          <p:cNvSpPr/>
          <p:nvPr/>
        </p:nvSpPr>
        <p:spPr>
          <a:xfrm>
            <a:off x="3803813" y="3925702"/>
            <a:ext cx="1767810" cy="390174"/>
          </a:xfrm>
          <a:prstGeom prst="roundRect">
            <a:avLst>
              <a:gd name="adj" fmla="val 15632"/>
            </a:avLst>
          </a:prstGeom>
          <a:solidFill>
            <a:srgbClr val="F2F6FB"/>
          </a:solidFill>
          <a:ln w="12700">
            <a:solidFill>
              <a:srgbClr val="2E7D32"/>
            </a:solidFill>
            <a:prstDash val="solid"/>
          </a:ln>
        </p:spPr>
      </p:sp>
      <p:sp>
        <p:nvSpPr>
          <p:cNvPr id="18" name="Text 15"/>
          <p:cNvSpPr txBox="1"/>
          <p:nvPr/>
        </p:nvSpPr>
        <p:spPr>
          <a:xfrm>
            <a:off x="3803813"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Máy tính làm</a:t>
            </a:r>
            <a:endParaRPr lang="en-US" sz="1200" dirty="0"/>
          </a:p>
        </p:txBody>
      </p:sp>
      <p:sp>
        <p:nvSpPr>
          <p:cNvPr id="19" name="Shape 16"/>
          <p:cNvSpPr/>
          <p:nvPr/>
        </p:nvSpPr>
        <p:spPr>
          <a:xfrm>
            <a:off x="5986120" y="3108869"/>
            <a:ext cx="231618" cy="317022"/>
          </a:xfrm>
          <a:prstGeom prst="rightArrow">
            <a:avLst/>
          </a:prstGeom>
          <a:solidFill>
            <a:srgbClr val="1F3864"/>
          </a:solidFill>
          <a:ln w="12700">
            <a:solidFill>
              <a:srgbClr val="333333"/>
            </a:solidFill>
            <a:prstDash val="solid"/>
          </a:ln>
        </p:spPr>
      </p:sp>
      <p:sp>
        <p:nvSpPr>
          <p:cNvPr id="20" name="Shape 17"/>
          <p:cNvSpPr/>
          <p:nvPr/>
        </p:nvSpPr>
        <p:spPr>
          <a:xfrm>
            <a:off x="6266566"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1" name="Shape 18"/>
          <p:cNvSpPr/>
          <p:nvPr/>
        </p:nvSpPr>
        <p:spPr>
          <a:xfrm>
            <a:off x="6266566" y="1975013"/>
            <a:ext cx="2499330" cy="512064"/>
          </a:xfrm>
          <a:prstGeom prst="roundRect">
            <a:avLst>
              <a:gd name="adj" fmla="val 14286"/>
            </a:avLst>
          </a:prstGeom>
          <a:solidFill>
            <a:srgbClr val="1565C0"/>
          </a:solidFill>
          <a:ln w="12700">
            <a:solidFill>
              <a:srgbClr val="333333"/>
            </a:solidFill>
            <a:prstDash val="solid"/>
          </a:ln>
        </p:spPr>
      </p:sp>
      <p:sp>
        <p:nvSpPr>
          <p:cNvPr id="22" name="Text 19"/>
          <p:cNvSpPr txBox="1"/>
          <p:nvPr/>
        </p:nvSpPr>
        <p:spPr>
          <a:xfrm>
            <a:off x="6327465"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B3 · AI viết lời giải thích</a:t>
            </a:r>
            <a:endParaRPr lang="en-US" sz="1307" dirty="0"/>
          </a:p>
        </p:txBody>
      </p:sp>
      <p:sp>
        <p:nvSpPr>
          <p:cNvPr id="23" name="Text 20"/>
          <p:cNvSpPr txBox="1"/>
          <p:nvPr/>
        </p:nvSpPr>
        <p:spPr>
          <a:xfrm>
            <a:off x="6412870"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Nhận sẵn kết quả B2</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Chỉ viết lại cho dễ hiểu</a:t>
            </a:r>
            <a:endParaRPr lang="en-US" sz="1333" dirty="0"/>
          </a:p>
        </p:txBody>
      </p:sp>
      <p:sp>
        <p:nvSpPr>
          <p:cNvPr id="24" name="Shape 21"/>
          <p:cNvSpPr/>
          <p:nvPr/>
        </p:nvSpPr>
        <p:spPr>
          <a:xfrm>
            <a:off x="6632326" y="3925702"/>
            <a:ext cx="1767810" cy="390174"/>
          </a:xfrm>
          <a:prstGeom prst="roundRect">
            <a:avLst>
              <a:gd name="adj" fmla="val 15632"/>
            </a:avLst>
          </a:prstGeom>
          <a:solidFill>
            <a:srgbClr val="F2F6FB"/>
          </a:solidFill>
          <a:ln w="12700">
            <a:solidFill>
              <a:srgbClr val="1565C0"/>
            </a:solidFill>
            <a:prstDash val="solid"/>
          </a:ln>
        </p:spPr>
      </p:sp>
      <p:sp>
        <p:nvSpPr>
          <p:cNvPr id="25" name="Text 22"/>
          <p:cNvSpPr txBox="1"/>
          <p:nvPr/>
        </p:nvSpPr>
        <p:spPr>
          <a:xfrm>
            <a:off x="6632326" y="3925702"/>
            <a:ext cx="1767810" cy="390174"/>
          </a:xfrm>
          <a:prstGeom prst="rect">
            <a:avLst/>
          </a:prstGeom>
          <a:noFill/>
          <a:ln/>
        </p:spPr>
        <p:txBody>
          <a:bodyPr wrap="square" lIns="0" tIns="0" rIns="0" bIns="0" rtlCol="0" anchor="ctr"/>
          <a:lstStyle/>
          <a:p>
            <a:pPr algn="ctr" indent="0" marL="0">
              <a:buNone/>
            </a:pPr>
            <a:r>
              <a:rPr lang="en-US" sz="1200" b="1" dirty="0">
                <a:solidFill>
                  <a:srgbClr val="1565C0"/>
                </a:solidFill>
                <a:latin typeface="Calibri" pitchFamily="34" charset="0"/>
                <a:ea typeface="Calibri" pitchFamily="34" charset="-122"/>
                <a:cs typeface="Calibri" pitchFamily="34" charset="-120"/>
              </a:rPr>
              <a:t>AI làm</a:t>
            </a:r>
            <a:endParaRPr lang="en-US" sz="1200" dirty="0"/>
          </a:p>
        </p:txBody>
      </p:sp>
      <p:sp>
        <p:nvSpPr>
          <p:cNvPr id="26" name="Shape 23"/>
          <p:cNvSpPr/>
          <p:nvPr/>
        </p:nvSpPr>
        <p:spPr>
          <a:xfrm>
            <a:off x="8814633" y="3108869"/>
            <a:ext cx="231618" cy="317022"/>
          </a:xfrm>
          <a:prstGeom prst="rightArrow">
            <a:avLst/>
          </a:prstGeom>
          <a:solidFill>
            <a:srgbClr val="1F3864"/>
          </a:solidFill>
          <a:ln w="12700">
            <a:solidFill>
              <a:srgbClr val="333333"/>
            </a:solidFill>
            <a:prstDash val="solid"/>
          </a:ln>
        </p:spPr>
      </p:sp>
      <p:sp>
        <p:nvSpPr>
          <p:cNvPr id="27" name="Shape 24"/>
          <p:cNvSpPr/>
          <p:nvPr/>
        </p:nvSpPr>
        <p:spPr>
          <a:xfrm>
            <a:off x="9094988"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8" name="Shape 25"/>
          <p:cNvSpPr/>
          <p:nvPr/>
        </p:nvSpPr>
        <p:spPr>
          <a:xfrm>
            <a:off x="9094988" y="1975013"/>
            <a:ext cx="2499330" cy="512064"/>
          </a:xfrm>
          <a:prstGeom prst="roundRect">
            <a:avLst>
              <a:gd name="adj" fmla="val 14286"/>
            </a:avLst>
          </a:prstGeom>
          <a:solidFill>
            <a:srgbClr val="E6A700"/>
          </a:solidFill>
          <a:ln w="12700">
            <a:solidFill>
              <a:srgbClr val="333333"/>
            </a:solidFill>
            <a:prstDash val="solid"/>
          </a:ln>
        </p:spPr>
      </p:sp>
      <p:sp>
        <p:nvSpPr>
          <p:cNvPr id="29" name="Text 26"/>
          <p:cNvSpPr txBox="1"/>
          <p:nvPr/>
        </p:nvSpPr>
        <p:spPr>
          <a:xfrm>
            <a:off x="9155979"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B4 · Kiểm tra lại</a:t>
            </a:r>
            <a:endParaRPr lang="en-US" sz="1307" dirty="0"/>
          </a:p>
        </p:txBody>
      </p:sp>
      <p:sp>
        <p:nvSpPr>
          <p:cNvPr id="30" name="Text 27"/>
          <p:cNvSpPr txBox="1"/>
          <p:nvPr/>
        </p:nvSpPr>
        <p:spPr>
          <a:xfrm>
            <a:off x="9241292"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Đối chiếu với B2</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Sai thì viết lại</a:t>
            </a:r>
            <a:endParaRPr lang="en-US" sz="1333" dirty="0"/>
          </a:p>
        </p:txBody>
      </p:sp>
      <p:sp>
        <p:nvSpPr>
          <p:cNvPr id="31" name="Shape 28"/>
          <p:cNvSpPr/>
          <p:nvPr/>
        </p:nvSpPr>
        <p:spPr>
          <a:xfrm>
            <a:off x="9460748" y="3925702"/>
            <a:ext cx="1767810" cy="390174"/>
          </a:xfrm>
          <a:prstGeom prst="roundRect">
            <a:avLst>
              <a:gd name="adj" fmla="val 15632"/>
            </a:avLst>
          </a:prstGeom>
          <a:solidFill>
            <a:srgbClr val="F2F6FB"/>
          </a:solidFill>
          <a:ln w="12700">
            <a:solidFill>
              <a:srgbClr val="E6A700"/>
            </a:solidFill>
            <a:prstDash val="solid"/>
          </a:ln>
        </p:spPr>
      </p:sp>
      <p:sp>
        <p:nvSpPr>
          <p:cNvPr id="32" name="Text 29"/>
          <p:cNvSpPr txBox="1"/>
          <p:nvPr/>
        </p:nvSpPr>
        <p:spPr>
          <a:xfrm>
            <a:off x="9460748" y="3925702"/>
            <a:ext cx="1767810" cy="390174"/>
          </a:xfrm>
          <a:prstGeom prst="rect">
            <a:avLst/>
          </a:prstGeom>
          <a:noFill/>
          <a:ln/>
        </p:spPr>
        <p:txBody>
          <a:bodyPr wrap="square" lIns="0" tIns="0" rIns="0" bIns="0" rtlCol="0" anchor="ctr"/>
          <a:lstStyle/>
          <a:p>
            <a:pPr algn="ctr" indent="0" marL="0">
              <a:buNone/>
            </a:pPr>
            <a:r>
              <a:rPr lang="en-US" sz="1200" b="1" dirty="0">
                <a:solidFill>
                  <a:srgbClr val="E6A700"/>
                </a:solidFill>
                <a:latin typeface="Calibri" pitchFamily="34" charset="0"/>
                <a:ea typeface="Calibri" pitchFamily="34" charset="-122"/>
                <a:cs typeface="Calibri" pitchFamily="34" charset="-120"/>
              </a:rPr>
              <a:t>Máy tính làm</a:t>
            </a:r>
            <a:endParaRPr lang="en-US" sz="1200" dirty="0"/>
          </a:p>
        </p:txBody>
      </p:sp>
      <p:sp>
        <p:nvSpPr>
          <p:cNvPr id="33" name="Shape 30"/>
          <p:cNvSpPr/>
          <p:nvPr/>
        </p:nvSpPr>
        <p:spPr>
          <a:xfrm>
            <a:off x="609539" y="4815688"/>
            <a:ext cx="10972526" cy="731520"/>
          </a:xfrm>
          <a:prstGeom prst="roundRect">
            <a:avLst>
              <a:gd name="adj" fmla="val 10000"/>
            </a:avLst>
          </a:prstGeom>
          <a:solidFill>
            <a:srgbClr val="FFF8E6"/>
          </a:solidFill>
          <a:ln w="12700">
            <a:solidFill>
              <a:srgbClr val="FFFFFF"/>
            </a:solidFill>
            <a:prstDash val="solid"/>
          </a:ln>
        </p:spPr>
      </p:sp>
      <p:sp>
        <p:nvSpPr>
          <p:cNvPr id="34" name="Text 31"/>
          <p:cNvSpPr txBox="1"/>
          <p:nvPr/>
        </p:nvSpPr>
        <p:spPr>
          <a:xfrm>
            <a:off x="853410" y="4815688"/>
            <a:ext cx="10484876" cy="731520"/>
          </a:xfrm>
          <a:prstGeom prst="rect">
            <a:avLst/>
          </a:prstGeom>
          <a:noFill/>
          <a:ln/>
        </p:spPr>
        <p:txBody>
          <a:bodyPr wrap="square" lIns="0" tIns="0" rIns="0" bIns="0" rtlCol="0" anchor="ctr"/>
          <a:lstStyle/>
          <a:p>
            <a:pPr indent="0" marL="0">
              <a:buNone/>
            </a:pPr>
            <a:r>
              <a:rPr lang="en-US" sz="1467" dirty="0">
                <a:solidFill>
                  <a:srgbClr val="203864"/>
                </a:solidFill>
                <a:latin typeface="Calibri" pitchFamily="34" charset="0"/>
                <a:ea typeface="Calibri" pitchFamily="34" charset="-122"/>
                <a:cs typeface="Calibri" pitchFamily="34" charset="-120"/>
              </a:rPr>
              <a:t>Câu nào không qua kiểm tra thì bắt viết lại; viết mấy lần vẫn sai thì dùng câu mẫu có sẵn. Không bao giờ đưa cho người bệnh câu chưa kiểm tra.</a:t>
            </a:r>
            <a:endParaRPr lang="en-US" sz="1467" dirty="0"/>
          </a:p>
        </p:txBody>
      </p:sp>
      <p:sp>
        <p:nvSpPr>
          <p:cNvPr id="35" name="Text 3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6. Bước 1 — Đọc phiếu và quy đổi đơn vị</a:t>
            </a:r>
            <a:endParaRPr lang="en-US" sz="3000" dirty="0"/>
          </a:p>
        </p:txBody>
      </p:sp>
      <p:sp>
        <p:nvSpPr>
          <p:cNvPr id="4" name="Shape 1"/>
          <p:cNvSpPr/>
          <p:nvPr/>
        </p:nvSpPr>
        <p:spPr>
          <a:xfrm>
            <a:off x="609539" y="1194755"/>
            <a:ext cx="5303429" cy="2743109"/>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341059"/>
            <a:ext cx="4815688" cy="365760"/>
          </a:xfrm>
          <a:prstGeom prst="rect">
            <a:avLst/>
          </a:prstGeom>
          <a:noFill/>
          <a:ln/>
        </p:spPr>
        <p:txBody>
          <a:bodyPr wrap="square" lIns="0" tIns="0" rIns="0" bIns="0" rtlCol="0" anchor="ctr"/>
          <a:lstStyle/>
          <a:p>
            <a:pPr indent="0" marL="0">
              <a:buNone/>
            </a:pPr>
            <a:r>
              <a:rPr lang="en-US" sz="1733" b="1" dirty="0">
                <a:solidFill>
                  <a:srgbClr val="1F3864"/>
                </a:solidFill>
                <a:latin typeface="Arial" pitchFamily="34" charset="0"/>
                <a:ea typeface="Arial" pitchFamily="34" charset="-122"/>
                <a:cs typeface="Arial" pitchFamily="34" charset="-120"/>
              </a:rPr>
              <a:t>Một chỉ số, nhiều cách viết</a:t>
            </a:r>
            <a:endParaRPr lang="en-US" sz="1733" dirty="0"/>
          </a:p>
        </p:txBody>
      </p:sp>
      <p:sp>
        <p:nvSpPr>
          <p:cNvPr id="6" name="Shape 3"/>
          <p:cNvSpPr/>
          <p:nvPr/>
        </p:nvSpPr>
        <p:spPr>
          <a:xfrm>
            <a:off x="877824" y="1779971"/>
            <a:ext cx="2316450" cy="414498"/>
          </a:xfrm>
          <a:prstGeom prst="roundRect">
            <a:avLst>
              <a:gd name="adj" fmla="val 11758"/>
            </a:avLst>
          </a:prstGeom>
          <a:solidFill>
            <a:srgbClr val="F2F6FB"/>
          </a:solidFill>
          <a:ln w="9525">
            <a:solidFill>
              <a:srgbClr val="1565C0"/>
            </a:solidFill>
            <a:prstDash val="solid"/>
          </a:ln>
        </p:spPr>
      </p:sp>
      <p:sp>
        <p:nvSpPr>
          <p:cNvPr id="7" name="Text 4"/>
          <p:cNvSpPr txBox="1"/>
          <p:nvPr/>
        </p:nvSpPr>
        <p:spPr>
          <a:xfrm>
            <a:off x="877824"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WBC</a:t>
            </a:r>
            <a:endParaRPr lang="en-US" sz="1333" dirty="0"/>
          </a:p>
        </p:txBody>
      </p:sp>
      <p:sp>
        <p:nvSpPr>
          <p:cNvPr id="8" name="Shape 5"/>
          <p:cNvSpPr/>
          <p:nvPr/>
        </p:nvSpPr>
        <p:spPr>
          <a:xfrm>
            <a:off x="3316163" y="1779971"/>
            <a:ext cx="2316450" cy="414498"/>
          </a:xfrm>
          <a:prstGeom prst="roundRect">
            <a:avLst>
              <a:gd name="adj" fmla="val 11758"/>
            </a:avLst>
          </a:prstGeom>
          <a:solidFill>
            <a:srgbClr val="F2F6FB"/>
          </a:solidFill>
          <a:ln w="9525">
            <a:solidFill>
              <a:srgbClr val="1565C0"/>
            </a:solidFill>
            <a:prstDash val="solid"/>
          </a:ln>
        </p:spPr>
      </p:sp>
      <p:sp>
        <p:nvSpPr>
          <p:cNvPr id="9" name="Text 6"/>
          <p:cNvSpPr txBox="1"/>
          <p:nvPr/>
        </p:nvSpPr>
        <p:spPr>
          <a:xfrm>
            <a:off x="3316163"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SLBC</a:t>
            </a:r>
            <a:endParaRPr lang="en-US" sz="1333" dirty="0"/>
          </a:p>
        </p:txBody>
      </p:sp>
      <p:sp>
        <p:nvSpPr>
          <p:cNvPr id="10" name="Shape 7"/>
          <p:cNvSpPr/>
          <p:nvPr/>
        </p:nvSpPr>
        <p:spPr>
          <a:xfrm>
            <a:off x="877824" y="2292035"/>
            <a:ext cx="2316450" cy="414498"/>
          </a:xfrm>
          <a:prstGeom prst="roundRect">
            <a:avLst>
              <a:gd name="adj" fmla="val 11758"/>
            </a:avLst>
          </a:prstGeom>
          <a:solidFill>
            <a:srgbClr val="F2F6FB"/>
          </a:solidFill>
          <a:ln w="9525">
            <a:solidFill>
              <a:srgbClr val="1565C0"/>
            </a:solidFill>
            <a:prstDash val="solid"/>
          </a:ln>
        </p:spPr>
      </p:sp>
      <p:sp>
        <p:nvSpPr>
          <p:cNvPr id="11" name="Text 8"/>
          <p:cNvSpPr txBox="1"/>
          <p:nvPr/>
        </p:nvSpPr>
        <p:spPr>
          <a:xfrm>
            <a:off x="877824"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Số lượng bạch cầu</a:t>
            </a:r>
            <a:endParaRPr lang="en-US" sz="1333" dirty="0"/>
          </a:p>
        </p:txBody>
      </p:sp>
      <p:sp>
        <p:nvSpPr>
          <p:cNvPr id="12" name="Shape 9"/>
          <p:cNvSpPr/>
          <p:nvPr/>
        </p:nvSpPr>
        <p:spPr>
          <a:xfrm>
            <a:off x="3316163" y="2292035"/>
            <a:ext cx="2316450" cy="414498"/>
          </a:xfrm>
          <a:prstGeom prst="roundRect">
            <a:avLst>
              <a:gd name="adj" fmla="val 11758"/>
            </a:avLst>
          </a:prstGeom>
          <a:solidFill>
            <a:srgbClr val="F2F6FB"/>
          </a:solidFill>
          <a:ln w="9525">
            <a:solidFill>
              <a:srgbClr val="1565C0"/>
            </a:solidFill>
            <a:prstDash val="solid"/>
          </a:ln>
        </p:spPr>
      </p:sp>
      <p:sp>
        <p:nvSpPr>
          <p:cNvPr id="13" name="Text 10"/>
          <p:cNvSpPr txBox="1"/>
          <p:nvPr/>
        </p:nvSpPr>
        <p:spPr>
          <a:xfrm>
            <a:off x="3316163"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 WBC</a:t>
            </a:r>
            <a:endParaRPr lang="en-US" sz="1333" dirty="0"/>
          </a:p>
        </p:txBody>
      </p:sp>
      <p:sp>
        <p:nvSpPr>
          <p:cNvPr id="14" name="Text 11"/>
          <p:cNvSpPr txBox="1"/>
          <p:nvPr/>
        </p:nvSpPr>
        <p:spPr>
          <a:xfrm>
            <a:off x="853410" y="3047878"/>
            <a:ext cx="4852264" cy="731520"/>
          </a:xfrm>
          <a:prstGeom prst="rect">
            <a:avLst/>
          </a:prstGeom>
          <a:noFill/>
          <a:ln/>
        </p:spPr>
        <p:txBody>
          <a:bodyPr wrap="square" lIns="0" tIns="0" rIns="0" bIns="0" rtlCol="0" anchor="ctr"/>
          <a:lstStyle/>
          <a:p>
            <a:pPr indent="0" marL="0">
              <a:lnSpc>
                <a:spcPts val="1733"/>
              </a:lnSpc>
              <a:buNone/>
            </a:pPr>
            <a:r>
              <a:rPr lang="en-US" sz="1267" dirty="0">
                <a:solidFill>
                  <a:srgbClr val="5A6B85"/>
                </a:solidFill>
                <a:latin typeface="Calibri" pitchFamily="34" charset="0"/>
                <a:ea typeface="Calibri" pitchFamily="34" charset="-122"/>
                <a:cs typeface="Calibri" pitchFamily="34" charset="-120"/>
              </a:rPr>
              <a:t>Dấu % và # phân biệt "tỷ lệ" với "số lượng" — mà có nơi viết trước, có nơi viết sau.</a:t>
            </a:r>
            <a:endParaRPr lang="en-US" sz="1267" dirty="0"/>
          </a:p>
        </p:txBody>
      </p:sp>
      <p:sp>
        <p:nvSpPr>
          <p:cNvPr id="15" name="Shape 12"/>
          <p:cNvSpPr/>
          <p:nvPr/>
        </p:nvSpPr>
        <p:spPr>
          <a:xfrm>
            <a:off x="6278728" y="1194755"/>
            <a:ext cx="5303429" cy="2743109"/>
          </a:xfrm>
          <a:prstGeom prst="roundRect">
            <a:avLst>
              <a:gd name="adj" fmla="val 2667"/>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Text 13"/>
          <p:cNvSpPr txBox="1"/>
          <p:nvPr/>
        </p:nvSpPr>
        <p:spPr>
          <a:xfrm>
            <a:off x="6522598" y="1341059"/>
            <a:ext cx="4815688" cy="365760"/>
          </a:xfrm>
          <a:prstGeom prst="rect">
            <a:avLst/>
          </a:prstGeom>
          <a:noFill/>
          <a:ln/>
        </p:spPr>
        <p:txBody>
          <a:bodyPr wrap="square" lIns="0" tIns="0" rIns="0" bIns="0" rtlCol="0" anchor="ctr"/>
          <a:lstStyle/>
          <a:p>
            <a:pPr indent="0" marL="0">
              <a:buNone/>
            </a:pPr>
            <a:r>
              <a:rPr lang="en-US" sz="1733" b="1" dirty="0">
                <a:solidFill>
                  <a:srgbClr val="C62828"/>
                </a:solidFill>
                <a:latin typeface="Arial" pitchFamily="34" charset="0"/>
                <a:ea typeface="Arial" pitchFamily="34" charset="-122"/>
                <a:cs typeface="Arial" pitchFamily="34" charset="-120"/>
              </a:rPr>
              <a:t>Đơn vị mới là chỗ nguy hiểm</a:t>
            </a:r>
            <a:endParaRPr lang="en-US" sz="1733" dirty="0"/>
          </a:p>
        </p:txBody>
      </p:sp>
      <p:sp>
        <p:nvSpPr>
          <p:cNvPr id="17" name="Text 14"/>
          <p:cNvSpPr txBox="1"/>
          <p:nvPr/>
        </p:nvSpPr>
        <p:spPr>
          <a:xfrm>
            <a:off x="6522598" y="1755648"/>
            <a:ext cx="4815688" cy="633954"/>
          </a:xfrm>
          <a:prstGeom prst="rect">
            <a:avLst/>
          </a:prstGeom>
          <a:noFill/>
          <a:ln/>
        </p:spPr>
        <p:txBody>
          <a:bodyPr wrap="square" lIns="0" tIns="0" rIns="0" bIns="0" rtlCol="0" anchor="ctr"/>
          <a:lstStyle/>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Phiếu ghi: Hb = 14,56 g/dL</a:t>
            </a:r>
            <a:endParaRPr lang="en-US" sz="1467" dirty="0"/>
          </a:p>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Máy tính so với: 130–175 g/L</a:t>
            </a:r>
            <a:endParaRPr lang="en-US" sz="1467" dirty="0"/>
          </a:p>
        </p:txBody>
      </p:sp>
      <p:sp>
        <p:nvSpPr>
          <p:cNvPr id="18" name="Text 15"/>
          <p:cNvSpPr txBox="1"/>
          <p:nvPr/>
        </p:nvSpPr>
        <p:spPr>
          <a:xfrm>
            <a:off x="6522598" y="2584643"/>
            <a:ext cx="4815688" cy="365760"/>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  Không quy đổi → báo "NÊN ĐI KHÁM SỚM"</a:t>
            </a:r>
            <a:endParaRPr lang="en-US" sz="1333" dirty="0"/>
          </a:p>
        </p:txBody>
      </p:sp>
      <p:sp>
        <p:nvSpPr>
          <p:cNvPr id="19" name="Text 16"/>
          <p:cNvSpPr txBox="1"/>
          <p:nvPr/>
        </p:nvSpPr>
        <p:spPr>
          <a:xfrm>
            <a:off x="6522598" y="3047878"/>
            <a:ext cx="4815688" cy="365760"/>
          </a:xfrm>
          <a:prstGeom prst="rect">
            <a:avLst/>
          </a:prstGeom>
          <a:noFill/>
          <a:ln/>
        </p:spPr>
        <p:txBody>
          <a:bodyPr wrap="square" lIns="0" tIns="0" rIns="0" bIns="0" rtlCol="0" anchor="ctr"/>
          <a:lstStyle/>
          <a:p>
            <a:pPr indent="0" marL="0">
              <a:buNone/>
            </a:pPr>
            <a:r>
              <a:rPr lang="en-US" sz="1333" b="1" dirty="0">
                <a:solidFill>
                  <a:srgbClr val="2E7D32"/>
                </a:solidFill>
                <a:latin typeface="Calibri" pitchFamily="34" charset="0"/>
                <a:ea typeface="Calibri" pitchFamily="34" charset="-122"/>
                <a:cs typeface="Calibri" pitchFamily="34" charset="-120"/>
              </a:rPr>
              <a:t>✓  Quy đổi → 145,6 g/L → Bình thường</a:t>
            </a:r>
            <a:endParaRPr lang="en-US" sz="1333" dirty="0"/>
          </a:p>
        </p:txBody>
      </p:sp>
      <p:sp>
        <p:nvSpPr>
          <p:cNvPr id="20" name="Shape 17"/>
          <p:cNvSpPr/>
          <p:nvPr/>
        </p:nvSpPr>
        <p:spPr>
          <a:xfrm>
            <a:off x="609539" y="4169573"/>
            <a:ext cx="10972526" cy="755843"/>
          </a:xfrm>
          <a:prstGeom prst="roundRect">
            <a:avLst>
              <a:gd name="adj" fmla="val 9678"/>
            </a:avLst>
          </a:prstGeom>
          <a:solidFill>
            <a:srgbClr val="1F3864"/>
          </a:solidFill>
          <a:ln w="12700">
            <a:solidFill>
              <a:srgbClr val="FFFFFF"/>
            </a:solidFill>
            <a:prstDash val="solid"/>
          </a:ln>
        </p:spPr>
      </p:sp>
      <p:sp>
        <p:nvSpPr>
          <p:cNvPr id="21" name="Text 18"/>
          <p:cNvSpPr txBox="1"/>
          <p:nvPr/>
        </p:nvSpPr>
        <p:spPr>
          <a:xfrm>
            <a:off x="853410" y="4169573"/>
            <a:ext cx="10484876" cy="755843"/>
          </a:xfrm>
          <a:prstGeom prst="rect">
            <a:avLst/>
          </a:prstGeom>
          <a:noFill/>
          <a:ln/>
        </p:spPr>
        <p:txBody>
          <a:bodyPr wrap="square" lIns="0" tIns="0" rIns="0" bIns="0" rtlCol="0" anchor="ctr"/>
          <a:lstStyle/>
          <a:p>
            <a:pPr algn="ctr" indent="0" marL="0">
              <a:buNone/>
            </a:pPr>
            <a:r>
              <a:rPr lang="en-US" sz="1667" b="1" dirty="0">
                <a:solidFill>
                  <a:srgbClr val="FFFFFF"/>
                </a:solidFill>
                <a:latin typeface="Calibri" pitchFamily="34" charset="0"/>
                <a:ea typeface="Calibri" pitchFamily="34" charset="-122"/>
                <a:cs typeface="Calibri" pitchFamily="34" charset="-120"/>
              </a:rPr>
              <a:t>Quy tắc: gặp đơn vị lạ hoặc phiếu quên ghi đơn vị thì BỎ QUA chỉ số đó, không đoán bừa.</a:t>
            </a:r>
            <a:endParaRPr lang="en-US" sz="1667" dirty="0"/>
          </a:p>
        </p:txBody>
      </p:sp>
      <p:sp>
        <p:nvSpPr>
          <p:cNvPr id="22" name="Text 19"/>
          <p:cNvSpPr txBox="1"/>
          <p:nvPr/>
        </p:nvSpPr>
        <p:spPr>
          <a:xfrm>
            <a:off x="609539" y="5120549"/>
            <a:ext cx="10972526" cy="609539"/>
          </a:xfrm>
          <a:prstGeom prst="rect">
            <a:avLst/>
          </a:prstGeom>
          <a:noFill/>
          <a:ln/>
        </p:spPr>
        <p:txBody>
          <a:bodyPr wrap="square" lIns="0" tIns="0" rIns="0" bIns="0" rtlCol="0" anchor="ctr"/>
          <a:lstStyle/>
          <a:p>
            <a:pPr indent="0" marL="0">
              <a:lnSpc>
                <a:spcPts val="1867"/>
              </a:lnSpc>
              <a:buNone/>
            </a:pPr>
            <a:r>
              <a:rPr lang="en-US" sz="1333" i="1" dirty="0">
                <a:solidFill>
                  <a:srgbClr val="5A6B85"/>
                </a:solidFill>
                <a:latin typeface="Calibri" pitchFamily="34" charset="0"/>
                <a:ea typeface="Calibri" pitchFamily="34" charset="-122"/>
                <a:cs typeface="Calibri" pitchFamily="34" charset="-120"/>
              </a:rPr>
              <a:t>Bằng chứng bên ngoài: 6–19% xét nghiệm không ánh xạ chính xác được sang LOINC; một phân tích trên 163 triệu kết quả tìm thấy 2.019 cách viết đơn vị khác nhau.</a:t>
            </a:r>
            <a:endParaRPr lang="en-US" sz="1333"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7. Bước 2 — Máy tính đối chiếu ngưỡng</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Bước này không có AI. Chỉ là phép so sánh số học, như bấm máy tính.</a:t>
            </a:r>
            <a:endParaRPr lang="en-US" sz="1733" dirty="0"/>
          </a:p>
        </p:txBody>
      </p:sp>
      <p:sp>
        <p:nvSpPr>
          <p:cNvPr id="5" name="Shape 2"/>
          <p:cNvSpPr/>
          <p:nvPr/>
        </p:nvSpPr>
        <p:spPr>
          <a:xfrm>
            <a:off x="609539"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6" name="Shape 3"/>
          <p:cNvSpPr/>
          <p:nvPr/>
        </p:nvSpPr>
        <p:spPr>
          <a:xfrm>
            <a:off x="2109155" y="1828709"/>
            <a:ext cx="487650" cy="487650"/>
          </a:xfrm>
          <a:prstGeom prst="ellipse">
            <a:avLst/>
          </a:prstGeom>
          <a:solidFill>
            <a:srgbClr val="2E7D32"/>
          </a:solidFill>
          <a:ln/>
        </p:spPr>
      </p:sp>
      <p:sp>
        <p:nvSpPr>
          <p:cNvPr id="7" name="Text 4"/>
          <p:cNvSpPr txBox="1"/>
          <p:nvPr/>
        </p:nvSpPr>
        <p:spPr>
          <a:xfrm>
            <a:off x="731520" y="2438339"/>
            <a:ext cx="3243011" cy="390174"/>
          </a:xfrm>
          <a:prstGeom prst="rect">
            <a:avLst/>
          </a:prstGeom>
          <a:noFill/>
          <a:ln/>
        </p:spPr>
        <p:txBody>
          <a:bodyPr wrap="square" lIns="0" tIns="0" rIns="0" bIns="0" rtlCol="0" anchor="ctr"/>
          <a:lstStyle/>
          <a:p>
            <a:pPr algn="ctr" indent="0" marL="0">
              <a:buNone/>
            </a:pPr>
            <a:r>
              <a:rPr lang="en-US" sz="1867" b="1" dirty="0">
                <a:solidFill>
                  <a:srgbClr val="2E7D32"/>
                </a:solidFill>
                <a:latin typeface="Arial" pitchFamily="34" charset="0"/>
                <a:ea typeface="Arial" pitchFamily="34" charset="-122"/>
                <a:cs typeface="Arial" pitchFamily="34" charset="-120"/>
              </a:rPr>
              <a:t>Bình thường</a:t>
            </a:r>
            <a:endParaRPr lang="en-US" sz="1867" dirty="0"/>
          </a:p>
        </p:txBody>
      </p:sp>
      <p:sp>
        <p:nvSpPr>
          <p:cNvPr id="8" name="Text 5"/>
          <p:cNvSpPr txBox="1"/>
          <p:nvPr/>
        </p:nvSpPr>
        <p:spPr>
          <a:xfrm>
            <a:off x="792419"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Nằm trong khoảng in trên phiếu</a:t>
            </a:r>
            <a:endParaRPr lang="en-US" sz="1333" dirty="0"/>
          </a:p>
        </p:txBody>
      </p:sp>
      <p:sp>
        <p:nvSpPr>
          <p:cNvPr id="9" name="Shape 6"/>
          <p:cNvSpPr/>
          <p:nvPr/>
        </p:nvSpPr>
        <p:spPr>
          <a:xfrm>
            <a:off x="4352453"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5851977" y="1828709"/>
            <a:ext cx="487650" cy="487650"/>
          </a:xfrm>
          <a:prstGeom prst="ellipse">
            <a:avLst/>
          </a:prstGeom>
          <a:solidFill>
            <a:srgbClr val="E6A700"/>
          </a:solidFill>
          <a:ln/>
        </p:spPr>
      </p:sp>
      <p:sp>
        <p:nvSpPr>
          <p:cNvPr id="11" name="Text 8"/>
          <p:cNvSpPr txBox="1"/>
          <p:nvPr/>
        </p:nvSpPr>
        <p:spPr>
          <a:xfrm>
            <a:off x="4474342" y="2438339"/>
            <a:ext cx="3243011" cy="390174"/>
          </a:xfrm>
          <a:prstGeom prst="rect">
            <a:avLst/>
          </a:prstGeom>
          <a:noFill/>
          <a:ln/>
        </p:spPr>
        <p:txBody>
          <a:bodyPr wrap="square" lIns="0" tIns="0" rIns="0" bIns="0" rtlCol="0" anchor="ctr"/>
          <a:lstStyle/>
          <a:p>
            <a:pPr algn="ctr" indent="0" marL="0">
              <a:buNone/>
            </a:pPr>
            <a:r>
              <a:rPr lang="en-US" sz="1867" b="1" dirty="0">
                <a:solidFill>
                  <a:srgbClr val="E6A700"/>
                </a:solidFill>
                <a:latin typeface="Arial" pitchFamily="34" charset="0"/>
                <a:ea typeface="Arial" pitchFamily="34" charset="-122"/>
                <a:cs typeface="Arial" pitchFamily="34" charset="-120"/>
              </a:rPr>
              <a:t>Nên theo dõi</a:t>
            </a:r>
            <a:endParaRPr lang="en-US" sz="1867" dirty="0"/>
          </a:p>
        </p:txBody>
      </p:sp>
      <p:sp>
        <p:nvSpPr>
          <p:cNvPr id="12" name="Text 9"/>
          <p:cNvSpPr txBox="1"/>
          <p:nvPr/>
        </p:nvSpPr>
        <p:spPr>
          <a:xfrm>
            <a:off x="4535333"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Lệch ra ngoài nhưng chưa nhiều</a:t>
            </a:r>
            <a:endParaRPr lang="en-US" sz="1333" dirty="0"/>
          </a:p>
        </p:txBody>
      </p:sp>
      <p:sp>
        <p:nvSpPr>
          <p:cNvPr id="13" name="Shape 10"/>
          <p:cNvSpPr/>
          <p:nvPr/>
        </p:nvSpPr>
        <p:spPr>
          <a:xfrm>
            <a:off x="8095275"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9594891" y="1828709"/>
            <a:ext cx="487650" cy="487650"/>
          </a:xfrm>
          <a:prstGeom prst="ellipse">
            <a:avLst/>
          </a:prstGeom>
          <a:solidFill>
            <a:srgbClr val="C62828"/>
          </a:solidFill>
          <a:ln/>
        </p:spPr>
      </p:sp>
      <p:sp>
        <p:nvSpPr>
          <p:cNvPr id="15" name="Text 12"/>
          <p:cNvSpPr txBox="1"/>
          <p:nvPr/>
        </p:nvSpPr>
        <p:spPr>
          <a:xfrm>
            <a:off x="8217164" y="2438339"/>
            <a:ext cx="3243011" cy="390174"/>
          </a:xfrm>
          <a:prstGeom prst="rect">
            <a:avLst/>
          </a:prstGeom>
          <a:noFill/>
          <a:ln/>
        </p:spPr>
        <p:txBody>
          <a:bodyPr wrap="square" lIns="0" tIns="0" rIns="0" bIns="0" rtlCol="0" anchor="ctr"/>
          <a:lstStyle/>
          <a:p>
            <a:pPr algn="ctr" indent="0" marL="0">
              <a:buNone/>
            </a:pPr>
            <a:r>
              <a:rPr lang="en-US" sz="1867" b="1" dirty="0">
                <a:solidFill>
                  <a:srgbClr val="C62828"/>
                </a:solidFill>
                <a:latin typeface="Arial" pitchFamily="34" charset="0"/>
                <a:ea typeface="Arial" pitchFamily="34" charset="-122"/>
                <a:cs typeface="Arial" pitchFamily="34" charset="-120"/>
              </a:rPr>
              <a:t>Nên đi khám sớm</a:t>
            </a:r>
            <a:endParaRPr lang="en-US" sz="1867" dirty="0"/>
          </a:p>
        </p:txBody>
      </p:sp>
      <p:sp>
        <p:nvSpPr>
          <p:cNvPr id="16" name="Text 13"/>
          <p:cNvSpPr txBox="1"/>
          <p:nvPr/>
        </p:nvSpPr>
        <p:spPr>
          <a:xfrm>
            <a:off x="8278155"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Lệch ra ngoài khá nhiều</a:t>
            </a:r>
            <a:endParaRPr lang="en-US" sz="1333" dirty="0"/>
          </a:p>
        </p:txBody>
      </p:sp>
      <p:sp>
        <p:nvSpPr>
          <p:cNvPr id="17" name="Text 14"/>
          <p:cNvSpPr txBox="1"/>
          <p:nvPr/>
        </p:nvSpPr>
        <p:spPr>
          <a:xfrm>
            <a:off x="609539" y="3596518"/>
            <a:ext cx="10972526" cy="341346"/>
          </a:xfrm>
          <a:prstGeom prst="rect">
            <a:avLst/>
          </a:prstGeom>
          <a:noFill/>
          <a:ln/>
        </p:spPr>
        <p:txBody>
          <a:bodyPr wrap="square" lIns="0" tIns="0" rIns="0" bIns="0" rtlCol="0" anchor="ctr"/>
          <a:lstStyle/>
          <a:p>
            <a:pPr algn="ctr" indent="0" marL="0">
              <a:buNone/>
            </a:pPr>
            <a:r>
              <a:rPr lang="en-US" sz="1467" i="1" dirty="0">
                <a:solidFill>
                  <a:srgbClr val="5A6B85"/>
                </a:solidFill>
                <a:latin typeface="Calibri" pitchFamily="34" charset="0"/>
                <a:ea typeface="Calibri" pitchFamily="34" charset="-122"/>
                <a:cs typeface="Calibri" pitchFamily="34" charset="-120"/>
              </a:rPr>
              <a:t>Cả phiếu lấy mức nặng nhất trong các chỉ số.</a:t>
            </a:r>
            <a:endParaRPr lang="en-US" sz="1467" dirty="0"/>
          </a:p>
        </p:txBody>
      </p:sp>
      <p:sp>
        <p:nvSpPr>
          <p:cNvPr id="18" name="Shape 15"/>
          <p:cNvSpPr/>
          <p:nvPr/>
        </p:nvSpPr>
        <p:spPr>
          <a:xfrm>
            <a:off x="609539" y="4084259"/>
            <a:ext cx="10972526" cy="1158179"/>
          </a:xfrm>
          <a:prstGeom prst="roundRect">
            <a:avLst>
              <a:gd name="adj" fmla="val 6316"/>
            </a:avLst>
          </a:prstGeom>
          <a:solidFill>
            <a:srgbClr val="1F3864"/>
          </a:solidFill>
          <a:ln w="12700">
            <a:solidFill>
              <a:srgbClr val="FFFFFF"/>
            </a:solidFill>
            <a:prstDash val="solid"/>
          </a:ln>
        </p:spPr>
      </p:sp>
      <p:sp>
        <p:nvSpPr>
          <p:cNvPr id="19" name="Text 16"/>
          <p:cNvSpPr txBox="1"/>
          <p:nvPr/>
        </p:nvSpPr>
        <p:spPr>
          <a:xfrm>
            <a:off x="914400" y="4084259"/>
            <a:ext cx="10362987" cy="1158179"/>
          </a:xfrm>
          <a:prstGeom prst="rect">
            <a:avLst/>
          </a:prstGeom>
          <a:noFill/>
          <a:ln/>
        </p:spPr>
        <p:txBody>
          <a:bodyPr wrap="square" lIns="0" tIns="0" rIns="0" bIns="0" rtlCol="0" anchor="ctr"/>
          <a:lstStyle/>
          <a:p>
            <a:pPr algn="ctr" indent="0" marL="0">
              <a:lnSpc>
                <a:spcPts val="2533"/>
              </a:lnSpc>
              <a:buNone/>
            </a:pPr>
            <a:r>
              <a:rPr lang="en-US" sz="1667" b="1" dirty="0">
                <a:solidFill>
                  <a:srgbClr val="FFFFFF"/>
                </a:solidFill>
                <a:latin typeface="Calibri" pitchFamily="34" charset="0"/>
                <a:ea typeface="Calibri" pitchFamily="34" charset="-122"/>
                <a:cs typeface="Calibri" pitchFamily="34" charset="-120"/>
              </a:rPr>
              <a:t>Vì máy tính làm nên bước này không thể sai.</a:t>
            </a:r>
            <a:endParaRPr lang="en-US" sz="1667" dirty="0"/>
          </a:p>
          <a:p>
            <a:pPr algn="ctr" indent="0" marL="0">
              <a:lnSpc>
                <a:spcPts val="2533"/>
              </a:lnSpc>
              <a:buNone/>
            </a:pPr>
            <a:r>
              <a:rPr lang="en-US" sz="1667" b="1" dirty="0">
                <a:solidFill>
                  <a:srgbClr val="FFFFFF"/>
                </a:solidFill>
                <a:latin typeface="Calibri" pitchFamily="34" charset="0"/>
                <a:ea typeface="Calibri" pitchFamily="34" charset="-122"/>
                <a:cs typeface="Calibri" pitchFamily="34" charset="-120"/>
              </a:rPr>
              <a:t>Và AI không có cơ hội nào để làm sai lệch nó.</a:t>
            </a:r>
            <a:endParaRPr lang="en-US" sz="1667" dirty="0"/>
          </a:p>
        </p:txBody>
      </p:sp>
      <p:sp>
        <p:nvSpPr>
          <p:cNvPr id="20" name="Text 17"/>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8. Bước 3 và 4 — AI viết, rồi máy kiểm tra lại</a:t>
            </a:r>
            <a:endParaRPr lang="en-US" sz="3000" dirty="0"/>
          </a:p>
        </p:txBody>
      </p:sp>
      <p:sp>
        <p:nvSpPr>
          <p:cNvPr id="4" name="Shape 1"/>
          <p:cNvSpPr/>
          <p:nvPr/>
        </p:nvSpPr>
        <p:spPr>
          <a:xfrm>
            <a:off x="609539"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609539" y="1194755"/>
            <a:ext cx="5303429" cy="487650"/>
          </a:xfrm>
          <a:prstGeom prst="roundRect">
            <a:avLst>
              <a:gd name="adj" fmla="val 15001"/>
            </a:avLst>
          </a:prstGeom>
          <a:solidFill>
            <a:srgbClr val="1565C0"/>
          </a:solidFill>
          <a:ln w="12700">
            <a:solidFill>
              <a:srgbClr val="333333"/>
            </a:solidFill>
            <a:prstDash val="solid"/>
          </a:ln>
        </p:spPr>
      </p:sp>
      <p:sp>
        <p:nvSpPr>
          <p:cNvPr id="6" name="Text 3"/>
          <p:cNvSpPr txBox="1"/>
          <p:nvPr/>
        </p:nvSpPr>
        <p:spPr>
          <a:xfrm>
            <a:off x="792419"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Bước 3 · Ba giới hạn đặt cho AI</a:t>
            </a:r>
            <a:endParaRPr lang="en-US" sz="1600" dirty="0"/>
          </a:p>
        </p:txBody>
      </p:sp>
      <p:sp>
        <p:nvSpPr>
          <p:cNvPr id="7" name="Text 4"/>
          <p:cNvSpPr txBox="1"/>
          <p:nvPr/>
        </p:nvSpPr>
        <p:spPr>
          <a:xfrm>
            <a:off x="877824" y="1853123"/>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Không cho tự chấm</a:t>
            </a:r>
            <a:endParaRPr lang="en-US" sz="1467" dirty="0"/>
          </a:p>
        </p:txBody>
      </p:sp>
      <p:sp>
        <p:nvSpPr>
          <p:cNvPr id="8" name="Text 5"/>
          <p:cNvSpPr txBox="1"/>
          <p:nvPr/>
        </p:nvSpPr>
        <p:spPr>
          <a:xfrm>
            <a:off x="877824" y="215789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AI nhận sẵn kết quả, không được tự đánh giá</a:t>
            </a:r>
            <a:endParaRPr lang="en-US" sz="1333" dirty="0"/>
          </a:p>
        </p:txBody>
      </p:sp>
      <p:sp>
        <p:nvSpPr>
          <p:cNvPr id="9" name="Text 6"/>
          <p:cNvSpPr txBox="1"/>
          <p:nvPr/>
        </p:nvSpPr>
        <p:spPr>
          <a:xfrm>
            <a:off x="877824" y="2706533"/>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Không cho nói bệnh</a:t>
            </a:r>
            <a:endParaRPr lang="en-US" sz="1467" dirty="0"/>
          </a:p>
        </p:txBody>
      </p:sp>
      <p:sp>
        <p:nvSpPr>
          <p:cNvPr id="10" name="Text 7"/>
          <p:cNvSpPr txBox="1"/>
          <p:nvPr/>
        </p:nvSpPr>
        <p:spPr>
          <a:xfrm>
            <a:off x="877824" y="3011394"/>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Cấm nêu tên bệnh, nguyên nhân, thuốc, liều lượng</a:t>
            </a:r>
            <a:endParaRPr lang="en-US" sz="1333" dirty="0"/>
          </a:p>
        </p:txBody>
      </p:sp>
      <p:sp>
        <p:nvSpPr>
          <p:cNvPr id="11" name="Text 8"/>
          <p:cNvSpPr txBox="1"/>
          <p:nvPr/>
        </p:nvSpPr>
        <p:spPr>
          <a:xfrm>
            <a:off x="877824" y="3559942"/>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Bắt trả lời đúng khuôn</a:t>
            </a:r>
            <a:endParaRPr lang="en-US" sz="1467" dirty="0"/>
          </a:p>
        </p:txBody>
      </p:sp>
      <p:sp>
        <p:nvSpPr>
          <p:cNvPr id="12" name="Text 9"/>
          <p:cNvSpPr txBox="1"/>
          <p:nvPr/>
        </p:nvSpPr>
        <p:spPr>
          <a:xfrm>
            <a:off x="877824" y="386480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Phải viết theo một khuôn cố định để máy đọc được</a:t>
            </a:r>
            <a:endParaRPr lang="en-US" sz="1333" dirty="0"/>
          </a:p>
        </p:txBody>
      </p:sp>
      <p:sp>
        <p:nvSpPr>
          <p:cNvPr id="13" name="Shape 10"/>
          <p:cNvSpPr/>
          <p:nvPr/>
        </p:nvSpPr>
        <p:spPr>
          <a:xfrm>
            <a:off x="6278728"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6278728" y="1194755"/>
            <a:ext cx="5303429" cy="487650"/>
          </a:xfrm>
          <a:prstGeom prst="roundRect">
            <a:avLst>
              <a:gd name="adj" fmla="val 15001"/>
            </a:avLst>
          </a:prstGeom>
          <a:solidFill>
            <a:srgbClr val="E6A700"/>
          </a:solidFill>
          <a:ln w="12700">
            <a:solidFill>
              <a:srgbClr val="333333"/>
            </a:solidFill>
            <a:prstDash val="solid"/>
          </a:ln>
        </p:spPr>
      </p:sp>
      <p:sp>
        <p:nvSpPr>
          <p:cNvPr id="15" name="Text 12"/>
          <p:cNvSpPr txBox="1"/>
          <p:nvPr/>
        </p:nvSpPr>
        <p:spPr>
          <a:xfrm>
            <a:off x="6461608"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Bước 4 · Máy kiểm tra bốn thứ</a:t>
            </a:r>
            <a:endParaRPr lang="en-US" sz="1600" dirty="0"/>
          </a:p>
        </p:txBody>
      </p:sp>
      <p:sp>
        <p:nvSpPr>
          <p:cNvPr id="16" name="Shape 13"/>
          <p:cNvSpPr/>
          <p:nvPr/>
        </p:nvSpPr>
        <p:spPr>
          <a:xfrm>
            <a:off x="6559174" y="1950690"/>
            <a:ext cx="243870" cy="243870"/>
          </a:xfrm>
          <a:prstGeom prst="ellipse">
            <a:avLst/>
          </a:prstGeom>
          <a:solidFill>
            <a:srgbClr val="E6A700"/>
          </a:solidFill>
          <a:ln/>
        </p:spPr>
      </p:sp>
      <p:sp>
        <p:nvSpPr>
          <p:cNvPr id="17" name="Text 14"/>
          <p:cNvSpPr txBox="1"/>
          <p:nvPr/>
        </p:nvSpPr>
        <p:spPr>
          <a:xfrm>
            <a:off x="6949257" y="1889699"/>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AI có nói đúng cao/thấp như máy tính đã tính không?</a:t>
            </a:r>
            <a:endParaRPr lang="en-US" sz="1333" dirty="0"/>
          </a:p>
        </p:txBody>
      </p:sp>
      <p:sp>
        <p:nvSpPr>
          <p:cNvPr id="18" name="Shape 15"/>
          <p:cNvSpPr/>
          <p:nvPr/>
        </p:nvSpPr>
        <p:spPr>
          <a:xfrm>
            <a:off x="6559174" y="2584643"/>
            <a:ext cx="243870" cy="243870"/>
          </a:xfrm>
          <a:prstGeom prst="ellipse">
            <a:avLst/>
          </a:prstGeom>
          <a:solidFill>
            <a:srgbClr val="E6A700"/>
          </a:solidFill>
          <a:ln/>
        </p:spPr>
      </p:sp>
      <p:sp>
        <p:nvSpPr>
          <p:cNvPr id="19" name="Text 16"/>
          <p:cNvSpPr txBox="1"/>
          <p:nvPr/>
        </p:nvSpPr>
        <p:spPr>
          <a:xfrm>
            <a:off x="6949257" y="2523653"/>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Có lỡ dùng từ bị cấm không?</a:t>
            </a:r>
            <a:endParaRPr lang="en-US" sz="1333" dirty="0"/>
          </a:p>
        </p:txBody>
      </p:sp>
      <p:sp>
        <p:nvSpPr>
          <p:cNvPr id="20" name="Shape 17"/>
          <p:cNvSpPr/>
          <p:nvPr/>
        </p:nvSpPr>
        <p:spPr>
          <a:xfrm>
            <a:off x="6559174" y="3218597"/>
            <a:ext cx="243870" cy="243870"/>
          </a:xfrm>
          <a:prstGeom prst="ellipse">
            <a:avLst/>
          </a:prstGeom>
          <a:solidFill>
            <a:srgbClr val="E6A700"/>
          </a:solidFill>
          <a:ln/>
        </p:spPr>
      </p:sp>
      <p:sp>
        <p:nvSpPr>
          <p:cNvPr id="21" name="Text 18"/>
          <p:cNvSpPr txBox="1"/>
          <p:nvPr/>
        </p:nvSpPr>
        <p:spPr>
          <a:xfrm>
            <a:off x="6949257" y="3157606"/>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Có bỏ quên hay tự thêm chỉ số nào không?</a:t>
            </a:r>
            <a:endParaRPr lang="en-US" sz="1333" dirty="0"/>
          </a:p>
        </p:txBody>
      </p:sp>
      <p:sp>
        <p:nvSpPr>
          <p:cNvPr id="22" name="Shape 19"/>
          <p:cNvSpPr/>
          <p:nvPr/>
        </p:nvSpPr>
        <p:spPr>
          <a:xfrm>
            <a:off x="6559174" y="3852550"/>
            <a:ext cx="243870" cy="243870"/>
          </a:xfrm>
          <a:prstGeom prst="ellipse">
            <a:avLst/>
          </a:prstGeom>
          <a:solidFill>
            <a:srgbClr val="E6A700"/>
          </a:solidFill>
          <a:ln/>
        </p:spPr>
      </p:sp>
      <p:sp>
        <p:nvSpPr>
          <p:cNvPr id="23" name="Text 20"/>
          <p:cNvSpPr txBox="1"/>
          <p:nvPr/>
        </p:nvSpPr>
        <p:spPr>
          <a:xfrm>
            <a:off x="6949257" y="3791651"/>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Câu cuối có nói nhầm là bình thường không?</a:t>
            </a:r>
            <a:endParaRPr lang="en-US" sz="1333" dirty="0"/>
          </a:p>
        </p:txBody>
      </p:sp>
      <p:sp>
        <p:nvSpPr>
          <p:cNvPr id="24" name="Shape 21"/>
          <p:cNvSpPr/>
          <p:nvPr/>
        </p:nvSpPr>
        <p:spPr>
          <a:xfrm>
            <a:off x="609539" y="4754789"/>
            <a:ext cx="10972526" cy="755843"/>
          </a:xfrm>
          <a:prstGeom prst="roundRect">
            <a:avLst>
              <a:gd name="adj" fmla="val 9678"/>
            </a:avLst>
          </a:prstGeom>
          <a:solidFill>
            <a:srgbClr val="FFFFFF"/>
          </a:solidFill>
          <a:ln w="12700">
            <a:solidFill>
              <a:srgbClr val="FFFFFF"/>
            </a:solidFill>
            <a:prstDash val="solid"/>
          </a:ln>
        </p:spPr>
      </p:sp>
      <p:sp>
        <p:nvSpPr>
          <p:cNvPr id="25" name="Text 22"/>
          <p:cNvSpPr txBox="1"/>
          <p:nvPr/>
        </p:nvSpPr>
        <p:spPr>
          <a:xfrm>
            <a:off x="853410" y="4754789"/>
            <a:ext cx="10484876" cy="755843"/>
          </a:xfrm>
          <a:prstGeom prst="rect">
            <a:avLst/>
          </a:prstGeom>
          <a:noFill/>
          <a:ln/>
        </p:spPr>
        <p:txBody>
          <a:bodyPr wrap="square" lIns="0" tIns="0" rIns="0" bIns="0" rtlCol="0" anchor="ctr"/>
          <a:lstStyle/>
          <a:p>
            <a:pPr indent="0" marL="0">
              <a:buNone/>
            </a:pPr>
            <a:r>
              <a:rPr lang="en-US" sz="1533" b="1" dirty="0">
                <a:solidFill>
                  <a:srgbClr val="1F3864"/>
                </a:solidFill>
                <a:latin typeface="Calibri" pitchFamily="34" charset="0"/>
                <a:ea typeface="Calibri" pitchFamily="34" charset="-122"/>
                <a:cs typeface="Calibri" pitchFamily="34" charset="-120"/>
              </a:rPr>
              <a:t>AI dùng ở đây là Qwen 2.5 (3 tỷ tham số), chạy ngay trên máy tính thường — dữ liệu người bệnh không gửi ra ngoài, không cần card đồ họa đắt tiền.</a:t>
            </a:r>
            <a:endParaRPr lang="en-US" sz="1533"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9. Cách chúng tôi thử nghiệm</a:t>
            </a:r>
            <a:endParaRPr lang="en-US" sz="3000" dirty="0"/>
          </a:p>
        </p:txBody>
      </p:sp>
      <p:sp>
        <p:nvSpPr>
          <p:cNvPr id="4" name="Shape 1"/>
          <p:cNvSpPr/>
          <p:nvPr/>
        </p:nvSpPr>
        <p:spPr>
          <a:xfrm>
            <a:off x="609539"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Dữ liệu thử</a:t>
            </a:r>
            <a:endParaRPr lang="en-US" sz="1667" dirty="0"/>
          </a:p>
        </p:txBody>
      </p:sp>
      <p:sp>
        <p:nvSpPr>
          <p:cNvPr id="6" name="Text 3"/>
          <p:cNvSpPr txBox="1"/>
          <p:nvPr/>
        </p:nvSpPr>
        <p:spPr>
          <a:xfrm>
            <a:off x="914400"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150 ca xét nghiệm máu tự tạo</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Mỗi ca 10–18 chỉ số</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Chia đều 3 mức nặng nhẹ</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Tên và đơn vị viết ngẫu nhiên</a:t>
            </a:r>
            <a:endParaRPr lang="en-US" sz="1333" dirty="0"/>
          </a:p>
        </p:txBody>
      </p:sp>
      <p:sp>
        <p:nvSpPr>
          <p:cNvPr id="7" name="Shape 4"/>
          <p:cNvSpPr/>
          <p:nvPr/>
        </p:nvSpPr>
        <p:spPr>
          <a:xfrm>
            <a:off x="6278728"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8" name="Text 5"/>
          <p:cNvSpPr txBox="1"/>
          <p:nvPr/>
        </p:nvSpPr>
        <p:spPr>
          <a:xfrm>
            <a:off x="6522598"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Sao không dùng phiếu thật?</a:t>
            </a:r>
            <a:endParaRPr lang="en-US" sz="1667" dirty="0"/>
          </a:p>
        </p:txBody>
      </p:sp>
      <p:sp>
        <p:nvSpPr>
          <p:cNvPr id="9" name="Text 6"/>
          <p:cNvSpPr txBox="1"/>
          <p:nvPr/>
        </p:nvSpPr>
        <p:spPr>
          <a:xfrm>
            <a:off x="6583497"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Cần biết trước đáp án đúng để chấm điểm</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Phiếu thật hầu hết bình thường, thiếu ca nặng để thử</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Tránh đụng tới dữ liệu người bệnh</a:t>
            </a:r>
            <a:endParaRPr lang="en-US" sz="1333" dirty="0"/>
          </a:p>
        </p:txBody>
      </p:sp>
      <p:sp>
        <p:nvSpPr>
          <p:cNvPr id="10" name="Text 7"/>
          <p:cNvSpPr txBox="1"/>
          <p:nvPr/>
        </p:nvSpPr>
        <p:spPr>
          <a:xfrm>
            <a:off x="609539" y="3316163"/>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Ba cách làm đem ra so sánh</a:t>
            </a:r>
            <a:endParaRPr lang="en-US" sz="1667" dirty="0"/>
          </a:p>
        </p:txBody>
      </p:sp>
      <p:sp>
        <p:nvSpPr>
          <p:cNvPr id="11" name="Shape 8"/>
          <p:cNvSpPr/>
          <p:nvPr/>
        </p:nvSpPr>
        <p:spPr>
          <a:xfrm>
            <a:off x="609539"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2" name="Shape 9"/>
          <p:cNvSpPr/>
          <p:nvPr/>
        </p:nvSpPr>
        <p:spPr>
          <a:xfrm>
            <a:off x="609539" y="3755075"/>
            <a:ext cx="3486790" cy="438912"/>
          </a:xfrm>
          <a:prstGeom prst="roundRect">
            <a:avLst>
              <a:gd name="adj" fmla="val 16667"/>
            </a:avLst>
          </a:prstGeom>
          <a:solidFill>
            <a:srgbClr val="5A6B85"/>
          </a:solidFill>
          <a:ln w="12700">
            <a:solidFill>
              <a:srgbClr val="333333"/>
            </a:solidFill>
            <a:prstDash val="solid"/>
          </a:ln>
        </p:spPr>
      </p:sp>
      <p:sp>
        <p:nvSpPr>
          <p:cNvPr id="13" name="Text 10"/>
          <p:cNvSpPr txBox="1"/>
          <p:nvPr/>
        </p:nvSpPr>
        <p:spPr>
          <a:xfrm>
            <a:off x="609539"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1</a:t>
            </a:r>
            <a:endParaRPr lang="en-US" sz="1533" dirty="0"/>
          </a:p>
        </p:txBody>
      </p:sp>
      <p:sp>
        <p:nvSpPr>
          <p:cNvPr id="14" name="Text 11"/>
          <p:cNvSpPr txBox="1"/>
          <p:nvPr/>
        </p:nvSpPr>
        <p:spPr>
          <a:xfrm>
            <a:off x="792419"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Đưa thẳng số cho AI, hỏi "giải thích giúp". Giống hệt việc người dân dán phiếu vào chatbot.</a:t>
            </a:r>
            <a:endParaRPr lang="en-US" sz="1267" dirty="0"/>
          </a:p>
        </p:txBody>
      </p:sp>
      <p:sp>
        <p:nvSpPr>
          <p:cNvPr id="15" name="Shape 12"/>
          <p:cNvSpPr/>
          <p:nvPr/>
        </p:nvSpPr>
        <p:spPr>
          <a:xfrm>
            <a:off x="4352453"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Shape 13"/>
          <p:cNvSpPr/>
          <p:nvPr/>
        </p:nvSpPr>
        <p:spPr>
          <a:xfrm>
            <a:off x="4352453" y="3755075"/>
            <a:ext cx="3486790" cy="438912"/>
          </a:xfrm>
          <a:prstGeom prst="roundRect">
            <a:avLst>
              <a:gd name="adj" fmla="val 16667"/>
            </a:avLst>
          </a:prstGeom>
          <a:solidFill>
            <a:srgbClr val="1565C0"/>
          </a:solidFill>
          <a:ln w="12700">
            <a:solidFill>
              <a:srgbClr val="333333"/>
            </a:solidFill>
            <a:prstDash val="solid"/>
          </a:ln>
        </p:spPr>
      </p:sp>
      <p:sp>
        <p:nvSpPr>
          <p:cNvPr id="17" name="Text 14"/>
          <p:cNvSpPr txBox="1"/>
          <p:nvPr/>
        </p:nvSpPr>
        <p:spPr>
          <a:xfrm>
            <a:off x="4352453"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2</a:t>
            </a:r>
            <a:endParaRPr lang="en-US" sz="1533" dirty="0"/>
          </a:p>
        </p:txBody>
      </p:sp>
      <p:sp>
        <p:nvSpPr>
          <p:cNvPr id="18" name="Text 15"/>
          <p:cNvSpPr txBox="1"/>
          <p:nvPr/>
        </p:nvSpPr>
        <p:spPr>
          <a:xfrm>
            <a:off x="4535333"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Máy tính chấm trước, AI viết lại. Nhưng không kiểm tra câu AI viết.</a:t>
            </a:r>
            <a:endParaRPr lang="en-US" sz="1267" dirty="0"/>
          </a:p>
        </p:txBody>
      </p:sp>
      <p:sp>
        <p:nvSpPr>
          <p:cNvPr id="19" name="Shape 16"/>
          <p:cNvSpPr/>
          <p:nvPr/>
        </p:nvSpPr>
        <p:spPr>
          <a:xfrm>
            <a:off x="8095275"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8095275" y="3755075"/>
            <a:ext cx="3486790" cy="438912"/>
          </a:xfrm>
          <a:prstGeom prst="roundRect">
            <a:avLst>
              <a:gd name="adj" fmla="val 16667"/>
            </a:avLst>
          </a:prstGeom>
          <a:solidFill>
            <a:srgbClr val="2E7D32"/>
          </a:solidFill>
          <a:ln w="12700">
            <a:solidFill>
              <a:srgbClr val="333333"/>
            </a:solidFill>
            <a:prstDash val="solid"/>
          </a:ln>
        </p:spPr>
      </p:sp>
      <p:sp>
        <p:nvSpPr>
          <p:cNvPr id="21" name="Text 18"/>
          <p:cNvSpPr txBox="1"/>
          <p:nvPr/>
        </p:nvSpPr>
        <p:spPr>
          <a:xfrm>
            <a:off x="8095275"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3</a:t>
            </a:r>
            <a:endParaRPr lang="en-US" sz="1533" dirty="0"/>
          </a:p>
        </p:txBody>
      </p:sp>
      <p:sp>
        <p:nvSpPr>
          <p:cNvPr id="22" name="Text 19"/>
          <p:cNvSpPr txBox="1"/>
          <p:nvPr/>
        </p:nvSpPr>
        <p:spPr>
          <a:xfrm>
            <a:off x="8278155"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Như cách 2, cộng thêm bước kiểm tra và bắt viết lại nếu sai.</a:t>
            </a:r>
            <a:endParaRPr lang="en-US" sz="1267"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10. Kết quả</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39" y="1280160"/>
          <a:ext cx="10972526" cy="914400"/>
        </p:xfrm>
        <a:graphic>
          <a:graphicData uri="http://schemas.openxmlformats.org/drawingml/2006/table">
            <a:tbl>
              <a:tblPr/>
              <a:tblGrid>
                <a:gridCol w="2023842"/>
                <a:gridCol w="1280160"/>
                <a:gridCol w="1280160"/>
                <a:gridCol w="1280160"/>
                <a:gridCol w="1304483"/>
                <a:gridCol w="1280160"/>
                <a:gridCol w="1280160"/>
                <a:gridCol w="1243584"/>
              </a:tblGrid>
              <a:tr h="755843">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Cách làm</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Kết quả</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an toàn</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AI tự viết</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đạt</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Nói nhầm</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bình thường</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Nói sai</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cao/thấp</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Dùng</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từ cấm</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Thêm chỉ số</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không có</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Bỏ quên</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chỉ số</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1</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91,3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79,3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2</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12,7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15,3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28,7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3</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r>
            </a:tbl>
          </a:graphicData>
        </a:graphic>
      </p:graphicFrame>
      <p:sp>
        <p:nvSpPr>
          <p:cNvPr id="5" name="Text 1"/>
          <p:cNvSpPr txBox="1"/>
          <p:nvPr/>
        </p:nvSpPr>
        <p:spPr>
          <a:xfrm>
            <a:off x="609539" y="4047683"/>
            <a:ext cx="10972526" cy="317022"/>
          </a:xfrm>
          <a:prstGeom prst="rect">
            <a:avLst/>
          </a:prstGeom>
          <a:noFill/>
          <a:ln/>
        </p:spPr>
        <p:txBody>
          <a:bodyPr wrap="square" lIns="0" tIns="0" rIns="0" bIns="0" rtlCol="0" anchor="ctr"/>
          <a:lstStyle/>
          <a:p>
            <a:pPr indent="0" marL="0">
              <a:buNone/>
            </a:pPr>
            <a:r>
              <a:rPr lang="en-US" sz="1333" i="1" dirty="0">
                <a:solidFill>
                  <a:srgbClr val="5A6B85"/>
                </a:solidFill>
                <a:latin typeface="Calibri" pitchFamily="34" charset="0"/>
                <a:ea typeface="Calibri" pitchFamily="34" charset="-122"/>
                <a:cs typeface="Calibri" pitchFamily="34" charset="-120"/>
              </a:rPr>
              <a:t>Số trong bảng là % số ca · Tổng 150 ca · Cột lỗi càng thấp càng tốt</a:t>
            </a:r>
            <a:endParaRPr lang="en-US" sz="1333" dirty="0"/>
          </a:p>
        </p:txBody>
      </p:sp>
      <p:sp>
        <p:nvSpPr>
          <p:cNvPr id="6" name="Shape 2"/>
          <p:cNvSpPr/>
          <p:nvPr/>
        </p:nvSpPr>
        <p:spPr>
          <a:xfrm>
            <a:off x="609539" y="4510918"/>
            <a:ext cx="10972526" cy="633954"/>
          </a:xfrm>
          <a:prstGeom prst="roundRect">
            <a:avLst>
              <a:gd name="adj" fmla="val 11539"/>
            </a:avLst>
          </a:prstGeom>
          <a:solidFill>
            <a:srgbClr val="FFFFFF"/>
          </a:solidFill>
          <a:ln w="12700">
            <a:solidFill>
              <a:srgbClr val="FFFFFF"/>
            </a:solidFill>
            <a:prstDash val="solid"/>
          </a:ln>
        </p:spPr>
      </p:sp>
      <p:sp>
        <p:nvSpPr>
          <p:cNvPr id="7" name="Text 3"/>
          <p:cNvSpPr txBox="1"/>
          <p:nvPr/>
        </p:nvSpPr>
        <p:spPr>
          <a:xfrm>
            <a:off x="853410" y="4510918"/>
            <a:ext cx="10484876" cy="633954"/>
          </a:xfrm>
          <a:prstGeom prst="rect">
            <a:avLst/>
          </a:prstGeom>
          <a:noFill/>
          <a:ln/>
        </p:spPr>
        <p:txBody>
          <a:bodyPr wrap="square" lIns="0" tIns="0" rIns="0" bIns="0" rtlCol="0" anchor="ctr"/>
          <a:lstStyle/>
          <a:p>
            <a:pPr indent="0" marL="0">
              <a:buNone/>
            </a:pPr>
            <a:r>
              <a:rPr lang="en-US" sz="1667" b="1" dirty="0">
                <a:solidFill>
                  <a:srgbClr val="1F3864"/>
                </a:solidFill>
                <a:latin typeface="Calibri" pitchFamily="34" charset="0"/>
                <a:ea typeface="Calibri" pitchFamily="34" charset="-122"/>
                <a:cs typeface="Calibri" pitchFamily="34" charset="-120"/>
              </a:rPr>
              <a:t>Mọi loại lỗi đều giảm dần qua ba cách làm.</a:t>
            </a:r>
            <a:endParaRPr lang="en-US" sz="1667" dirty="0"/>
          </a:p>
        </p:txBody>
      </p:sp>
      <p:sp>
        <p:nvSpPr>
          <p:cNvPr id="8" name="Text 4"/>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11. Ba con số đáng nhớ</a:t>
            </a:r>
            <a:endParaRPr lang="en-US" sz="3000" dirty="0"/>
          </a:p>
        </p:txBody>
      </p:sp>
      <p:sp>
        <p:nvSpPr>
          <p:cNvPr id="4" name="Shape 1"/>
          <p:cNvSpPr/>
          <p:nvPr/>
        </p:nvSpPr>
        <p:spPr>
          <a:xfrm>
            <a:off x="609539"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707106" y="1438626"/>
            <a:ext cx="3291749" cy="755843"/>
          </a:xfrm>
          <a:prstGeom prst="rect">
            <a:avLst/>
          </a:prstGeom>
          <a:noFill/>
          <a:ln/>
        </p:spPr>
        <p:txBody>
          <a:bodyPr wrap="square" lIns="0" tIns="0" rIns="0" bIns="0" rtlCol="0" anchor="ctr"/>
          <a:lstStyle/>
          <a:p>
            <a:pPr algn="ctr" indent="0" marL="0">
              <a:buNone/>
            </a:pPr>
            <a:r>
              <a:rPr lang="en-US" sz="3333" b="1" dirty="0">
                <a:solidFill>
                  <a:srgbClr val="C62828"/>
                </a:solidFill>
                <a:latin typeface="Arial" pitchFamily="34" charset="0"/>
                <a:ea typeface="Arial" pitchFamily="34" charset="-122"/>
                <a:cs typeface="Arial" pitchFamily="34" charset="-120"/>
              </a:rPr>
              <a:t>32% → 0%</a:t>
            </a:r>
            <a:endParaRPr lang="en-US" sz="3333" dirty="0"/>
          </a:p>
        </p:txBody>
      </p:sp>
      <p:sp>
        <p:nvSpPr>
          <p:cNvPr id="6" name="Text 3"/>
          <p:cNvSpPr txBox="1"/>
          <p:nvPr/>
        </p:nvSpPr>
        <p:spPr>
          <a:xfrm>
            <a:off x="731520"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Nói nhầm là bình thường</a:t>
            </a:r>
            <a:endParaRPr lang="en-US" sz="1667" dirty="0"/>
          </a:p>
        </p:txBody>
      </p:sp>
      <p:sp>
        <p:nvSpPr>
          <p:cNvPr id="7" name="Shape 4"/>
          <p:cNvSpPr/>
          <p:nvPr/>
        </p:nvSpPr>
        <p:spPr>
          <a:xfrm>
            <a:off x="1767810" y="2682210"/>
            <a:ext cx="1170432" cy="0"/>
          </a:xfrm>
          <a:prstGeom prst="line">
            <a:avLst/>
          </a:prstGeom>
          <a:noFill/>
          <a:ln w="19050">
            <a:solidFill>
              <a:srgbClr val="C62828"/>
            </a:solidFill>
            <a:prstDash val="solid"/>
          </a:ln>
        </p:spPr>
      </p:sp>
      <p:sp>
        <p:nvSpPr>
          <p:cNvPr id="8" name="Text 5"/>
          <p:cNvSpPr txBox="1"/>
          <p:nvPr/>
        </p:nvSpPr>
        <p:spPr>
          <a:xfrm>
            <a:off x="828995"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Nếu để AI tự làm: cứ 3 người có kết quả bất thường thì 1 người được bảo là không sao cả.</a:t>
            </a:r>
            <a:endParaRPr lang="en-US" sz="1333" dirty="0"/>
          </a:p>
        </p:txBody>
      </p:sp>
      <p:sp>
        <p:nvSpPr>
          <p:cNvPr id="9" name="Shape 6"/>
          <p:cNvSpPr/>
          <p:nvPr/>
        </p:nvSpPr>
        <p:spPr>
          <a:xfrm>
            <a:off x="4352453"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Text 7"/>
          <p:cNvSpPr txBox="1"/>
          <p:nvPr/>
        </p:nvSpPr>
        <p:spPr>
          <a:xfrm>
            <a:off x="4449928" y="1438626"/>
            <a:ext cx="3291749" cy="755843"/>
          </a:xfrm>
          <a:prstGeom prst="rect">
            <a:avLst/>
          </a:prstGeom>
          <a:noFill/>
          <a:ln/>
        </p:spPr>
        <p:txBody>
          <a:bodyPr wrap="square" lIns="0" tIns="0" rIns="0" bIns="0" rtlCol="0" anchor="ctr"/>
          <a:lstStyle/>
          <a:p>
            <a:pPr algn="ctr" indent="0" marL="0">
              <a:buNone/>
            </a:pPr>
            <a:r>
              <a:rPr lang="en-US" sz="3333" b="1" dirty="0">
                <a:solidFill>
                  <a:srgbClr val="1565C0"/>
                </a:solidFill>
                <a:latin typeface="Arial" pitchFamily="34" charset="0"/>
                <a:ea typeface="Arial" pitchFamily="34" charset="-122"/>
                <a:cs typeface="Arial" pitchFamily="34" charset="-120"/>
              </a:rPr>
              <a:t>91,3% → 0%</a:t>
            </a:r>
            <a:endParaRPr lang="en-US" sz="3333" dirty="0"/>
          </a:p>
        </p:txBody>
      </p:sp>
      <p:sp>
        <p:nvSpPr>
          <p:cNvPr id="11" name="Text 8"/>
          <p:cNvSpPr txBox="1"/>
          <p:nvPr/>
        </p:nvSpPr>
        <p:spPr>
          <a:xfrm>
            <a:off x="4474342"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Nói sai cao/thấp</a:t>
            </a:r>
            <a:endParaRPr lang="en-US" sz="1667" dirty="0"/>
          </a:p>
        </p:txBody>
      </p:sp>
      <p:sp>
        <p:nvSpPr>
          <p:cNvPr id="12" name="Shape 9"/>
          <p:cNvSpPr/>
          <p:nvPr/>
        </p:nvSpPr>
        <p:spPr>
          <a:xfrm>
            <a:off x="5510632" y="2682210"/>
            <a:ext cx="1170432" cy="0"/>
          </a:xfrm>
          <a:prstGeom prst="line">
            <a:avLst/>
          </a:prstGeom>
          <a:noFill/>
          <a:ln w="19050">
            <a:solidFill>
              <a:srgbClr val="1565C0"/>
            </a:solidFill>
            <a:prstDash val="solid"/>
          </a:ln>
        </p:spPr>
      </p:sp>
      <p:sp>
        <p:nvSpPr>
          <p:cNvPr id="13" name="Text 10"/>
          <p:cNvSpPr txBox="1"/>
          <p:nvPr/>
        </p:nvSpPr>
        <p:spPr>
          <a:xfrm>
            <a:off x="4571909"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Để AI tự phán đoán thì sai gần như luôn. Giao cho máy tính thì không bao giờ sai.</a:t>
            </a:r>
            <a:endParaRPr lang="en-US" sz="1333" dirty="0"/>
          </a:p>
        </p:txBody>
      </p:sp>
      <p:sp>
        <p:nvSpPr>
          <p:cNvPr id="14" name="Shape 11"/>
          <p:cNvSpPr/>
          <p:nvPr/>
        </p:nvSpPr>
        <p:spPr>
          <a:xfrm>
            <a:off x="8095275"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Text 12"/>
          <p:cNvSpPr txBox="1"/>
          <p:nvPr/>
        </p:nvSpPr>
        <p:spPr>
          <a:xfrm>
            <a:off x="8192841" y="1438626"/>
            <a:ext cx="3291749" cy="755843"/>
          </a:xfrm>
          <a:prstGeom prst="rect">
            <a:avLst/>
          </a:prstGeom>
          <a:noFill/>
          <a:ln/>
        </p:spPr>
        <p:txBody>
          <a:bodyPr wrap="square" lIns="0" tIns="0" rIns="0" bIns="0" rtlCol="0" anchor="ctr"/>
          <a:lstStyle/>
          <a:p>
            <a:pPr algn="ctr" indent="0" marL="0">
              <a:buNone/>
            </a:pPr>
            <a:r>
              <a:rPr lang="en-US" sz="3333" b="1" dirty="0">
                <a:solidFill>
                  <a:srgbClr val="E6A700"/>
                </a:solidFill>
                <a:latin typeface="Arial" pitchFamily="34" charset="0"/>
                <a:ea typeface="Arial" pitchFamily="34" charset="-122"/>
                <a:cs typeface="Arial" pitchFamily="34" charset="-120"/>
              </a:rPr>
              <a:t>48%</a:t>
            </a:r>
            <a:endParaRPr lang="en-US" sz="3333" dirty="0"/>
          </a:p>
        </p:txBody>
      </p:sp>
      <p:sp>
        <p:nvSpPr>
          <p:cNvPr id="16" name="Text 13"/>
          <p:cNvSpPr txBox="1"/>
          <p:nvPr/>
        </p:nvSpPr>
        <p:spPr>
          <a:xfrm>
            <a:off x="8217164"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Dặn dò thôi chưa đủ</a:t>
            </a:r>
            <a:endParaRPr lang="en-US" sz="1667" dirty="0"/>
          </a:p>
        </p:txBody>
      </p:sp>
      <p:sp>
        <p:nvSpPr>
          <p:cNvPr id="17" name="Shape 14"/>
          <p:cNvSpPr/>
          <p:nvPr/>
        </p:nvSpPr>
        <p:spPr>
          <a:xfrm>
            <a:off x="9253454" y="2682210"/>
            <a:ext cx="1170432" cy="0"/>
          </a:xfrm>
          <a:prstGeom prst="line">
            <a:avLst/>
          </a:prstGeom>
          <a:noFill/>
          <a:ln w="19050">
            <a:solidFill>
              <a:srgbClr val="E6A700"/>
            </a:solidFill>
            <a:prstDash val="solid"/>
          </a:ln>
        </p:spPr>
      </p:sp>
      <p:sp>
        <p:nvSpPr>
          <p:cNvPr id="18" name="Text 15"/>
          <p:cNvSpPr txBox="1"/>
          <p:nvPr/>
        </p:nvSpPr>
        <p:spPr>
          <a:xfrm>
            <a:off x="8314731"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Dù đã dặn AI rất kỹ trong câu lệnh, hơn một nửa câu nó viết ra vẫn không đạt.</a:t>
            </a:r>
            <a:endParaRPr lang="en-US" sz="1333" dirty="0"/>
          </a:p>
        </p:txBody>
      </p:sp>
      <p:sp>
        <p:nvSpPr>
          <p:cNvPr id="19" name="Shape 16"/>
          <p:cNvSpPr/>
          <p:nvPr/>
        </p:nvSpPr>
        <p:spPr>
          <a:xfrm>
            <a:off x="609539" y="4608485"/>
            <a:ext cx="10972526" cy="950976"/>
          </a:xfrm>
          <a:prstGeom prst="roundRect">
            <a:avLst>
              <a:gd name="adj" fmla="val 7692"/>
            </a:avLst>
          </a:prstGeom>
          <a:solidFill>
            <a:srgbClr val="FFF8E6"/>
          </a:solidFill>
          <a:ln w="12700">
            <a:solidFill>
              <a:srgbClr val="FFFFFF"/>
            </a:solidFill>
            <a:prstDash val="solid"/>
          </a:ln>
        </p:spPr>
      </p:sp>
      <p:sp>
        <p:nvSpPr>
          <p:cNvPr id="20" name="Text 17"/>
          <p:cNvSpPr txBox="1"/>
          <p:nvPr/>
        </p:nvSpPr>
        <p:spPr>
          <a:xfrm>
            <a:off x="877824" y="4608485"/>
            <a:ext cx="10436047" cy="950976"/>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Nói cho rõ: con số 100% gồm 64% là câu AI tự viết được, còn 36% là hệ thống phải dùng câu mẫu có sẵn. An toàn là nhờ cách làm, không phải vì AI 3 tỷ tham số giỏi.</a:t>
            </a:r>
            <a:endParaRPr lang="en-US" sz="1400"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12. Hai điều rút ra</a:t>
            </a:r>
            <a:endParaRPr lang="en-US" sz="3000" dirty="0"/>
          </a:p>
        </p:txBody>
      </p:sp>
      <p:sp>
        <p:nvSpPr>
          <p:cNvPr id="4" name="Shape 1"/>
          <p:cNvSpPr/>
          <p:nvPr/>
        </p:nvSpPr>
        <p:spPr>
          <a:xfrm>
            <a:off x="609539" y="1219170"/>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914400" y="1438626"/>
            <a:ext cx="536478" cy="536478"/>
          </a:xfrm>
          <a:prstGeom prst="ellipse">
            <a:avLst/>
          </a:prstGeom>
          <a:solidFill>
            <a:srgbClr val="C62828"/>
          </a:solidFill>
          <a:ln/>
        </p:spPr>
      </p:sp>
      <p:sp>
        <p:nvSpPr>
          <p:cNvPr id="6" name="Text 3"/>
          <p:cNvSpPr txBox="1"/>
          <p:nvPr/>
        </p:nvSpPr>
        <p:spPr>
          <a:xfrm>
            <a:off x="914400" y="1438626"/>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645920" y="1402050"/>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Lỗi "nói nhầm là bình thường" cần được đếm riêng</a:t>
            </a:r>
            <a:endParaRPr lang="en-US" sz="1800" dirty="0"/>
          </a:p>
        </p:txBody>
      </p:sp>
      <p:sp>
        <p:nvSpPr>
          <p:cNvPr id="8" name="Text 5"/>
          <p:cNvSpPr txBox="1"/>
          <p:nvPr/>
        </p:nvSpPr>
        <p:spPr>
          <a:xfrm>
            <a:off x="1645920" y="1804386"/>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Người ta hay chấm AI theo tiêu chí dễ đọc và đúng thông tin. Nhưng một câu trấn an sai lại được chấm điểm dễ đọc CAO, đúng vì nó ngắn gọn và nghe êm tai. Cái hại nằm ở chỗ nó khiến người ta không đi khám.</a:t>
            </a:r>
            <a:endParaRPr lang="en-US" sz="1400" dirty="0"/>
          </a:p>
        </p:txBody>
      </p:sp>
      <p:sp>
        <p:nvSpPr>
          <p:cNvPr id="9" name="Shape 6"/>
          <p:cNvSpPr/>
          <p:nvPr/>
        </p:nvSpPr>
        <p:spPr>
          <a:xfrm>
            <a:off x="609539" y="3169859"/>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914400" y="3389315"/>
            <a:ext cx="536478" cy="536478"/>
          </a:xfrm>
          <a:prstGeom prst="ellipse">
            <a:avLst/>
          </a:prstGeom>
          <a:solidFill>
            <a:srgbClr val="1565C0"/>
          </a:solidFill>
          <a:ln/>
        </p:spPr>
      </p:sp>
      <p:sp>
        <p:nvSpPr>
          <p:cNvPr id="11" name="Text 8"/>
          <p:cNvSpPr txBox="1"/>
          <p:nvPr/>
        </p:nvSpPr>
        <p:spPr>
          <a:xfrm>
            <a:off x="914400" y="3389315"/>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9"/>
          <p:cNvSpPr txBox="1"/>
          <p:nvPr/>
        </p:nvSpPr>
        <p:spPr>
          <a:xfrm>
            <a:off x="1645920" y="3352739"/>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Chuyện đơn vị đo không phải chuyện nhỏ</a:t>
            </a:r>
            <a:endParaRPr lang="en-US" sz="1800" dirty="0"/>
          </a:p>
        </p:txBody>
      </p:sp>
      <p:sp>
        <p:nvSpPr>
          <p:cNvPr id="13" name="Text 10"/>
          <p:cNvSpPr txBox="1"/>
          <p:nvPr/>
        </p:nvSpPr>
        <p:spPr>
          <a:xfrm>
            <a:off x="1645920" y="3755075"/>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Lỗi đơn vị xảy ra ngay ở bước máy tính — bước mà chúng tôi khẳng định là không thể sai. Và các bước kiểm tra phía sau không phát hiện được, vì chúng cứ thế chép lại một kết quả sai một cách rất tự tin.</a:t>
            </a:r>
            <a:endParaRPr lang="en-US" sz="1400" dirty="0"/>
          </a:p>
        </p:txBody>
      </p:sp>
      <p:sp>
        <p:nvSpPr>
          <p:cNvPr id="14" name="Shape 11"/>
          <p:cNvSpPr/>
          <p:nvPr/>
        </p:nvSpPr>
        <p:spPr>
          <a:xfrm>
            <a:off x="609539" y="5144872"/>
            <a:ext cx="10972526" cy="609539"/>
          </a:xfrm>
          <a:prstGeom prst="roundRect">
            <a:avLst>
              <a:gd name="adj" fmla="val 12001"/>
            </a:avLst>
          </a:prstGeom>
          <a:solidFill>
            <a:srgbClr val="1F3864"/>
          </a:solidFill>
          <a:ln w="12700">
            <a:solidFill>
              <a:srgbClr val="FFFFFF"/>
            </a:solidFill>
            <a:prstDash val="solid"/>
          </a:ln>
        </p:spPr>
      </p:sp>
      <p:sp>
        <p:nvSpPr>
          <p:cNvPr id="15" name="Text 12"/>
          <p:cNvSpPr txBox="1"/>
          <p:nvPr/>
        </p:nvSpPr>
        <p:spPr>
          <a:xfrm>
            <a:off x="853410" y="5144872"/>
            <a:ext cx="10484876" cy="609539"/>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Đây chính là lý do ngành y tế cần chuẩn hóa dữ liệu (LOINC, HL7 FHIR) — đúng chủ đề Panel 3 của hội nghị.</a:t>
            </a:r>
            <a:endParaRPr lang="en-US" sz="1467"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13. Những gì bài này chưa làm được</a:t>
            </a:r>
            <a:endParaRPr lang="en-US" sz="3000" dirty="0"/>
          </a:p>
        </p:txBody>
      </p:sp>
      <p:sp>
        <p:nvSpPr>
          <p:cNvPr id="4" name="Shape 1"/>
          <p:cNvSpPr/>
          <p:nvPr/>
        </p:nvSpPr>
        <p:spPr>
          <a:xfrm>
            <a:off x="609539"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609539" y="1280160"/>
            <a:ext cx="5303429" cy="512064"/>
          </a:xfrm>
          <a:prstGeom prst="roundRect">
            <a:avLst>
              <a:gd name="adj" fmla="val 14286"/>
            </a:avLst>
          </a:prstGeom>
          <a:solidFill>
            <a:srgbClr val="5A6B85"/>
          </a:solidFill>
          <a:ln w="12700">
            <a:solidFill>
              <a:srgbClr val="333333"/>
            </a:solidFill>
            <a:prstDash val="solid"/>
          </a:ln>
        </p:spPr>
      </p:sp>
      <p:sp>
        <p:nvSpPr>
          <p:cNvPr id="6" name="Text 3"/>
          <p:cNvSpPr txBox="1"/>
          <p:nvPr/>
        </p:nvSpPr>
        <p:spPr>
          <a:xfrm>
            <a:off x="828995"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Chưa có bác sĩ kiểm tra</a:t>
            </a:r>
            <a:endParaRPr lang="en-US" sz="1600" dirty="0"/>
          </a:p>
        </p:txBody>
      </p:sp>
      <p:sp>
        <p:nvSpPr>
          <p:cNvPr id="7" name="Text 4"/>
          <p:cNvSpPr txBox="1"/>
          <p:nvPr/>
        </p:nvSpPr>
        <p:spPr>
          <a:xfrm>
            <a:off x="853410"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Toàn bộ chấm điểm do máy làm. Chưa có người trong ngành y đọc lại các câu giải thích.</a:t>
            </a:r>
            <a:endParaRPr lang="en-US" sz="1400" dirty="0"/>
          </a:p>
        </p:txBody>
      </p:sp>
      <p:sp>
        <p:nvSpPr>
          <p:cNvPr id="8" name="Shape 5"/>
          <p:cNvSpPr/>
          <p:nvPr/>
        </p:nvSpPr>
        <p:spPr>
          <a:xfrm>
            <a:off x="6278728"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9" name="Shape 6"/>
          <p:cNvSpPr/>
          <p:nvPr/>
        </p:nvSpPr>
        <p:spPr>
          <a:xfrm>
            <a:off x="6278728" y="1280160"/>
            <a:ext cx="5303429" cy="512064"/>
          </a:xfrm>
          <a:prstGeom prst="roundRect">
            <a:avLst>
              <a:gd name="adj" fmla="val 14286"/>
            </a:avLst>
          </a:prstGeom>
          <a:solidFill>
            <a:srgbClr val="5A6B85"/>
          </a:solidFill>
          <a:ln w="12700">
            <a:solidFill>
              <a:srgbClr val="333333"/>
            </a:solidFill>
            <a:prstDash val="solid"/>
          </a:ln>
        </p:spPr>
      </p:sp>
      <p:sp>
        <p:nvSpPr>
          <p:cNvPr id="10" name="Text 7"/>
          <p:cNvSpPr txBox="1"/>
          <p:nvPr/>
        </p:nvSpPr>
        <p:spPr>
          <a:xfrm>
            <a:off x="6498184"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Ngưỡng nặng nhẹ do tự đặt</a:t>
            </a:r>
            <a:endParaRPr lang="en-US" sz="1600" dirty="0"/>
          </a:p>
        </p:txBody>
      </p:sp>
      <p:sp>
        <p:nvSpPr>
          <p:cNvPr id="11" name="Text 8"/>
          <p:cNvSpPr txBox="1"/>
          <p:nvPr/>
        </p:nvSpPr>
        <p:spPr>
          <a:xfrm>
            <a:off x="6522598"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Mức phân biệt "theo dõi" với "đi khám sớm" là do chúng tôi tự chọn, chưa dựa trên danh mục chuẩn nào.</a:t>
            </a:r>
            <a:endParaRPr lang="en-US" sz="1400" dirty="0"/>
          </a:p>
        </p:txBody>
      </p:sp>
      <p:sp>
        <p:nvSpPr>
          <p:cNvPr id="12" name="Shape 9"/>
          <p:cNvSpPr/>
          <p:nvPr/>
        </p:nvSpPr>
        <p:spPr>
          <a:xfrm>
            <a:off x="609539"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3" name="Shape 10"/>
          <p:cNvSpPr/>
          <p:nvPr/>
        </p:nvSpPr>
        <p:spPr>
          <a:xfrm>
            <a:off x="609539" y="3413638"/>
            <a:ext cx="5303429" cy="512064"/>
          </a:xfrm>
          <a:prstGeom prst="roundRect">
            <a:avLst>
              <a:gd name="adj" fmla="val 14286"/>
            </a:avLst>
          </a:prstGeom>
          <a:solidFill>
            <a:srgbClr val="5A6B85"/>
          </a:solidFill>
          <a:ln w="12700">
            <a:solidFill>
              <a:srgbClr val="333333"/>
            </a:solidFill>
            <a:prstDash val="solid"/>
          </a:ln>
        </p:spPr>
      </p:sp>
      <p:sp>
        <p:nvSpPr>
          <p:cNvPr id="14" name="Text 11"/>
          <p:cNvSpPr txBox="1"/>
          <p:nvPr/>
        </p:nvSpPr>
        <p:spPr>
          <a:xfrm>
            <a:off x="828995"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Dữ liệu là tự tạo</a:t>
            </a:r>
            <a:endParaRPr lang="en-US" sz="1600" dirty="0"/>
          </a:p>
        </p:txBody>
      </p:sp>
      <p:sp>
        <p:nvSpPr>
          <p:cNvPr id="15" name="Text 12"/>
          <p:cNvSpPr txBox="1"/>
          <p:nvPr/>
        </p:nvSpPr>
        <p:spPr>
          <a:xfrm>
            <a:off x="853410"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Phiếu thật có nhiễu, có ô trống, có kiểu trình bày lạ mà nghiên cứu chưa thử tới.</a:t>
            </a:r>
            <a:endParaRPr lang="en-US" sz="1400" dirty="0"/>
          </a:p>
        </p:txBody>
      </p:sp>
      <p:sp>
        <p:nvSpPr>
          <p:cNvPr id="16" name="Shape 13"/>
          <p:cNvSpPr/>
          <p:nvPr/>
        </p:nvSpPr>
        <p:spPr>
          <a:xfrm>
            <a:off x="6278728"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7" name="Shape 14"/>
          <p:cNvSpPr/>
          <p:nvPr/>
        </p:nvSpPr>
        <p:spPr>
          <a:xfrm>
            <a:off x="6278728" y="3413638"/>
            <a:ext cx="5303429" cy="512064"/>
          </a:xfrm>
          <a:prstGeom prst="roundRect">
            <a:avLst>
              <a:gd name="adj" fmla="val 14286"/>
            </a:avLst>
          </a:prstGeom>
          <a:solidFill>
            <a:srgbClr val="5A6B85"/>
          </a:solidFill>
          <a:ln w="12700">
            <a:solidFill>
              <a:srgbClr val="333333"/>
            </a:solidFill>
            <a:prstDash val="solid"/>
          </a:ln>
        </p:spPr>
      </p:sp>
      <p:sp>
        <p:nvSpPr>
          <p:cNvPr id="18" name="Text 15"/>
          <p:cNvSpPr txBox="1"/>
          <p:nvPr/>
        </p:nvSpPr>
        <p:spPr>
          <a:xfrm>
            <a:off x="6498184"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Mới làm được xét nghiệm máu</a:t>
            </a:r>
            <a:endParaRPr lang="en-US" sz="1600" dirty="0"/>
          </a:p>
        </p:txBody>
      </p:sp>
      <p:sp>
        <p:nvSpPr>
          <p:cNvPr id="19" name="Text 16"/>
          <p:cNvSpPr txBox="1"/>
          <p:nvPr/>
        </p:nvSpPr>
        <p:spPr>
          <a:xfrm>
            <a:off x="6522598"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Chưa làm sinh hóa, chưa xử lý kết quả dạng Âm tính/Dương tính, chưa đọc được ảnh chụp phiếu.</a:t>
            </a:r>
            <a:endParaRPr lang="en-US" sz="1400" dirty="0"/>
          </a:p>
        </p:txBody>
      </p:sp>
      <p:sp>
        <p:nvSpPr>
          <p:cNvPr id="20" name="Text 17"/>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14. Kết luận và việc làm tiếp</a:t>
            </a:r>
            <a:endParaRPr lang="en-US" sz="3000" dirty="0"/>
          </a:p>
        </p:txBody>
      </p:sp>
      <p:sp>
        <p:nvSpPr>
          <p:cNvPr id="4" name="Shape 1"/>
          <p:cNvSpPr/>
          <p:nvPr/>
        </p:nvSpPr>
        <p:spPr>
          <a:xfrm>
            <a:off x="609539" y="1194755"/>
            <a:ext cx="10972526" cy="975299"/>
          </a:xfrm>
          <a:prstGeom prst="roundRect">
            <a:avLst>
              <a:gd name="adj" fmla="val 7500"/>
            </a:avLst>
          </a:prstGeom>
          <a:solidFill>
            <a:srgbClr val="1F3864"/>
          </a:solidFill>
          <a:ln w="12700">
            <a:solidFill>
              <a:srgbClr val="FFFFFF"/>
            </a:solidFill>
            <a:prstDash val="solid"/>
          </a:ln>
        </p:spPr>
      </p:sp>
      <p:sp>
        <p:nvSpPr>
          <p:cNvPr id="5" name="Text 2"/>
          <p:cNvSpPr txBox="1"/>
          <p:nvPr/>
        </p:nvSpPr>
        <p:spPr>
          <a:xfrm>
            <a:off x="950976" y="1194755"/>
            <a:ext cx="10289835" cy="975299"/>
          </a:xfrm>
          <a:prstGeom prst="rect">
            <a:avLst/>
          </a:prstGeom>
          <a:noFill/>
          <a:ln/>
        </p:spPr>
        <p:txBody>
          <a:bodyPr wrap="square" lIns="0" tIns="0" rIns="0" bIns="0" rtlCol="0" anchor="ctr"/>
          <a:lstStyle/>
          <a:p>
            <a:pPr indent="0" marL="0">
              <a:lnSpc>
                <a:spcPts val="2267"/>
              </a:lnSpc>
              <a:buNone/>
            </a:pPr>
            <a:r>
              <a:rPr lang="en-US" sz="1600" b="1" dirty="0">
                <a:solidFill>
                  <a:srgbClr val="FFFFFF"/>
                </a:solidFill>
                <a:latin typeface="Calibri" pitchFamily="34" charset="0"/>
                <a:ea typeface="Calibri" pitchFamily="34" charset="-122"/>
                <a:cs typeface="Calibri" pitchFamily="34" charset="-120"/>
              </a:rPr>
              <a:t>Ý chính: đừng để AI quyết định chỉ số nào bất thường. Máy tính tính trước, AI viết lại cho dễ hiểu, rồi máy kiểm tra xem AI có viết đúng không.</a:t>
            </a:r>
            <a:endParaRPr lang="en-US" sz="1600" dirty="0"/>
          </a:p>
        </p:txBody>
      </p:sp>
      <p:sp>
        <p:nvSpPr>
          <p:cNvPr id="6" name="Shape 3"/>
          <p:cNvSpPr/>
          <p:nvPr/>
        </p:nvSpPr>
        <p:spPr>
          <a:xfrm>
            <a:off x="609539"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7" name="Text 4"/>
          <p:cNvSpPr txBox="1"/>
          <p:nvPr/>
        </p:nvSpPr>
        <p:spPr>
          <a:xfrm>
            <a:off x="707106"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32% → 0%</a:t>
            </a:r>
            <a:endParaRPr lang="en-US" sz="2933" dirty="0"/>
          </a:p>
        </p:txBody>
      </p:sp>
      <p:sp>
        <p:nvSpPr>
          <p:cNvPr id="8" name="Text 5"/>
          <p:cNvSpPr txBox="1"/>
          <p:nvPr/>
        </p:nvSpPr>
        <p:spPr>
          <a:xfrm>
            <a:off x="731520"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nói nhầm là bình thường</a:t>
            </a:r>
            <a:endParaRPr lang="en-US" sz="1400" dirty="0"/>
          </a:p>
        </p:txBody>
      </p:sp>
      <p:sp>
        <p:nvSpPr>
          <p:cNvPr id="9" name="Shape 6"/>
          <p:cNvSpPr/>
          <p:nvPr/>
        </p:nvSpPr>
        <p:spPr>
          <a:xfrm>
            <a:off x="4352453"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Text 7"/>
          <p:cNvSpPr txBox="1"/>
          <p:nvPr/>
        </p:nvSpPr>
        <p:spPr>
          <a:xfrm>
            <a:off x="4449928"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100%</a:t>
            </a:r>
            <a:endParaRPr lang="en-US" sz="2933" dirty="0"/>
          </a:p>
        </p:txBody>
      </p:sp>
      <p:sp>
        <p:nvSpPr>
          <p:cNvPr id="11" name="Text 8"/>
          <p:cNvSpPr txBox="1"/>
          <p:nvPr/>
        </p:nvSpPr>
        <p:spPr>
          <a:xfrm>
            <a:off x="4474342"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kết quả an toàn</a:t>
            </a:r>
            <a:endParaRPr lang="en-US" sz="1400" dirty="0"/>
          </a:p>
        </p:txBody>
      </p:sp>
      <p:sp>
        <p:nvSpPr>
          <p:cNvPr id="12" name="Shape 9"/>
          <p:cNvSpPr/>
          <p:nvPr/>
        </p:nvSpPr>
        <p:spPr>
          <a:xfrm>
            <a:off x="8095275"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3" name="Text 10"/>
          <p:cNvSpPr txBox="1"/>
          <p:nvPr/>
        </p:nvSpPr>
        <p:spPr>
          <a:xfrm>
            <a:off x="8192841"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0</a:t>
            </a:r>
            <a:endParaRPr lang="en-US" sz="2933" dirty="0"/>
          </a:p>
        </p:txBody>
      </p:sp>
      <p:sp>
        <p:nvSpPr>
          <p:cNvPr id="14" name="Text 11"/>
          <p:cNvSpPr txBox="1"/>
          <p:nvPr/>
        </p:nvSpPr>
        <p:spPr>
          <a:xfrm>
            <a:off x="8217164"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card đồ họa cần mua</a:t>
            </a:r>
            <a:endParaRPr lang="en-US" sz="1400" dirty="0"/>
          </a:p>
        </p:txBody>
      </p:sp>
      <p:sp>
        <p:nvSpPr>
          <p:cNvPr id="15" name="Text 12"/>
          <p:cNvSpPr txBox="1"/>
          <p:nvPr/>
        </p:nvSpPr>
        <p:spPr>
          <a:xfrm>
            <a:off x="609539" y="3779398"/>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Việc cần làm tiếp, theo thứ tự ưu tiên</a:t>
            </a:r>
            <a:endParaRPr lang="en-US" sz="1667" dirty="0"/>
          </a:p>
        </p:txBody>
      </p:sp>
      <p:sp>
        <p:nvSpPr>
          <p:cNvPr id="16" name="Shape 13"/>
          <p:cNvSpPr/>
          <p:nvPr/>
        </p:nvSpPr>
        <p:spPr>
          <a:xfrm>
            <a:off x="755843" y="4267048"/>
            <a:ext cx="207294" cy="207294"/>
          </a:xfrm>
          <a:prstGeom prst="ellipse">
            <a:avLst/>
          </a:prstGeom>
          <a:solidFill>
            <a:srgbClr val="C62828"/>
          </a:solidFill>
          <a:ln/>
        </p:spPr>
      </p:sp>
      <p:sp>
        <p:nvSpPr>
          <p:cNvPr id="17" name="Text 14"/>
          <p:cNvSpPr txBox="1"/>
          <p:nvPr/>
        </p:nvSpPr>
        <p:spPr>
          <a:xfrm>
            <a:off x="1121603" y="4193987"/>
            <a:ext cx="10241006" cy="341346"/>
          </a:xfrm>
          <a:prstGeom prst="rect">
            <a:avLst/>
          </a:prstGeom>
          <a:noFill/>
          <a:ln/>
        </p:spPr>
        <p:txBody>
          <a:bodyPr wrap="square" lIns="0" tIns="0" rIns="0" bIns="0" rtlCol="0" anchor="ctr"/>
          <a:lstStyle/>
          <a:p>
            <a:pPr indent="0" marL="0">
              <a:buNone/>
            </a:pPr>
            <a:r>
              <a:rPr lang="en-US" sz="1400" b="1" dirty="0">
                <a:solidFill>
                  <a:srgbClr val="203864"/>
                </a:solidFill>
                <a:latin typeface="Calibri" pitchFamily="34" charset="0"/>
                <a:ea typeface="Calibri" pitchFamily="34" charset="-122"/>
                <a:cs typeface="Calibri" pitchFamily="34" charset="-120"/>
              </a:rPr>
              <a:t>Nhờ bác sĩ kiểm tra lại các câu giải thích — quan trọng nhất</a:t>
            </a:r>
            <a:endParaRPr lang="en-US" sz="1400" dirty="0"/>
          </a:p>
        </p:txBody>
      </p:sp>
      <p:sp>
        <p:nvSpPr>
          <p:cNvPr id="18" name="Shape 15"/>
          <p:cNvSpPr/>
          <p:nvPr/>
        </p:nvSpPr>
        <p:spPr>
          <a:xfrm>
            <a:off x="755843" y="4632808"/>
            <a:ext cx="207294" cy="207294"/>
          </a:xfrm>
          <a:prstGeom prst="ellipse">
            <a:avLst/>
          </a:prstGeom>
          <a:solidFill>
            <a:srgbClr val="1565C0"/>
          </a:solidFill>
          <a:ln/>
        </p:spPr>
      </p:sp>
      <p:sp>
        <p:nvSpPr>
          <p:cNvPr id="19" name="Text 16"/>
          <p:cNvSpPr txBox="1"/>
          <p:nvPr/>
        </p:nvSpPr>
        <p:spPr>
          <a:xfrm>
            <a:off x="1121603" y="455965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Thay ngưỡng tự đặt bằng danh mục chuẩn của phòng xét nghiệm</a:t>
            </a:r>
            <a:endParaRPr lang="en-US" sz="1400" dirty="0"/>
          </a:p>
        </p:txBody>
      </p:sp>
      <p:sp>
        <p:nvSpPr>
          <p:cNvPr id="20" name="Shape 17"/>
          <p:cNvSpPr/>
          <p:nvPr/>
        </p:nvSpPr>
        <p:spPr>
          <a:xfrm>
            <a:off x="755843" y="4998568"/>
            <a:ext cx="207294" cy="207294"/>
          </a:xfrm>
          <a:prstGeom prst="ellipse">
            <a:avLst/>
          </a:prstGeom>
          <a:solidFill>
            <a:srgbClr val="1565C0"/>
          </a:solidFill>
          <a:ln/>
        </p:spPr>
      </p:sp>
      <p:sp>
        <p:nvSpPr>
          <p:cNvPr id="21" name="Text 18"/>
          <p:cNvSpPr txBox="1"/>
          <p:nvPr/>
        </p:nvSpPr>
        <p:spPr>
          <a:xfrm>
            <a:off x="1121603" y="492541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Làm thêm sinh hóa và kết quả Âm tính/Dương tính</a:t>
            </a:r>
            <a:endParaRPr lang="en-US" sz="1400" dirty="0"/>
          </a:p>
        </p:txBody>
      </p:sp>
      <p:sp>
        <p:nvSpPr>
          <p:cNvPr id="22" name="Shape 19"/>
          <p:cNvSpPr/>
          <p:nvPr/>
        </p:nvSpPr>
        <p:spPr>
          <a:xfrm>
            <a:off x="755843" y="5364328"/>
            <a:ext cx="207294" cy="207294"/>
          </a:xfrm>
          <a:prstGeom prst="ellipse">
            <a:avLst/>
          </a:prstGeom>
          <a:solidFill>
            <a:srgbClr val="1565C0"/>
          </a:solidFill>
          <a:ln/>
        </p:spPr>
      </p:sp>
      <p:sp>
        <p:nvSpPr>
          <p:cNvPr id="23" name="Text 20"/>
          <p:cNvSpPr txBox="1"/>
          <p:nvPr/>
        </p:nvSpPr>
        <p:spPr>
          <a:xfrm>
            <a:off x="1121603" y="529117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Thêm phần đọc thành tiếng cho người già và người đọc kém</a:t>
            </a:r>
            <a:endParaRPr lang="en-US" sz="1400" dirty="0"/>
          </a:p>
        </p:txBody>
      </p:sp>
      <p:sp>
        <p:nvSpPr>
          <p:cNvPr id="24" name="Shape 21"/>
          <p:cNvSpPr/>
          <p:nvPr/>
        </p:nvSpPr>
        <p:spPr>
          <a:xfrm>
            <a:off x="755843" y="5730088"/>
            <a:ext cx="207294" cy="207294"/>
          </a:xfrm>
          <a:prstGeom prst="ellipse">
            <a:avLst/>
          </a:prstGeom>
          <a:solidFill>
            <a:srgbClr val="1565C0"/>
          </a:solidFill>
          <a:ln/>
        </p:spPr>
      </p:sp>
      <p:sp>
        <p:nvSpPr>
          <p:cNvPr id="25" name="Text 22"/>
          <p:cNvSpPr txBox="1"/>
          <p:nvPr/>
        </p:nvSpPr>
        <p:spPr>
          <a:xfrm>
            <a:off x="1121603" y="565693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Thử trên phiếu thật của nhiều phòng xét nghiệm khác nhau</a:t>
            </a:r>
            <a:endParaRPr lang="en-US" sz="1400"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609539" y="1341059"/>
            <a:ext cx="10972526" cy="3657509"/>
          </a:xfrm>
          <a:prstGeom prst="roundRect">
            <a:avLst>
              <a:gd name="adj" fmla="val 2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4" name="Text 1"/>
          <p:cNvSpPr txBox="1"/>
          <p:nvPr/>
        </p:nvSpPr>
        <p:spPr>
          <a:xfrm>
            <a:off x="975299" y="1889699"/>
            <a:ext cx="10241006" cy="914400"/>
          </a:xfrm>
          <a:prstGeom prst="rect">
            <a:avLst/>
          </a:prstGeom>
          <a:noFill/>
          <a:ln/>
        </p:spPr>
        <p:txBody>
          <a:bodyPr wrap="square" lIns="0" tIns="0" rIns="0" bIns="0" rtlCol="0" anchor="ctr"/>
          <a:lstStyle/>
          <a:p>
            <a:pPr algn="ctr" indent="0" marL="0">
              <a:buNone/>
            </a:pPr>
            <a:r>
              <a:rPr lang="en-US" sz="5067" b="1" dirty="0">
                <a:solidFill>
                  <a:srgbClr val="1F3864"/>
                </a:solidFill>
                <a:latin typeface="Arial" pitchFamily="34" charset="0"/>
                <a:ea typeface="Arial" pitchFamily="34" charset="-122"/>
                <a:cs typeface="Arial" pitchFamily="34" charset="-120"/>
              </a:rPr>
              <a:t>Xin cảm ơn</a:t>
            </a:r>
            <a:endParaRPr lang="en-US" sz="5067" dirty="0"/>
          </a:p>
        </p:txBody>
      </p:sp>
      <p:sp>
        <p:nvSpPr>
          <p:cNvPr id="5" name="Shape 2"/>
          <p:cNvSpPr/>
          <p:nvPr/>
        </p:nvSpPr>
        <p:spPr>
          <a:xfrm>
            <a:off x="4876678" y="2986979"/>
            <a:ext cx="2438339" cy="0"/>
          </a:xfrm>
          <a:prstGeom prst="line">
            <a:avLst/>
          </a:prstGeom>
          <a:noFill/>
          <a:ln w="25400">
            <a:solidFill>
              <a:srgbClr val="1565C0"/>
            </a:solidFill>
            <a:prstDash val="solid"/>
          </a:ln>
        </p:spPr>
      </p:sp>
      <p:sp>
        <p:nvSpPr>
          <p:cNvPr id="6" name="Text 3"/>
          <p:cNvSpPr txBox="1"/>
          <p:nvPr/>
        </p:nvSpPr>
        <p:spPr>
          <a:xfrm>
            <a:off x="975299" y="3194182"/>
            <a:ext cx="10241006" cy="487650"/>
          </a:xfrm>
          <a:prstGeom prst="rect">
            <a:avLst/>
          </a:prstGeom>
          <a:noFill/>
          <a:ln/>
        </p:spPr>
        <p:txBody>
          <a:bodyPr wrap="square" lIns="0" tIns="0" rIns="0" bIns="0" rtlCol="0" anchor="ctr"/>
          <a:lstStyle/>
          <a:p>
            <a:pPr algn="ctr" indent="0" marL="0">
              <a:buNone/>
            </a:pPr>
            <a:r>
              <a:rPr lang="en-US" sz="2133" dirty="0">
                <a:solidFill>
                  <a:srgbClr val="1565C0"/>
                </a:solidFill>
                <a:latin typeface="Calibri" pitchFamily="34" charset="0"/>
                <a:ea typeface="Calibri" pitchFamily="34" charset="-122"/>
                <a:cs typeface="Calibri" pitchFamily="34" charset="-120"/>
              </a:rPr>
              <a:t>Mời quý vị đặt câu hỏi</a:t>
            </a:r>
            <a:endParaRPr lang="en-US" sz="2133" dirty="0"/>
          </a:p>
        </p:txBody>
      </p:sp>
      <p:sp>
        <p:nvSpPr>
          <p:cNvPr id="7" name="Text 4"/>
          <p:cNvSpPr txBox="1"/>
          <p:nvPr/>
        </p:nvSpPr>
        <p:spPr>
          <a:xfrm>
            <a:off x="975299" y="3901379"/>
            <a:ext cx="10241006" cy="365760"/>
          </a:xfrm>
          <a:prstGeom prst="rect">
            <a:avLst/>
          </a:prstGeom>
          <a:noFill/>
          <a:ln/>
        </p:spPr>
        <p:txBody>
          <a:bodyPr wrap="square" lIns="0" tIns="0" rIns="0" bIns="0" rtlCol="0" anchor="ctr"/>
          <a:lstStyle/>
          <a:p>
            <a:pPr algn="ctr" indent="0" marL="0">
              <a:buNone/>
            </a:pPr>
            <a:r>
              <a:rPr lang="en-US" sz="1600" b="1" dirty="0">
                <a:solidFill>
                  <a:srgbClr val="203864"/>
                </a:solidFill>
                <a:latin typeface="Calibri" pitchFamily="34" charset="0"/>
                <a:ea typeface="Calibri" pitchFamily="34" charset="-122"/>
                <a:cs typeface="Calibri" pitchFamily="34" charset="-120"/>
              </a:rPr>
              <a:t>Võ Hoàng Khang¹ · Trương Quang Đại</a:t>
            </a:r>
            <a:endParaRPr lang="en-US" sz="1600" dirty="0"/>
          </a:p>
        </p:txBody>
      </p:sp>
      <p:sp>
        <p:nvSpPr>
          <p:cNvPr id="8" name="Text 5"/>
          <p:cNvSpPr txBox="1"/>
          <p:nvPr/>
        </p:nvSpPr>
        <p:spPr>
          <a:xfrm>
            <a:off x="975299" y="4328038"/>
            <a:ext cx="10241006"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Paper ID HI26-0013 · Track 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HEALTHINFO IV - Giai thich ket qua xet nghiem</dc:title>
  <dc:subject>PptxGenJS Presentation</dc:subject>
  <dc:creator>Vo Hoang Khang</dc:creator>
  <cp:lastModifiedBy>Vo Hoang Khang</cp:lastModifiedBy>
  <cp:revision>1</cp:revision>
  <dcterms:created xsi:type="dcterms:W3CDTF">2026-09-29T10:30:20Z</dcterms:created>
  <dcterms:modified xsi:type="dcterms:W3CDTF">2026-09-29T10:30:20Z</dcterms:modified>
</cp:coreProperties>
</file>
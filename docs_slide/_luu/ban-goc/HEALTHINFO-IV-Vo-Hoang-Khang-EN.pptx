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[ 30 sec ]  Title slide
Good morning. My name is Vo Hoang Khang, from HUTECH University in Ho Chi Minh City.
This talk is about a system that helps patients understand their own blood test results. What distinguishes it is this: in our pipeline, the language model is not permitted to decide whether a value is abnormal.
--- Emphasise ---
&gt; State the central claim in the second sentence — do not save it for the middle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sec ]  Outline
I will cover six parts: the problem, the risk, the architecture, the evaluation design, the results, and the limitations.
--- Note ---
Move quickly. Do not read all six lines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min ]  The problem
A patient leaves the laboratory holding this: PDW, MCHC, Monocyte, in units of G per litre, femtolitres, picograms.
The reference interval is printed beside each value, so the patient can see a number falls outside it. But not what the analyte measures, whether the deviation matters, or what to do next.
This is the gap health literacy describes, and in Vietnam the gap is well documented: a cross-sectional study of 204 older adults in Da Nang found 60.3% with inadequate general health literacy.
Patients are left to close that gap themselves. In a study of 93 patients receiving results through an online portal, nearly two-thirds received no explanation, and 46% searched online to understand them.
--- Emphasise ---
&gt; The two figures — 60.3% and 46% — underpin everything that follows. Slow down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min ]  How patients currently cope
Today, searching online usually means photographing the report and asking a general-purpose language model.
The failure mode is easy to reproduce. This is an actual response, from the same model we use in the study, asked in Vietnamese what white blood cells are.
It says white blood cells are lymphocytes. That is wrong — lymphocytes are one type of white blood cell, not a synonym. It then raises cancer and immune deficiency, unprompted.
A patient holding an entirely normal result meets one definitional error and two alarming diseases in a single short answer.
--- Note ---
If time allows, let the audience read the quoted passage for a few seconds before commenting.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  The most dangerous failure runs the other way
But the more consequential failure runs in the opposite direction.
A terminological error is visible to the reader and invites verification. False reassurance is fluent, comfortable, and acts by suppressing further action.
False reassurance is the assertion that all results are normal, on a panel that is not.
This is an actual output from our experiment, on a panel labelled seek care.
--- Emphasise ---
&gt; This is the most important slide in the first half. It establishes why a separate metric is needed.
&gt; Closing line: this error does not merely misinform — it removes the reason to seek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sec ]  Contributions
The paper makes four contributions.
First, a four-layer pipeline in which all clinical judgement is completed by rules before the model is invoked.
Second, an automated validator that checks generated text against those labels.
Third, a false reassurance metric, which to our knowledge has not been reported separately in prior work.
Fourth, an empirical observation about unit heterogeneity between Vietnamese laboratories.
--- Note ---
Keep this brisk — one sentence each. Detail comes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min ]  Four-layer architecture
The central principle is stated at the top of the slide: no clinical judgement is delegated to the language model.
Layer 1 normalises analyte names and converts units. Layer 2 compares against the reference interval and assigns a three-level label. Neither layer involves a language model at all.
Layer 3 is where the model is invoked — but it receives labels that are already assigned, and its only task is to render them in plain language.
Layer 4 validates the generated text. Failing output is regenerated; past the retry limit, the system emits a fixed template.
As a result, the pipeline never displays unverified text.
--- Emphasise ---
&gt; Point at the “No LLM” tags on layers 1, 2 and 4 — three of the four layers are fully deterministic.
--- Avoid saying ---
X Do not say “we constrain the model so it does not make mistakes.” More precisely: we do not give it the task it gets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min ]  Layer 1 — Name and unit normalisation
This layer looks trivial, but it produced the most instructive error we encountered.
On names: a single white blood cell count may appear under four different spellings depending on the laboratory. The percentage and hash markers distinguish proportion from absolute count, and may precede or follow the name.
Units are the serious problem. Haemoglobin is reported in grams per decilitre by some laboratories and grams per litre by others — a factor of ten apart.
Compared without conversion, an entirely normal value is classified as requiring urgent care. And note where this happens: inside the rule layer, the layer we claim is exact.
Our rule: an unrecognised or missing unit means we refuse to process the analyte. We never guess.
--- Emphasise ---
&gt; The line “the error occurs inside the layer treated as 100% correct” is the point of this slide.
--- Note ---
If asked about LOINC or FHIR, this is the bridge to Panel 3 at this conference.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sec ]  Layer 2 — Rule-based classification
Layer 2 contains no learned component. It is arithmetic comparison against a reference interval.
Within the interval is normal. Outside it but within the severity threshold is monitor. Beyond that threshold is seek care.
Because there is no learned component, classification accuracy is a property of the design rather than an experimental result. And the language model has no opportunity to alter it.
--- Emphasise ---
&gt; That last sentence is the strongest safety argument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 min ]  Layers 3 and 4
Layer 3 applies three constraints. The input constraint: the model is given labels, never asked to derive them. The content constraint: no disease names, no attributed causes, no medications or dosages. The output constraint: a fixed JSON schema, which is what makes automated checking possible.
Layer 4 runs four checks: does the stated direction match the Layer 2 label, are forbidden terms present, is any analyte omitted or fabricated, and does the closing statement falsely reassure.
On the model: we use Qwen 2.5 with three billion parameters, served locally through Ollama. This is deliberate — laboratory data is sensitive and should not be transmitted to an external service, and a model this size runs on ordinary CPU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  Evaluation design
We evaluate on 150 synthetic complete blood count panels rather than clinical records.
Synthetic data is required here rather than merely convenient. Measuring consistency demands ground truth labels, which real reports do not carry. And it permits a balanced design — real panels are predominantly normal and would yield too few abnormal cases to test against.
We compare three configurations. Baseline gives raw values to the model with no labels and no constraints — this approximates what happens when a patient pastes a report into a chatbot. Constrained adds labels and prompt constraints but no validation. Full is the complete four-layer pipeline.
--- Avoid saying ---
X Do not say “we used fake data because we had no real data.” Give the three methodological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min ]  Results
This is the main results table. Every error metric decreases monotonically across the three configurations.
Baseline produced no acceptable output on any of the 150 panels. It misstated the direction of an analyte in 91.3% of panels and used forbidden clinical terminology in 79.3%.
Most consequentially, the false reassurance column: 32%. Roughly one patient in three with abnormal results would have been told that nothing required attention.
The constrained configuration improves substantially, but 52% of its outputs still failed validation. Instruction does not guarantee compliance.
The full configuration reached 100% safe output.
--- Emphasise ---
&gt; Pause on 32% and translate it: one patient in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 min ]  Three key findings
Three numbers summarise the work.
False reassurance, from 32% to zero. Direction mismatch, from 91.3% to zero — the model judging for itself fails almost always; moved to a rule layer, classification becomes exact.
And 48%: over half of prompt-constrained outputs still failed, which shows that instruction alone is not sufficient.
I want to be explicit about the 100% figure. Of that, 64% was generated by the model and 36% fell back to fixed templates. The guarantee is a property of the pipeline, not evidence that a three-billion-parameter model performs this task reliably.
--- Emphasise ---
&gt; DO NOT DROP the qualification about 64% and 36%. If the audience works it out themselves, the credibility cost is far higher.
--- Avoid saying ---
X Never say “our system is 100% accurate.” Say “100% safe output,” and qualify it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min ]  Discussion
Two observations.
First, false reassurance deserves its own metric. Current evaluations report readability and factual accuracy, but a falsely reassuring sentence may score high on readability precisely because it is simple and calming.
Second, unit standardisation is a safety precondition rather than a technical convenience. The unit error occurred inside the rule layer, and no downstream validation detects it, because every later layer faithfully reproduces a confidently wrong label.
This connects directly to the data standardisation theme of Panel 3 at this conference.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sec ]  Limitations
Four limitations I want to state plainly.
No clinical validation — all evaluation is automated, and no medical professional has reviewed the explanations.
Severity thresholds were set heuristically, not against any laboratory's critical value list.
The data is synthetic, and the scope covers only the complete blood count.
--- Emphasise ---
&gt; Deliver this directly and calmly. Stating limitations before being asked builds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sec ]  Conclusion and future work
In summary: the language model is not permitted to judge whether a value is abnormal. Rules decide first, the model paraphrases, and a validator checks one against the other.
The highest priority for future work is clinical validation by medical professionals. After that: replacing heuristic thresholds with a critical value list, extending scope, and adding a speech output layer for elderly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remaining ]  Thank you and Q&amp;A
Thank you for your attention.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BDD7E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09539" y="609539"/>
            <a:ext cx="10972526" cy="4084259"/>
          </a:xfrm>
          <a:prstGeom prst="roundRect">
            <a:avLst>
              <a:gd name="adj" fmla="val 179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4" name="Text 1"/>
          <p:cNvSpPr txBox="1"/>
          <p:nvPr/>
        </p:nvSpPr>
        <p:spPr>
          <a:xfrm>
            <a:off x="975299" y="1036290"/>
            <a:ext cx="10241006" cy="1828709"/>
          </a:xfrm>
          <a:prstGeom prst="rect">
            <a:avLst/>
          </a:prstGeom>
          <a:noFill/>
          <a:ln/>
        </p:spPr>
        <p:txBody>
          <a:bodyPr wrap="square" lIns="0" tIns="0" rIns="0" bIns="0" rtlCol="0" anchor="ctr"/>
          <a:lstStyle/>
          <a:p>
            <a:pPr algn="ctr" indent="0" marL="0">
              <a:lnSpc>
                <a:spcPts val="4000"/>
              </a:lnSpc>
              <a:buNone/>
            </a:pPr>
            <a:r>
              <a:rPr lang="en-US" sz="2933" b="1" dirty="0">
                <a:solidFill>
                  <a:srgbClr val="1F3864"/>
                </a:solidFill>
                <a:latin typeface="Arial" pitchFamily="34" charset="0"/>
                <a:ea typeface="Arial" pitchFamily="34" charset="-122"/>
                <a:cs typeface="Arial" pitchFamily="34" charset="-120"/>
              </a:rPr>
              <a:t>A Rule-Constrained Large Language Model Pipeline</a:t>
            </a:r>
            <a:endParaRPr lang="en-US" sz="2933" dirty="0"/>
          </a:p>
          <a:p>
            <a:pPr algn="ctr" indent="0" marL="0">
              <a:lnSpc>
                <a:spcPts val="4000"/>
              </a:lnSpc>
              <a:buNone/>
            </a:pPr>
            <a:r>
              <a:rPr lang="en-US" sz="2933" b="1" dirty="0">
                <a:solidFill>
                  <a:srgbClr val="1F3864"/>
                </a:solidFill>
                <a:latin typeface="Arial" pitchFamily="34" charset="0"/>
                <a:ea typeface="Arial" pitchFamily="34" charset="-122"/>
                <a:cs typeface="Arial" pitchFamily="34" charset="-120"/>
              </a:rPr>
              <a:t>for Patient-Friendly Interpretation</a:t>
            </a:r>
            <a:endParaRPr lang="en-US" sz="2933" dirty="0"/>
          </a:p>
          <a:p>
            <a:pPr algn="ctr" indent="0" marL="0">
              <a:lnSpc>
                <a:spcPts val="4000"/>
              </a:lnSpc>
              <a:buNone/>
            </a:pPr>
            <a:r>
              <a:rPr lang="en-US" sz="2933" b="1" dirty="0">
                <a:solidFill>
                  <a:srgbClr val="1F3864"/>
                </a:solidFill>
                <a:latin typeface="Arial" pitchFamily="34" charset="0"/>
                <a:ea typeface="Arial" pitchFamily="34" charset="-122"/>
                <a:cs typeface="Arial" pitchFamily="34" charset="-120"/>
              </a:rPr>
              <a:t>of Vietnamese Blood Test Results</a:t>
            </a:r>
            <a:endParaRPr lang="en-US" sz="2933" dirty="0"/>
          </a:p>
        </p:txBody>
      </p:sp>
      <p:sp>
        <p:nvSpPr>
          <p:cNvPr id="5" name="Shape 2"/>
          <p:cNvSpPr/>
          <p:nvPr/>
        </p:nvSpPr>
        <p:spPr>
          <a:xfrm>
            <a:off x="4389029" y="3023555"/>
            <a:ext cx="3413638" cy="0"/>
          </a:xfrm>
          <a:prstGeom prst="line">
            <a:avLst/>
          </a:prstGeom>
          <a:noFill/>
          <a:ln w="25400">
            <a:solidFill>
              <a:srgbClr val="1565C0"/>
            </a:solidFill>
            <a:prstDash val="solid"/>
          </a:ln>
        </p:spPr>
      </p:sp>
      <p:sp>
        <p:nvSpPr>
          <p:cNvPr id="6" name="Text 3"/>
          <p:cNvSpPr txBox="1"/>
          <p:nvPr/>
        </p:nvSpPr>
        <p:spPr>
          <a:xfrm>
            <a:off x="975299" y="3169859"/>
            <a:ext cx="10241006" cy="365760"/>
          </a:xfrm>
          <a:prstGeom prst="rect">
            <a:avLst/>
          </a:prstGeom>
          <a:noFill/>
          <a:ln/>
        </p:spPr>
        <p:txBody>
          <a:bodyPr wrap="square" lIns="0" tIns="0" rIns="0" bIns="0" rtlCol="0" anchor="ctr"/>
          <a:lstStyle/>
          <a:p>
            <a:pPr algn="ctr" indent="0" marL="0">
              <a:buNone/>
            </a:pPr>
            <a:r>
              <a:rPr lang="en-US" sz="1600" b="1" dirty="0">
                <a:solidFill>
                  <a:srgbClr val="1565C0"/>
                </a:solidFill>
                <a:latin typeface="Calibri" pitchFamily="34" charset="0"/>
                <a:ea typeface="Calibri" pitchFamily="34" charset="-122"/>
                <a:cs typeface="Calibri" pitchFamily="34" charset="-120"/>
              </a:rPr>
              <a:t>Track B · Paper ID HI26-0013 · Oral Presentation</a:t>
            </a:r>
            <a:endParaRPr lang="en-US" sz="1600" dirty="0"/>
          </a:p>
        </p:txBody>
      </p:sp>
      <p:sp>
        <p:nvSpPr>
          <p:cNvPr id="7" name="Text 4"/>
          <p:cNvSpPr txBox="1"/>
          <p:nvPr/>
        </p:nvSpPr>
        <p:spPr>
          <a:xfrm>
            <a:off x="975299" y="3657509"/>
            <a:ext cx="10241006" cy="365760"/>
          </a:xfrm>
          <a:prstGeom prst="rect">
            <a:avLst/>
          </a:prstGeom>
          <a:noFill/>
          <a:ln/>
        </p:spPr>
        <p:txBody>
          <a:bodyPr wrap="square" lIns="0" tIns="0" rIns="0" bIns="0" rtlCol="0" anchor="ctr"/>
          <a:lstStyle/>
          <a:p>
            <a:pPr algn="ctr" indent="0" marL="0">
              <a:buNone/>
            </a:pPr>
            <a:r>
              <a:rPr lang="en-US" sz="1867" b="1" dirty="0">
                <a:solidFill>
                  <a:srgbClr val="203864"/>
                </a:solidFill>
                <a:latin typeface="Calibri" pitchFamily="34" charset="0"/>
                <a:ea typeface="Calibri" pitchFamily="34" charset="-122"/>
                <a:cs typeface="Calibri" pitchFamily="34" charset="-120"/>
              </a:rPr>
              <a:t>Vo Hoang Khang¹ · Truong Quang Dai</a:t>
            </a:r>
            <a:endParaRPr lang="en-US" sz="1867" dirty="0"/>
          </a:p>
        </p:txBody>
      </p:sp>
      <p:sp>
        <p:nvSpPr>
          <p:cNvPr id="8" name="Text 5"/>
          <p:cNvSpPr txBox="1"/>
          <p:nvPr/>
        </p:nvSpPr>
        <p:spPr>
          <a:xfrm>
            <a:off x="975299" y="4096421"/>
            <a:ext cx="10241006" cy="365760"/>
          </a:xfrm>
          <a:prstGeom prst="rect">
            <a:avLst/>
          </a:prstGeom>
          <a:noFill/>
          <a:ln/>
        </p:spPr>
        <p:txBody>
          <a:bodyPr wrap="square" lIns="0" tIns="0" rIns="0" bIns="0" rtlCol="0" anchor="ctr"/>
          <a:lstStyle/>
          <a:p>
            <a:pPr algn="ctr" indent="0" marL="0">
              <a:buNone/>
            </a:pPr>
            <a:r>
              <a:rPr lang="en-US" sz="1467" dirty="0">
                <a:solidFill>
                  <a:srgbClr val="5A6B85"/>
                </a:solidFill>
                <a:latin typeface="Calibri" pitchFamily="34" charset="0"/>
                <a:ea typeface="Calibri" pitchFamily="34" charset="-122"/>
                <a:cs typeface="Calibri" pitchFamily="34" charset="-120"/>
              </a:rPr>
              <a:t>¹ HUTECH University, Ho Chi Minh City</a:t>
            </a:r>
            <a:endParaRPr lang="en-US" sz="1467" dirty="0"/>
          </a:p>
        </p:txBody>
      </p:sp>
      <p:sp>
        <p:nvSpPr>
          <p:cNvPr id="9" name="Text 6"/>
          <p:cNvSpPr txBox="1"/>
          <p:nvPr/>
        </p:nvSpPr>
        <p:spPr>
          <a:xfrm>
            <a:off x="609539" y="5059558"/>
            <a:ext cx="10972526" cy="914400"/>
          </a:xfrm>
          <a:prstGeom prst="rect">
            <a:avLst/>
          </a:prstGeom>
          <a:noFill/>
          <a:ln/>
        </p:spPr>
        <p:txBody>
          <a:bodyPr wrap="square" lIns="0" tIns="0" rIns="0" bIns="0" rtlCol="0" anchor="ctr"/>
          <a:lstStyle/>
          <a:p>
            <a:pPr algn="ctr" indent="0" marL="0">
              <a:lnSpc>
                <a:spcPts val="2267"/>
              </a:lnSpc>
              <a:buNone/>
            </a:pPr>
            <a:r>
              <a:rPr lang="en-US" sz="1467" dirty="0">
                <a:solidFill>
                  <a:srgbClr val="1F3864"/>
                </a:solidFill>
                <a:latin typeface="Calibri" pitchFamily="34" charset="0"/>
                <a:ea typeface="Calibri" pitchFamily="34" charset="-122"/>
                <a:cs typeface="Calibri" pitchFamily="34" charset="-120"/>
              </a:rPr>
              <a:t>HEALTHINFO IV — 4th International Health Informatics Conference</a:t>
            </a:r>
            <a:endParaRPr lang="en-US" sz="1467" dirty="0"/>
          </a:p>
          <a:p>
            <a:pPr algn="ctr" indent="0" marL="0">
              <a:lnSpc>
                <a:spcPts val="2267"/>
              </a:lnSpc>
              <a:buNone/>
            </a:pPr>
            <a:r>
              <a:rPr lang="en-US" sz="1467" dirty="0">
                <a:solidFill>
                  <a:srgbClr val="1F3864"/>
                </a:solidFill>
                <a:latin typeface="Calibri" pitchFamily="34" charset="0"/>
                <a:ea typeface="Calibri" pitchFamily="34" charset="-122"/>
                <a:cs typeface="Calibri" pitchFamily="34" charset="-120"/>
              </a:rPr>
              <a:t>02–03 October 2026 · University of Information Technology, VNU-HCM</a:t>
            </a:r>
            <a:endParaRPr lang="en-US" sz="1467"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Outline</a:t>
            </a:r>
            <a:endParaRPr lang="en-US" sz="3000" dirty="0"/>
          </a:p>
        </p:txBody>
      </p:sp>
      <p:sp>
        <p:nvSpPr>
          <p:cNvPr id="4" name="Shape 1"/>
          <p:cNvSpPr/>
          <p:nvPr/>
        </p:nvSpPr>
        <p:spPr>
          <a:xfrm>
            <a:off x="609539" y="1402050"/>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Shape 2"/>
          <p:cNvSpPr/>
          <p:nvPr/>
        </p:nvSpPr>
        <p:spPr>
          <a:xfrm>
            <a:off x="853410" y="1767810"/>
            <a:ext cx="609539" cy="609539"/>
          </a:xfrm>
          <a:prstGeom prst="ellipse">
            <a:avLst/>
          </a:prstGeom>
          <a:solidFill>
            <a:srgbClr val="1565C0"/>
          </a:solidFill>
          <a:ln/>
        </p:spPr>
      </p:sp>
      <p:sp>
        <p:nvSpPr>
          <p:cNvPr id="6" name="Text 3"/>
          <p:cNvSpPr txBox="1"/>
          <p:nvPr/>
        </p:nvSpPr>
        <p:spPr>
          <a:xfrm>
            <a:off x="853410" y="1767810"/>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1</a:t>
            </a:r>
            <a:endParaRPr lang="en-US" sz="2133" dirty="0"/>
          </a:p>
        </p:txBody>
      </p:sp>
      <p:sp>
        <p:nvSpPr>
          <p:cNvPr id="7" name="Text 4"/>
          <p:cNvSpPr txBox="1"/>
          <p:nvPr/>
        </p:nvSpPr>
        <p:spPr>
          <a:xfrm>
            <a:off x="1609344" y="1645920"/>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The problem</a:t>
            </a:r>
            <a:endParaRPr lang="en-US" sz="1867" dirty="0"/>
          </a:p>
        </p:txBody>
      </p:sp>
      <p:sp>
        <p:nvSpPr>
          <p:cNvPr id="8" name="Text 5"/>
          <p:cNvSpPr txBox="1"/>
          <p:nvPr/>
        </p:nvSpPr>
        <p:spPr>
          <a:xfrm>
            <a:off x="1609344" y="2060418"/>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Patients cannot read their own lab reports</a:t>
            </a:r>
            <a:endParaRPr lang="en-US" sz="1400" dirty="0"/>
          </a:p>
        </p:txBody>
      </p:sp>
      <p:sp>
        <p:nvSpPr>
          <p:cNvPr id="9" name="Shape 6"/>
          <p:cNvSpPr/>
          <p:nvPr/>
        </p:nvSpPr>
        <p:spPr>
          <a:xfrm>
            <a:off x="6217737" y="1402050"/>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Shape 7"/>
          <p:cNvSpPr/>
          <p:nvPr/>
        </p:nvSpPr>
        <p:spPr>
          <a:xfrm>
            <a:off x="6461608" y="1767810"/>
            <a:ext cx="609539" cy="609539"/>
          </a:xfrm>
          <a:prstGeom prst="ellipse">
            <a:avLst/>
          </a:prstGeom>
          <a:solidFill>
            <a:srgbClr val="1565C0"/>
          </a:solidFill>
          <a:ln/>
        </p:spPr>
      </p:sp>
      <p:sp>
        <p:nvSpPr>
          <p:cNvPr id="11" name="Text 8"/>
          <p:cNvSpPr txBox="1"/>
          <p:nvPr/>
        </p:nvSpPr>
        <p:spPr>
          <a:xfrm>
            <a:off x="6461608" y="1767810"/>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2</a:t>
            </a:r>
            <a:endParaRPr lang="en-US" sz="2133" dirty="0"/>
          </a:p>
        </p:txBody>
      </p:sp>
      <p:sp>
        <p:nvSpPr>
          <p:cNvPr id="12" name="Text 9"/>
          <p:cNvSpPr txBox="1"/>
          <p:nvPr/>
        </p:nvSpPr>
        <p:spPr>
          <a:xfrm>
            <a:off x="7217451" y="1645920"/>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The risk</a:t>
            </a:r>
            <a:endParaRPr lang="en-US" sz="1867" dirty="0"/>
          </a:p>
        </p:txBody>
      </p:sp>
      <p:sp>
        <p:nvSpPr>
          <p:cNvPr id="13" name="Text 10"/>
          <p:cNvSpPr txBox="1"/>
          <p:nvPr/>
        </p:nvSpPr>
        <p:spPr>
          <a:xfrm>
            <a:off x="7217451" y="2060418"/>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What happens when an LLM interprets results</a:t>
            </a:r>
            <a:endParaRPr lang="en-US" sz="1400" dirty="0"/>
          </a:p>
        </p:txBody>
      </p:sp>
      <p:sp>
        <p:nvSpPr>
          <p:cNvPr id="14" name="Shape 11"/>
          <p:cNvSpPr/>
          <p:nvPr/>
        </p:nvSpPr>
        <p:spPr>
          <a:xfrm>
            <a:off x="609539" y="3011394"/>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5" name="Shape 12"/>
          <p:cNvSpPr/>
          <p:nvPr/>
        </p:nvSpPr>
        <p:spPr>
          <a:xfrm>
            <a:off x="853410" y="3377062"/>
            <a:ext cx="609539" cy="609539"/>
          </a:xfrm>
          <a:prstGeom prst="ellipse">
            <a:avLst/>
          </a:prstGeom>
          <a:solidFill>
            <a:srgbClr val="1565C0"/>
          </a:solidFill>
          <a:ln/>
        </p:spPr>
      </p:sp>
      <p:sp>
        <p:nvSpPr>
          <p:cNvPr id="16" name="Text 13"/>
          <p:cNvSpPr txBox="1"/>
          <p:nvPr/>
        </p:nvSpPr>
        <p:spPr>
          <a:xfrm>
            <a:off x="853410" y="3377062"/>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3</a:t>
            </a:r>
            <a:endParaRPr lang="en-US" sz="2133" dirty="0"/>
          </a:p>
        </p:txBody>
      </p:sp>
      <p:sp>
        <p:nvSpPr>
          <p:cNvPr id="17" name="Text 14"/>
          <p:cNvSpPr txBox="1"/>
          <p:nvPr/>
        </p:nvSpPr>
        <p:spPr>
          <a:xfrm>
            <a:off x="1609344" y="3255173"/>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Architecture</a:t>
            </a:r>
            <a:endParaRPr lang="en-US" sz="1867" dirty="0"/>
          </a:p>
        </p:txBody>
      </p:sp>
      <p:sp>
        <p:nvSpPr>
          <p:cNvPr id="18" name="Text 15"/>
          <p:cNvSpPr txBox="1"/>
          <p:nvPr/>
        </p:nvSpPr>
        <p:spPr>
          <a:xfrm>
            <a:off x="1609344" y="3669670"/>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Four layers, judgement separated from the model</a:t>
            </a:r>
            <a:endParaRPr lang="en-US" sz="1400" dirty="0"/>
          </a:p>
        </p:txBody>
      </p:sp>
      <p:sp>
        <p:nvSpPr>
          <p:cNvPr id="19" name="Shape 16"/>
          <p:cNvSpPr/>
          <p:nvPr/>
        </p:nvSpPr>
        <p:spPr>
          <a:xfrm>
            <a:off x="6217737" y="3011394"/>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0" name="Shape 17"/>
          <p:cNvSpPr/>
          <p:nvPr/>
        </p:nvSpPr>
        <p:spPr>
          <a:xfrm>
            <a:off x="6461608" y="3377062"/>
            <a:ext cx="609539" cy="609539"/>
          </a:xfrm>
          <a:prstGeom prst="ellipse">
            <a:avLst/>
          </a:prstGeom>
          <a:solidFill>
            <a:srgbClr val="1565C0"/>
          </a:solidFill>
          <a:ln/>
        </p:spPr>
      </p:sp>
      <p:sp>
        <p:nvSpPr>
          <p:cNvPr id="21" name="Text 18"/>
          <p:cNvSpPr txBox="1"/>
          <p:nvPr/>
        </p:nvSpPr>
        <p:spPr>
          <a:xfrm>
            <a:off x="6461608" y="3377062"/>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4</a:t>
            </a:r>
            <a:endParaRPr lang="en-US" sz="2133" dirty="0"/>
          </a:p>
        </p:txBody>
      </p:sp>
      <p:sp>
        <p:nvSpPr>
          <p:cNvPr id="22" name="Text 19"/>
          <p:cNvSpPr txBox="1"/>
          <p:nvPr/>
        </p:nvSpPr>
        <p:spPr>
          <a:xfrm>
            <a:off x="7217451" y="3255173"/>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Evaluation</a:t>
            </a:r>
            <a:endParaRPr lang="en-US" sz="1867" dirty="0"/>
          </a:p>
        </p:txBody>
      </p:sp>
      <p:sp>
        <p:nvSpPr>
          <p:cNvPr id="23" name="Text 20"/>
          <p:cNvSpPr txBox="1"/>
          <p:nvPr/>
        </p:nvSpPr>
        <p:spPr>
          <a:xfrm>
            <a:off x="7217451" y="3669670"/>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150 panels, three configurations</a:t>
            </a:r>
            <a:endParaRPr lang="en-US" sz="1400" dirty="0"/>
          </a:p>
        </p:txBody>
      </p:sp>
      <p:sp>
        <p:nvSpPr>
          <p:cNvPr id="24" name="Shape 21"/>
          <p:cNvSpPr/>
          <p:nvPr/>
        </p:nvSpPr>
        <p:spPr>
          <a:xfrm>
            <a:off x="609539" y="4620646"/>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5" name="Shape 22"/>
          <p:cNvSpPr/>
          <p:nvPr/>
        </p:nvSpPr>
        <p:spPr>
          <a:xfrm>
            <a:off x="853410" y="4986406"/>
            <a:ext cx="609539" cy="609539"/>
          </a:xfrm>
          <a:prstGeom prst="ellipse">
            <a:avLst/>
          </a:prstGeom>
          <a:solidFill>
            <a:srgbClr val="1565C0"/>
          </a:solidFill>
          <a:ln/>
        </p:spPr>
      </p:sp>
      <p:sp>
        <p:nvSpPr>
          <p:cNvPr id="26" name="Text 23"/>
          <p:cNvSpPr txBox="1"/>
          <p:nvPr/>
        </p:nvSpPr>
        <p:spPr>
          <a:xfrm>
            <a:off x="853410" y="4986406"/>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5</a:t>
            </a:r>
            <a:endParaRPr lang="en-US" sz="2133" dirty="0"/>
          </a:p>
        </p:txBody>
      </p:sp>
      <p:sp>
        <p:nvSpPr>
          <p:cNvPr id="27" name="Text 24"/>
          <p:cNvSpPr txBox="1"/>
          <p:nvPr/>
        </p:nvSpPr>
        <p:spPr>
          <a:xfrm>
            <a:off x="1609344" y="4864517"/>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Results</a:t>
            </a:r>
            <a:endParaRPr lang="en-US" sz="1867" dirty="0"/>
          </a:p>
        </p:txBody>
      </p:sp>
      <p:sp>
        <p:nvSpPr>
          <p:cNvPr id="28" name="Text 25"/>
          <p:cNvSpPr txBox="1"/>
          <p:nvPr/>
        </p:nvSpPr>
        <p:spPr>
          <a:xfrm>
            <a:off x="1609344" y="5279014"/>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False reassurance: 32% → 0%</a:t>
            </a:r>
            <a:endParaRPr lang="en-US" sz="1400" dirty="0"/>
          </a:p>
        </p:txBody>
      </p:sp>
      <p:sp>
        <p:nvSpPr>
          <p:cNvPr id="29" name="Shape 26"/>
          <p:cNvSpPr/>
          <p:nvPr/>
        </p:nvSpPr>
        <p:spPr>
          <a:xfrm>
            <a:off x="6217737" y="4620646"/>
            <a:ext cx="5303429" cy="1341059"/>
          </a:xfrm>
          <a:prstGeom prst="roundRect">
            <a:avLst>
              <a:gd name="adj" fmla="val 545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30" name="Shape 27"/>
          <p:cNvSpPr/>
          <p:nvPr/>
        </p:nvSpPr>
        <p:spPr>
          <a:xfrm>
            <a:off x="6461608" y="4986406"/>
            <a:ext cx="609539" cy="609539"/>
          </a:xfrm>
          <a:prstGeom prst="ellipse">
            <a:avLst/>
          </a:prstGeom>
          <a:solidFill>
            <a:srgbClr val="1565C0"/>
          </a:solidFill>
          <a:ln/>
        </p:spPr>
      </p:sp>
      <p:sp>
        <p:nvSpPr>
          <p:cNvPr id="31" name="Text 28"/>
          <p:cNvSpPr txBox="1"/>
          <p:nvPr/>
        </p:nvSpPr>
        <p:spPr>
          <a:xfrm>
            <a:off x="6461608" y="4986406"/>
            <a:ext cx="609539" cy="609539"/>
          </a:xfrm>
          <a:prstGeom prst="rect">
            <a:avLst/>
          </a:prstGeom>
          <a:noFill/>
          <a:ln/>
        </p:spPr>
        <p:txBody>
          <a:bodyPr wrap="square" lIns="0" tIns="0" rIns="0" bIns="0" rtlCol="0" anchor="ctr"/>
          <a:lstStyle/>
          <a:p>
            <a:pPr algn="ctr" indent="0" marL="0">
              <a:buNone/>
            </a:pPr>
            <a:r>
              <a:rPr lang="en-US" sz="2133" b="1" dirty="0">
                <a:solidFill>
                  <a:srgbClr val="FFFFFF"/>
                </a:solidFill>
                <a:latin typeface="Arial" pitchFamily="34" charset="0"/>
                <a:ea typeface="Arial" pitchFamily="34" charset="-122"/>
                <a:cs typeface="Arial" pitchFamily="34" charset="-120"/>
              </a:rPr>
              <a:t>6</a:t>
            </a:r>
            <a:endParaRPr lang="en-US" sz="2133" dirty="0"/>
          </a:p>
        </p:txBody>
      </p:sp>
      <p:sp>
        <p:nvSpPr>
          <p:cNvPr id="32" name="Text 29"/>
          <p:cNvSpPr txBox="1"/>
          <p:nvPr/>
        </p:nvSpPr>
        <p:spPr>
          <a:xfrm>
            <a:off x="7217451" y="4864517"/>
            <a:ext cx="4023269" cy="390174"/>
          </a:xfrm>
          <a:prstGeom prst="rect">
            <a:avLst/>
          </a:prstGeom>
          <a:noFill/>
          <a:ln/>
        </p:spPr>
        <p:txBody>
          <a:bodyPr wrap="square" lIns="0" tIns="0" rIns="0" bIns="0" rtlCol="0" anchor="ctr"/>
          <a:lstStyle/>
          <a:p>
            <a:pPr indent="0" marL="0">
              <a:buNone/>
            </a:pPr>
            <a:r>
              <a:rPr lang="en-US" sz="1867" b="1" dirty="0">
                <a:solidFill>
                  <a:srgbClr val="1F3864"/>
                </a:solidFill>
                <a:latin typeface="Arial" pitchFamily="34" charset="0"/>
                <a:ea typeface="Arial" pitchFamily="34" charset="-122"/>
                <a:cs typeface="Arial" pitchFamily="34" charset="-120"/>
              </a:rPr>
              <a:t>Limitations</a:t>
            </a:r>
            <a:endParaRPr lang="en-US" sz="1867" dirty="0"/>
          </a:p>
        </p:txBody>
      </p:sp>
      <p:sp>
        <p:nvSpPr>
          <p:cNvPr id="33" name="Text 30"/>
          <p:cNvSpPr txBox="1"/>
          <p:nvPr/>
        </p:nvSpPr>
        <p:spPr>
          <a:xfrm>
            <a:off x="7217451" y="5279014"/>
            <a:ext cx="4084259" cy="548640"/>
          </a:xfrm>
          <a:prstGeom prst="rect">
            <a:avLst/>
          </a:prstGeom>
          <a:noFill/>
          <a:ln/>
        </p:spPr>
        <p:txBody>
          <a:bodyPr wrap="square" lIns="0" tIns="0" rIns="0" bIns="0" rtlCol="0" anchor="ctr"/>
          <a:lstStyle/>
          <a:p>
            <a:pPr indent="0" marL="0">
              <a:buNone/>
            </a:pPr>
            <a:r>
              <a:rPr lang="en-US" sz="1400" dirty="0">
                <a:solidFill>
                  <a:srgbClr val="5A6B85"/>
                </a:solidFill>
                <a:latin typeface="Calibri" pitchFamily="34" charset="0"/>
                <a:ea typeface="Calibri" pitchFamily="34" charset="-122"/>
                <a:cs typeface="Calibri" pitchFamily="34" charset="-120"/>
              </a:rPr>
              <a:t>And future work</a:t>
            </a:r>
            <a:endParaRPr lang="en-US" sz="1400" dirty="0"/>
          </a:p>
        </p:txBody>
      </p:sp>
      <p:sp>
        <p:nvSpPr>
          <p:cNvPr id="34" name="Text 31"/>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 The problem: having a result without understanding it</a:t>
            </a:r>
            <a:endParaRPr lang="en-US" sz="3000" dirty="0"/>
          </a:p>
        </p:txBody>
      </p:sp>
      <p:sp>
        <p:nvSpPr>
          <p:cNvPr id="4" name="Text 1"/>
          <p:cNvSpPr txBox="1"/>
          <p:nvPr/>
        </p:nvSpPr>
        <p:spPr>
          <a:xfrm>
            <a:off x="609539" y="1158179"/>
            <a:ext cx="10972526" cy="341346"/>
          </a:xfrm>
          <a:prstGeom prst="rect">
            <a:avLst/>
          </a:prstGeom>
          <a:noFill/>
          <a:ln/>
        </p:spPr>
        <p:txBody>
          <a:bodyPr wrap="square" lIns="0" tIns="0" rIns="0" bIns="0" rtlCol="0" anchor="ctr"/>
          <a:lstStyle/>
          <a:p>
            <a:pPr indent="0" marL="0">
              <a:buNone/>
            </a:pPr>
            <a:r>
              <a:rPr lang="en-US" sz="1733" dirty="0">
                <a:solidFill>
                  <a:srgbClr val="203864"/>
                </a:solidFill>
                <a:latin typeface="Calibri" pitchFamily="34" charset="0"/>
                <a:ea typeface="Calibri" pitchFamily="34" charset="-122"/>
                <a:cs typeface="Calibri" pitchFamily="34" charset="-120"/>
              </a:rPr>
              <a:t>A patient leaves the laboratory with a panel of numbers and terms:</a:t>
            </a:r>
            <a:endParaRPr lang="en-US" sz="1733" dirty="0"/>
          </a:p>
        </p:txBody>
      </p:sp>
      <p:sp>
        <p:nvSpPr>
          <p:cNvPr id="5" name="Shape 2"/>
          <p:cNvSpPr/>
          <p:nvPr/>
        </p:nvSpPr>
        <p:spPr>
          <a:xfrm>
            <a:off x="609539" y="1609344"/>
            <a:ext cx="1645920" cy="548640"/>
          </a:xfrm>
          <a:prstGeom prst="roundRect">
            <a:avLst>
              <a:gd name="adj" fmla="val 13333"/>
            </a:avLst>
          </a:prstGeom>
          <a:solidFill>
            <a:srgbClr val="FFFFFF"/>
          </a:solidFill>
          <a:ln w="12700">
            <a:solidFill>
              <a:srgbClr val="FFFFFF"/>
            </a:solidFill>
            <a:prstDash val="solid"/>
          </a:ln>
        </p:spPr>
      </p:sp>
      <p:sp>
        <p:nvSpPr>
          <p:cNvPr id="6" name="Text 3"/>
          <p:cNvSpPr txBox="1"/>
          <p:nvPr/>
        </p:nvSpPr>
        <p:spPr>
          <a:xfrm>
            <a:off x="609539"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PDW</a:t>
            </a:r>
            <a:endParaRPr lang="en-US" sz="1733" dirty="0"/>
          </a:p>
        </p:txBody>
      </p:sp>
      <p:sp>
        <p:nvSpPr>
          <p:cNvPr id="7" name="Shape 4"/>
          <p:cNvSpPr/>
          <p:nvPr/>
        </p:nvSpPr>
        <p:spPr>
          <a:xfrm>
            <a:off x="2438339" y="1609344"/>
            <a:ext cx="1645920" cy="548640"/>
          </a:xfrm>
          <a:prstGeom prst="roundRect">
            <a:avLst>
              <a:gd name="adj" fmla="val 13333"/>
            </a:avLst>
          </a:prstGeom>
          <a:solidFill>
            <a:srgbClr val="FFFFFF"/>
          </a:solidFill>
          <a:ln w="12700">
            <a:solidFill>
              <a:srgbClr val="FFFFFF"/>
            </a:solidFill>
            <a:prstDash val="solid"/>
          </a:ln>
        </p:spPr>
      </p:sp>
      <p:sp>
        <p:nvSpPr>
          <p:cNvPr id="8" name="Text 5"/>
          <p:cNvSpPr txBox="1"/>
          <p:nvPr/>
        </p:nvSpPr>
        <p:spPr>
          <a:xfrm>
            <a:off x="2438339"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MCHC</a:t>
            </a:r>
            <a:endParaRPr lang="en-US" sz="1733" dirty="0"/>
          </a:p>
        </p:txBody>
      </p:sp>
      <p:sp>
        <p:nvSpPr>
          <p:cNvPr id="9" name="Shape 6"/>
          <p:cNvSpPr/>
          <p:nvPr/>
        </p:nvSpPr>
        <p:spPr>
          <a:xfrm>
            <a:off x="4267048" y="1609344"/>
            <a:ext cx="1645920" cy="548640"/>
          </a:xfrm>
          <a:prstGeom prst="roundRect">
            <a:avLst>
              <a:gd name="adj" fmla="val 13333"/>
            </a:avLst>
          </a:prstGeom>
          <a:solidFill>
            <a:srgbClr val="FFFFFF"/>
          </a:solidFill>
          <a:ln w="12700">
            <a:solidFill>
              <a:srgbClr val="FFFFFF"/>
            </a:solidFill>
            <a:prstDash val="solid"/>
          </a:ln>
        </p:spPr>
      </p:sp>
      <p:sp>
        <p:nvSpPr>
          <p:cNvPr id="10" name="Text 7"/>
          <p:cNvSpPr txBox="1"/>
          <p:nvPr/>
        </p:nvSpPr>
        <p:spPr>
          <a:xfrm>
            <a:off x="4267048"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Monocyte</a:t>
            </a:r>
            <a:endParaRPr lang="en-US" sz="1733" dirty="0"/>
          </a:p>
        </p:txBody>
      </p:sp>
      <p:sp>
        <p:nvSpPr>
          <p:cNvPr id="11" name="Shape 8"/>
          <p:cNvSpPr/>
          <p:nvPr/>
        </p:nvSpPr>
        <p:spPr>
          <a:xfrm>
            <a:off x="6095848" y="1609344"/>
            <a:ext cx="1645920" cy="548640"/>
          </a:xfrm>
          <a:prstGeom prst="roundRect">
            <a:avLst>
              <a:gd name="adj" fmla="val 13333"/>
            </a:avLst>
          </a:prstGeom>
          <a:solidFill>
            <a:srgbClr val="FFFFFF"/>
          </a:solidFill>
          <a:ln w="12700">
            <a:solidFill>
              <a:srgbClr val="FFFFFF"/>
            </a:solidFill>
            <a:prstDash val="solid"/>
          </a:ln>
        </p:spPr>
      </p:sp>
      <p:sp>
        <p:nvSpPr>
          <p:cNvPr id="12" name="Text 9"/>
          <p:cNvSpPr txBox="1"/>
          <p:nvPr/>
        </p:nvSpPr>
        <p:spPr>
          <a:xfrm>
            <a:off x="6095848"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G/L</a:t>
            </a:r>
            <a:endParaRPr lang="en-US" sz="1733" dirty="0"/>
          </a:p>
        </p:txBody>
      </p:sp>
      <p:sp>
        <p:nvSpPr>
          <p:cNvPr id="13" name="Shape 10"/>
          <p:cNvSpPr/>
          <p:nvPr/>
        </p:nvSpPr>
        <p:spPr>
          <a:xfrm>
            <a:off x="7924556" y="1609344"/>
            <a:ext cx="1645920" cy="548640"/>
          </a:xfrm>
          <a:prstGeom prst="roundRect">
            <a:avLst>
              <a:gd name="adj" fmla="val 13333"/>
            </a:avLst>
          </a:prstGeom>
          <a:solidFill>
            <a:srgbClr val="FFFFFF"/>
          </a:solidFill>
          <a:ln w="12700">
            <a:solidFill>
              <a:srgbClr val="FFFFFF"/>
            </a:solidFill>
            <a:prstDash val="solid"/>
          </a:ln>
        </p:spPr>
      </p:sp>
      <p:sp>
        <p:nvSpPr>
          <p:cNvPr id="14" name="Text 11"/>
          <p:cNvSpPr txBox="1"/>
          <p:nvPr/>
        </p:nvSpPr>
        <p:spPr>
          <a:xfrm>
            <a:off x="7924556"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fL</a:t>
            </a:r>
            <a:endParaRPr lang="en-US" sz="1733" dirty="0"/>
          </a:p>
        </p:txBody>
      </p:sp>
      <p:sp>
        <p:nvSpPr>
          <p:cNvPr id="15" name="Shape 12"/>
          <p:cNvSpPr/>
          <p:nvPr/>
        </p:nvSpPr>
        <p:spPr>
          <a:xfrm>
            <a:off x="9753356" y="1609344"/>
            <a:ext cx="1645920" cy="548640"/>
          </a:xfrm>
          <a:prstGeom prst="roundRect">
            <a:avLst>
              <a:gd name="adj" fmla="val 13333"/>
            </a:avLst>
          </a:prstGeom>
          <a:solidFill>
            <a:srgbClr val="FFFFFF"/>
          </a:solidFill>
          <a:ln w="12700">
            <a:solidFill>
              <a:srgbClr val="FFFFFF"/>
            </a:solidFill>
            <a:prstDash val="solid"/>
          </a:ln>
        </p:spPr>
      </p:sp>
      <p:sp>
        <p:nvSpPr>
          <p:cNvPr id="16" name="Text 13"/>
          <p:cNvSpPr txBox="1"/>
          <p:nvPr/>
        </p:nvSpPr>
        <p:spPr>
          <a:xfrm>
            <a:off x="9753356" y="1609344"/>
            <a:ext cx="1645920" cy="548640"/>
          </a:xfrm>
          <a:prstGeom prst="rect">
            <a:avLst/>
          </a:prstGeom>
          <a:noFill/>
          <a:ln/>
        </p:spPr>
        <p:txBody>
          <a:bodyPr wrap="square" lIns="0" tIns="0" rIns="0" bIns="0" rtlCol="0" anchor="ctr"/>
          <a:lstStyle/>
          <a:p>
            <a:pPr algn="ctr" indent="0" marL="0">
              <a:buNone/>
            </a:pPr>
            <a:r>
              <a:rPr lang="en-US" sz="1733" b="1" dirty="0">
                <a:solidFill>
                  <a:srgbClr val="C62828"/>
                </a:solidFill>
                <a:latin typeface="Courier New" pitchFamily="34" charset="0"/>
                <a:ea typeface="Courier New" pitchFamily="34" charset="-122"/>
                <a:cs typeface="Courier New" pitchFamily="34" charset="-120"/>
              </a:rPr>
              <a:t>pg</a:t>
            </a:r>
            <a:endParaRPr lang="en-US" sz="1733" dirty="0"/>
          </a:p>
        </p:txBody>
      </p:sp>
      <p:sp>
        <p:nvSpPr>
          <p:cNvPr id="17" name="Text 14"/>
          <p:cNvSpPr txBox="1"/>
          <p:nvPr/>
        </p:nvSpPr>
        <p:spPr>
          <a:xfrm>
            <a:off x="609539" y="2377349"/>
            <a:ext cx="10972526" cy="731520"/>
          </a:xfrm>
          <a:prstGeom prst="rect">
            <a:avLst/>
          </a:prstGeom>
          <a:noFill/>
          <a:ln/>
        </p:spPr>
        <p:txBody>
          <a:bodyPr wrap="square" lIns="0" tIns="0" rIns="0" bIns="0" rtlCol="0" anchor="ctr"/>
          <a:lstStyle/>
          <a:p>
            <a:pPr indent="0" marL="0">
              <a:lnSpc>
                <a:spcPts val="2533"/>
              </a:lnSpc>
              <a:buNone/>
            </a:pPr>
            <a:r>
              <a:rPr lang="en-US" sz="1667" dirty="0">
                <a:solidFill>
                  <a:srgbClr val="203864"/>
                </a:solidFill>
                <a:latin typeface="Calibri" pitchFamily="34" charset="0"/>
                <a:ea typeface="Calibri" pitchFamily="34" charset="-122"/>
                <a:cs typeface="Calibri" pitchFamily="34" charset="-120"/>
              </a:rPr>
              <a:t>The reference interval is printed beside each value, so a patient can see</a:t>
            </a:r>
            <a:endParaRPr lang="en-US" sz="1667" dirty="0"/>
          </a:p>
          <a:p>
            <a:pPr indent="0" marL="0">
              <a:lnSpc>
                <a:spcPts val="2533"/>
              </a:lnSpc>
              <a:buNone/>
            </a:pPr>
            <a:r>
              <a:rPr lang="en-US" sz="1667" dirty="0">
                <a:solidFill>
                  <a:srgbClr val="203864"/>
                </a:solidFill>
                <a:latin typeface="Calibri" pitchFamily="34" charset="0"/>
                <a:ea typeface="Calibri" pitchFamily="34" charset="-122"/>
                <a:cs typeface="Calibri" pitchFamily="34" charset="-120"/>
              </a:rPr>
              <a:t>a number falls outside it — but not what it measures, or what to do next.</a:t>
            </a:r>
            <a:endParaRPr lang="en-US" sz="1667" dirty="0"/>
          </a:p>
        </p:txBody>
      </p:sp>
      <p:sp>
        <p:nvSpPr>
          <p:cNvPr id="18" name="Shape 15"/>
          <p:cNvSpPr/>
          <p:nvPr/>
        </p:nvSpPr>
        <p:spPr>
          <a:xfrm>
            <a:off x="609539" y="3352739"/>
            <a:ext cx="5303429" cy="2133570"/>
          </a:xfrm>
          <a:prstGeom prst="roundRect">
            <a:avLst>
              <a:gd name="adj" fmla="val 3429"/>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9" name="Text 16"/>
          <p:cNvSpPr txBox="1"/>
          <p:nvPr/>
        </p:nvSpPr>
        <p:spPr>
          <a:xfrm>
            <a:off x="792419" y="3596518"/>
            <a:ext cx="4937669" cy="914400"/>
          </a:xfrm>
          <a:prstGeom prst="rect">
            <a:avLst/>
          </a:prstGeom>
          <a:noFill/>
          <a:ln/>
        </p:spPr>
        <p:txBody>
          <a:bodyPr wrap="square" lIns="0" tIns="0" rIns="0" bIns="0" rtlCol="0" anchor="ctr"/>
          <a:lstStyle/>
          <a:p>
            <a:pPr algn="ctr" indent="0" marL="0">
              <a:buNone/>
            </a:pPr>
            <a:r>
              <a:rPr lang="en-US" sz="5600" b="1" dirty="0">
                <a:solidFill>
                  <a:srgbClr val="1565C0"/>
                </a:solidFill>
                <a:latin typeface="Arial" pitchFamily="34" charset="0"/>
                <a:ea typeface="Arial" pitchFamily="34" charset="-122"/>
                <a:cs typeface="Arial" pitchFamily="34" charset="-120"/>
              </a:rPr>
              <a:t>60.3%</a:t>
            </a:r>
            <a:endParaRPr lang="en-US" sz="5600" dirty="0"/>
          </a:p>
        </p:txBody>
      </p:sp>
      <p:sp>
        <p:nvSpPr>
          <p:cNvPr id="20" name="Text 17"/>
          <p:cNvSpPr txBox="1"/>
          <p:nvPr/>
        </p:nvSpPr>
        <p:spPr>
          <a:xfrm>
            <a:off x="914400" y="4608485"/>
            <a:ext cx="469379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of older adults in Da Nang have inadequate</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general health literacy</a:t>
            </a:r>
            <a:endParaRPr lang="en-US" sz="1467" dirty="0"/>
          </a:p>
        </p:txBody>
      </p:sp>
      <p:sp>
        <p:nvSpPr>
          <p:cNvPr id="21" name="Shape 18"/>
          <p:cNvSpPr/>
          <p:nvPr/>
        </p:nvSpPr>
        <p:spPr>
          <a:xfrm>
            <a:off x="6278728" y="3352739"/>
            <a:ext cx="5303429" cy="2133570"/>
          </a:xfrm>
          <a:prstGeom prst="roundRect">
            <a:avLst>
              <a:gd name="adj" fmla="val 3429"/>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2" name="Text 19"/>
          <p:cNvSpPr txBox="1"/>
          <p:nvPr/>
        </p:nvSpPr>
        <p:spPr>
          <a:xfrm>
            <a:off x="6461608" y="3596518"/>
            <a:ext cx="4937669" cy="914400"/>
          </a:xfrm>
          <a:prstGeom prst="rect">
            <a:avLst/>
          </a:prstGeom>
          <a:noFill/>
          <a:ln/>
        </p:spPr>
        <p:txBody>
          <a:bodyPr wrap="square" lIns="0" tIns="0" rIns="0" bIns="0" rtlCol="0" anchor="ctr"/>
          <a:lstStyle/>
          <a:p>
            <a:pPr algn="ctr" indent="0" marL="0">
              <a:buNone/>
            </a:pPr>
            <a:r>
              <a:rPr lang="en-US" sz="5600" b="1" dirty="0">
                <a:solidFill>
                  <a:srgbClr val="1565C0"/>
                </a:solidFill>
                <a:latin typeface="Arial" pitchFamily="34" charset="0"/>
                <a:ea typeface="Arial" pitchFamily="34" charset="-122"/>
                <a:cs typeface="Arial" pitchFamily="34" charset="-120"/>
              </a:rPr>
              <a:t>46%</a:t>
            </a:r>
            <a:endParaRPr lang="en-US" sz="5600" dirty="0"/>
          </a:p>
        </p:txBody>
      </p:sp>
      <p:sp>
        <p:nvSpPr>
          <p:cNvPr id="23" name="Text 20"/>
          <p:cNvSpPr txBox="1"/>
          <p:nvPr/>
        </p:nvSpPr>
        <p:spPr>
          <a:xfrm>
            <a:off x="6583497" y="4608485"/>
            <a:ext cx="469379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of patients search online to understand</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their own test results</a:t>
            </a:r>
            <a:endParaRPr lang="en-US" sz="1467" dirty="0"/>
          </a:p>
        </p:txBody>
      </p:sp>
      <p:sp>
        <p:nvSpPr>
          <p:cNvPr id="24" name="Text 21"/>
          <p:cNvSpPr txBox="1"/>
          <p:nvPr/>
        </p:nvSpPr>
        <p:spPr>
          <a:xfrm>
            <a:off x="609539" y="5632521"/>
            <a:ext cx="10972526" cy="304770"/>
          </a:xfrm>
          <a:prstGeom prst="rect">
            <a:avLst/>
          </a:prstGeom>
          <a:noFill/>
          <a:ln/>
        </p:spPr>
        <p:txBody>
          <a:bodyPr wrap="square" lIns="0" tIns="0" rIns="0" bIns="0" rtlCol="0" anchor="ctr"/>
          <a:lstStyle/>
          <a:p>
            <a:pPr indent="0" marL="0">
              <a:buNone/>
            </a:pPr>
            <a:r>
              <a:rPr lang="en-US" sz="1200" i="1" dirty="0">
                <a:solidFill>
                  <a:srgbClr val="5A6B85"/>
                </a:solidFill>
                <a:latin typeface="Calibri" pitchFamily="34" charset="0"/>
                <a:ea typeface="Calibri" pitchFamily="34" charset="-122"/>
                <a:cs typeface="Calibri" pitchFamily="34" charset="-120"/>
              </a:rPr>
              <a:t>Sources: cross-sectional study in Da Nang (n=204); Giardina et al., JAMIA 2018 (n=93)</a:t>
            </a:r>
            <a:endParaRPr lang="en-US" sz="1200" dirty="0"/>
          </a:p>
        </p:txBody>
      </p:sp>
      <p:sp>
        <p:nvSpPr>
          <p:cNvPr id="25" name="Text 22"/>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3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2. How patients currently close the gap</a:t>
            </a:r>
            <a:endParaRPr lang="en-US" sz="3000" dirty="0"/>
          </a:p>
        </p:txBody>
      </p:sp>
      <p:sp>
        <p:nvSpPr>
          <p:cNvPr id="4" name="Text 1"/>
          <p:cNvSpPr txBox="1"/>
          <p:nvPr/>
        </p:nvSpPr>
        <p:spPr>
          <a:xfrm>
            <a:off x="609539" y="1158179"/>
            <a:ext cx="10972526" cy="341346"/>
          </a:xfrm>
          <a:prstGeom prst="rect">
            <a:avLst/>
          </a:prstGeom>
          <a:noFill/>
          <a:ln/>
        </p:spPr>
        <p:txBody>
          <a:bodyPr wrap="square" lIns="0" tIns="0" rIns="0" bIns="0" rtlCol="0" anchor="ctr"/>
          <a:lstStyle/>
          <a:p>
            <a:pPr indent="0" marL="0">
              <a:buNone/>
            </a:pPr>
            <a:r>
              <a:rPr lang="en-US" sz="1733" dirty="0">
                <a:solidFill>
                  <a:srgbClr val="203864"/>
                </a:solidFill>
                <a:latin typeface="Calibri" pitchFamily="34" charset="0"/>
                <a:ea typeface="Calibri" pitchFamily="34" charset="-122"/>
                <a:cs typeface="Calibri" pitchFamily="34" charset="-120"/>
              </a:rPr>
              <a:t>They photograph the report and ask a general-purpose language model.</a:t>
            </a:r>
            <a:endParaRPr lang="en-US" sz="1733" dirty="0"/>
          </a:p>
        </p:txBody>
      </p:sp>
      <p:sp>
        <p:nvSpPr>
          <p:cNvPr id="5" name="Shape 2"/>
          <p:cNvSpPr/>
          <p:nvPr/>
        </p:nvSpPr>
        <p:spPr>
          <a:xfrm>
            <a:off x="609539" y="1584930"/>
            <a:ext cx="10972526" cy="633954"/>
          </a:xfrm>
          <a:prstGeom prst="roundRect">
            <a:avLst>
              <a:gd name="adj" fmla="val 11539"/>
            </a:avLst>
          </a:prstGeom>
          <a:solidFill>
            <a:srgbClr val="FFFFFF"/>
          </a:solidFill>
          <a:ln w="12700">
            <a:solidFill>
              <a:srgbClr val="FFFFFF"/>
            </a:solidFill>
            <a:prstDash val="solid"/>
          </a:ln>
        </p:spPr>
      </p:sp>
      <p:sp>
        <p:nvSpPr>
          <p:cNvPr id="6" name="Text 3"/>
          <p:cNvSpPr txBox="1"/>
          <p:nvPr/>
        </p:nvSpPr>
        <p:spPr>
          <a:xfrm>
            <a:off x="853410" y="1584930"/>
            <a:ext cx="10484876" cy="633954"/>
          </a:xfrm>
          <a:prstGeom prst="rect">
            <a:avLst/>
          </a:prstGeom>
          <a:noFill/>
          <a:ln/>
        </p:spPr>
        <p:txBody>
          <a:bodyPr wrap="square" lIns="0" tIns="0" rIns="0" bIns="0" rtlCol="0" anchor="ctr"/>
          <a:lstStyle/>
          <a:p>
            <a:pPr indent="0" marL="0">
              <a:buNone/>
            </a:pPr>
            <a:r>
              <a:rPr lang="en-US" sz="1333" b="1" dirty="0">
                <a:solidFill>
                  <a:srgbClr val="5A6B85"/>
                </a:solidFill>
                <a:latin typeface="Calibri" pitchFamily="34" charset="0"/>
                <a:ea typeface="Calibri" pitchFamily="34" charset="-122"/>
                <a:cs typeface="Calibri" pitchFamily="34" charset="-120"/>
              </a:rPr>
              <a:t>Prompt  </a:t>
            </a:r>
            <a:pPr indent="0" marL="0">
              <a:buNone/>
            </a:pPr>
            <a:r>
              <a:rPr lang="en-US" sz="1600" i="1" dirty="0">
                <a:solidFill>
                  <a:srgbClr val="203864"/>
                </a:solidFill>
                <a:latin typeface="Calibri" pitchFamily="34" charset="0"/>
                <a:ea typeface="Calibri" pitchFamily="34" charset="-122"/>
                <a:cs typeface="Calibri" pitchFamily="34" charset="-120"/>
              </a:rPr>
              <a:t>"Briefly explain what white blood cells are" (in Vietnamese)</a:t>
            </a:r>
            <a:endParaRPr lang="en-US" sz="1333" dirty="0"/>
          </a:p>
        </p:txBody>
      </p:sp>
      <p:sp>
        <p:nvSpPr>
          <p:cNvPr id="7" name="Shape 4"/>
          <p:cNvSpPr/>
          <p:nvPr/>
        </p:nvSpPr>
        <p:spPr>
          <a:xfrm>
            <a:off x="609539" y="2340773"/>
            <a:ext cx="10972526" cy="1402050"/>
          </a:xfrm>
          <a:prstGeom prst="roundRect">
            <a:avLst>
              <a:gd name="adj" fmla="val 5218"/>
            </a:avLst>
          </a:prstGeom>
          <a:solidFill>
            <a:srgbClr val="FFF4F4"/>
          </a:solidFill>
          <a:ln w="12700">
            <a:solidFill>
              <a:srgbClr val="FFFFFF"/>
            </a:solidFill>
            <a:prstDash val="solid"/>
          </a:ln>
        </p:spPr>
      </p:sp>
      <p:sp>
        <p:nvSpPr>
          <p:cNvPr id="8" name="Text 5"/>
          <p:cNvSpPr txBox="1"/>
          <p:nvPr/>
        </p:nvSpPr>
        <p:spPr>
          <a:xfrm>
            <a:off x="853410" y="2426178"/>
            <a:ext cx="3657509" cy="292608"/>
          </a:xfrm>
          <a:prstGeom prst="rect">
            <a:avLst/>
          </a:prstGeom>
          <a:noFill/>
          <a:ln/>
        </p:spPr>
        <p:txBody>
          <a:bodyPr wrap="square" lIns="0" tIns="0" rIns="0" bIns="0" rtlCol="0" anchor="ctr"/>
          <a:lstStyle/>
          <a:p>
            <a:pPr indent="0" marL="0">
              <a:buNone/>
            </a:pPr>
            <a:r>
              <a:rPr lang="en-US" sz="1333" b="1" dirty="0">
                <a:solidFill>
                  <a:srgbClr val="C62828"/>
                </a:solidFill>
                <a:latin typeface="Calibri" pitchFamily="34" charset="0"/>
                <a:ea typeface="Calibri" pitchFamily="34" charset="-122"/>
                <a:cs typeface="Calibri" pitchFamily="34" charset="-120"/>
              </a:rPr>
              <a:t>3B model response</a:t>
            </a:r>
            <a:endParaRPr lang="en-US" sz="1333" dirty="0"/>
          </a:p>
        </p:txBody>
      </p:sp>
      <p:sp>
        <p:nvSpPr>
          <p:cNvPr id="9" name="Text 6"/>
          <p:cNvSpPr txBox="1"/>
          <p:nvPr/>
        </p:nvSpPr>
        <p:spPr>
          <a:xfrm>
            <a:off x="853410" y="2730947"/>
            <a:ext cx="10484876" cy="950976"/>
          </a:xfrm>
          <a:prstGeom prst="rect">
            <a:avLst/>
          </a:prstGeom>
          <a:noFill/>
          <a:ln/>
        </p:spPr>
        <p:txBody>
          <a:bodyPr wrap="square" lIns="0" tIns="0" rIns="0" bIns="0" rtlCol="0" anchor="ctr"/>
          <a:lstStyle/>
          <a:p>
            <a:pPr indent="0" marL="0">
              <a:lnSpc>
                <a:spcPts val="2000"/>
              </a:lnSpc>
              <a:buNone/>
            </a:pPr>
            <a:r>
              <a:rPr lang="en-US" sz="1467" i="1" dirty="0">
                <a:solidFill>
                  <a:srgbClr val="203864"/>
                </a:solidFill>
                <a:latin typeface="Calibri" pitchFamily="34" charset="0"/>
                <a:ea typeface="Calibri" pitchFamily="34" charset="-122"/>
                <a:cs typeface="Calibri" pitchFamily="34" charset="-120"/>
              </a:rPr>
              <a:t>"White blood cells ... are lymphocytes capable of moving through the blood ...</a:t>
            </a:r>
            <a:endParaRPr lang="en-US" sz="1467" dirty="0"/>
          </a:p>
          <a:p>
            <a:pPr indent="0" marL="0">
              <a:lnSpc>
                <a:spcPts val="2000"/>
              </a:lnSpc>
              <a:buNone/>
            </a:pPr>
            <a:r>
              <a:rPr lang="en-US" sz="1467" i="1" dirty="0">
                <a:solidFill>
                  <a:srgbClr val="203864"/>
                </a:solidFill>
                <a:latin typeface="Calibri" pitchFamily="34" charset="0"/>
                <a:ea typeface="Calibri" pitchFamily="34" charset="-122"/>
                <a:cs typeface="Calibri" pitchFamily="34" charset="-120"/>
              </a:rPr>
              <a:t>They help the body fight viruses, bacteria and cancer-causing cells.</a:t>
            </a:r>
            <a:endParaRPr lang="en-US" sz="1467" dirty="0"/>
          </a:p>
          <a:p>
            <a:pPr indent="0" marL="0">
              <a:lnSpc>
                <a:spcPts val="2000"/>
              </a:lnSpc>
              <a:buNone/>
            </a:pPr>
            <a:r>
              <a:rPr lang="en-US" sz="1467" i="1" dirty="0">
                <a:solidFill>
                  <a:srgbClr val="203864"/>
                </a:solidFill>
                <a:latin typeface="Calibri" pitchFamily="34" charset="0"/>
                <a:ea typeface="Calibri" pitchFamily="34" charset="-122"/>
                <a:cs typeface="Calibri" pitchFamily="34" charset="-120"/>
              </a:rPr>
              <a:t>When the immune system is weakened, white blood cells also decrease ..."</a:t>
            </a:r>
            <a:endParaRPr lang="en-US" sz="1467" dirty="0"/>
          </a:p>
        </p:txBody>
      </p:sp>
      <p:sp>
        <p:nvSpPr>
          <p:cNvPr id="10" name="Shape 7"/>
          <p:cNvSpPr/>
          <p:nvPr/>
        </p:nvSpPr>
        <p:spPr>
          <a:xfrm>
            <a:off x="609539" y="3901379"/>
            <a:ext cx="5303429"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1" name="Shape 8"/>
          <p:cNvSpPr/>
          <p:nvPr/>
        </p:nvSpPr>
        <p:spPr>
          <a:xfrm>
            <a:off x="828995" y="4169573"/>
            <a:ext cx="512064" cy="512064"/>
          </a:xfrm>
          <a:prstGeom prst="ellipse">
            <a:avLst/>
          </a:prstGeom>
          <a:solidFill>
            <a:srgbClr val="C62828"/>
          </a:solidFill>
          <a:ln/>
        </p:spPr>
      </p:sp>
      <p:sp>
        <p:nvSpPr>
          <p:cNvPr id="12" name="Text 9"/>
          <p:cNvSpPr txBox="1"/>
          <p:nvPr/>
        </p:nvSpPr>
        <p:spPr>
          <a:xfrm>
            <a:off x="828995" y="4169573"/>
            <a:ext cx="512064" cy="51206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3" name="Text 10"/>
          <p:cNvSpPr txBox="1"/>
          <p:nvPr/>
        </p:nvSpPr>
        <p:spPr>
          <a:xfrm>
            <a:off x="1487363" y="4047683"/>
            <a:ext cx="4267048" cy="317022"/>
          </a:xfrm>
          <a:prstGeom prst="rect">
            <a:avLst/>
          </a:prstGeom>
          <a:noFill/>
          <a:ln/>
        </p:spPr>
        <p:txBody>
          <a:bodyPr wrap="square" lIns="0" tIns="0" rIns="0" bIns="0" rtlCol="0" anchor="ctr"/>
          <a:lstStyle/>
          <a:p>
            <a:pPr indent="0" marL="0">
              <a:buNone/>
            </a:pPr>
            <a:r>
              <a:rPr lang="en-US" sz="1600" b="1" dirty="0">
                <a:solidFill>
                  <a:srgbClr val="C62828"/>
                </a:solidFill>
                <a:latin typeface="Arial" pitchFamily="34" charset="0"/>
                <a:ea typeface="Arial" pitchFamily="34" charset="-122"/>
                <a:cs typeface="Arial" pitchFamily="34" charset="-120"/>
              </a:rPr>
              <a:t>Definitional error</a:t>
            </a:r>
            <a:endParaRPr lang="en-US" sz="1600" dirty="0"/>
          </a:p>
        </p:txBody>
      </p:sp>
      <p:sp>
        <p:nvSpPr>
          <p:cNvPr id="14" name="Text 11"/>
          <p:cNvSpPr txBox="1"/>
          <p:nvPr/>
        </p:nvSpPr>
        <p:spPr>
          <a:xfrm>
            <a:off x="1487363" y="4364614"/>
            <a:ext cx="4267048" cy="548640"/>
          </a:xfrm>
          <a:prstGeom prst="rect">
            <a:avLst/>
          </a:prstGeom>
          <a:noFill/>
          <a:ln/>
        </p:spPr>
        <p:txBody>
          <a:bodyPr wrap="square" lIns="0" tIns="0" rIns="0" bIns="0" rtlCol="0" anchor="ctr"/>
          <a:lstStyle/>
          <a:p>
            <a:pPr indent="0" marL="0">
              <a:buNone/>
            </a:pPr>
            <a:r>
              <a:rPr lang="en-US" sz="1333" dirty="0">
                <a:solidFill>
                  <a:srgbClr val="203864"/>
                </a:solidFill>
                <a:latin typeface="Calibri" pitchFamily="34" charset="0"/>
                <a:ea typeface="Calibri" pitchFamily="34" charset="-122"/>
                <a:cs typeface="Calibri" pitchFamily="34" charset="-120"/>
              </a:rPr>
              <a:t>Lymphocytes are ONE type of white blood cell, not a synonym</a:t>
            </a:r>
            <a:endParaRPr lang="en-US" sz="1333" dirty="0"/>
          </a:p>
        </p:txBody>
      </p:sp>
      <p:sp>
        <p:nvSpPr>
          <p:cNvPr id="15" name="Shape 12"/>
          <p:cNvSpPr/>
          <p:nvPr/>
        </p:nvSpPr>
        <p:spPr>
          <a:xfrm>
            <a:off x="6278728" y="3901379"/>
            <a:ext cx="5303429"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6" name="Shape 13"/>
          <p:cNvSpPr/>
          <p:nvPr/>
        </p:nvSpPr>
        <p:spPr>
          <a:xfrm>
            <a:off x="6498184" y="4169573"/>
            <a:ext cx="512064" cy="512064"/>
          </a:xfrm>
          <a:prstGeom prst="ellipse">
            <a:avLst/>
          </a:prstGeom>
          <a:solidFill>
            <a:srgbClr val="C62828"/>
          </a:solidFill>
          <a:ln/>
        </p:spPr>
      </p:sp>
      <p:sp>
        <p:nvSpPr>
          <p:cNvPr id="17" name="Text 14"/>
          <p:cNvSpPr txBox="1"/>
          <p:nvPr/>
        </p:nvSpPr>
        <p:spPr>
          <a:xfrm>
            <a:off x="6498184" y="4169573"/>
            <a:ext cx="512064" cy="512064"/>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t>
            </a:r>
            <a:endParaRPr lang="en-US" sz="2400" dirty="0"/>
          </a:p>
        </p:txBody>
      </p:sp>
      <p:sp>
        <p:nvSpPr>
          <p:cNvPr id="18" name="Text 15"/>
          <p:cNvSpPr txBox="1"/>
          <p:nvPr/>
        </p:nvSpPr>
        <p:spPr>
          <a:xfrm>
            <a:off x="7156552" y="4047683"/>
            <a:ext cx="4267048" cy="317022"/>
          </a:xfrm>
          <a:prstGeom prst="rect">
            <a:avLst/>
          </a:prstGeom>
          <a:noFill/>
          <a:ln/>
        </p:spPr>
        <p:txBody>
          <a:bodyPr wrap="square" lIns="0" tIns="0" rIns="0" bIns="0" rtlCol="0" anchor="ctr"/>
          <a:lstStyle/>
          <a:p>
            <a:pPr indent="0" marL="0">
              <a:buNone/>
            </a:pPr>
            <a:r>
              <a:rPr lang="en-US" sz="1600" b="1" dirty="0">
                <a:solidFill>
                  <a:srgbClr val="C62828"/>
                </a:solidFill>
                <a:latin typeface="Arial" pitchFamily="34" charset="0"/>
                <a:ea typeface="Arial" pitchFamily="34" charset="-122"/>
                <a:cs typeface="Arial" pitchFamily="34" charset="-120"/>
              </a:rPr>
              <a:t>Unprompted disease</a:t>
            </a:r>
            <a:endParaRPr lang="en-US" sz="1600" dirty="0"/>
          </a:p>
        </p:txBody>
      </p:sp>
      <p:sp>
        <p:nvSpPr>
          <p:cNvPr id="19" name="Text 16"/>
          <p:cNvSpPr txBox="1"/>
          <p:nvPr/>
        </p:nvSpPr>
        <p:spPr>
          <a:xfrm>
            <a:off x="7156552" y="4364614"/>
            <a:ext cx="4267048" cy="548640"/>
          </a:xfrm>
          <a:prstGeom prst="rect">
            <a:avLst/>
          </a:prstGeom>
          <a:noFill/>
          <a:ln/>
        </p:spPr>
        <p:txBody>
          <a:bodyPr wrap="square" lIns="0" tIns="0" rIns="0" bIns="0" rtlCol="0" anchor="ctr"/>
          <a:lstStyle/>
          <a:p>
            <a:pPr indent="0" marL="0">
              <a:buNone/>
            </a:pPr>
            <a:r>
              <a:rPr lang="en-US" sz="1333" dirty="0">
                <a:solidFill>
                  <a:srgbClr val="203864"/>
                </a:solidFill>
                <a:latin typeface="Calibri" pitchFamily="34" charset="0"/>
                <a:ea typeface="Calibri" pitchFamily="34" charset="-122"/>
                <a:cs typeface="Calibri" pitchFamily="34" charset="-120"/>
              </a:rPr>
              <a:t>Raises cancer and immune deficiency without being asked</a:t>
            </a:r>
            <a:endParaRPr lang="en-US" sz="1333" dirty="0"/>
          </a:p>
        </p:txBody>
      </p:sp>
      <p:sp>
        <p:nvSpPr>
          <p:cNvPr id="20" name="Text 17"/>
          <p:cNvSpPr txBox="1"/>
          <p:nvPr/>
        </p:nvSpPr>
        <p:spPr>
          <a:xfrm>
            <a:off x="609539" y="5266853"/>
            <a:ext cx="10972526" cy="512064"/>
          </a:xfrm>
          <a:prstGeom prst="rect">
            <a:avLst/>
          </a:prstGeom>
          <a:noFill/>
          <a:ln/>
        </p:spPr>
        <p:txBody>
          <a:bodyPr wrap="square" lIns="0" tIns="0" rIns="0" bIns="0" rtlCol="0" anchor="ctr"/>
          <a:lstStyle/>
          <a:p>
            <a:pPr algn="ctr" indent="0" marL="0">
              <a:buNone/>
            </a:pPr>
            <a:r>
              <a:rPr lang="en-US" sz="1533" b="1" dirty="0">
                <a:solidFill>
                  <a:srgbClr val="1F3864"/>
                </a:solidFill>
                <a:latin typeface="Calibri" pitchFamily="34" charset="0"/>
                <a:ea typeface="Calibri" pitchFamily="34" charset="-122"/>
                <a:cs typeface="Calibri" pitchFamily="34" charset="-120"/>
              </a:rPr>
              <a:t>A patient with an entirely normal result meets one definitional error and two alarming diseases in a single short answer.</a:t>
            </a:r>
            <a:endParaRPr lang="en-US" sz="1533" dirty="0"/>
          </a:p>
        </p:txBody>
      </p:sp>
      <p:sp>
        <p:nvSpPr>
          <p:cNvPr id="21" name="Text 18"/>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3. But the most dangerous failure runs the other way</a:t>
            </a:r>
            <a:endParaRPr lang="en-US" sz="3000" dirty="0"/>
          </a:p>
        </p:txBody>
      </p:sp>
      <p:sp>
        <p:nvSpPr>
          <p:cNvPr id="4" name="Shape 1"/>
          <p:cNvSpPr/>
          <p:nvPr/>
        </p:nvSpPr>
        <p:spPr>
          <a:xfrm>
            <a:off x="609539" y="1219170"/>
            <a:ext cx="5303429" cy="1523939"/>
          </a:xfrm>
          <a:prstGeom prst="roundRect">
            <a:avLst>
              <a:gd name="adj" fmla="val 4800"/>
            </a:avLst>
          </a:prstGeom>
          <a:solidFill>
            <a:srgbClr val="F4F6F8"/>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Text 2"/>
          <p:cNvSpPr txBox="1"/>
          <p:nvPr/>
        </p:nvSpPr>
        <p:spPr>
          <a:xfrm>
            <a:off x="853410" y="1402050"/>
            <a:ext cx="4815688" cy="390174"/>
          </a:xfrm>
          <a:prstGeom prst="rect">
            <a:avLst/>
          </a:prstGeom>
          <a:noFill/>
          <a:ln/>
        </p:spPr>
        <p:txBody>
          <a:bodyPr wrap="square" lIns="0" tIns="0" rIns="0" bIns="0" rtlCol="0" anchor="ctr"/>
          <a:lstStyle/>
          <a:p>
            <a:pPr algn="ctr" indent="0" marL="0">
              <a:buNone/>
            </a:pPr>
            <a:r>
              <a:rPr lang="en-US" sz="2000" b="1" dirty="0">
                <a:solidFill>
                  <a:srgbClr val="5A6B85"/>
                </a:solidFill>
                <a:latin typeface="Arial" pitchFamily="34" charset="0"/>
                <a:ea typeface="Arial" pitchFamily="34" charset="-122"/>
                <a:cs typeface="Arial" pitchFamily="34" charset="-120"/>
              </a:rPr>
              <a:t>Terminological error</a:t>
            </a:r>
            <a:endParaRPr lang="en-US" sz="2000" dirty="0"/>
          </a:p>
        </p:txBody>
      </p:sp>
      <p:sp>
        <p:nvSpPr>
          <p:cNvPr id="6" name="Text 3"/>
          <p:cNvSpPr txBox="1"/>
          <p:nvPr/>
        </p:nvSpPr>
        <p:spPr>
          <a:xfrm>
            <a:off x="853410" y="1853123"/>
            <a:ext cx="481568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Visible to the reader</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and invites verification</a:t>
            </a:r>
            <a:endParaRPr lang="en-US" sz="1467" dirty="0"/>
          </a:p>
        </p:txBody>
      </p:sp>
      <p:sp>
        <p:nvSpPr>
          <p:cNvPr id="7" name="Shape 4"/>
          <p:cNvSpPr/>
          <p:nvPr/>
        </p:nvSpPr>
        <p:spPr>
          <a:xfrm>
            <a:off x="6278728" y="1219170"/>
            <a:ext cx="5303429" cy="1523939"/>
          </a:xfrm>
          <a:prstGeom prst="roundRect">
            <a:avLst>
              <a:gd name="adj" fmla="val 4800"/>
            </a:avLst>
          </a:prstGeom>
          <a:solidFill>
            <a:srgbClr val="FFF4F4"/>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8" name="Text 5"/>
          <p:cNvSpPr txBox="1"/>
          <p:nvPr/>
        </p:nvSpPr>
        <p:spPr>
          <a:xfrm>
            <a:off x="6522598" y="1402050"/>
            <a:ext cx="4815688" cy="390174"/>
          </a:xfrm>
          <a:prstGeom prst="rect">
            <a:avLst/>
          </a:prstGeom>
          <a:noFill/>
          <a:ln/>
        </p:spPr>
        <p:txBody>
          <a:bodyPr wrap="square" lIns="0" tIns="0" rIns="0" bIns="0" rtlCol="0" anchor="ctr"/>
          <a:lstStyle/>
          <a:p>
            <a:pPr algn="ctr" indent="0" marL="0">
              <a:buNone/>
            </a:pPr>
            <a:r>
              <a:rPr lang="en-US" sz="2000" b="1" dirty="0">
                <a:solidFill>
                  <a:srgbClr val="C62828"/>
                </a:solidFill>
                <a:latin typeface="Arial" pitchFamily="34" charset="0"/>
                <a:ea typeface="Arial" pitchFamily="34" charset="-122"/>
                <a:cs typeface="Arial" pitchFamily="34" charset="-120"/>
              </a:rPr>
              <a:t>False reassurance</a:t>
            </a:r>
            <a:endParaRPr lang="en-US" sz="2000" dirty="0"/>
          </a:p>
        </p:txBody>
      </p:sp>
      <p:sp>
        <p:nvSpPr>
          <p:cNvPr id="9" name="Text 6"/>
          <p:cNvSpPr txBox="1"/>
          <p:nvPr/>
        </p:nvSpPr>
        <p:spPr>
          <a:xfrm>
            <a:off x="6522598" y="1853123"/>
            <a:ext cx="4815688" cy="731520"/>
          </a:xfrm>
          <a:prstGeom prst="rect">
            <a:avLst/>
          </a:prstGeom>
          <a:noFill/>
          <a:ln/>
        </p:spPr>
        <p:txBody>
          <a:bodyPr wrap="square" lIns="0" tIns="0" rIns="0" bIns="0" rtlCol="0" anchor="ctr"/>
          <a:lstStyle/>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Fluent, comfortable —</a:t>
            </a:r>
            <a:endParaRPr lang="en-US" sz="1467" dirty="0"/>
          </a:p>
          <a:p>
            <a:pPr algn="ctr" indent="0" marL="0">
              <a:lnSpc>
                <a:spcPts val="2133"/>
              </a:lnSpc>
              <a:buNone/>
            </a:pPr>
            <a:r>
              <a:rPr lang="en-US" sz="1467" dirty="0">
                <a:solidFill>
                  <a:srgbClr val="203864"/>
                </a:solidFill>
                <a:latin typeface="Calibri" pitchFamily="34" charset="0"/>
                <a:ea typeface="Calibri" pitchFamily="34" charset="-122"/>
                <a:cs typeface="Calibri" pitchFamily="34" charset="-120"/>
              </a:rPr>
              <a:t>and removes the reason to seek care</a:t>
            </a:r>
            <a:endParaRPr lang="en-US" sz="1467" dirty="0"/>
          </a:p>
        </p:txBody>
      </p:sp>
      <p:sp>
        <p:nvSpPr>
          <p:cNvPr id="10" name="Shape 7"/>
          <p:cNvSpPr/>
          <p:nvPr/>
        </p:nvSpPr>
        <p:spPr>
          <a:xfrm>
            <a:off x="609539" y="2950403"/>
            <a:ext cx="10972526" cy="585216"/>
          </a:xfrm>
          <a:prstGeom prst="roundRect">
            <a:avLst>
              <a:gd name="adj" fmla="val 12500"/>
            </a:avLst>
          </a:prstGeom>
          <a:solidFill>
            <a:srgbClr val="FFFFFF"/>
          </a:solidFill>
          <a:ln w="12700">
            <a:solidFill>
              <a:srgbClr val="FFFFFF"/>
            </a:solidFill>
            <a:prstDash val="solid"/>
          </a:ln>
        </p:spPr>
      </p:sp>
      <p:sp>
        <p:nvSpPr>
          <p:cNvPr id="11" name="Text 8"/>
          <p:cNvSpPr txBox="1"/>
          <p:nvPr/>
        </p:nvSpPr>
        <p:spPr>
          <a:xfrm>
            <a:off x="853410" y="2950403"/>
            <a:ext cx="10484876" cy="585216"/>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False reassurance: asserting that all results are normal on a panel that is NOT.</a:t>
            </a:r>
            <a:endParaRPr lang="en-US" sz="1600" dirty="0"/>
          </a:p>
        </p:txBody>
      </p:sp>
      <p:sp>
        <p:nvSpPr>
          <p:cNvPr id="12" name="Text 9"/>
          <p:cNvSpPr txBox="1"/>
          <p:nvPr/>
        </p:nvSpPr>
        <p:spPr>
          <a:xfrm>
            <a:off x="609539" y="3681923"/>
            <a:ext cx="10972526" cy="317022"/>
          </a:xfrm>
          <a:prstGeom prst="rect">
            <a:avLst/>
          </a:prstGeom>
          <a:noFill/>
          <a:ln/>
        </p:spPr>
        <p:txBody>
          <a:bodyPr wrap="square" lIns="0" tIns="0" rIns="0" bIns="0" rtlCol="0" anchor="ctr"/>
          <a:lstStyle/>
          <a:p>
            <a:pPr indent="0" marL="0">
              <a:buNone/>
            </a:pPr>
            <a:r>
              <a:rPr lang="en-US" sz="1400" i="1" dirty="0">
                <a:solidFill>
                  <a:srgbClr val="5A6B85"/>
                </a:solidFill>
                <a:latin typeface="Calibri" pitchFamily="34" charset="0"/>
                <a:ea typeface="Calibri" pitchFamily="34" charset="-122"/>
                <a:cs typeface="Calibri" pitchFamily="34" charset="-120"/>
              </a:rPr>
              <a:t>An actual output from our experiment — on a panel labelled "seek care":</a:t>
            </a:r>
            <a:endParaRPr lang="en-US" sz="1400" dirty="0"/>
          </a:p>
        </p:txBody>
      </p:sp>
      <p:sp>
        <p:nvSpPr>
          <p:cNvPr id="13" name="Shape 10"/>
          <p:cNvSpPr/>
          <p:nvPr/>
        </p:nvSpPr>
        <p:spPr>
          <a:xfrm>
            <a:off x="609539" y="4047683"/>
            <a:ext cx="10972526" cy="731520"/>
          </a:xfrm>
          <a:prstGeom prst="roundRect">
            <a:avLst>
              <a:gd name="adj" fmla="val 10000"/>
            </a:avLst>
          </a:prstGeom>
          <a:solidFill>
            <a:srgbClr val="FFF4F4"/>
          </a:solidFill>
          <a:ln w="12700">
            <a:solidFill>
              <a:srgbClr val="FFFFFF"/>
            </a:solidFill>
            <a:prstDash val="solid"/>
          </a:ln>
        </p:spPr>
      </p:sp>
      <p:sp>
        <p:nvSpPr>
          <p:cNvPr id="14" name="Text 11"/>
          <p:cNvSpPr txBox="1"/>
          <p:nvPr/>
        </p:nvSpPr>
        <p:spPr>
          <a:xfrm>
            <a:off x="853410" y="4047683"/>
            <a:ext cx="10484876" cy="731520"/>
          </a:xfrm>
          <a:prstGeom prst="rect">
            <a:avLst/>
          </a:prstGeom>
          <a:noFill/>
          <a:ln/>
        </p:spPr>
        <p:txBody>
          <a:bodyPr wrap="square" lIns="0" tIns="0" rIns="0" bIns="0" rtlCol="0" anchor="ctr"/>
          <a:lstStyle/>
          <a:p>
            <a:pPr algn="ctr" indent="0" marL="0">
              <a:buNone/>
            </a:pPr>
            <a:r>
              <a:rPr lang="en-US" sz="2000" b="1" i="1" dirty="0">
                <a:solidFill>
                  <a:srgbClr val="C62828"/>
                </a:solidFill>
                <a:latin typeface="Calibri" pitchFamily="34" charset="0"/>
                <a:ea typeface="Calibri" pitchFamily="34" charset="-122"/>
                <a:cs typeface="Calibri" pitchFamily="34" charset="-120"/>
              </a:rPr>
              <a:t>"All test results are within the normal range."</a:t>
            </a:r>
            <a:endParaRPr lang="en-US" sz="2000" dirty="0"/>
          </a:p>
        </p:txBody>
      </p:sp>
      <p:sp>
        <p:nvSpPr>
          <p:cNvPr id="15" name="Text 12"/>
          <p:cNvSpPr txBox="1"/>
          <p:nvPr/>
        </p:nvSpPr>
        <p:spPr>
          <a:xfrm>
            <a:off x="609539" y="5059558"/>
            <a:ext cx="10972526" cy="426750"/>
          </a:xfrm>
          <a:prstGeom prst="rect">
            <a:avLst/>
          </a:prstGeom>
          <a:noFill/>
          <a:ln/>
        </p:spPr>
        <p:txBody>
          <a:bodyPr wrap="square" lIns="0" tIns="0" rIns="0" bIns="0" rtlCol="0" anchor="ctr"/>
          <a:lstStyle/>
          <a:p>
            <a:pPr algn="ctr" indent="0" marL="0">
              <a:buNone/>
            </a:pPr>
            <a:r>
              <a:rPr lang="en-US" sz="1600" b="1" dirty="0">
                <a:solidFill>
                  <a:srgbClr val="1F3864"/>
                </a:solidFill>
                <a:latin typeface="Calibri" pitchFamily="34" charset="0"/>
                <a:ea typeface="Calibri" pitchFamily="34" charset="-122"/>
                <a:cs typeface="Calibri" pitchFamily="34" charset="-120"/>
              </a:rPr>
              <a:t>We treat this as a distinct error class and measure it separately.</a:t>
            </a:r>
            <a:endParaRPr lang="en-US" sz="1600" dirty="0"/>
          </a:p>
        </p:txBody>
      </p:sp>
      <p:sp>
        <p:nvSpPr>
          <p:cNvPr id="16" name="Text 1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4. Contributions</a:t>
            </a:r>
            <a:endParaRPr lang="en-US" sz="3000" dirty="0"/>
          </a:p>
        </p:txBody>
      </p:sp>
      <p:sp>
        <p:nvSpPr>
          <p:cNvPr id="4" name="Shape 1"/>
          <p:cNvSpPr/>
          <p:nvPr/>
        </p:nvSpPr>
        <p:spPr>
          <a:xfrm>
            <a:off x="609539" y="1219170"/>
            <a:ext cx="10972526"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Shape 2"/>
          <p:cNvSpPr/>
          <p:nvPr/>
        </p:nvSpPr>
        <p:spPr>
          <a:xfrm>
            <a:off x="877824" y="1499616"/>
            <a:ext cx="560802" cy="560802"/>
          </a:xfrm>
          <a:prstGeom prst="ellipse">
            <a:avLst/>
          </a:prstGeom>
          <a:solidFill>
            <a:srgbClr val="1565C0"/>
          </a:solidFill>
          <a:ln/>
        </p:spPr>
      </p:sp>
      <p:sp>
        <p:nvSpPr>
          <p:cNvPr id="6" name="Text 3"/>
          <p:cNvSpPr txBox="1"/>
          <p:nvPr/>
        </p:nvSpPr>
        <p:spPr>
          <a:xfrm>
            <a:off x="877824" y="1499616"/>
            <a:ext cx="560802" cy="56080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4"/>
          <p:cNvSpPr txBox="1"/>
          <p:nvPr/>
        </p:nvSpPr>
        <p:spPr>
          <a:xfrm>
            <a:off x="1609344" y="1377635"/>
            <a:ext cx="9631467" cy="341346"/>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Four-layer pipeline</a:t>
            </a:r>
            <a:endParaRPr lang="en-US" sz="1800" dirty="0"/>
          </a:p>
        </p:txBody>
      </p:sp>
      <p:sp>
        <p:nvSpPr>
          <p:cNvPr id="8" name="Text 5"/>
          <p:cNvSpPr txBox="1"/>
          <p:nvPr/>
        </p:nvSpPr>
        <p:spPr>
          <a:xfrm>
            <a:off x="1609344" y="1731234"/>
            <a:ext cx="9692366" cy="54864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All clinical judgement completed by rules BEFORE the model is invoked. The model only paraphrases pre-assigned labels.</a:t>
            </a:r>
            <a:endParaRPr lang="en-US" sz="1400" dirty="0"/>
          </a:p>
        </p:txBody>
      </p:sp>
      <p:sp>
        <p:nvSpPr>
          <p:cNvPr id="9" name="Shape 6"/>
          <p:cNvSpPr/>
          <p:nvPr/>
        </p:nvSpPr>
        <p:spPr>
          <a:xfrm>
            <a:off x="609539" y="2499330"/>
            <a:ext cx="10972526"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Shape 7"/>
          <p:cNvSpPr/>
          <p:nvPr/>
        </p:nvSpPr>
        <p:spPr>
          <a:xfrm>
            <a:off x="877824" y="2779685"/>
            <a:ext cx="560802" cy="560802"/>
          </a:xfrm>
          <a:prstGeom prst="ellipse">
            <a:avLst/>
          </a:prstGeom>
          <a:solidFill>
            <a:srgbClr val="1565C0"/>
          </a:solidFill>
          <a:ln/>
        </p:spPr>
      </p:sp>
      <p:sp>
        <p:nvSpPr>
          <p:cNvPr id="11" name="Text 8"/>
          <p:cNvSpPr txBox="1"/>
          <p:nvPr/>
        </p:nvSpPr>
        <p:spPr>
          <a:xfrm>
            <a:off x="877824" y="2779685"/>
            <a:ext cx="560802" cy="56080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9"/>
          <p:cNvSpPr txBox="1"/>
          <p:nvPr/>
        </p:nvSpPr>
        <p:spPr>
          <a:xfrm>
            <a:off x="1609344" y="2657795"/>
            <a:ext cx="9631467" cy="341346"/>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Automated validator</a:t>
            </a:r>
            <a:endParaRPr lang="en-US" sz="1800" dirty="0"/>
          </a:p>
        </p:txBody>
      </p:sp>
      <p:sp>
        <p:nvSpPr>
          <p:cNvPr id="13" name="Text 10"/>
          <p:cNvSpPr txBox="1"/>
          <p:nvPr/>
        </p:nvSpPr>
        <p:spPr>
          <a:xfrm>
            <a:off x="1609344" y="3011394"/>
            <a:ext cx="9692366" cy="54864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Checks generated text against those labels; regenerates or falls back to fixed templates when they disagree.</a:t>
            </a:r>
            <a:endParaRPr lang="en-US" sz="1400" dirty="0"/>
          </a:p>
        </p:txBody>
      </p:sp>
      <p:sp>
        <p:nvSpPr>
          <p:cNvPr id="14" name="Shape 11"/>
          <p:cNvSpPr/>
          <p:nvPr/>
        </p:nvSpPr>
        <p:spPr>
          <a:xfrm>
            <a:off x="609539" y="3779398"/>
            <a:ext cx="10972526"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5" name="Shape 12"/>
          <p:cNvSpPr/>
          <p:nvPr/>
        </p:nvSpPr>
        <p:spPr>
          <a:xfrm>
            <a:off x="877824" y="4059845"/>
            <a:ext cx="560802" cy="560802"/>
          </a:xfrm>
          <a:prstGeom prst="ellipse">
            <a:avLst/>
          </a:prstGeom>
          <a:solidFill>
            <a:srgbClr val="1565C0"/>
          </a:solidFill>
          <a:ln/>
        </p:spPr>
      </p:sp>
      <p:sp>
        <p:nvSpPr>
          <p:cNvPr id="16" name="Text 13"/>
          <p:cNvSpPr txBox="1"/>
          <p:nvPr/>
        </p:nvSpPr>
        <p:spPr>
          <a:xfrm>
            <a:off x="877824" y="4059845"/>
            <a:ext cx="560802" cy="56080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7" name="Text 14"/>
          <p:cNvSpPr txBox="1"/>
          <p:nvPr/>
        </p:nvSpPr>
        <p:spPr>
          <a:xfrm>
            <a:off x="1609344" y="3937955"/>
            <a:ext cx="9631467" cy="341346"/>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False reassurance metric</a:t>
            </a:r>
            <a:endParaRPr lang="en-US" sz="1800" dirty="0"/>
          </a:p>
        </p:txBody>
      </p:sp>
      <p:sp>
        <p:nvSpPr>
          <p:cNvPr id="18" name="Text 15"/>
          <p:cNvSpPr txBox="1"/>
          <p:nvPr/>
        </p:nvSpPr>
        <p:spPr>
          <a:xfrm>
            <a:off x="1609344" y="4291462"/>
            <a:ext cx="9692366" cy="54864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An error class not reported separately in prior work on patient-facing result explanation.</a:t>
            </a:r>
            <a:endParaRPr lang="en-US" sz="1400" dirty="0"/>
          </a:p>
        </p:txBody>
      </p:sp>
      <p:sp>
        <p:nvSpPr>
          <p:cNvPr id="19" name="Shape 16"/>
          <p:cNvSpPr/>
          <p:nvPr/>
        </p:nvSpPr>
        <p:spPr>
          <a:xfrm>
            <a:off x="609539" y="5059558"/>
            <a:ext cx="10972526" cy="1121603"/>
          </a:xfrm>
          <a:prstGeom prst="roundRect">
            <a:avLst>
              <a:gd name="adj" fmla="val 652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0" name="Shape 17"/>
          <p:cNvSpPr/>
          <p:nvPr/>
        </p:nvSpPr>
        <p:spPr>
          <a:xfrm>
            <a:off x="877824" y="5340005"/>
            <a:ext cx="560802" cy="560802"/>
          </a:xfrm>
          <a:prstGeom prst="ellipse">
            <a:avLst/>
          </a:prstGeom>
          <a:solidFill>
            <a:srgbClr val="1565C0"/>
          </a:solidFill>
          <a:ln/>
        </p:spPr>
      </p:sp>
      <p:sp>
        <p:nvSpPr>
          <p:cNvPr id="21" name="Text 18"/>
          <p:cNvSpPr txBox="1"/>
          <p:nvPr/>
        </p:nvSpPr>
        <p:spPr>
          <a:xfrm>
            <a:off x="877824" y="5340005"/>
            <a:ext cx="560802" cy="56080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2" name="Text 19"/>
          <p:cNvSpPr txBox="1"/>
          <p:nvPr/>
        </p:nvSpPr>
        <p:spPr>
          <a:xfrm>
            <a:off x="1609344" y="5218024"/>
            <a:ext cx="9631467" cy="341346"/>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Unit heterogeneity finding</a:t>
            </a:r>
            <a:endParaRPr lang="en-US" sz="1800" dirty="0"/>
          </a:p>
        </p:txBody>
      </p:sp>
      <p:sp>
        <p:nvSpPr>
          <p:cNvPr id="23" name="Text 20"/>
          <p:cNvSpPr txBox="1"/>
          <p:nvPr/>
        </p:nvSpPr>
        <p:spPr>
          <a:xfrm>
            <a:off x="1609344" y="5571622"/>
            <a:ext cx="9692366" cy="54864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Inconsistent units across laboratories cause severe misclassification inside the rule layer itself.</a:t>
            </a:r>
            <a:endParaRPr lang="en-US" sz="1400" dirty="0"/>
          </a:p>
        </p:txBody>
      </p:sp>
      <p:sp>
        <p:nvSpPr>
          <p:cNvPr id="24" name="Text 21"/>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5. Four-layer architecture</a:t>
            </a:r>
            <a:endParaRPr lang="en-US" sz="3000" dirty="0"/>
          </a:p>
        </p:txBody>
      </p:sp>
      <p:sp>
        <p:nvSpPr>
          <p:cNvPr id="4" name="Shape 1"/>
          <p:cNvSpPr/>
          <p:nvPr/>
        </p:nvSpPr>
        <p:spPr>
          <a:xfrm>
            <a:off x="609539" y="1158179"/>
            <a:ext cx="10972526" cy="512064"/>
          </a:xfrm>
          <a:prstGeom prst="roundRect">
            <a:avLst>
              <a:gd name="adj" fmla="val 14286"/>
            </a:avLst>
          </a:prstGeom>
          <a:solidFill>
            <a:srgbClr val="1F3864"/>
          </a:solidFill>
          <a:ln w="12700">
            <a:solidFill>
              <a:srgbClr val="FFFFFF"/>
            </a:solidFill>
            <a:prstDash val="solid"/>
          </a:ln>
        </p:spPr>
      </p:sp>
      <p:sp>
        <p:nvSpPr>
          <p:cNvPr id="5" name="Text 2"/>
          <p:cNvSpPr txBox="1"/>
          <p:nvPr/>
        </p:nvSpPr>
        <p:spPr>
          <a:xfrm>
            <a:off x="609539" y="1158179"/>
            <a:ext cx="10972526" cy="512064"/>
          </a:xfrm>
          <a:prstGeom prst="rect">
            <a:avLst/>
          </a:prstGeom>
          <a:noFill/>
          <a:ln/>
        </p:spPr>
        <p:txBody>
          <a:bodyPr wrap="square" lIns="0" tIns="0" rIns="0" bIns="0" rtlCol="0" anchor="ctr"/>
          <a:lstStyle/>
          <a:p>
            <a:pPr algn="ctr" indent="0" marL="0">
              <a:buNone/>
            </a:pPr>
            <a:r>
              <a:rPr lang="en-US" sz="1667" b="1" dirty="0">
                <a:solidFill>
                  <a:srgbClr val="FFFFFF"/>
                </a:solidFill>
                <a:latin typeface="Arial" pitchFamily="34" charset="0"/>
                <a:ea typeface="Arial" pitchFamily="34" charset="-122"/>
                <a:cs typeface="Arial" pitchFamily="34" charset="-120"/>
              </a:rPr>
              <a:t>Principle: NO clinical judgement is delegated to the language model</a:t>
            </a:r>
            <a:endParaRPr lang="en-US" sz="1667" dirty="0"/>
          </a:p>
        </p:txBody>
      </p:sp>
      <p:sp>
        <p:nvSpPr>
          <p:cNvPr id="6" name="Shape 3"/>
          <p:cNvSpPr/>
          <p:nvPr/>
        </p:nvSpPr>
        <p:spPr>
          <a:xfrm>
            <a:off x="609539"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7" name="Shape 4"/>
          <p:cNvSpPr/>
          <p:nvPr/>
        </p:nvSpPr>
        <p:spPr>
          <a:xfrm>
            <a:off x="609539" y="1975013"/>
            <a:ext cx="2499330" cy="512064"/>
          </a:xfrm>
          <a:prstGeom prst="roundRect">
            <a:avLst>
              <a:gd name="adj" fmla="val 14286"/>
            </a:avLst>
          </a:prstGeom>
          <a:solidFill>
            <a:srgbClr val="2E7D32"/>
          </a:solidFill>
          <a:ln w="12700">
            <a:solidFill>
              <a:srgbClr val="333333"/>
            </a:solidFill>
            <a:prstDash val="solid"/>
          </a:ln>
        </p:spPr>
      </p:sp>
      <p:sp>
        <p:nvSpPr>
          <p:cNvPr id="8" name="Text 5"/>
          <p:cNvSpPr txBox="1"/>
          <p:nvPr/>
        </p:nvSpPr>
        <p:spPr>
          <a:xfrm>
            <a:off x="670530"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L1 · Normalisation</a:t>
            </a:r>
            <a:endParaRPr lang="en-US" sz="1307" dirty="0"/>
          </a:p>
        </p:txBody>
      </p:sp>
      <p:sp>
        <p:nvSpPr>
          <p:cNvPr id="9" name="Text 6"/>
          <p:cNvSpPr txBox="1"/>
          <p:nvPr/>
        </p:nvSpPr>
        <p:spPr>
          <a:xfrm>
            <a:off x="755843"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Name → canonical code</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Unit conversion</a:t>
            </a:r>
            <a:endParaRPr lang="en-US" sz="1333" dirty="0"/>
          </a:p>
        </p:txBody>
      </p:sp>
      <p:sp>
        <p:nvSpPr>
          <p:cNvPr id="10" name="Shape 7"/>
          <p:cNvSpPr/>
          <p:nvPr/>
        </p:nvSpPr>
        <p:spPr>
          <a:xfrm>
            <a:off x="975299" y="3925702"/>
            <a:ext cx="1767810" cy="390174"/>
          </a:xfrm>
          <a:prstGeom prst="roundRect">
            <a:avLst>
              <a:gd name="adj" fmla="val 15632"/>
            </a:avLst>
          </a:prstGeom>
          <a:solidFill>
            <a:srgbClr val="F2F6FB"/>
          </a:solidFill>
          <a:ln w="12700">
            <a:solidFill>
              <a:srgbClr val="2E7D32"/>
            </a:solidFill>
            <a:prstDash val="solid"/>
          </a:ln>
        </p:spPr>
      </p:sp>
      <p:sp>
        <p:nvSpPr>
          <p:cNvPr id="11" name="Text 8"/>
          <p:cNvSpPr txBox="1"/>
          <p:nvPr/>
        </p:nvSpPr>
        <p:spPr>
          <a:xfrm>
            <a:off x="975299" y="3925702"/>
            <a:ext cx="1767810" cy="390174"/>
          </a:xfrm>
          <a:prstGeom prst="rect">
            <a:avLst/>
          </a:prstGeom>
          <a:noFill/>
          <a:ln/>
        </p:spPr>
        <p:txBody>
          <a:bodyPr wrap="square" lIns="0" tIns="0" rIns="0" bIns="0" rtlCol="0" anchor="ctr"/>
          <a:lstStyle/>
          <a:p>
            <a:pPr algn="ctr" indent="0" marL="0">
              <a:buNone/>
            </a:pPr>
            <a:r>
              <a:rPr lang="en-US" sz="1200" b="1" dirty="0">
                <a:solidFill>
                  <a:srgbClr val="2E7D32"/>
                </a:solidFill>
                <a:latin typeface="Calibri" pitchFamily="34" charset="0"/>
                <a:ea typeface="Calibri" pitchFamily="34" charset="-122"/>
                <a:cs typeface="Calibri" pitchFamily="34" charset="-120"/>
              </a:rPr>
              <a:t>No LLM</a:t>
            </a:r>
            <a:endParaRPr lang="en-US" sz="1200" dirty="0"/>
          </a:p>
        </p:txBody>
      </p:sp>
      <p:sp>
        <p:nvSpPr>
          <p:cNvPr id="12" name="Shape 9"/>
          <p:cNvSpPr/>
          <p:nvPr/>
        </p:nvSpPr>
        <p:spPr>
          <a:xfrm>
            <a:off x="3157606" y="3108869"/>
            <a:ext cx="231618" cy="317022"/>
          </a:xfrm>
          <a:prstGeom prst="rightArrow">
            <a:avLst/>
          </a:prstGeom>
          <a:solidFill>
            <a:srgbClr val="1F3864"/>
          </a:solidFill>
          <a:ln w="12700">
            <a:solidFill>
              <a:srgbClr val="333333"/>
            </a:solidFill>
            <a:prstDash val="solid"/>
          </a:ln>
        </p:spPr>
      </p:sp>
      <p:sp>
        <p:nvSpPr>
          <p:cNvPr id="13" name="Shape 10"/>
          <p:cNvSpPr/>
          <p:nvPr/>
        </p:nvSpPr>
        <p:spPr>
          <a:xfrm>
            <a:off x="3438053"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4" name="Shape 11"/>
          <p:cNvSpPr/>
          <p:nvPr/>
        </p:nvSpPr>
        <p:spPr>
          <a:xfrm>
            <a:off x="3438053" y="1975013"/>
            <a:ext cx="2499330" cy="512064"/>
          </a:xfrm>
          <a:prstGeom prst="roundRect">
            <a:avLst>
              <a:gd name="adj" fmla="val 14286"/>
            </a:avLst>
          </a:prstGeom>
          <a:solidFill>
            <a:srgbClr val="2E7D32"/>
          </a:solidFill>
          <a:ln w="12700">
            <a:solidFill>
              <a:srgbClr val="333333"/>
            </a:solidFill>
            <a:prstDash val="solid"/>
          </a:ln>
        </p:spPr>
      </p:sp>
      <p:sp>
        <p:nvSpPr>
          <p:cNvPr id="15" name="Text 12"/>
          <p:cNvSpPr txBox="1"/>
          <p:nvPr/>
        </p:nvSpPr>
        <p:spPr>
          <a:xfrm>
            <a:off x="3499043"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L2 · Rule-based labelling</a:t>
            </a:r>
            <a:endParaRPr lang="en-US" sz="1307" dirty="0"/>
          </a:p>
        </p:txBody>
      </p:sp>
      <p:sp>
        <p:nvSpPr>
          <p:cNvPr id="16" name="Text 13"/>
          <p:cNvSpPr txBox="1"/>
          <p:nvPr/>
        </p:nvSpPr>
        <p:spPr>
          <a:xfrm>
            <a:off x="3584357"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Compare to interval</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Assign 3-level label</a:t>
            </a:r>
            <a:endParaRPr lang="en-US" sz="1333" dirty="0"/>
          </a:p>
        </p:txBody>
      </p:sp>
      <p:sp>
        <p:nvSpPr>
          <p:cNvPr id="17" name="Shape 14"/>
          <p:cNvSpPr/>
          <p:nvPr/>
        </p:nvSpPr>
        <p:spPr>
          <a:xfrm>
            <a:off x="3803813" y="3925702"/>
            <a:ext cx="1767810" cy="390174"/>
          </a:xfrm>
          <a:prstGeom prst="roundRect">
            <a:avLst>
              <a:gd name="adj" fmla="val 15632"/>
            </a:avLst>
          </a:prstGeom>
          <a:solidFill>
            <a:srgbClr val="F2F6FB"/>
          </a:solidFill>
          <a:ln w="12700">
            <a:solidFill>
              <a:srgbClr val="2E7D32"/>
            </a:solidFill>
            <a:prstDash val="solid"/>
          </a:ln>
        </p:spPr>
      </p:sp>
      <p:sp>
        <p:nvSpPr>
          <p:cNvPr id="18" name="Text 15"/>
          <p:cNvSpPr txBox="1"/>
          <p:nvPr/>
        </p:nvSpPr>
        <p:spPr>
          <a:xfrm>
            <a:off x="3803813" y="3925702"/>
            <a:ext cx="1767810" cy="390174"/>
          </a:xfrm>
          <a:prstGeom prst="rect">
            <a:avLst/>
          </a:prstGeom>
          <a:noFill/>
          <a:ln/>
        </p:spPr>
        <p:txBody>
          <a:bodyPr wrap="square" lIns="0" tIns="0" rIns="0" bIns="0" rtlCol="0" anchor="ctr"/>
          <a:lstStyle/>
          <a:p>
            <a:pPr algn="ctr" indent="0" marL="0">
              <a:buNone/>
            </a:pPr>
            <a:r>
              <a:rPr lang="en-US" sz="1200" b="1" dirty="0">
                <a:solidFill>
                  <a:srgbClr val="2E7D32"/>
                </a:solidFill>
                <a:latin typeface="Calibri" pitchFamily="34" charset="0"/>
                <a:ea typeface="Calibri" pitchFamily="34" charset="-122"/>
                <a:cs typeface="Calibri" pitchFamily="34" charset="-120"/>
              </a:rPr>
              <a:t>No LLM</a:t>
            </a:r>
            <a:endParaRPr lang="en-US" sz="1200" dirty="0"/>
          </a:p>
        </p:txBody>
      </p:sp>
      <p:sp>
        <p:nvSpPr>
          <p:cNvPr id="19" name="Shape 16"/>
          <p:cNvSpPr/>
          <p:nvPr/>
        </p:nvSpPr>
        <p:spPr>
          <a:xfrm>
            <a:off x="5986120" y="3108869"/>
            <a:ext cx="231618" cy="317022"/>
          </a:xfrm>
          <a:prstGeom prst="rightArrow">
            <a:avLst/>
          </a:prstGeom>
          <a:solidFill>
            <a:srgbClr val="1F3864"/>
          </a:solidFill>
          <a:ln w="12700">
            <a:solidFill>
              <a:srgbClr val="333333"/>
            </a:solidFill>
            <a:prstDash val="solid"/>
          </a:ln>
        </p:spPr>
      </p:sp>
      <p:sp>
        <p:nvSpPr>
          <p:cNvPr id="20" name="Shape 17"/>
          <p:cNvSpPr/>
          <p:nvPr/>
        </p:nvSpPr>
        <p:spPr>
          <a:xfrm>
            <a:off x="6266566"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1" name="Shape 18"/>
          <p:cNvSpPr/>
          <p:nvPr/>
        </p:nvSpPr>
        <p:spPr>
          <a:xfrm>
            <a:off x="6266566" y="1975013"/>
            <a:ext cx="2499330" cy="512064"/>
          </a:xfrm>
          <a:prstGeom prst="roundRect">
            <a:avLst>
              <a:gd name="adj" fmla="val 14286"/>
            </a:avLst>
          </a:prstGeom>
          <a:solidFill>
            <a:srgbClr val="1565C0"/>
          </a:solidFill>
          <a:ln w="12700">
            <a:solidFill>
              <a:srgbClr val="333333"/>
            </a:solidFill>
            <a:prstDash val="solid"/>
          </a:ln>
        </p:spPr>
      </p:sp>
      <p:sp>
        <p:nvSpPr>
          <p:cNvPr id="22" name="Text 19"/>
          <p:cNvSpPr txBox="1"/>
          <p:nvPr/>
        </p:nvSpPr>
        <p:spPr>
          <a:xfrm>
            <a:off x="6327465"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L3 · Constrained generation</a:t>
            </a:r>
            <a:endParaRPr lang="en-US" sz="1307" dirty="0"/>
          </a:p>
        </p:txBody>
      </p:sp>
      <p:sp>
        <p:nvSpPr>
          <p:cNvPr id="23" name="Text 20"/>
          <p:cNvSpPr txBox="1"/>
          <p:nvPr/>
        </p:nvSpPr>
        <p:spPr>
          <a:xfrm>
            <a:off x="6412870"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Model receives labels</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Paraphrases only</a:t>
            </a:r>
            <a:endParaRPr lang="en-US" sz="1333" dirty="0"/>
          </a:p>
        </p:txBody>
      </p:sp>
      <p:sp>
        <p:nvSpPr>
          <p:cNvPr id="24" name="Shape 21"/>
          <p:cNvSpPr/>
          <p:nvPr/>
        </p:nvSpPr>
        <p:spPr>
          <a:xfrm>
            <a:off x="6632326" y="3925702"/>
            <a:ext cx="1767810" cy="390174"/>
          </a:xfrm>
          <a:prstGeom prst="roundRect">
            <a:avLst>
              <a:gd name="adj" fmla="val 15632"/>
            </a:avLst>
          </a:prstGeom>
          <a:solidFill>
            <a:srgbClr val="F2F6FB"/>
          </a:solidFill>
          <a:ln w="12700">
            <a:solidFill>
              <a:srgbClr val="1565C0"/>
            </a:solidFill>
            <a:prstDash val="solid"/>
          </a:ln>
        </p:spPr>
      </p:sp>
      <p:sp>
        <p:nvSpPr>
          <p:cNvPr id="25" name="Text 22"/>
          <p:cNvSpPr txBox="1"/>
          <p:nvPr/>
        </p:nvSpPr>
        <p:spPr>
          <a:xfrm>
            <a:off x="6632326" y="3925702"/>
            <a:ext cx="1767810" cy="390174"/>
          </a:xfrm>
          <a:prstGeom prst="rect">
            <a:avLst/>
          </a:prstGeom>
          <a:noFill/>
          <a:ln/>
        </p:spPr>
        <p:txBody>
          <a:bodyPr wrap="square" lIns="0" tIns="0" rIns="0" bIns="0" rtlCol="0" anchor="ctr"/>
          <a:lstStyle/>
          <a:p>
            <a:pPr algn="ctr" indent="0" marL="0">
              <a:buNone/>
            </a:pPr>
            <a:r>
              <a:rPr lang="en-US" sz="1200" b="1" dirty="0">
                <a:solidFill>
                  <a:srgbClr val="1565C0"/>
                </a:solidFill>
                <a:latin typeface="Calibri" pitchFamily="34" charset="0"/>
                <a:ea typeface="Calibri" pitchFamily="34" charset="-122"/>
                <a:cs typeface="Calibri" pitchFamily="34" charset="-120"/>
              </a:rPr>
              <a:t>LLM</a:t>
            </a:r>
            <a:endParaRPr lang="en-US" sz="1200" dirty="0"/>
          </a:p>
        </p:txBody>
      </p:sp>
      <p:sp>
        <p:nvSpPr>
          <p:cNvPr id="26" name="Shape 23"/>
          <p:cNvSpPr/>
          <p:nvPr/>
        </p:nvSpPr>
        <p:spPr>
          <a:xfrm>
            <a:off x="8814633" y="3108869"/>
            <a:ext cx="231618" cy="317022"/>
          </a:xfrm>
          <a:prstGeom prst="rightArrow">
            <a:avLst/>
          </a:prstGeom>
          <a:solidFill>
            <a:srgbClr val="1F3864"/>
          </a:solidFill>
          <a:ln w="12700">
            <a:solidFill>
              <a:srgbClr val="333333"/>
            </a:solidFill>
            <a:prstDash val="solid"/>
          </a:ln>
        </p:spPr>
      </p:sp>
      <p:sp>
        <p:nvSpPr>
          <p:cNvPr id="27" name="Shape 24"/>
          <p:cNvSpPr/>
          <p:nvPr/>
        </p:nvSpPr>
        <p:spPr>
          <a:xfrm>
            <a:off x="9094988" y="1975013"/>
            <a:ext cx="2499330" cy="2621219"/>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8" name="Shape 25"/>
          <p:cNvSpPr/>
          <p:nvPr/>
        </p:nvSpPr>
        <p:spPr>
          <a:xfrm>
            <a:off x="9094988" y="1975013"/>
            <a:ext cx="2499330" cy="512064"/>
          </a:xfrm>
          <a:prstGeom prst="roundRect">
            <a:avLst>
              <a:gd name="adj" fmla="val 14286"/>
            </a:avLst>
          </a:prstGeom>
          <a:solidFill>
            <a:srgbClr val="E6A700"/>
          </a:solidFill>
          <a:ln w="12700">
            <a:solidFill>
              <a:srgbClr val="333333"/>
            </a:solidFill>
            <a:prstDash val="solid"/>
          </a:ln>
        </p:spPr>
      </p:sp>
      <p:sp>
        <p:nvSpPr>
          <p:cNvPr id="29" name="Text 26"/>
          <p:cNvSpPr txBox="1"/>
          <p:nvPr/>
        </p:nvSpPr>
        <p:spPr>
          <a:xfrm>
            <a:off x="9155979" y="1975013"/>
            <a:ext cx="2377349" cy="512064"/>
          </a:xfrm>
          <a:prstGeom prst="rect">
            <a:avLst/>
          </a:prstGeom>
          <a:noFill/>
          <a:ln/>
        </p:spPr>
        <p:txBody>
          <a:bodyPr wrap="square" lIns="0" tIns="0" rIns="0" bIns="0" rtlCol="0" anchor="ctr">
            <a:normAutofit/>
          </a:bodyPr>
          <a:lstStyle/>
          <a:p>
            <a:pPr algn="ctr" indent="0" marL="0">
              <a:buNone/>
            </a:pPr>
            <a:r>
              <a:rPr lang="en-US" sz="1307" b="1" dirty="0">
                <a:solidFill>
                  <a:srgbClr val="FFFFFF"/>
                </a:solidFill>
                <a:latin typeface="Arial" pitchFamily="34" charset="0"/>
                <a:ea typeface="Arial" pitchFamily="34" charset="-122"/>
                <a:cs typeface="Arial" pitchFamily="34" charset="-120"/>
              </a:rPr>
              <a:t>L4 · Validation</a:t>
            </a:r>
            <a:endParaRPr lang="en-US" sz="1307" dirty="0"/>
          </a:p>
        </p:txBody>
      </p:sp>
      <p:sp>
        <p:nvSpPr>
          <p:cNvPr id="30" name="Text 27"/>
          <p:cNvSpPr txBox="1"/>
          <p:nvPr/>
        </p:nvSpPr>
        <p:spPr>
          <a:xfrm>
            <a:off x="9241292" y="2682210"/>
            <a:ext cx="2206722" cy="1097280"/>
          </a:xfrm>
          <a:prstGeom prst="rect">
            <a:avLst/>
          </a:prstGeom>
          <a:noFill/>
          <a:ln/>
        </p:spPr>
        <p:txBody>
          <a:bodyPr wrap="square" lIns="0" tIns="0" rIns="0" bIns="0" rtlCol="0" anchor="ctr"/>
          <a:lstStyle/>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Check against labels</a:t>
            </a:r>
            <a:endParaRPr lang="en-US" sz="1333" dirty="0"/>
          </a:p>
          <a:p>
            <a:pPr algn="ctr" indent="0" marL="0">
              <a:lnSpc>
                <a:spcPts val="2000"/>
              </a:lnSpc>
              <a:buNone/>
            </a:pPr>
            <a:r>
              <a:rPr lang="en-US" sz="1333" dirty="0">
                <a:solidFill>
                  <a:srgbClr val="203864"/>
                </a:solidFill>
                <a:latin typeface="Calibri" pitchFamily="34" charset="0"/>
                <a:ea typeface="Calibri" pitchFamily="34" charset="-122"/>
                <a:cs typeface="Calibri" pitchFamily="34" charset="-120"/>
              </a:rPr>
              <a:t>Regenerate / template</a:t>
            </a:r>
            <a:endParaRPr lang="en-US" sz="1333" dirty="0"/>
          </a:p>
        </p:txBody>
      </p:sp>
      <p:sp>
        <p:nvSpPr>
          <p:cNvPr id="31" name="Shape 28"/>
          <p:cNvSpPr/>
          <p:nvPr/>
        </p:nvSpPr>
        <p:spPr>
          <a:xfrm>
            <a:off x="9460748" y="3925702"/>
            <a:ext cx="1767810" cy="390174"/>
          </a:xfrm>
          <a:prstGeom prst="roundRect">
            <a:avLst>
              <a:gd name="adj" fmla="val 15632"/>
            </a:avLst>
          </a:prstGeom>
          <a:solidFill>
            <a:srgbClr val="F2F6FB"/>
          </a:solidFill>
          <a:ln w="12700">
            <a:solidFill>
              <a:srgbClr val="E6A700"/>
            </a:solidFill>
            <a:prstDash val="solid"/>
          </a:ln>
        </p:spPr>
      </p:sp>
      <p:sp>
        <p:nvSpPr>
          <p:cNvPr id="32" name="Text 29"/>
          <p:cNvSpPr txBox="1"/>
          <p:nvPr/>
        </p:nvSpPr>
        <p:spPr>
          <a:xfrm>
            <a:off x="9460748" y="3925702"/>
            <a:ext cx="1767810" cy="390174"/>
          </a:xfrm>
          <a:prstGeom prst="rect">
            <a:avLst/>
          </a:prstGeom>
          <a:noFill/>
          <a:ln/>
        </p:spPr>
        <p:txBody>
          <a:bodyPr wrap="square" lIns="0" tIns="0" rIns="0" bIns="0" rtlCol="0" anchor="ctr"/>
          <a:lstStyle/>
          <a:p>
            <a:pPr algn="ctr" indent="0" marL="0">
              <a:buNone/>
            </a:pPr>
            <a:r>
              <a:rPr lang="en-US" sz="1200" b="1" dirty="0">
                <a:solidFill>
                  <a:srgbClr val="E6A700"/>
                </a:solidFill>
                <a:latin typeface="Calibri" pitchFamily="34" charset="0"/>
                <a:ea typeface="Calibri" pitchFamily="34" charset="-122"/>
                <a:cs typeface="Calibri" pitchFamily="34" charset="-120"/>
              </a:rPr>
              <a:t>No LLM</a:t>
            </a:r>
            <a:endParaRPr lang="en-US" sz="1200" dirty="0"/>
          </a:p>
        </p:txBody>
      </p:sp>
      <p:sp>
        <p:nvSpPr>
          <p:cNvPr id="33" name="Shape 30"/>
          <p:cNvSpPr/>
          <p:nvPr/>
        </p:nvSpPr>
        <p:spPr>
          <a:xfrm>
            <a:off x="609539" y="4815688"/>
            <a:ext cx="10972526" cy="731520"/>
          </a:xfrm>
          <a:prstGeom prst="roundRect">
            <a:avLst>
              <a:gd name="adj" fmla="val 10000"/>
            </a:avLst>
          </a:prstGeom>
          <a:solidFill>
            <a:srgbClr val="FFF8E6"/>
          </a:solidFill>
          <a:ln w="12700">
            <a:solidFill>
              <a:srgbClr val="FFFFFF"/>
            </a:solidFill>
            <a:prstDash val="solid"/>
          </a:ln>
        </p:spPr>
      </p:sp>
      <p:sp>
        <p:nvSpPr>
          <p:cNvPr id="34" name="Text 31"/>
          <p:cNvSpPr txBox="1"/>
          <p:nvPr/>
        </p:nvSpPr>
        <p:spPr>
          <a:xfrm>
            <a:off x="853410" y="4815688"/>
            <a:ext cx="10484876" cy="731520"/>
          </a:xfrm>
          <a:prstGeom prst="rect">
            <a:avLst/>
          </a:prstGeom>
          <a:noFill/>
          <a:ln/>
        </p:spPr>
        <p:txBody>
          <a:bodyPr wrap="square" lIns="0" tIns="0" rIns="0" bIns="0" rtlCol="0" anchor="ctr"/>
          <a:lstStyle/>
          <a:p>
            <a:pPr indent="0" marL="0">
              <a:buNone/>
            </a:pPr>
            <a:r>
              <a:rPr lang="en-US" sz="1467" dirty="0">
                <a:solidFill>
                  <a:srgbClr val="203864"/>
                </a:solidFill>
                <a:latin typeface="Calibri" pitchFamily="34" charset="0"/>
                <a:ea typeface="Calibri" pitchFamily="34" charset="-122"/>
                <a:cs typeface="Calibri" pitchFamily="34" charset="-120"/>
              </a:rPr>
              <a:t>Failing output → regenerate → fixed template after the retry limit. Unverified text is never displayed.</a:t>
            </a:r>
            <a:endParaRPr lang="en-US" sz="1467" dirty="0"/>
          </a:p>
        </p:txBody>
      </p:sp>
      <p:sp>
        <p:nvSpPr>
          <p:cNvPr id="35" name="Text 32"/>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6. Layer 1 — Name and unit normalisation</a:t>
            </a:r>
            <a:endParaRPr lang="en-US" sz="3000" dirty="0"/>
          </a:p>
        </p:txBody>
      </p:sp>
      <p:sp>
        <p:nvSpPr>
          <p:cNvPr id="4" name="Shape 1"/>
          <p:cNvSpPr/>
          <p:nvPr/>
        </p:nvSpPr>
        <p:spPr>
          <a:xfrm>
            <a:off x="609539" y="1194755"/>
            <a:ext cx="5303429" cy="2743109"/>
          </a:xfrm>
          <a:prstGeom prst="roundRect">
            <a:avLst>
              <a:gd name="adj" fmla="val 2667"/>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Text 2"/>
          <p:cNvSpPr txBox="1"/>
          <p:nvPr/>
        </p:nvSpPr>
        <p:spPr>
          <a:xfrm>
            <a:off x="853410" y="1341059"/>
            <a:ext cx="4815688" cy="365760"/>
          </a:xfrm>
          <a:prstGeom prst="rect">
            <a:avLst/>
          </a:prstGeom>
          <a:noFill/>
          <a:ln/>
        </p:spPr>
        <p:txBody>
          <a:bodyPr wrap="square" lIns="0" tIns="0" rIns="0" bIns="0" rtlCol="0" anchor="ctr"/>
          <a:lstStyle/>
          <a:p>
            <a:pPr indent="0" marL="0">
              <a:buNone/>
            </a:pPr>
            <a:r>
              <a:rPr lang="en-US" sz="1733" b="1" dirty="0">
                <a:solidFill>
                  <a:srgbClr val="1F3864"/>
                </a:solidFill>
                <a:latin typeface="Arial" pitchFamily="34" charset="0"/>
                <a:ea typeface="Arial" pitchFamily="34" charset="-122"/>
                <a:cs typeface="Arial" pitchFamily="34" charset="-120"/>
              </a:rPr>
              <a:t>One analyte, many names</a:t>
            </a:r>
            <a:endParaRPr lang="en-US" sz="1733" dirty="0"/>
          </a:p>
        </p:txBody>
      </p:sp>
      <p:sp>
        <p:nvSpPr>
          <p:cNvPr id="6" name="Shape 3"/>
          <p:cNvSpPr/>
          <p:nvPr/>
        </p:nvSpPr>
        <p:spPr>
          <a:xfrm>
            <a:off x="877824" y="1779971"/>
            <a:ext cx="2316450" cy="414498"/>
          </a:xfrm>
          <a:prstGeom prst="roundRect">
            <a:avLst>
              <a:gd name="adj" fmla="val 11758"/>
            </a:avLst>
          </a:prstGeom>
          <a:solidFill>
            <a:srgbClr val="F2F6FB"/>
          </a:solidFill>
          <a:ln w="9525">
            <a:solidFill>
              <a:srgbClr val="1565C0"/>
            </a:solidFill>
            <a:prstDash val="solid"/>
          </a:ln>
        </p:spPr>
      </p:sp>
      <p:sp>
        <p:nvSpPr>
          <p:cNvPr id="7" name="Text 4"/>
          <p:cNvSpPr txBox="1"/>
          <p:nvPr/>
        </p:nvSpPr>
        <p:spPr>
          <a:xfrm>
            <a:off x="877824" y="1779971"/>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WBC</a:t>
            </a:r>
            <a:endParaRPr lang="en-US" sz="1333" dirty="0"/>
          </a:p>
        </p:txBody>
      </p:sp>
      <p:sp>
        <p:nvSpPr>
          <p:cNvPr id="8" name="Shape 5"/>
          <p:cNvSpPr/>
          <p:nvPr/>
        </p:nvSpPr>
        <p:spPr>
          <a:xfrm>
            <a:off x="3316163" y="1779971"/>
            <a:ext cx="2316450" cy="414498"/>
          </a:xfrm>
          <a:prstGeom prst="roundRect">
            <a:avLst>
              <a:gd name="adj" fmla="val 11758"/>
            </a:avLst>
          </a:prstGeom>
          <a:solidFill>
            <a:srgbClr val="F2F6FB"/>
          </a:solidFill>
          <a:ln w="9525">
            <a:solidFill>
              <a:srgbClr val="1565C0"/>
            </a:solidFill>
            <a:prstDash val="solid"/>
          </a:ln>
        </p:spPr>
      </p:sp>
      <p:sp>
        <p:nvSpPr>
          <p:cNvPr id="9" name="Text 6"/>
          <p:cNvSpPr txBox="1"/>
          <p:nvPr/>
        </p:nvSpPr>
        <p:spPr>
          <a:xfrm>
            <a:off x="3316163" y="1779971"/>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SLBC</a:t>
            </a:r>
            <a:endParaRPr lang="en-US" sz="1333" dirty="0"/>
          </a:p>
        </p:txBody>
      </p:sp>
      <p:sp>
        <p:nvSpPr>
          <p:cNvPr id="10" name="Shape 7"/>
          <p:cNvSpPr/>
          <p:nvPr/>
        </p:nvSpPr>
        <p:spPr>
          <a:xfrm>
            <a:off x="877824" y="2292035"/>
            <a:ext cx="2316450" cy="414498"/>
          </a:xfrm>
          <a:prstGeom prst="roundRect">
            <a:avLst>
              <a:gd name="adj" fmla="val 11758"/>
            </a:avLst>
          </a:prstGeom>
          <a:solidFill>
            <a:srgbClr val="F2F6FB"/>
          </a:solidFill>
          <a:ln w="9525">
            <a:solidFill>
              <a:srgbClr val="1565C0"/>
            </a:solidFill>
            <a:prstDash val="solid"/>
          </a:ln>
        </p:spPr>
      </p:sp>
      <p:sp>
        <p:nvSpPr>
          <p:cNvPr id="11" name="Text 8"/>
          <p:cNvSpPr txBox="1"/>
          <p:nvPr/>
        </p:nvSpPr>
        <p:spPr>
          <a:xfrm>
            <a:off x="877824" y="2292035"/>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Số lượng bạch cầu</a:t>
            </a:r>
            <a:endParaRPr lang="en-US" sz="1333" dirty="0"/>
          </a:p>
        </p:txBody>
      </p:sp>
      <p:sp>
        <p:nvSpPr>
          <p:cNvPr id="12" name="Shape 9"/>
          <p:cNvSpPr/>
          <p:nvPr/>
        </p:nvSpPr>
        <p:spPr>
          <a:xfrm>
            <a:off x="3316163" y="2292035"/>
            <a:ext cx="2316450" cy="414498"/>
          </a:xfrm>
          <a:prstGeom prst="roundRect">
            <a:avLst>
              <a:gd name="adj" fmla="val 11758"/>
            </a:avLst>
          </a:prstGeom>
          <a:solidFill>
            <a:srgbClr val="F2F6FB"/>
          </a:solidFill>
          <a:ln w="9525">
            <a:solidFill>
              <a:srgbClr val="1565C0"/>
            </a:solidFill>
            <a:prstDash val="solid"/>
          </a:ln>
        </p:spPr>
      </p:sp>
      <p:sp>
        <p:nvSpPr>
          <p:cNvPr id="13" name="Text 10"/>
          <p:cNvSpPr txBox="1"/>
          <p:nvPr/>
        </p:nvSpPr>
        <p:spPr>
          <a:xfrm>
            <a:off x="3316163" y="2292035"/>
            <a:ext cx="2316450" cy="414498"/>
          </a:xfrm>
          <a:prstGeom prst="rect">
            <a:avLst/>
          </a:prstGeom>
          <a:noFill/>
          <a:ln/>
        </p:spPr>
        <p:txBody>
          <a:bodyPr wrap="square" lIns="0" tIns="0" rIns="0" bIns="0" rtlCol="0" anchor="ctr"/>
          <a:lstStyle/>
          <a:p>
            <a:pPr algn="ctr" indent="0" marL="0">
              <a:buNone/>
            </a:pPr>
            <a:r>
              <a:rPr lang="en-US" sz="1333" dirty="0">
                <a:solidFill>
                  <a:srgbClr val="203864"/>
                </a:solidFill>
                <a:latin typeface="Courier New" pitchFamily="34" charset="0"/>
                <a:ea typeface="Courier New" pitchFamily="34" charset="-122"/>
                <a:cs typeface="Courier New" pitchFamily="34" charset="-120"/>
              </a:rPr>
              <a:t>* WBC</a:t>
            </a:r>
            <a:endParaRPr lang="en-US" sz="1333" dirty="0"/>
          </a:p>
        </p:txBody>
      </p:sp>
      <p:sp>
        <p:nvSpPr>
          <p:cNvPr id="14" name="Text 11"/>
          <p:cNvSpPr txBox="1"/>
          <p:nvPr/>
        </p:nvSpPr>
        <p:spPr>
          <a:xfrm>
            <a:off x="853410" y="3047878"/>
            <a:ext cx="4852264" cy="731520"/>
          </a:xfrm>
          <a:prstGeom prst="rect">
            <a:avLst/>
          </a:prstGeom>
          <a:noFill/>
          <a:ln/>
        </p:spPr>
        <p:txBody>
          <a:bodyPr wrap="square" lIns="0" tIns="0" rIns="0" bIns="0" rtlCol="0" anchor="ctr"/>
          <a:lstStyle/>
          <a:p>
            <a:pPr indent="0" marL="0">
              <a:lnSpc>
                <a:spcPts val="1733"/>
              </a:lnSpc>
              <a:buNone/>
            </a:pPr>
            <a:r>
              <a:rPr lang="en-US" sz="1267" dirty="0">
                <a:solidFill>
                  <a:srgbClr val="5A6B85"/>
                </a:solidFill>
                <a:latin typeface="Calibri" pitchFamily="34" charset="0"/>
                <a:ea typeface="Calibri" pitchFamily="34" charset="-122"/>
                <a:cs typeface="Calibri" pitchFamily="34" charset="-120"/>
              </a:rPr>
              <a:t>The % and # markers distinguish percentage from absolute count — and may precede (% Neu) or follow (NEUT%) the name.</a:t>
            </a:r>
            <a:endParaRPr lang="en-US" sz="1267" dirty="0"/>
          </a:p>
        </p:txBody>
      </p:sp>
      <p:sp>
        <p:nvSpPr>
          <p:cNvPr id="15" name="Shape 12"/>
          <p:cNvSpPr/>
          <p:nvPr/>
        </p:nvSpPr>
        <p:spPr>
          <a:xfrm>
            <a:off x="6278728" y="1194755"/>
            <a:ext cx="5303429" cy="2743109"/>
          </a:xfrm>
          <a:prstGeom prst="roundRect">
            <a:avLst>
              <a:gd name="adj" fmla="val 2667"/>
            </a:avLst>
          </a:prstGeom>
          <a:solidFill>
            <a:srgbClr val="FFF4F4"/>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6" name="Text 13"/>
          <p:cNvSpPr txBox="1"/>
          <p:nvPr/>
        </p:nvSpPr>
        <p:spPr>
          <a:xfrm>
            <a:off x="6522598" y="1341059"/>
            <a:ext cx="4815688" cy="365760"/>
          </a:xfrm>
          <a:prstGeom prst="rect">
            <a:avLst/>
          </a:prstGeom>
          <a:noFill/>
          <a:ln/>
        </p:spPr>
        <p:txBody>
          <a:bodyPr wrap="square" lIns="0" tIns="0" rIns="0" bIns="0" rtlCol="0" anchor="ctr"/>
          <a:lstStyle/>
          <a:p>
            <a:pPr indent="0" marL="0">
              <a:buNone/>
            </a:pPr>
            <a:r>
              <a:rPr lang="en-US" sz="1733" b="1" dirty="0">
                <a:solidFill>
                  <a:srgbClr val="C62828"/>
                </a:solidFill>
                <a:latin typeface="Arial" pitchFamily="34" charset="0"/>
                <a:ea typeface="Arial" pitchFamily="34" charset="-122"/>
                <a:cs typeface="Arial" pitchFamily="34" charset="-120"/>
              </a:rPr>
              <a:t>Units are the serious problem</a:t>
            </a:r>
            <a:endParaRPr lang="en-US" sz="1733" dirty="0"/>
          </a:p>
        </p:txBody>
      </p:sp>
      <p:sp>
        <p:nvSpPr>
          <p:cNvPr id="17" name="Text 14"/>
          <p:cNvSpPr txBox="1"/>
          <p:nvPr/>
        </p:nvSpPr>
        <p:spPr>
          <a:xfrm>
            <a:off x="6522598" y="1755648"/>
            <a:ext cx="4815688" cy="633954"/>
          </a:xfrm>
          <a:prstGeom prst="rect">
            <a:avLst/>
          </a:prstGeom>
          <a:noFill/>
          <a:ln/>
        </p:spPr>
        <p:txBody>
          <a:bodyPr wrap="square" lIns="0" tIns="0" rIns="0" bIns="0" rtlCol="0" anchor="ctr"/>
          <a:lstStyle/>
          <a:p>
            <a:pPr indent="0" marL="0">
              <a:lnSpc>
                <a:spcPts val="2000"/>
              </a:lnSpc>
              <a:buNone/>
            </a:pPr>
            <a:r>
              <a:rPr lang="en-US" sz="1467" dirty="0">
                <a:solidFill>
                  <a:srgbClr val="203864"/>
                </a:solidFill>
                <a:latin typeface="Courier New" pitchFamily="34" charset="0"/>
                <a:ea typeface="Courier New" pitchFamily="34" charset="-122"/>
                <a:cs typeface="Courier New" pitchFamily="34" charset="-120"/>
              </a:rPr>
              <a:t>Hb = 14.56 g/dL</a:t>
            </a:r>
            <a:endParaRPr lang="en-US" sz="1467" dirty="0"/>
          </a:p>
          <a:p>
            <a:pPr indent="0" marL="0">
              <a:lnSpc>
                <a:spcPts val="2000"/>
              </a:lnSpc>
              <a:buNone/>
            </a:pPr>
            <a:r>
              <a:rPr lang="en-US" sz="1467" dirty="0">
                <a:solidFill>
                  <a:srgbClr val="203864"/>
                </a:solidFill>
                <a:latin typeface="Courier New" pitchFamily="34" charset="0"/>
                <a:ea typeface="Courier New" pitchFamily="34" charset="-122"/>
                <a:cs typeface="Courier New" pitchFamily="34" charset="-120"/>
              </a:rPr>
              <a:t>Reference interval: 130–175 g/L</a:t>
            </a:r>
            <a:endParaRPr lang="en-US" sz="1467" dirty="0"/>
          </a:p>
        </p:txBody>
      </p:sp>
      <p:sp>
        <p:nvSpPr>
          <p:cNvPr id="18" name="Text 15"/>
          <p:cNvSpPr txBox="1"/>
          <p:nvPr/>
        </p:nvSpPr>
        <p:spPr>
          <a:xfrm>
            <a:off x="6522598" y="2584643"/>
            <a:ext cx="4815688" cy="365760"/>
          </a:xfrm>
          <a:prstGeom prst="rect">
            <a:avLst/>
          </a:prstGeom>
          <a:noFill/>
          <a:ln/>
        </p:spPr>
        <p:txBody>
          <a:bodyPr wrap="square" lIns="0" tIns="0" rIns="0" bIns="0" rtlCol="0" anchor="ctr"/>
          <a:lstStyle/>
          <a:p>
            <a:pPr indent="0" marL="0">
              <a:buNone/>
            </a:pPr>
            <a:r>
              <a:rPr lang="en-US" sz="1333" b="1" dirty="0">
                <a:solidFill>
                  <a:srgbClr val="C62828"/>
                </a:solidFill>
                <a:latin typeface="Calibri" pitchFamily="34" charset="0"/>
                <a:ea typeface="Calibri" pitchFamily="34" charset="-122"/>
                <a:cs typeface="Calibri" pitchFamily="34" charset="-120"/>
              </a:rPr>
              <a:t>✗  Unconverted → classified as "SEEK CARE"</a:t>
            </a:r>
            <a:endParaRPr lang="en-US" sz="1333" dirty="0"/>
          </a:p>
        </p:txBody>
      </p:sp>
      <p:sp>
        <p:nvSpPr>
          <p:cNvPr id="19" name="Text 16"/>
          <p:cNvSpPr txBox="1"/>
          <p:nvPr/>
        </p:nvSpPr>
        <p:spPr>
          <a:xfrm>
            <a:off x="6522598" y="3047878"/>
            <a:ext cx="4815688" cy="365760"/>
          </a:xfrm>
          <a:prstGeom prst="rect">
            <a:avLst/>
          </a:prstGeom>
          <a:noFill/>
          <a:ln/>
        </p:spPr>
        <p:txBody>
          <a:bodyPr wrap="square" lIns="0" tIns="0" rIns="0" bIns="0" rtlCol="0" anchor="ctr"/>
          <a:lstStyle/>
          <a:p>
            <a:pPr indent="0" marL="0">
              <a:buNone/>
            </a:pPr>
            <a:r>
              <a:rPr lang="en-US" sz="1333" b="1" dirty="0">
                <a:solidFill>
                  <a:srgbClr val="2E7D32"/>
                </a:solidFill>
                <a:latin typeface="Calibri" pitchFamily="34" charset="0"/>
                <a:ea typeface="Calibri" pitchFamily="34" charset="-122"/>
                <a:cs typeface="Calibri" pitchFamily="34" charset="-120"/>
              </a:rPr>
              <a:t>✓  Converted → 145.6 g/L → Normal</a:t>
            </a:r>
            <a:endParaRPr lang="en-US" sz="1333" dirty="0"/>
          </a:p>
        </p:txBody>
      </p:sp>
      <p:sp>
        <p:nvSpPr>
          <p:cNvPr id="20" name="Shape 17"/>
          <p:cNvSpPr/>
          <p:nvPr/>
        </p:nvSpPr>
        <p:spPr>
          <a:xfrm>
            <a:off x="609539" y="4169573"/>
            <a:ext cx="10972526" cy="755843"/>
          </a:xfrm>
          <a:prstGeom prst="roundRect">
            <a:avLst>
              <a:gd name="adj" fmla="val 9678"/>
            </a:avLst>
          </a:prstGeom>
          <a:solidFill>
            <a:srgbClr val="1F3864"/>
          </a:solidFill>
          <a:ln w="12700">
            <a:solidFill>
              <a:srgbClr val="FFFFFF"/>
            </a:solidFill>
            <a:prstDash val="solid"/>
          </a:ln>
        </p:spPr>
      </p:sp>
      <p:sp>
        <p:nvSpPr>
          <p:cNvPr id="21" name="Text 18"/>
          <p:cNvSpPr txBox="1"/>
          <p:nvPr/>
        </p:nvSpPr>
        <p:spPr>
          <a:xfrm>
            <a:off x="853410" y="4169573"/>
            <a:ext cx="10484876" cy="755843"/>
          </a:xfrm>
          <a:prstGeom prst="rect">
            <a:avLst/>
          </a:prstGeom>
          <a:noFill/>
          <a:ln/>
        </p:spPr>
        <p:txBody>
          <a:bodyPr wrap="square" lIns="0" tIns="0" rIns="0" bIns="0" rtlCol="0" anchor="ctr"/>
          <a:lstStyle/>
          <a:p>
            <a:pPr algn="ctr" indent="0" marL="0">
              <a:buNone/>
            </a:pPr>
            <a:r>
              <a:rPr lang="en-US" sz="1667" b="1" dirty="0">
                <a:solidFill>
                  <a:srgbClr val="FFFFFF"/>
                </a:solidFill>
                <a:latin typeface="Calibri" pitchFamily="34" charset="0"/>
                <a:ea typeface="Calibri" pitchFamily="34" charset="-122"/>
                <a:cs typeface="Calibri" pitchFamily="34" charset="-120"/>
              </a:rPr>
              <a:t>Rule: unknown or missing unit → REFUSE to process. Never guess.</a:t>
            </a:r>
            <a:endParaRPr lang="en-US" sz="1667" dirty="0"/>
          </a:p>
        </p:txBody>
      </p:sp>
      <p:sp>
        <p:nvSpPr>
          <p:cNvPr id="22" name="Text 19"/>
          <p:cNvSpPr txBox="1"/>
          <p:nvPr/>
        </p:nvSpPr>
        <p:spPr>
          <a:xfrm>
            <a:off x="609539" y="5120549"/>
            <a:ext cx="10972526" cy="609539"/>
          </a:xfrm>
          <a:prstGeom prst="rect">
            <a:avLst/>
          </a:prstGeom>
          <a:noFill/>
          <a:ln/>
        </p:spPr>
        <p:txBody>
          <a:bodyPr wrap="square" lIns="0" tIns="0" rIns="0" bIns="0" rtlCol="0" anchor="ctr"/>
          <a:lstStyle/>
          <a:p>
            <a:pPr indent="0" marL="0">
              <a:lnSpc>
                <a:spcPts val="1867"/>
              </a:lnSpc>
              <a:buNone/>
            </a:pPr>
            <a:r>
              <a:rPr lang="en-US" sz="1333" i="1" dirty="0">
                <a:solidFill>
                  <a:srgbClr val="5A6B85"/>
                </a:solidFill>
                <a:latin typeface="Calibri" pitchFamily="34" charset="0"/>
                <a:ea typeface="Calibri" pitchFamily="34" charset="-122"/>
                <a:cs typeface="Calibri" pitchFamily="34" charset="-120"/>
              </a:rPr>
              <a:t>External evidence: 6–19% of laboratory tests cannot be accurately mapped to LOINC; an analysis of 163 million results identified 2,019 distinct unit expressions.</a:t>
            </a:r>
            <a:endParaRPr lang="en-US" sz="1333" dirty="0"/>
          </a:p>
        </p:txBody>
      </p:sp>
      <p:sp>
        <p:nvSpPr>
          <p:cNvPr id="23" name="Text 20"/>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8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7. Layer 2 — Rule-based classification</a:t>
            </a:r>
            <a:endParaRPr lang="en-US" sz="3000" dirty="0"/>
          </a:p>
        </p:txBody>
      </p:sp>
      <p:sp>
        <p:nvSpPr>
          <p:cNvPr id="4" name="Text 1"/>
          <p:cNvSpPr txBox="1"/>
          <p:nvPr/>
        </p:nvSpPr>
        <p:spPr>
          <a:xfrm>
            <a:off x="609539" y="1158179"/>
            <a:ext cx="10972526" cy="341346"/>
          </a:xfrm>
          <a:prstGeom prst="rect">
            <a:avLst/>
          </a:prstGeom>
          <a:noFill/>
          <a:ln/>
        </p:spPr>
        <p:txBody>
          <a:bodyPr wrap="square" lIns="0" tIns="0" rIns="0" bIns="0" rtlCol="0" anchor="ctr"/>
          <a:lstStyle/>
          <a:p>
            <a:pPr indent="0" marL="0">
              <a:buNone/>
            </a:pPr>
            <a:r>
              <a:rPr lang="en-US" sz="1733" dirty="0">
                <a:solidFill>
                  <a:srgbClr val="203864"/>
                </a:solidFill>
                <a:latin typeface="Calibri" pitchFamily="34" charset="0"/>
                <a:ea typeface="Calibri" pitchFamily="34" charset="-122"/>
                <a:cs typeface="Calibri" pitchFamily="34" charset="-120"/>
              </a:rPr>
              <a:t>No learned component. Arithmetic comparison only.</a:t>
            </a:r>
            <a:endParaRPr lang="en-US" sz="1733" dirty="0"/>
          </a:p>
        </p:txBody>
      </p:sp>
      <p:sp>
        <p:nvSpPr>
          <p:cNvPr id="5" name="Shape 2"/>
          <p:cNvSpPr/>
          <p:nvPr/>
        </p:nvSpPr>
        <p:spPr>
          <a:xfrm>
            <a:off x="609539" y="1609344"/>
            <a:ext cx="3486790" cy="1828709"/>
          </a:xfrm>
          <a:prstGeom prst="roundRect">
            <a:avLst>
              <a:gd name="adj" fmla="val 4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6" name="Shape 3"/>
          <p:cNvSpPr/>
          <p:nvPr/>
        </p:nvSpPr>
        <p:spPr>
          <a:xfrm>
            <a:off x="2109155" y="1828709"/>
            <a:ext cx="487650" cy="487650"/>
          </a:xfrm>
          <a:prstGeom prst="ellipse">
            <a:avLst/>
          </a:prstGeom>
          <a:solidFill>
            <a:srgbClr val="2E7D32"/>
          </a:solidFill>
          <a:ln/>
        </p:spPr>
      </p:sp>
      <p:sp>
        <p:nvSpPr>
          <p:cNvPr id="7" name="Text 4"/>
          <p:cNvSpPr txBox="1"/>
          <p:nvPr/>
        </p:nvSpPr>
        <p:spPr>
          <a:xfrm>
            <a:off x="731520" y="2438339"/>
            <a:ext cx="3243011" cy="390174"/>
          </a:xfrm>
          <a:prstGeom prst="rect">
            <a:avLst/>
          </a:prstGeom>
          <a:noFill/>
          <a:ln/>
        </p:spPr>
        <p:txBody>
          <a:bodyPr wrap="square" lIns="0" tIns="0" rIns="0" bIns="0" rtlCol="0" anchor="ctr"/>
          <a:lstStyle/>
          <a:p>
            <a:pPr algn="ctr" indent="0" marL="0">
              <a:buNone/>
            </a:pPr>
            <a:r>
              <a:rPr lang="en-US" sz="1867" b="1" dirty="0">
                <a:solidFill>
                  <a:srgbClr val="2E7D32"/>
                </a:solidFill>
                <a:latin typeface="Arial" pitchFamily="34" charset="0"/>
                <a:ea typeface="Arial" pitchFamily="34" charset="-122"/>
                <a:cs typeface="Arial" pitchFamily="34" charset="-120"/>
              </a:rPr>
              <a:t>Normal</a:t>
            </a:r>
            <a:endParaRPr lang="en-US" sz="1867" dirty="0"/>
          </a:p>
        </p:txBody>
      </p:sp>
      <p:sp>
        <p:nvSpPr>
          <p:cNvPr id="8" name="Text 5"/>
          <p:cNvSpPr txBox="1"/>
          <p:nvPr/>
        </p:nvSpPr>
        <p:spPr>
          <a:xfrm>
            <a:off x="792419" y="2852837"/>
            <a:ext cx="3121030" cy="512064"/>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Within the reference interval</a:t>
            </a:r>
            <a:endParaRPr lang="en-US" sz="1333" dirty="0"/>
          </a:p>
        </p:txBody>
      </p:sp>
      <p:sp>
        <p:nvSpPr>
          <p:cNvPr id="9" name="Shape 6"/>
          <p:cNvSpPr/>
          <p:nvPr/>
        </p:nvSpPr>
        <p:spPr>
          <a:xfrm>
            <a:off x="4352453" y="1609344"/>
            <a:ext cx="3486790" cy="1828709"/>
          </a:xfrm>
          <a:prstGeom prst="roundRect">
            <a:avLst>
              <a:gd name="adj" fmla="val 4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Shape 7"/>
          <p:cNvSpPr/>
          <p:nvPr/>
        </p:nvSpPr>
        <p:spPr>
          <a:xfrm>
            <a:off x="5851977" y="1828709"/>
            <a:ext cx="487650" cy="487650"/>
          </a:xfrm>
          <a:prstGeom prst="ellipse">
            <a:avLst/>
          </a:prstGeom>
          <a:solidFill>
            <a:srgbClr val="E6A700"/>
          </a:solidFill>
          <a:ln/>
        </p:spPr>
      </p:sp>
      <p:sp>
        <p:nvSpPr>
          <p:cNvPr id="11" name="Text 8"/>
          <p:cNvSpPr txBox="1"/>
          <p:nvPr/>
        </p:nvSpPr>
        <p:spPr>
          <a:xfrm>
            <a:off x="4474342" y="2438339"/>
            <a:ext cx="3243011" cy="390174"/>
          </a:xfrm>
          <a:prstGeom prst="rect">
            <a:avLst/>
          </a:prstGeom>
          <a:noFill/>
          <a:ln/>
        </p:spPr>
        <p:txBody>
          <a:bodyPr wrap="square" lIns="0" tIns="0" rIns="0" bIns="0" rtlCol="0" anchor="ctr"/>
          <a:lstStyle/>
          <a:p>
            <a:pPr algn="ctr" indent="0" marL="0">
              <a:buNone/>
            </a:pPr>
            <a:r>
              <a:rPr lang="en-US" sz="1867" b="1" dirty="0">
                <a:solidFill>
                  <a:srgbClr val="E6A700"/>
                </a:solidFill>
                <a:latin typeface="Arial" pitchFamily="34" charset="0"/>
                <a:ea typeface="Arial" pitchFamily="34" charset="-122"/>
                <a:cs typeface="Arial" pitchFamily="34" charset="-120"/>
              </a:rPr>
              <a:t>Monitor</a:t>
            </a:r>
            <a:endParaRPr lang="en-US" sz="1867" dirty="0"/>
          </a:p>
        </p:txBody>
      </p:sp>
      <p:sp>
        <p:nvSpPr>
          <p:cNvPr id="12" name="Text 9"/>
          <p:cNvSpPr txBox="1"/>
          <p:nvPr/>
        </p:nvSpPr>
        <p:spPr>
          <a:xfrm>
            <a:off x="4535333" y="2852837"/>
            <a:ext cx="3121030" cy="512064"/>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Outside interval, within severity threshold</a:t>
            </a:r>
            <a:endParaRPr lang="en-US" sz="1333" dirty="0"/>
          </a:p>
        </p:txBody>
      </p:sp>
      <p:sp>
        <p:nvSpPr>
          <p:cNvPr id="13" name="Shape 10"/>
          <p:cNvSpPr/>
          <p:nvPr/>
        </p:nvSpPr>
        <p:spPr>
          <a:xfrm>
            <a:off x="8095275" y="1609344"/>
            <a:ext cx="3486790" cy="1828709"/>
          </a:xfrm>
          <a:prstGeom prst="roundRect">
            <a:avLst>
              <a:gd name="adj" fmla="val 4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4" name="Shape 11"/>
          <p:cNvSpPr/>
          <p:nvPr/>
        </p:nvSpPr>
        <p:spPr>
          <a:xfrm>
            <a:off x="9594891" y="1828709"/>
            <a:ext cx="487650" cy="487650"/>
          </a:xfrm>
          <a:prstGeom prst="ellipse">
            <a:avLst/>
          </a:prstGeom>
          <a:solidFill>
            <a:srgbClr val="C62828"/>
          </a:solidFill>
          <a:ln/>
        </p:spPr>
      </p:sp>
      <p:sp>
        <p:nvSpPr>
          <p:cNvPr id="15" name="Text 12"/>
          <p:cNvSpPr txBox="1"/>
          <p:nvPr/>
        </p:nvSpPr>
        <p:spPr>
          <a:xfrm>
            <a:off x="8217164" y="2438339"/>
            <a:ext cx="3243011" cy="390174"/>
          </a:xfrm>
          <a:prstGeom prst="rect">
            <a:avLst/>
          </a:prstGeom>
          <a:noFill/>
          <a:ln/>
        </p:spPr>
        <p:txBody>
          <a:bodyPr wrap="square" lIns="0" tIns="0" rIns="0" bIns="0" rtlCol="0" anchor="ctr"/>
          <a:lstStyle/>
          <a:p>
            <a:pPr algn="ctr" indent="0" marL="0">
              <a:buNone/>
            </a:pPr>
            <a:r>
              <a:rPr lang="en-US" sz="1867" b="1" dirty="0">
                <a:solidFill>
                  <a:srgbClr val="C62828"/>
                </a:solidFill>
                <a:latin typeface="Arial" pitchFamily="34" charset="0"/>
                <a:ea typeface="Arial" pitchFamily="34" charset="-122"/>
                <a:cs typeface="Arial" pitchFamily="34" charset="-120"/>
              </a:rPr>
              <a:t>Seek care</a:t>
            </a:r>
            <a:endParaRPr lang="en-US" sz="1867" dirty="0"/>
          </a:p>
        </p:txBody>
      </p:sp>
      <p:sp>
        <p:nvSpPr>
          <p:cNvPr id="16" name="Text 13"/>
          <p:cNvSpPr txBox="1"/>
          <p:nvPr/>
        </p:nvSpPr>
        <p:spPr>
          <a:xfrm>
            <a:off x="8278155" y="2852837"/>
            <a:ext cx="3121030" cy="512064"/>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Beyond the severity threshold</a:t>
            </a:r>
            <a:endParaRPr lang="en-US" sz="1333" dirty="0"/>
          </a:p>
        </p:txBody>
      </p:sp>
      <p:sp>
        <p:nvSpPr>
          <p:cNvPr id="17" name="Text 14"/>
          <p:cNvSpPr txBox="1"/>
          <p:nvPr/>
        </p:nvSpPr>
        <p:spPr>
          <a:xfrm>
            <a:off x="609539" y="3596518"/>
            <a:ext cx="10972526" cy="341346"/>
          </a:xfrm>
          <a:prstGeom prst="rect">
            <a:avLst/>
          </a:prstGeom>
          <a:noFill/>
          <a:ln/>
        </p:spPr>
        <p:txBody>
          <a:bodyPr wrap="square" lIns="0" tIns="0" rIns="0" bIns="0" rtlCol="0" anchor="ctr"/>
          <a:lstStyle/>
          <a:p>
            <a:pPr algn="ctr" indent="0" marL="0">
              <a:buNone/>
            </a:pPr>
            <a:r>
              <a:rPr lang="en-US" sz="1467" i="1" dirty="0">
                <a:solidFill>
                  <a:srgbClr val="5A6B85"/>
                </a:solidFill>
                <a:latin typeface="Calibri" pitchFamily="34" charset="0"/>
                <a:ea typeface="Calibri" pitchFamily="34" charset="-122"/>
                <a:cs typeface="Calibri" pitchFamily="34" charset="-120"/>
              </a:rPr>
              <a:t>Panel-level label = the most severe analyte label.</a:t>
            </a:r>
            <a:endParaRPr lang="en-US" sz="1467" dirty="0"/>
          </a:p>
        </p:txBody>
      </p:sp>
      <p:sp>
        <p:nvSpPr>
          <p:cNvPr id="18" name="Shape 15"/>
          <p:cNvSpPr/>
          <p:nvPr/>
        </p:nvSpPr>
        <p:spPr>
          <a:xfrm>
            <a:off x="609539" y="4084259"/>
            <a:ext cx="10972526" cy="1158179"/>
          </a:xfrm>
          <a:prstGeom prst="roundRect">
            <a:avLst>
              <a:gd name="adj" fmla="val 6316"/>
            </a:avLst>
          </a:prstGeom>
          <a:solidFill>
            <a:srgbClr val="1F3864"/>
          </a:solidFill>
          <a:ln w="12700">
            <a:solidFill>
              <a:srgbClr val="FFFFFF"/>
            </a:solidFill>
            <a:prstDash val="solid"/>
          </a:ln>
        </p:spPr>
      </p:sp>
      <p:sp>
        <p:nvSpPr>
          <p:cNvPr id="19" name="Text 16"/>
          <p:cNvSpPr txBox="1"/>
          <p:nvPr/>
        </p:nvSpPr>
        <p:spPr>
          <a:xfrm>
            <a:off x="914400" y="4084259"/>
            <a:ext cx="10362987" cy="1158179"/>
          </a:xfrm>
          <a:prstGeom prst="rect">
            <a:avLst/>
          </a:prstGeom>
          <a:noFill/>
          <a:ln/>
        </p:spPr>
        <p:txBody>
          <a:bodyPr wrap="square" lIns="0" tIns="0" rIns="0" bIns="0" rtlCol="0" anchor="ctr"/>
          <a:lstStyle/>
          <a:p>
            <a:pPr algn="ctr" indent="0" marL="0">
              <a:lnSpc>
                <a:spcPts val="2533"/>
              </a:lnSpc>
              <a:buNone/>
            </a:pPr>
            <a:r>
              <a:rPr lang="en-US" sz="1667" b="1" dirty="0">
                <a:solidFill>
                  <a:srgbClr val="FFFFFF"/>
                </a:solidFill>
                <a:latin typeface="Calibri" pitchFamily="34" charset="0"/>
                <a:ea typeface="Calibri" pitchFamily="34" charset="-122"/>
                <a:cs typeface="Calibri" pitchFamily="34" charset="-120"/>
              </a:rPr>
              <a:t>Classification accuracy is a PROPERTY OF THE DESIGN, not an experimental result.</a:t>
            </a:r>
            <a:endParaRPr lang="en-US" sz="1667" dirty="0"/>
          </a:p>
          <a:p>
            <a:pPr algn="ctr" indent="0" marL="0">
              <a:lnSpc>
                <a:spcPts val="2533"/>
              </a:lnSpc>
              <a:buNone/>
            </a:pPr>
            <a:r>
              <a:rPr lang="en-US" sz="1667" b="1" dirty="0">
                <a:solidFill>
                  <a:srgbClr val="FFFFFF"/>
                </a:solidFill>
                <a:latin typeface="Calibri" pitchFamily="34" charset="0"/>
                <a:ea typeface="Calibri" pitchFamily="34" charset="-122"/>
                <a:cs typeface="Calibri" pitchFamily="34" charset="-120"/>
              </a:rPr>
              <a:t>The language model has no opportunity to alter it.</a:t>
            </a:r>
            <a:endParaRPr lang="en-US" sz="1667" dirty="0"/>
          </a:p>
        </p:txBody>
      </p:sp>
      <p:sp>
        <p:nvSpPr>
          <p:cNvPr id="20" name="Text 17"/>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9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8. Layers 3 &amp; 4 — Constrained generation and validation</a:t>
            </a:r>
            <a:endParaRPr lang="en-US" sz="3000" dirty="0"/>
          </a:p>
        </p:txBody>
      </p:sp>
      <p:sp>
        <p:nvSpPr>
          <p:cNvPr id="4" name="Shape 1"/>
          <p:cNvSpPr/>
          <p:nvPr/>
        </p:nvSpPr>
        <p:spPr>
          <a:xfrm>
            <a:off x="609539" y="1194755"/>
            <a:ext cx="5303429" cy="3352739"/>
          </a:xfrm>
          <a:prstGeom prst="roundRect">
            <a:avLst>
              <a:gd name="adj" fmla="val 218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Shape 2"/>
          <p:cNvSpPr/>
          <p:nvPr/>
        </p:nvSpPr>
        <p:spPr>
          <a:xfrm>
            <a:off x="609539" y="1194755"/>
            <a:ext cx="5303429" cy="487650"/>
          </a:xfrm>
          <a:prstGeom prst="roundRect">
            <a:avLst>
              <a:gd name="adj" fmla="val 15001"/>
            </a:avLst>
          </a:prstGeom>
          <a:solidFill>
            <a:srgbClr val="1565C0"/>
          </a:solidFill>
          <a:ln w="12700">
            <a:solidFill>
              <a:srgbClr val="333333"/>
            </a:solidFill>
            <a:prstDash val="solid"/>
          </a:ln>
        </p:spPr>
      </p:sp>
      <p:sp>
        <p:nvSpPr>
          <p:cNvPr id="6" name="Text 3"/>
          <p:cNvSpPr txBox="1"/>
          <p:nvPr/>
        </p:nvSpPr>
        <p:spPr>
          <a:xfrm>
            <a:off x="792419" y="1194755"/>
            <a:ext cx="4937669" cy="48765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Layer 3 · Three constraints</a:t>
            </a:r>
            <a:endParaRPr lang="en-US" sz="1600" dirty="0"/>
          </a:p>
        </p:txBody>
      </p:sp>
      <p:sp>
        <p:nvSpPr>
          <p:cNvPr id="7" name="Text 4"/>
          <p:cNvSpPr txBox="1"/>
          <p:nvPr/>
        </p:nvSpPr>
        <p:spPr>
          <a:xfrm>
            <a:off x="877824" y="1853123"/>
            <a:ext cx="1341059" cy="317022"/>
          </a:xfrm>
          <a:prstGeom prst="rect">
            <a:avLst/>
          </a:prstGeom>
          <a:noFill/>
          <a:ln/>
        </p:spPr>
        <p:txBody>
          <a:bodyPr wrap="square" lIns="0" tIns="0" rIns="0" bIns="0" rtlCol="0" anchor="ctr"/>
          <a:lstStyle/>
          <a:p>
            <a:pPr indent="0" marL="0">
              <a:buNone/>
            </a:pPr>
            <a:r>
              <a:rPr lang="en-US" sz="1467" b="1" dirty="0">
                <a:solidFill>
                  <a:srgbClr val="1565C0"/>
                </a:solidFill>
                <a:latin typeface="Arial" pitchFamily="34" charset="0"/>
                <a:ea typeface="Arial" pitchFamily="34" charset="-122"/>
                <a:cs typeface="Arial" pitchFamily="34" charset="-120"/>
              </a:rPr>
              <a:t>Input</a:t>
            </a:r>
            <a:endParaRPr lang="en-US" sz="1467" dirty="0"/>
          </a:p>
        </p:txBody>
      </p:sp>
      <p:sp>
        <p:nvSpPr>
          <p:cNvPr id="8" name="Text 5"/>
          <p:cNvSpPr txBox="1"/>
          <p:nvPr/>
        </p:nvSpPr>
        <p:spPr>
          <a:xfrm>
            <a:off x="877824" y="2157893"/>
            <a:ext cx="481568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The model is GIVEN labels, never asked to derive them</a:t>
            </a:r>
            <a:endParaRPr lang="en-US" sz="1333" dirty="0"/>
          </a:p>
        </p:txBody>
      </p:sp>
      <p:sp>
        <p:nvSpPr>
          <p:cNvPr id="9" name="Text 6"/>
          <p:cNvSpPr txBox="1"/>
          <p:nvPr/>
        </p:nvSpPr>
        <p:spPr>
          <a:xfrm>
            <a:off x="877824" y="2706533"/>
            <a:ext cx="1341059" cy="317022"/>
          </a:xfrm>
          <a:prstGeom prst="rect">
            <a:avLst/>
          </a:prstGeom>
          <a:noFill/>
          <a:ln/>
        </p:spPr>
        <p:txBody>
          <a:bodyPr wrap="square" lIns="0" tIns="0" rIns="0" bIns="0" rtlCol="0" anchor="ctr"/>
          <a:lstStyle/>
          <a:p>
            <a:pPr indent="0" marL="0">
              <a:buNone/>
            </a:pPr>
            <a:r>
              <a:rPr lang="en-US" sz="1467" b="1" dirty="0">
                <a:solidFill>
                  <a:srgbClr val="1565C0"/>
                </a:solidFill>
                <a:latin typeface="Arial" pitchFamily="34" charset="0"/>
                <a:ea typeface="Arial" pitchFamily="34" charset="-122"/>
                <a:cs typeface="Arial" pitchFamily="34" charset="-120"/>
              </a:rPr>
              <a:t>Content</a:t>
            </a:r>
            <a:endParaRPr lang="en-US" sz="1467" dirty="0"/>
          </a:p>
        </p:txBody>
      </p:sp>
      <p:sp>
        <p:nvSpPr>
          <p:cNvPr id="10" name="Text 7"/>
          <p:cNvSpPr txBox="1"/>
          <p:nvPr/>
        </p:nvSpPr>
        <p:spPr>
          <a:xfrm>
            <a:off x="877824" y="3011394"/>
            <a:ext cx="481568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No disease names, causes, medications or dosages</a:t>
            </a:r>
            <a:endParaRPr lang="en-US" sz="1333" dirty="0"/>
          </a:p>
        </p:txBody>
      </p:sp>
      <p:sp>
        <p:nvSpPr>
          <p:cNvPr id="11" name="Text 8"/>
          <p:cNvSpPr txBox="1"/>
          <p:nvPr/>
        </p:nvSpPr>
        <p:spPr>
          <a:xfrm>
            <a:off x="877824" y="3559942"/>
            <a:ext cx="1341059" cy="317022"/>
          </a:xfrm>
          <a:prstGeom prst="rect">
            <a:avLst/>
          </a:prstGeom>
          <a:noFill/>
          <a:ln/>
        </p:spPr>
        <p:txBody>
          <a:bodyPr wrap="square" lIns="0" tIns="0" rIns="0" bIns="0" rtlCol="0" anchor="ctr"/>
          <a:lstStyle/>
          <a:p>
            <a:pPr indent="0" marL="0">
              <a:buNone/>
            </a:pPr>
            <a:r>
              <a:rPr lang="en-US" sz="1467" b="1" dirty="0">
                <a:solidFill>
                  <a:srgbClr val="1565C0"/>
                </a:solidFill>
                <a:latin typeface="Arial" pitchFamily="34" charset="0"/>
                <a:ea typeface="Arial" pitchFamily="34" charset="-122"/>
                <a:cs typeface="Arial" pitchFamily="34" charset="-120"/>
              </a:rPr>
              <a:t>Output</a:t>
            </a:r>
            <a:endParaRPr lang="en-US" sz="1467" dirty="0"/>
          </a:p>
        </p:txBody>
      </p:sp>
      <p:sp>
        <p:nvSpPr>
          <p:cNvPr id="12" name="Text 9"/>
          <p:cNvSpPr txBox="1"/>
          <p:nvPr/>
        </p:nvSpPr>
        <p:spPr>
          <a:xfrm>
            <a:off x="877824" y="3864803"/>
            <a:ext cx="481568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Fixed JSON schema required</a:t>
            </a:r>
            <a:endParaRPr lang="en-US" sz="1333" dirty="0"/>
          </a:p>
        </p:txBody>
      </p:sp>
      <p:sp>
        <p:nvSpPr>
          <p:cNvPr id="13" name="Shape 10"/>
          <p:cNvSpPr/>
          <p:nvPr/>
        </p:nvSpPr>
        <p:spPr>
          <a:xfrm>
            <a:off x="6278728" y="1194755"/>
            <a:ext cx="5303429" cy="3352739"/>
          </a:xfrm>
          <a:prstGeom prst="roundRect">
            <a:avLst>
              <a:gd name="adj" fmla="val 2182"/>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4" name="Shape 11"/>
          <p:cNvSpPr/>
          <p:nvPr/>
        </p:nvSpPr>
        <p:spPr>
          <a:xfrm>
            <a:off x="6278728" y="1194755"/>
            <a:ext cx="5303429" cy="487650"/>
          </a:xfrm>
          <a:prstGeom prst="roundRect">
            <a:avLst>
              <a:gd name="adj" fmla="val 15001"/>
            </a:avLst>
          </a:prstGeom>
          <a:solidFill>
            <a:srgbClr val="E6A700"/>
          </a:solidFill>
          <a:ln w="12700">
            <a:solidFill>
              <a:srgbClr val="333333"/>
            </a:solidFill>
            <a:prstDash val="solid"/>
          </a:ln>
        </p:spPr>
      </p:sp>
      <p:sp>
        <p:nvSpPr>
          <p:cNvPr id="15" name="Text 12"/>
          <p:cNvSpPr txBox="1"/>
          <p:nvPr/>
        </p:nvSpPr>
        <p:spPr>
          <a:xfrm>
            <a:off x="6461608" y="1194755"/>
            <a:ext cx="4937669" cy="48765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Layer 4 · Automated checks</a:t>
            </a:r>
            <a:endParaRPr lang="en-US" sz="1600" dirty="0"/>
          </a:p>
        </p:txBody>
      </p:sp>
      <p:sp>
        <p:nvSpPr>
          <p:cNvPr id="16" name="Shape 13"/>
          <p:cNvSpPr/>
          <p:nvPr/>
        </p:nvSpPr>
        <p:spPr>
          <a:xfrm>
            <a:off x="6559174" y="1950690"/>
            <a:ext cx="243870" cy="243870"/>
          </a:xfrm>
          <a:prstGeom prst="ellipse">
            <a:avLst/>
          </a:prstGeom>
          <a:solidFill>
            <a:srgbClr val="E6A700"/>
          </a:solidFill>
          <a:ln/>
        </p:spPr>
      </p:sp>
      <p:sp>
        <p:nvSpPr>
          <p:cNvPr id="17" name="Text 14"/>
          <p:cNvSpPr txBox="1"/>
          <p:nvPr/>
        </p:nvSpPr>
        <p:spPr>
          <a:xfrm>
            <a:off x="6949257" y="1889699"/>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Does the stated direction match the Layer 2 label?</a:t>
            </a:r>
            <a:endParaRPr lang="en-US" sz="1333" dirty="0"/>
          </a:p>
        </p:txBody>
      </p:sp>
      <p:sp>
        <p:nvSpPr>
          <p:cNvPr id="18" name="Shape 15"/>
          <p:cNvSpPr/>
          <p:nvPr/>
        </p:nvSpPr>
        <p:spPr>
          <a:xfrm>
            <a:off x="6559174" y="2584643"/>
            <a:ext cx="243870" cy="243870"/>
          </a:xfrm>
          <a:prstGeom prst="ellipse">
            <a:avLst/>
          </a:prstGeom>
          <a:solidFill>
            <a:srgbClr val="E6A700"/>
          </a:solidFill>
          <a:ln/>
        </p:spPr>
      </p:sp>
      <p:sp>
        <p:nvSpPr>
          <p:cNvPr id="19" name="Text 16"/>
          <p:cNvSpPr txBox="1"/>
          <p:nvPr/>
        </p:nvSpPr>
        <p:spPr>
          <a:xfrm>
            <a:off x="6949257" y="2523653"/>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Are forbidden terms present?</a:t>
            </a:r>
            <a:endParaRPr lang="en-US" sz="1333" dirty="0"/>
          </a:p>
        </p:txBody>
      </p:sp>
      <p:sp>
        <p:nvSpPr>
          <p:cNvPr id="20" name="Shape 17"/>
          <p:cNvSpPr/>
          <p:nvPr/>
        </p:nvSpPr>
        <p:spPr>
          <a:xfrm>
            <a:off x="6559174" y="3218597"/>
            <a:ext cx="243870" cy="243870"/>
          </a:xfrm>
          <a:prstGeom prst="ellipse">
            <a:avLst/>
          </a:prstGeom>
          <a:solidFill>
            <a:srgbClr val="E6A700"/>
          </a:solidFill>
          <a:ln/>
        </p:spPr>
      </p:sp>
      <p:sp>
        <p:nvSpPr>
          <p:cNvPr id="21" name="Text 18"/>
          <p:cNvSpPr txBox="1"/>
          <p:nvPr/>
        </p:nvSpPr>
        <p:spPr>
          <a:xfrm>
            <a:off x="6949257" y="3157606"/>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Any omitted or fabricated analyte?</a:t>
            </a:r>
            <a:endParaRPr lang="en-US" sz="1333" dirty="0"/>
          </a:p>
        </p:txBody>
      </p:sp>
      <p:sp>
        <p:nvSpPr>
          <p:cNvPr id="22" name="Shape 19"/>
          <p:cNvSpPr/>
          <p:nvPr/>
        </p:nvSpPr>
        <p:spPr>
          <a:xfrm>
            <a:off x="6559174" y="3852550"/>
            <a:ext cx="243870" cy="243870"/>
          </a:xfrm>
          <a:prstGeom prst="ellipse">
            <a:avLst/>
          </a:prstGeom>
          <a:solidFill>
            <a:srgbClr val="E6A700"/>
          </a:solidFill>
          <a:ln/>
        </p:spPr>
      </p:sp>
      <p:sp>
        <p:nvSpPr>
          <p:cNvPr id="23" name="Text 20"/>
          <p:cNvSpPr txBox="1"/>
          <p:nvPr/>
        </p:nvSpPr>
        <p:spPr>
          <a:xfrm>
            <a:off x="6949257" y="3791651"/>
            <a:ext cx="4449928" cy="512064"/>
          </a:xfrm>
          <a:prstGeom prst="rect">
            <a:avLst/>
          </a:prstGeom>
          <a:noFill/>
          <a:ln/>
        </p:spPr>
        <p:txBody>
          <a:bodyPr wrap="square" lIns="0" tIns="0" rIns="0" bIns="0" rtlCol="0" anchor="ctr"/>
          <a:lstStyle/>
          <a:p>
            <a:pPr indent="0" marL="0">
              <a:lnSpc>
                <a:spcPts val="1733"/>
              </a:lnSpc>
              <a:buNone/>
            </a:pPr>
            <a:r>
              <a:rPr lang="en-US" sz="1333" dirty="0">
                <a:solidFill>
                  <a:srgbClr val="203864"/>
                </a:solidFill>
                <a:latin typeface="Calibri" pitchFamily="34" charset="0"/>
                <a:ea typeface="Calibri" pitchFamily="34" charset="-122"/>
                <a:cs typeface="Calibri" pitchFamily="34" charset="-120"/>
              </a:rPr>
              <a:t>Does the closing statement falsely reassure?</a:t>
            </a:r>
            <a:endParaRPr lang="en-US" sz="1333" dirty="0"/>
          </a:p>
        </p:txBody>
      </p:sp>
      <p:sp>
        <p:nvSpPr>
          <p:cNvPr id="24" name="Shape 21"/>
          <p:cNvSpPr/>
          <p:nvPr/>
        </p:nvSpPr>
        <p:spPr>
          <a:xfrm>
            <a:off x="609539" y="4754789"/>
            <a:ext cx="10972526" cy="755843"/>
          </a:xfrm>
          <a:prstGeom prst="roundRect">
            <a:avLst>
              <a:gd name="adj" fmla="val 9678"/>
            </a:avLst>
          </a:prstGeom>
          <a:solidFill>
            <a:srgbClr val="FFFFFF"/>
          </a:solidFill>
          <a:ln w="12700">
            <a:solidFill>
              <a:srgbClr val="FFFFFF"/>
            </a:solidFill>
            <a:prstDash val="solid"/>
          </a:ln>
        </p:spPr>
      </p:sp>
      <p:sp>
        <p:nvSpPr>
          <p:cNvPr id="25" name="Text 22"/>
          <p:cNvSpPr txBox="1"/>
          <p:nvPr/>
        </p:nvSpPr>
        <p:spPr>
          <a:xfrm>
            <a:off x="853410" y="4754789"/>
            <a:ext cx="10484876" cy="755843"/>
          </a:xfrm>
          <a:prstGeom prst="rect">
            <a:avLst/>
          </a:prstGeom>
          <a:noFill/>
          <a:ln/>
        </p:spPr>
        <p:txBody>
          <a:bodyPr wrap="square" lIns="0" tIns="0" rIns="0" bIns="0" rtlCol="0" anchor="ctr"/>
          <a:lstStyle/>
          <a:p>
            <a:pPr indent="0" marL="0">
              <a:buNone/>
            </a:pPr>
            <a:r>
              <a:rPr lang="en-US" sz="1533" b="1" dirty="0">
                <a:solidFill>
                  <a:srgbClr val="1F3864"/>
                </a:solidFill>
                <a:latin typeface="Calibri" pitchFamily="34" charset="0"/>
                <a:ea typeface="Calibri" pitchFamily="34" charset="-122"/>
                <a:cs typeface="Calibri" pitchFamily="34" charset="-120"/>
              </a:rPr>
              <a:t>Model: Qwen2.5-3B served locally via Ollama — data never leaves the institution, no GPU required.</a:t>
            </a:r>
            <a:endParaRPr lang="en-US" sz="1533" dirty="0"/>
          </a:p>
        </p:txBody>
      </p:sp>
      <p:sp>
        <p:nvSpPr>
          <p:cNvPr id="26" name="Text 2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10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9. Evaluation design</a:t>
            </a:r>
            <a:endParaRPr lang="en-US" sz="3000" dirty="0"/>
          </a:p>
        </p:txBody>
      </p:sp>
      <p:sp>
        <p:nvSpPr>
          <p:cNvPr id="4" name="Shape 1"/>
          <p:cNvSpPr/>
          <p:nvPr/>
        </p:nvSpPr>
        <p:spPr>
          <a:xfrm>
            <a:off x="609539" y="1194755"/>
            <a:ext cx="5303429" cy="1950690"/>
          </a:xfrm>
          <a:prstGeom prst="roundRect">
            <a:avLst>
              <a:gd name="adj" fmla="val 375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Text 2"/>
          <p:cNvSpPr txBox="1"/>
          <p:nvPr/>
        </p:nvSpPr>
        <p:spPr>
          <a:xfrm>
            <a:off x="853410" y="1316736"/>
            <a:ext cx="4815688" cy="365760"/>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Dataset</a:t>
            </a:r>
            <a:endParaRPr lang="en-US" sz="1667" dirty="0"/>
          </a:p>
        </p:txBody>
      </p:sp>
      <p:sp>
        <p:nvSpPr>
          <p:cNvPr id="6" name="Text 3"/>
          <p:cNvSpPr txBox="1"/>
          <p:nvPr/>
        </p:nvSpPr>
        <p:spPr>
          <a:xfrm>
            <a:off x="914400" y="1731234"/>
            <a:ext cx="4815688" cy="1280160"/>
          </a:xfrm>
          <a:prstGeom prst="rect">
            <a:avLst/>
          </a:prstGeom>
          <a:noFill/>
          <a:ln/>
        </p:spPr>
        <p:txBody>
          <a:bodyPr wrap="square" lIns="0" tIns="0" rIns="0" bIns="0" rtlCol="0" anchor="ctr"/>
          <a:lstStyle/>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150 synthetic complete blood count panels</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10–18 analytes per panel</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Equally split across 3 severity classes</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Random aliases and units per analyte</a:t>
            </a:r>
            <a:endParaRPr lang="en-US" sz="1333" dirty="0"/>
          </a:p>
        </p:txBody>
      </p:sp>
      <p:sp>
        <p:nvSpPr>
          <p:cNvPr id="7" name="Shape 4"/>
          <p:cNvSpPr/>
          <p:nvPr/>
        </p:nvSpPr>
        <p:spPr>
          <a:xfrm>
            <a:off x="6278728" y="1194755"/>
            <a:ext cx="5303429" cy="1950690"/>
          </a:xfrm>
          <a:prstGeom prst="roundRect">
            <a:avLst>
              <a:gd name="adj" fmla="val 375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8" name="Text 5"/>
          <p:cNvSpPr txBox="1"/>
          <p:nvPr/>
        </p:nvSpPr>
        <p:spPr>
          <a:xfrm>
            <a:off x="6522598" y="1316736"/>
            <a:ext cx="4815688" cy="365760"/>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Why synthetic data</a:t>
            </a:r>
            <a:endParaRPr lang="en-US" sz="1667" dirty="0"/>
          </a:p>
        </p:txBody>
      </p:sp>
      <p:sp>
        <p:nvSpPr>
          <p:cNvPr id="9" name="Text 6"/>
          <p:cNvSpPr txBox="1"/>
          <p:nvPr/>
        </p:nvSpPr>
        <p:spPr>
          <a:xfrm>
            <a:off x="6583497" y="1731234"/>
            <a:ext cx="4815688" cy="1280160"/>
          </a:xfrm>
          <a:prstGeom prst="rect">
            <a:avLst/>
          </a:prstGeom>
          <a:noFill/>
          <a:ln/>
        </p:spPr>
        <p:txBody>
          <a:bodyPr wrap="square" lIns="0" tIns="0" rIns="0" bIns="0" rtlCol="0" anchor="ctr"/>
          <a:lstStyle/>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Ground truth labels required — real reports carry none</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Balanced design required — real panels are mostly normal</a:t>
            </a:r>
            <a:endParaRPr lang="en-US" sz="1333" dirty="0"/>
          </a:p>
          <a:p>
            <a:pPr marL="342900" indent="-342900">
              <a:spcAft>
                <a:spcPts val="300"/>
              </a:spcAft>
              <a:buSzPct val="100000"/>
              <a:buChar char="•"/>
            </a:pPr>
            <a:r>
              <a:rPr lang="en-US" sz="1333" dirty="0">
                <a:solidFill>
                  <a:srgbClr val="203864"/>
                </a:solidFill>
                <a:latin typeface="Calibri" pitchFamily="34" charset="0"/>
                <a:ea typeface="Calibri" pitchFamily="34" charset="-122"/>
                <a:cs typeface="Calibri" pitchFamily="34" charset="-120"/>
              </a:rPr>
              <a:t>No patient data handled</a:t>
            </a:r>
            <a:endParaRPr lang="en-US" sz="1333" dirty="0"/>
          </a:p>
        </p:txBody>
      </p:sp>
      <p:sp>
        <p:nvSpPr>
          <p:cNvPr id="10" name="Text 7"/>
          <p:cNvSpPr txBox="1"/>
          <p:nvPr/>
        </p:nvSpPr>
        <p:spPr>
          <a:xfrm>
            <a:off x="609539" y="3316163"/>
            <a:ext cx="10972526" cy="341346"/>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Three configurations</a:t>
            </a:r>
            <a:endParaRPr lang="en-US" sz="1667" dirty="0"/>
          </a:p>
        </p:txBody>
      </p:sp>
      <p:sp>
        <p:nvSpPr>
          <p:cNvPr id="11" name="Shape 8"/>
          <p:cNvSpPr/>
          <p:nvPr/>
        </p:nvSpPr>
        <p:spPr>
          <a:xfrm>
            <a:off x="609539" y="3755075"/>
            <a:ext cx="3486790"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2" name="Shape 9"/>
          <p:cNvSpPr/>
          <p:nvPr/>
        </p:nvSpPr>
        <p:spPr>
          <a:xfrm>
            <a:off x="609539" y="3755075"/>
            <a:ext cx="3486790" cy="438912"/>
          </a:xfrm>
          <a:prstGeom prst="roundRect">
            <a:avLst>
              <a:gd name="adj" fmla="val 16667"/>
            </a:avLst>
          </a:prstGeom>
          <a:solidFill>
            <a:srgbClr val="5A6B85"/>
          </a:solidFill>
          <a:ln w="12700">
            <a:solidFill>
              <a:srgbClr val="333333"/>
            </a:solidFill>
            <a:prstDash val="solid"/>
          </a:ln>
        </p:spPr>
      </p:sp>
      <p:sp>
        <p:nvSpPr>
          <p:cNvPr id="13" name="Text 10"/>
          <p:cNvSpPr txBox="1"/>
          <p:nvPr/>
        </p:nvSpPr>
        <p:spPr>
          <a:xfrm>
            <a:off x="609539" y="3755075"/>
            <a:ext cx="3486790" cy="438912"/>
          </a:xfrm>
          <a:prstGeom prst="rect">
            <a:avLst/>
          </a:prstGeom>
          <a:noFill/>
          <a:ln/>
        </p:spPr>
        <p:txBody>
          <a:bodyPr wrap="square" lIns="0" tIns="0" rIns="0" bIns="0" rtlCol="0" anchor="ctr"/>
          <a:lstStyle/>
          <a:p>
            <a:pPr algn="ctr" indent="0" marL="0">
              <a:buNone/>
            </a:pPr>
            <a:r>
              <a:rPr lang="en-US" sz="1533" b="1" dirty="0">
                <a:solidFill>
                  <a:srgbClr val="FFFFFF"/>
                </a:solidFill>
                <a:latin typeface="Courier New" pitchFamily="34" charset="0"/>
                <a:ea typeface="Courier New" pitchFamily="34" charset="-122"/>
                <a:cs typeface="Courier New" pitchFamily="34" charset="-120"/>
              </a:rPr>
              <a:t>baseline</a:t>
            </a:r>
            <a:endParaRPr lang="en-US" sz="1533" dirty="0"/>
          </a:p>
        </p:txBody>
      </p:sp>
      <p:sp>
        <p:nvSpPr>
          <p:cNvPr id="14" name="Text 11"/>
          <p:cNvSpPr txBox="1"/>
          <p:nvPr/>
        </p:nvSpPr>
        <p:spPr>
          <a:xfrm>
            <a:off x="792419" y="4291462"/>
            <a:ext cx="3121030" cy="975299"/>
          </a:xfrm>
          <a:prstGeom prst="rect">
            <a:avLst/>
          </a:prstGeom>
          <a:noFill/>
          <a:ln/>
        </p:spPr>
        <p:txBody>
          <a:bodyPr wrap="square" lIns="0" tIns="0" rIns="0" bIns="0" rtlCol="0" anchor="ctr"/>
          <a:lstStyle/>
          <a:p>
            <a:pPr indent="0" marL="0">
              <a:lnSpc>
                <a:spcPts val="1733"/>
              </a:lnSpc>
              <a:buNone/>
            </a:pPr>
            <a:r>
              <a:rPr lang="en-US" sz="1267" dirty="0">
                <a:solidFill>
                  <a:srgbClr val="203864"/>
                </a:solidFill>
                <a:latin typeface="Calibri" pitchFamily="34" charset="0"/>
                <a:ea typeface="Calibri" pitchFamily="34" charset="-122"/>
                <a:cs typeface="Calibri" pitchFamily="34" charset="-120"/>
              </a:rPr>
              <a:t>Raw values given to the model. No labels, no constraints, no validation.</a:t>
            </a:r>
            <a:endParaRPr lang="en-US" sz="1267" dirty="0"/>
          </a:p>
        </p:txBody>
      </p:sp>
      <p:sp>
        <p:nvSpPr>
          <p:cNvPr id="15" name="Shape 12"/>
          <p:cNvSpPr/>
          <p:nvPr/>
        </p:nvSpPr>
        <p:spPr>
          <a:xfrm>
            <a:off x="4352453" y="3755075"/>
            <a:ext cx="3486790"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6" name="Shape 13"/>
          <p:cNvSpPr/>
          <p:nvPr/>
        </p:nvSpPr>
        <p:spPr>
          <a:xfrm>
            <a:off x="4352453" y="3755075"/>
            <a:ext cx="3486790" cy="438912"/>
          </a:xfrm>
          <a:prstGeom prst="roundRect">
            <a:avLst>
              <a:gd name="adj" fmla="val 16667"/>
            </a:avLst>
          </a:prstGeom>
          <a:solidFill>
            <a:srgbClr val="1565C0"/>
          </a:solidFill>
          <a:ln w="12700">
            <a:solidFill>
              <a:srgbClr val="333333"/>
            </a:solidFill>
            <a:prstDash val="solid"/>
          </a:ln>
        </p:spPr>
      </p:sp>
      <p:sp>
        <p:nvSpPr>
          <p:cNvPr id="17" name="Text 14"/>
          <p:cNvSpPr txBox="1"/>
          <p:nvPr/>
        </p:nvSpPr>
        <p:spPr>
          <a:xfrm>
            <a:off x="4352453" y="3755075"/>
            <a:ext cx="3486790" cy="438912"/>
          </a:xfrm>
          <a:prstGeom prst="rect">
            <a:avLst/>
          </a:prstGeom>
          <a:noFill/>
          <a:ln/>
        </p:spPr>
        <p:txBody>
          <a:bodyPr wrap="square" lIns="0" tIns="0" rIns="0" bIns="0" rtlCol="0" anchor="ctr"/>
          <a:lstStyle/>
          <a:p>
            <a:pPr algn="ctr" indent="0" marL="0">
              <a:buNone/>
            </a:pPr>
            <a:r>
              <a:rPr lang="en-US" sz="1533" b="1" dirty="0">
                <a:solidFill>
                  <a:srgbClr val="FFFFFF"/>
                </a:solidFill>
                <a:latin typeface="Courier New" pitchFamily="34" charset="0"/>
                <a:ea typeface="Courier New" pitchFamily="34" charset="-122"/>
                <a:cs typeface="Courier New" pitchFamily="34" charset="-120"/>
              </a:rPr>
              <a:t>constrained</a:t>
            </a:r>
            <a:endParaRPr lang="en-US" sz="1533" dirty="0"/>
          </a:p>
        </p:txBody>
      </p:sp>
      <p:sp>
        <p:nvSpPr>
          <p:cNvPr id="18" name="Text 15"/>
          <p:cNvSpPr txBox="1"/>
          <p:nvPr/>
        </p:nvSpPr>
        <p:spPr>
          <a:xfrm>
            <a:off x="4535333" y="4291462"/>
            <a:ext cx="3121030" cy="975299"/>
          </a:xfrm>
          <a:prstGeom prst="rect">
            <a:avLst/>
          </a:prstGeom>
          <a:noFill/>
          <a:ln/>
        </p:spPr>
        <p:txBody>
          <a:bodyPr wrap="square" lIns="0" tIns="0" rIns="0" bIns="0" rtlCol="0" anchor="ctr"/>
          <a:lstStyle/>
          <a:p>
            <a:pPr indent="0" marL="0">
              <a:lnSpc>
                <a:spcPts val="1733"/>
              </a:lnSpc>
              <a:buNone/>
            </a:pPr>
            <a:r>
              <a:rPr lang="en-US" sz="1267" dirty="0">
                <a:solidFill>
                  <a:srgbClr val="203864"/>
                </a:solidFill>
                <a:latin typeface="Calibri" pitchFamily="34" charset="0"/>
                <a:ea typeface="Calibri" pitchFamily="34" charset="-122"/>
                <a:cs typeface="Calibri" pitchFamily="34" charset="-120"/>
              </a:rPr>
              <a:t>Layers 1–3. Labels and constraints, but output not verified.</a:t>
            </a:r>
            <a:endParaRPr lang="en-US" sz="1267" dirty="0"/>
          </a:p>
        </p:txBody>
      </p:sp>
      <p:sp>
        <p:nvSpPr>
          <p:cNvPr id="19" name="Shape 16"/>
          <p:cNvSpPr/>
          <p:nvPr/>
        </p:nvSpPr>
        <p:spPr>
          <a:xfrm>
            <a:off x="8095275" y="3755075"/>
            <a:ext cx="3486790" cy="1645920"/>
          </a:xfrm>
          <a:prstGeom prst="roundRect">
            <a:avLst>
              <a:gd name="adj" fmla="val 4444"/>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20" name="Shape 17"/>
          <p:cNvSpPr/>
          <p:nvPr/>
        </p:nvSpPr>
        <p:spPr>
          <a:xfrm>
            <a:off x="8095275" y="3755075"/>
            <a:ext cx="3486790" cy="438912"/>
          </a:xfrm>
          <a:prstGeom prst="roundRect">
            <a:avLst>
              <a:gd name="adj" fmla="val 16667"/>
            </a:avLst>
          </a:prstGeom>
          <a:solidFill>
            <a:srgbClr val="2E7D32"/>
          </a:solidFill>
          <a:ln w="12700">
            <a:solidFill>
              <a:srgbClr val="333333"/>
            </a:solidFill>
            <a:prstDash val="solid"/>
          </a:ln>
        </p:spPr>
      </p:sp>
      <p:sp>
        <p:nvSpPr>
          <p:cNvPr id="21" name="Text 18"/>
          <p:cNvSpPr txBox="1"/>
          <p:nvPr/>
        </p:nvSpPr>
        <p:spPr>
          <a:xfrm>
            <a:off x="8095275" y="3755075"/>
            <a:ext cx="3486790" cy="438912"/>
          </a:xfrm>
          <a:prstGeom prst="rect">
            <a:avLst/>
          </a:prstGeom>
          <a:noFill/>
          <a:ln/>
        </p:spPr>
        <p:txBody>
          <a:bodyPr wrap="square" lIns="0" tIns="0" rIns="0" bIns="0" rtlCol="0" anchor="ctr"/>
          <a:lstStyle/>
          <a:p>
            <a:pPr algn="ctr" indent="0" marL="0">
              <a:buNone/>
            </a:pPr>
            <a:r>
              <a:rPr lang="en-US" sz="1533" b="1" dirty="0">
                <a:solidFill>
                  <a:srgbClr val="FFFFFF"/>
                </a:solidFill>
                <a:latin typeface="Courier New" pitchFamily="34" charset="0"/>
                <a:ea typeface="Courier New" pitchFamily="34" charset="-122"/>
                <a:cs typeface="Courier New" pitchFamily="34" charset="-120"/>
              </a:rPr>
              <a:t>full</a:t>
            </a:r>
            <a:endParaRPr lang="en-US" sz="1533" dirty="0"/>
          </a:p>
        </p:txBody>
      </p:sp>
      <p:sp>
        <p:nvSpPr>
          <p:cNvPr id="22" name="Text 19"/>
          <p:cNvSpPr txBox="1"/>
          <p:nvPr/>
        </p:nvSpPr>
        <p:spPr>
          <a:xfrm>
            <a:off x="8278155" y="4291462"/>
            <a:ext cx="3121030" cy="975299"/>
          </a:xfrm>
          <a:prstGeom prst="rect">
            <a:avLst/>
          </a:prstGeom>
          <a:noFill/>
          <a:ln/>
        </p:spPr>
        <p:txBody>
          <a:bodyPr wrap="square" lIns="0" tIns="0" rIns="0" bIns="0" rtlCol="0" anchor="ctr"/>
          <a:lstStyle/>
          <a:p>
            <a:pPr indent="0" marL="0">
              <a:lnSpc>
                <a:spcPts val="1733"/>
              </a:lnSpc>
              <a:buNone/>
            </a:pPr>
            <a:r>
              <a:rPr lang="en-US" sz="1267" dirty="0">
                <a:solidFill>
                  <a:srgbClr val="203864"/>
                </a:solidFill>
                <a:latin typeface="Calibri" pitchFamily="34" charset="0"/>
                <a:ea typeface="Calibri" pitchFamily="34" charset="-122"/>
                <a:cs typeface="Calibri" pitchFamily="34" charset="-120"/>
              </a:rPr>
              <a:t>Layers 1–4. Complete, with regeneration and template fallback.</a:t>
            </a:r>
            <a:endParaRPr lang="en-US" sz="1267" dirty="0"/>
          </a:p>
        </p:txBody>
      </p:sp>
      <p:sp>
        <p:nvSpPr>
          <p:cNvPr id="23" name="Text 20"/>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11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10. Results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9539" y="1280160"/>
          <a:ext cx="10972526" cy="914400"/>
        </p:xfrm>
        <a:graphic>
          <a:graphicData uri="http://schemas.openxmlformats.org/drawingml/2006/table">
            <a:tbl>
              <a:tblPr/>
              <a:tblGrid>
                <a:gridCol w="2023842"/>
                <a:gridCol w="1280160"/>
                <a:gridCol w="1280160"/>
                <a:gridCol w="1280160"/>
                <a:gridCol w="1304483"/>
                <a:gridCol w="1280160"/>
                <a:gridCol w="1280160"/>
                <a:gridCol w="1243584"/>
              </a:tblGrid>
              <a:tr h="755843">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Configuration</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Safe</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output</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Model</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pass</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False</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reassur.</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Direction</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mismatch</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Forbidden</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terms</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Fabricated</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analytes</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c>
                  <a:txBody>
                    <a:bodyPr/>
                    <a:lstStyle/>
                    <a:p>
                      <a:pPr algn="ctr" indent="0" marL="0">
                        <a:buNone/>
                      </a:pPr>
                      <a:r>
                        <a:rPr lang="en-US" sz="1267" b="1" dirty="0">
                          <a:solidFill>
                            <a:srgbClr val="FFFFFF"/>
                          </a:solidFill>
                          <a:latin typeface="Calibri" pitchFamily="34" charset="0"/>
                          <a:ea typeface="Calibri" pitchFamily="34" charset="-122"/>
                          <a:cs typeface="Calibri" pitchFamily="34" charset="-120"/>
                        </a:rPr>
                        <a:t>Omitted</a:t>
                      </a:r>
                      <a:endParaRPr lang="en-US" sz="1267" dirty="0">
                        <a:latin typeface="Calibri" charset="0"/>
                        <a:ea typeface="Calibri" charset="0"/>
                        <a:cs typeface="Calibri" charset="0"/>
                      </a:endParaRPr>
                    </a:p>
                    <a:p>
                      <a:pPr algn="ctr" indent="0" marL="0">
                        <a:buNone/>
                      </a:pPr>
                      <a:r>
                        <a:rPr lang="en-US" sz="1267" b="1" dirty="0">
                          <a:solidFill>
                            <a:srgbClr val="FFFFFF"/>
                          </a:solidFill>
                          <a:latin typeface="Calibri" pitchFamily="34" charset="0"/>
                          <a:ea typeface="Calibri" pitchFamily="34" charset="-122"/>
                          <a:cs typeface="Calibri" pitchFamily="34" charset="-120"/>
                        </a:rPr>
                        <a:t>analytes</a:t>
                      </a:r>
                      <a:endParaRPr lang="en-US" sz="1267"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1F3864"/>
                    </a:solidFill>
                  </a:tcPr>
                </a:tc>
              </a:tr>
              <a:tr h="633954">
                <a:tc>
                  <a:txBody>
                    <a:bodyPr/>
                    <a:lstStyle/>
                    <a:p>
                      <a:pPr algn="l" indent="0" marL="0">
                        <a:buNone/>
                      </a:pPr>
                      <a:r>
                        <a:rPr lang="en-US" sz="1467" b="1" dirty="0">
                          <a:solidFill>
                            <a:srgbClr val="1F3864"/>
                          </a:solidFill>
                          <a:latin typeface="Courier New" pitchFamily="34" charset="0"/>
                          <a:ea typeface="Courier New" pitchFamily="34" charset="-122"/>
                          <a:cs typeface="Courier New" pitchFamily="34" charset="-120"/>
                        </a:rPr>
                        <a:t>baseline</a:t>
                      </a:r>
                      <a:endParaRPr lang="en-US" sz="1467" dirty="0">
                        <a:latin typeface="Courier New" charset="0"/>
                        <a:ea typeface="Courier New" charset="0"/>
                        <a:cs typeface="Courier New"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32.0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91.3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79.3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32.0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C62828"/>
                          </a:solidFill>
                          <a:latin typeface="Calibri" pitchFamily="34" charset="0"/>
                          <a:ea typeface="Calibri" pitchFamily="34" charset="-122"/>
                          <a:cs typeface="Calibri" pitchFamily="34" charset="-120"/>
                        </a:rPr>
                        <a:t>71.3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r>
              <a:tr h="633954">
                <a:tc>
                  <a:txBody>
                    <a:bodyPr/>
                    <a:lstStyle/>
                    <a:p>
                      <a:pPr algn="l" indent="0" marL="0">
                        <a:buNone/>
                      </a:pPr>
                      <a:r>
                        <a:rPr lang="en-US" sz="1467" b="1" dirty="0">
                          <a:solidFill>
                            <a:srgbClr val="1F3864"/>
                          </a:solidFill>
                          <a:latin typeface="Courier New" pitchFamily="34" charset="0"/>
                          <a:ea typeface="Courier New" pitchFamily="34" charset="-122"/>
                          <a:cs typeface="Courier New" pitchFamily="34" charset="-120"/>
                        </a:rPr>
                        <a:t>constrained</a:t>
                      </a:r>
                      <a:endParaRPr lang="en-US" sz="1467" dirty="0">
                        <a:latin typeface="Courier New" charset="0"/>
                        <a:ea typeface="Courier New" charset="0"/>
                        <a:cs typeface="Courier New"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48.0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48.0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8.0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12.7</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15.3</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03864"/>
                          </a:solidFill>
                          <a:latin typeface="Calibri" pitchFamily="34" charset="0"/>
                          <a:ea typeface="Calibri" pitchFamily="34" charset="-122"/>
                          <a:cs typeface="Calibri" pitchFamily="34" charset="-120"/>
                        </a:rPr>
                        <a:t>28.7</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FFFFFF"/>
                    </a:solidFill>
                  </a:tcPr>
                </a:tc>
              </a:tr>
              <a:tr h="633954">
                <a:tc>
                  <a:txBody>
                    <a:bodyPr/>
                    <a:lstStyle/>
                    <a:p>
                      <a:pPr algn="l" indent="0" marL="0">
                        <a:buNone/>
                      </a:pPr>
                      <a:r>
                        <a:rPr lang="en-US" sz="1467" b="1" dirty="0">
                          <a:solidFill>
                            <a:srgbClr val="1F3864"/>
                          </a:solidFill>
                          <a:latin typeface="Courier New" pitchFamily="34" charset="0"/>
                          <a:ea typeface="Courier New" pitchFamily="34" charset="-122"/>
                          <a:cs typeface="Courier New" pitchFamily="34" charset="-120"/>
                        </a:rPr>
                        <a:t>full</a:t>
                      </a:r>
                      <a:endParaRPr lang="en-US" sz="1467" dirty="0">
                        <a:latin typeface="Courier New" charset="0"/>
                        <a:ea typeface="Courier New" charset="0"/>
                        <a:cs typeface="Courier New"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64.0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c>
                  <a:txBody>
                    <a:bodyPr/>
                    <a:lstStyle/>
                    <a:p>
                      <a:pPr algn="ctr" indent="0" marL="0">
                        <a:buNone/>
                      </a:pPr>
                      <a:r>
                        <a:rPr lang="en-US" sz="1600" b="1" dirty="0">
                          <a:solidFill>
                            <a:srgbClr val="2E7D32"/>
                          </a:solidFill>
                          <a:latin typeface="Calibri" pitchFamily="34" charset="0"/>
                          <a:ea typeface="Calibri" pitchFamily="34" charset="-122"/>
                          <a:cs typeface="Calibri" pitchFamily="34" charset="-120"/>
                        </a:rPr>
                        <a:t>0.0</a:t>
                      </a:r>
                      <a:endParaRPr lang="en-US" sz="1600" dirty="0">
                        <a:latin typeface="Calibri" charset="0"/>
                        <a:ea typeface="Calibri" charset="0"/>
                        <a:cs typeface="Calibri" charset="0"/>
                      </a:endParaRPr>
                    </a:p>
                  </a:txBody>
                  <a:tcPr marL="91440" marR="91440" marT="45720" marB="45720" anchor="ctr">
                    <a:lnL w="9525" cap="flat" cmpd="sng" algn="ctr">
                      <a:solidFill>
                        <a:srgbClr val="C8D6E8"/>
                      </a:solidFill>
                      <a:prstDash val="solid"/>
                      <a:round/>
                      <a:headEnd type="none" w="med" len="med"/>
                      <a:tailEnd type="none" w="med" len="med"/>
                    </a:lnL>
                    <a:lnR w="9525" cap="flat" cmpd="sng" algn="ctr">
                      <a:solidFill>
                        <a:srgbClr val="C8D6E8"/>
                      </a:solidFill>
                      <a:prstDash val="solid"/>
                      <a:round/>
                      <a:headEnd type="none" w="med" len="med"/>
                      <a:tailEnd type="none" w="med" len="med"/>
                    </a:lnR>
                    <a:lnT w="9525" cap="flat" cmpd="sng" algn="ctr">
                      <a:solidFill>
                        <a:srgbClr val="C8D6E8"/>
                      </a:solidFill>
                      <a:prstDash val="solid"/>
                      <a:round/>
                      <a:headEnd type="none" w="med" len="med"/>
                      <a:tailEnd type="none" w="med" len="med"/>
                    </a:lnT>
                    <a:lnB w="9525" cap="flat" cmpd="sng" algn="ctr">
                      <a:solidFill>
                        <a:srgbClr val="C8D6E8"/>
                      </a:solidFill>
                      <a:prstDash val="solid"/>
                      <a:round/>
                      <a:headEnd type="none" w="med" len="med"/>
                      <a:tailEnd type="none" w="med" len="med"/>
                    </a:lnB>
                    <a:solidFill>
                      <a:srgbClr val="EAF5EA"/>
                    </a:solidFill>
                  </a:tcPr>
                </a:tc>
              </a:tr>
            </a:tbl>
          </a:graphicData>
        </a:graphic>
      </p:graphicFrame>
      <p:sp>
        <p:nvSpPr>
          <p:cNvPr id="5" name="Text 1"/>
          <p:cNvSpPr txBox="1"/>
          <p:nvPr/>
        </p:nvSpPr>
        <p:spPr>
          <a:xfrm>
            <a:off x="609539" y="4047683"/>
            <a:ext cx="10972526" cy="317022"/>
          </a:xfrm>
          <a:prstGeom prst="rect">
            <a:avLst/>
          </a:prstGeom>
          <a:noFill/>
          <a:ln/>
        </p:spPr>
        <p:txBody>
          <a:bodyPr wrap="square" lIns="0" tIns="0" rIns="0" bIns="0" rtlCol="0" anchor="ctr"/>
          <a:lstStyle/>
          <a:p>
            <a:pPr indent="0" marL="0">
              <a:buNone/>
            </a:pPr>
            <a:r>
              <a:rPr lang="en-US" sz="1333" i="1" dirty="0">
                <a:solidFill>
                  <a:srgbClr val="5A6B85"/>
                </a:solidFill>
                <a:latin typeface="Calibri" pitchFamily="34" charset="0"/>
                <a:ea typeface="Calibri" pitchFamily="34" charset="-122"/>
                <a:cs typeface="Calibri" pitchFamily="34" charset="-120"/>
              </a:rPr>
              <a:t>Values: % of panels · n = 150 · Lower is better for all error columns</a:t>
            </a:r>
            <a:endParaRPr lang="en-US" sz="1333" dirty="0"/>
          </a:p>
        </p:txBody>
      </p:sp>
      <p:sp>
        <p:nvSpPr>
          <p:cNvPr id="6" name="Shape 2"/>
          <p:cNvSpPr/>
          <p:nvPr/>
        </p:nvSpPr>
        <p:spPr>
          <a:xfrm>
            <a:off x="609539" y="4510918"/>
            <a:ext cx="10972526" cy="633954"/>
          </a:xfrm>
          <a:prstGeom prst="roundRect">
            <a:avLst>
              <a:gd name="adj" fmla="val 11539"/>
            </a:avLst>
          </a:prstGeom>
          <a:solidFill>
            <a:srgbClr val="FFFFFF"/>
          </a:solidFill>
          <a:ln w="12700">
            <a:solidFill>
              <a:srgbClr val="FFFFFF"/>
            </a:solidFill>
            <a:prstDash val="solid"/>
          </a:ln>
        </p:spPr>
      </p:sp>
      <p:sp>
        <p:nvSpPr>
          <p:cNvPr id="7" name="Text 3"/>
          <p:cNvSpPr txBox="1"/>
          <p:nvPr/>
        </p:nvSpPr>
        <p:spPr>
          <a:xfrm>
            <a:off x="853410" y="4510918"/>
            <a:ext cx="10484876" cy="633954"/>
          </a:xfrm>
          <a:prstGeom prst="rect">
            <a:avLst/>
          </a:prstGeom>
          <a:noFill/>
          <a:ln/>
        </p:spPr>
        <p:txBody>
          <a:bodyPr wrap="square" lIns="0" tIns="0" rIns="0" bIns="0" rtlCol="0" anchor="ctr"/>
          <a:lstStyle/>
          <a:p>
            <a:pPr indent="0" marL="0">
              <a:buNone/>
            </a:pPr>
            <a:r>
              <a:rPr lang="en-US" sz="1667" b="1" dirty="0">
                <a:solidFill>
                  <a:srgbClr val="1F3864"/>
                </a:solidFill>
                <a:latin typeface="Calibri" pitchFamily="34" charset="0"/>
                <a:ea typeface="Calibri" pitchFamily="34" charset="-122"/>
                <a:cs typeface="Calibri" pitchFamily="34" charset="-120"/>
              </a:rPr>
              <a:t>Every error metric decreases monotonically across the three configurations.</a:t>
            </a:r>
            <a:endParaRPr lang="en-US" sz="1667" dirty="0"/>
          </a:p>
        </p:txBody>
      </p:sp>
      <p:sp>
        <p:nvSpPr>
          <p:cNvPr id="8" name="Text 4"/>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12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11. Three key findings</a:t>
            </a:r>
            <a:endParaRPr lang="en-US" sz="3000" dirty="0"/>
          </a:p>
        </p:txBody>
      </p:sp>
      <p:sp>
        <p:nvSpPr>
          <p:cNvPr id="4" name="Shape 1"/>
          <p:cNvSpPr/>
          <p:nvPr/>
        </p:nvSpPr>
        <p:spPr>
          <a:xfrm>
            <a:off x="609539" y="1219170"/>
            <a:ext cx="3486790" cy="3169859"/>
          </a:xfrm>
          <a:prstGeom prst="roundRect">
            <a:avLst>
              <a:gd name="adj" fmla="val 2308"/>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Text 2"/>
          <p:cNvSpPr txBox="1"/>
          <p:nvPr/>
        </p:nvSpPr>
        <p:spPr>
          <a:xfrm>
            <a:off x="707106" y="1438626"/>
            <a:ext cx="3291749" cy="755843"/>
          </a:xfrm>
          <a:prstGeom prst="rect">
            <a:avLst/>
          </a:prstGeom>
          <a:noFill/>
          <a:ln/>
        </p:spPr>
        <p:txBody>
          <a:bodyPr wrap="square" lIns="0" tIns="0" rIns="0" bIns="0" rtlCol="0" anchor="ctr"/>
          <a:lstStyle/>
          <a:p>
            <a:pPr algn="ctr" indent="0" marL="0">
              <a:buNone/>
            </a:pPr>
            <a:r>
              <a:rPr lang="en-US" sz="3333" b="1" dirty="0">
                <a:solidFill>
                  <a:srgbClr val="C62828"/>
                </a:solidFill>
                <a:latin typeface="Arial" pitchFamily="34" charset="0"/>
                <a:ea typeface="Arial" pitchFamily="34" charset="-122"/>
                <a:cs typeface="Arial" pitchFamily="34" charset="-120"/>
              </a:rPr>
              <a:t>32% → 0%</a:t>
            </a:r>
            <a:endParaRPr lang="en-US" sz="3333" dirty="0"/>
          </a:p>
        </p:txBody>
      </p:sp>
      <p:sp>
        <p:nvSpPr>
          <p:cNvPr id="6" name="Text 3"/>
          <p:cNvSpPr txBox="1"/>
          <p:nvPr/>
        </p:nvSpPr>
        <p:spPr>
          <a:xfrm>
            <a:off x="731520" y="2255459"/>
            <a:ext cx="3243011" cy="365760"/>
          </a:xfrm>
          <a:prstGeom prst="rect">
            <a:avLst/>
          </a:prstGeom>
          <a:noFill/>
          <a:ln/>
        </p:spPr>
        <p:txBody>
          <a:bodyPr wrap="square" lIns="0" tIns="0" rIns="0" bIns="0" rtlCol="0" anchor="ctr"/>
          <a:lstStyle/>
          <a:p>
            <a:pPr algn="ctr" indent="0" marL="0">
              <a:buNone/>
            </a:pPr>
            <a:r>
              <a:rPr lang="en-US" sz="1667" b="1" dirty="0">
                <a:solidFill>
                  <a:srgbClr val="1F3864"/>
                </a:solidFill>
                <a:latin typeface="Arial" pitchFamily="34" charset="0"/>
                <a:ea typeface="Arial" pitchFamily="34" charset="-122"/>
                <a:cs typeface="Arial" pitchFamily="34" charset="-120"/>
              </a:rPr>
              <a:t>False reassurance</a:t>
            </a:r>
            <a:endParaRPr lang="en-US" sz="1667" dirty="0"/>
          </a:p>
        </p:txBody>
      </p:sp>
      <p:sp>
        <p:nvSpPr>
          <p:cNvPr id="7" name="Shape 4"/>
          <p:cNvSpPr/>
          <p:nvPr/>
        </p:nvSpPr>
        <p:spPr>
          <a:xfrm>
            <a:off x="1767810" y="2682210"/>
            <a:ext cx="1170432" cy="0"/>
          </a:xfrm>
          <a:prstGeom prst="line">
            <a:avLst/>
          </a:prstGeom>
          <a:noFill/>
          <a:ln w="19050">
            <a:solidFill>
              <a:srgbClr val="C62828"/>
            </a:solidFill>
            <a:prstDash val="solid"/>
          </a:ln>
        </p:spPr>
      </p:sp>
      <p:sp>
        <p:nvSpPr>
          <p:cNvPr id="8" name="Text 5"/>
          <p:cNvSpPr txBox="1"/>
          <p:nvPr/>
        </p:nvSpPr>
        <p:spPr>
          <a:xfrm>
            <a:off x="828995" y="2828514"/>
            <a:ext cx="3047878" cy="1402050"/>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Unconstrained: roughly one patient in three with abnormal results would be told nothing needed attention.</a:t>
            </a:r>
            <a:endParaRPr lang="en-US" sz="1333" dirty="0"/>
          </a:p>
        </p:txBody>
      </p:sp>
      <p:sp>
        <p:nvSpPr>
          <p:cNvPr id="9" name="Shape 6"/>
          <p:cNvSpPr/>
          <p:nvPr/>
        </p:nvSpPr>
        <p:spPr>
          <a:xfrm>
            <a:off x="4352453" y="1219170"/>
            <a:ext cx="3486790" cy="3169859"/>
          </a:xfrm>
          <a:prstGeom prst="roundRect">
            <a:avLst>
              <a:gd name="adj" fmla="val 2308"/>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Text 7"/>
          <p:cNvSpPr txBox="1"/>
          <p:nvPr/>
        </p:nvSpPr>
        <p:spPr>
          <a:xfrm>
            <a:off x="4449928" y="1438626"/>
            <a:ext cx="3291749" cy="755843"/>
          </a:xfrm>
          <a:prstGeom prst="rect">
            <a:avLst/>
          </a:prstGeom>
          <a:noFill/>
          <a:ln/>
        </p:spPr>
        <p:txBody>
          <a:bodyPr wrap="square" lIns="0" tIns="0" rIns="0" bIns="0" rtlCol="0" anchor="ctr"/>
          <a:lstStyle/>
          <a:p>
            <a:pPr algn="ctr" indent="0" marL="0">
              <a:buNone/>
            </a:pPr>
            <a:r>
              <a:rPr lang="en-US" sz="3333" b="1" dirty="0">
                <a:solidFill>
                  <a:srgbClr val="1565C0"/>
                </a:solidFill>
                <a:latin typeface="Arial" pitchFamily="34" charset="0"/>
                <a:ea typeface="Arial" pitchFamily="34" charset="-122"/>
                <a:cs typeface="Arial" pitchFamily="34" charset="-120"/>
              </a:rPr>
              <a:t>91.3% → 0%</a:t>
            </a:r>
            <a:endParaRPr lang="en-US" sz="3333" dirty="0"/>
          </a:p>
        </p:txBody>
      </p:sp>
      <p:sp>
        <p:nvSpPr>
          <p:cNvPr id="11" name="Text 8"/>
          <p:cNvSpPr txBox="1"/>
          <p:nvPr/>
        </p:nvSpPr>
        <p:spPr>
          <a:xfrm>
            <a:off x="4474342" y="2255459"/>
            <a:ext cx="3243011" cy="365760"/>
          </a:xfrm>
          <a:prstGeom prst="rect">
            <a:avLst/>
          </a:prstGeom>
          <a:noFill/>
          <a:ln/>
        </p:spPr>
        <p:txBody>
          <a:bodyPr wrap="square" lIns="0" tIns="0" rIns="0" bIns="0" rtlCol="0" anchor="ctr"/>
          <a:lstStyle/>
          <a:p>
            <a:pPr algn="ctr" indent="0" marL="0">
              <a:buNone/>
            </a:pPr>
            <a:r>
              <a:rPr lang="en-US" sz="1667" b="1" dirty="0">
                <a:solidFill>
                  <a:srgbClr val="1F3864"/>
                </a:solidFill>
                <a:latin typeface="Arial" pitchFamily="34" charset="0"/>
                <a:ea typeface="Arial" pitchFamily="34" charset="-122"/>
                <a:cs typeface="Arial" pitchFamily="34" charset="-120"/>
              </a:rPr>
              <a:t>Direction mismatch</a:t>
            </a:r>
            <a:endParaRPr lang="en-US" sz="1667" dirty="0"/>
          </a:p>
        </p:txBody>
      </p:sp>
      <p:sp>
        <p:nvSpPr>
          <p:cNvPr id="12" name="Shape 9"/>
          <p:cNvSpPr/>
          <p:nvPr/>
        </p:nvSpPr>
        <p:spPr>
          <a:xfrm>
            <a:off x="5510632" y="2682210"/>
            <a:ext cx="1170432" cy="0"/>
          </a:xfrm>
          <a:prstGeom prst="line">
            <a:avLst/>
          </a:prstGeom>
          <a:noFill/>
          <a:ln w="19050">
            <a:solidFill>
              <a:srgbClr val="1565C0"/>
            </a:solidFill>
            <a:prstDash val="solid"/>
          </a:ln>
        </p:spPr>
      </p:sp>
      <p:sp>
        <p:nvSpPr>
          <p:cNvPr id="13" name="Text 10"/>
          <p:cNvSpPr txBox="1"/>
          <p:nvPr/>
        </p:nvSpPr>
        <p:spPr>
          <a:xfrm>
            <a:off x="4571909" y="2828514"/>
            <a:ext cx="3047878" cy="1402050"/>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The model judging for itself fails almost always. Moved to a rule layer, classification becomes exact.</a:t>
            </a:r>
            <a:endParaRPr lang="en-US" sz="1333" dirty="0"/>
          </a:p>
        </p:txBody>
      </p:sp>
      <p:sp>
        <p:nvSpPr>
          <p:cNvPr id="14" name="Shape 11"/>
          <p:cNvSpPr/>
          <p:nvPr/>
        </p:nvSpPr>
        <p:spPr>
          <a:xfrm>
            <a:off x="8095275" y="1219170"/>
            <a:ext cx="3486790" cy="3169859"/>
          </a:xfrm>
          <a:prstGeom prst="roundRect">
            <a:avLst>
              <a:gd name="adj" fmla="val 2308"/>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5" name="Text 12"/>
          <p:cNvSpPr txBox="1"/>
          <p:nvPr/>
        </p:nvSpPr>
        <p:spPr>
          <a:xfrm>
            <a:off x="8192841" y="1438626"/>
            <a:ext cx="3291749" cy="755843"/>
          </a:xfrm>
          <a:prstGeom prst="rect">
            <a:avLst/>
          </a:prstGeom>
          <a:noFill/>
          <a:ln/>
        </p:spPr>
        <p:txBody>
          <a:bodyPr wrap="square" lIns="0" tIns="0" rIns="0" bIns="0" rtlCol="0" anchor="ctr"/>
          <a:lstStyle/>
          <a:p>
            <a:pPr algn="ctr" indent="0" marL="0">
              <a:buNone/>
            </a:pPr>
            <a:r>
              <a:rPr lang="en-US" sz="3333" b="1" dirty="0">
                <a:solidFill>
                  <a:srgbClr val="E6A700"/>
                </a:solidFill>
                <a:latin typeface="Arial" pitchFamily="34" charset="0"/>
                <a:ea typeface="Arial" pitchFamily="34" charset="-122"/>
                <a:cs typeface="Arial" pitchFamily="34" charset="-120"/>
              </a:rPr>
              <a:t>48%</a:t>
            </a:r>
            <a:endParaRPr lang="en-US" sz="3333" dirty="0"/>
          </a:p>
        </p:txBody>
      </p:sp>
      <p:sp>
        <p:nvSpPr>
          <p:cNvPr id="16" name="Text 13"/>
          <p:cNvSpPr txBox="1"/>
          <p:nvPr/>
        </p:nvSpPr>
        <p:spPr>
          <a:xfrm>
            <a:off x="8217164" y="2255459"/>
            <a:ext cx="3243011" cy="365760"/>
          </a:xfrm>
          <a:prstGeom prst="rect">
            <a:avLst/>
          </a:prstGeom>
          <a:noFill/>
          <a:ln/>
        </p:spPr>
        <p:txBody>
          <a:bodyPr wrap="square" lIns="0" tIns="0" rIns="0" bIns="0" rtlCol="0" anchor="ctr"/>
          <a:lstStyle/>
          <a:p>
            <a:pPr algn="ctr" indent="0" marL="0">
              <a:buNone/>
            </a:pPr>
            <a:r>
              <a:rPr lang="en-US" sz="1667" b="1" dirty="0">
                <a:solidFill>
                  <a:srgbClr val="1F3864"/>
                </a:solidFill>
                <a:latin typeface="Arial" pitchFamily="34" charset="0"/>
                <a:ea typeface="Arial" pitchFamily="34" charset="-122"/>
                <a:cs typeface="Arial" pitchFamily="34" charset="-120"/>
              </a:rPr>
              <a:t>Constraints insufficient</a:t>
            </a:r>
            <a:endParaRPr lang="en-US" sz="1667" dirty="0"/>
          </a:p>
        </p:txBody>
      </p:sp>
      <p:sp>
        <p:nvSpPr>
          <p:cNvPr id="17" name="Shape 14"/>
          <p:cNvSpPr/>
          <p:nvPr/>
        </p:nvSpPr>
        <p:spPr>
          <a:xfrm>
            <a:off x="9253454" y="2682210"/>
            <a:ext cx="1170432" cy="0"/>
          </a:xfrm>
          <a:prstGeom prst="line">
            <a:avLst/>
          </a:prstGeom>
          <a:noFill/>
          <a:ln w="19050">
            <a:solidFill>
              <a:srgbClr val="E6A700"/>
            </a:solidFill>
            <a:prstDash val="solid"/>
          </a:ln>
        </p:spPr>
      </p:sp>
      <p:sp>
        <p:nvSpPr>
          <p:cNvPr id="18" name="Text 15"/>
          <p:cNvSpPr txBox="1"/>
          <p:nvPr/>
        </p:nvSpPr>
        <p:spPr>
          <a:xfrm>
            <a:off x="8314731" y="2828514"/>
            <a:ext cx="3047878" cy="1402050"/>
          </a:xfrm>
          <a:prstGeom prst="rect">
            <a:avLst/>
          </a:prstGeom>
          <a:noFill/>
          <a:ln/>
        </p:spPr>
        <p:txBody>
          <a:bodyPr wrap="square" lIns="0" tIns="0" rIns="0" bIns="0" rtlCol="0" anchor="ctr"/>
          <a:lstStyle/>
          <a:p>
            <a:pPr algn="ctr" indent="0" marL="0">
              <a:lnSpc>
                <a:spcPts val="1867"/>
              </a:lnSpc>
              <a:buNone/>
            </a:pPr>
            <a:r>
              <a:rPr lang="en-US" sz="1333" dirty="0">
                <a:solidFill>
                  <a:srgbClr val="203864"/>
                </a:solidFill>
                <a:latin typeface="Calibri" pitchFamily="34" charset="0"/>
                <a:ea typeface="Calibri" pitchFamily="34" charset="-122"/>
                <a:cs typeface="Calibri" pitchFamily="34" charset="-120"/>
              </a:rPr>
              <a:t>Over half of prompt-constrained outputs still failed validation. Instruction does not guarantee compliance.</a:t>
            </a:r>
            <a:endParaRPr lang="en-US" sz="1333" dirty="0"/>
          </a:p>
        </p:txBody>
      </p:sp>
      <p:sp>
        <p:nvSpPr>
          <p:cNvPr id="19" name="Shape 16"/>
          <p:cNvSpPr/>
          <p:nvPr/>
        </p:nvSpPr>
        <p:spPr>
          <a:xfrm>
            <a:off x="609539" y="4608485"/>
            <a:ext cx="10972526" cy="950976"/>
          </a:xfrm>
          <a:prstGeom prst="roundRect">
            <a:avLst>
              <a:gd name="adj" fmla="val 7692"/>
            </a:avLst>
          </a:prstGeom>
          <a:solidFill>
            <a:srgbClr val="FFF8E6"/>
          </a:solidFill>
          <a:ln w="12700">
            <a:solidFill>
              <a:srgbClr val="FFFFFF"/>
            </a:solidFill>
            <a:prstDash val="solid"/>
          </a:ln>
        </p:spPr>
      </p:sp>
      <p:sp>
        <p:nvSpPr>
          <p:cNvPr id="20" name="Text 17"/>
          <p:cNvSpPr txBox="1"/>
          <p:nvPr/>
        </p:nvSpPr>
        <p:spPr>
          <a:xfrm>
            <a:off x="877824" y="4608485"/>
            <a:ext cx="10436047" cy="950976"/>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An honest qualification: the 100% comprises 64% model-generated and 36% fixed templates. The guarantee is a property of the pipeline, not evidence that a 3B model performs this task reliably.</a:t>
            </a:r>
            <a:endParaRPr lang="en-US" sz="1400" dirty="0"/>
          </a:p>
        </p:txBody>
      </p:sp>
      <p:sp>
        <p:nvSpPr>
          <p:cNvPr id="21" name="Text 18"/>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13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12. Discussion — two observations</a:t>
            </a:r>
            <a:endParaRPr lang="en-US" sz="3000" dirty="0"/>
          </a:p>
        </p:txBody>
      </p:sp>
      <p:sp>
        <p:nvSpPr>
          <p:cNvPr id="4" name="Shape 1"/>
          <p:cNvSpPr/>
          <p:nvPr/>
        </p:nvSpPr>
        <p:spPr>
          <a:xfrm>
            <a:off x="609539" y="1219170"/>
            <a:ext cx="10972526" cy="1731234"/>
          </a:xfrm>
          <a:prstGeom prst="roundRect">
            <a:avLst>
              <a:gd name="adj" fmla="val 422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Shape 2"/>
          <p:cNvSpPr/>
          <p:nvPr/>
        </p:nvSpPr>
        <p:spPr>
          <a:xfrm>
            <a:off x="914400" y="1438626"/>
            <a:ext cx="536478" cy="536478"/>
          </a:xfrm>
          <a:prstGeom prst="ellipse">
            <a:avLst/>
          </a:prstGeom>
          <a:solidFill>
            <a:srgbClr val="C62828"/>
          </a:solidFill>
          <a:ln/>
        </p:spPr>
      </p:sp>
      <p:sp>
        <p:nvSpPr>
          <p:cNvPr id="6" name="Text 3"/>
          <p:cNvSpPr txBox="1"/>
          <p:nvPr/>
        </p:nvSpPr>
        <p:spPr>
          <a:xfrm>
            <a:off x="914400" y="1438626"/>
            <a:ext cx="536478" cy="53647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4"/>
          <p:cNvSpPr txBox="1"/>
          <p:nvPr/>
        </p:nvSpPr>
        <p:spPr>
          <a:xfrm>
            <a:off x="1645920" y="1402050"/>
            <a:ext cx="9631467" cy="365760"/>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False reassurance deserves its own metric</a:t>
            </a:r>
            <a:endParaRPr lang="en-US" sz="1800" dirty="0"/>
          </a:p>
        </p:txBody>
      </p:sp>
      <p:sp>
        <p:nvSpPr>
          <p:cNvPr id="8" name="Text 5"/>
          <p:cNvSpPr txBox="1"/>
          <p:nvPr/>
        </p:nvSpPr>
        <p:spPr>
          <a:xfrm>
            <a:off x="1645920" y="1804386"/>
            <a:ext cx="9692366" cy="999714"/>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Current evaluations report readability and factual accuracy. A falsely reassuring sentence may score HIGH on readability precisely because it is simple and calming. Its harm lies in what it causes the reader not to do.</a:t>
            </a:r>
            <a:endParaRPr lang="en-US" sz="1400" dirty="0"/>
          </a:p>
        </p:txBody>
      </p:sp>
      <p:sp>
        <p:nvSpPr>
          <p:cNvPr id="9" name="Shape 6"/>
          <p:cNvSpPr/>
          <p:nvPr/>
        </p:nvSpPr>
        <p:spPr>
          <a:xfrm>
            <a:off x="609539" y="3169859"/>
            <a:ext cx="10972526" cy="1731234"/>
          </a:xfrm>
          <a:prstGeom prst="roundRect">
            <a:avLst>
              <a:gd name="adj" fmla="val 4225"/>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Shape 7"/>
          <p:cNvSpPr/>
          <p:nvPr/>
        </p:nvSpPr>
        <p:spPr>
          <a:xfrm>
            <a:off x="914400" y="3389315"/>
            <a:ext cx="536478" cy="536478"/>
          </a:xfrm>
          <a:prstGeom prst="ellipse">
            <a:avLst/>
          </a:prstGeom>
          <a:solidFill>
            <a:srgbClr val="1565C0"/>
          </a:solidFill>
          <a:ln/>
        </p:spPr>
      </p:sp>
      <p:sp>
        <p:nvSpPr>
          <p:cNvPr id="11" name="Text 8"/>
          <p:cNvSpPr txBox="1"/>
          <p:nvPr/>
        </p:nvSpPr>
        <p:spPr>
          <a:xfrm>
            <a:off x="914400" y="3389315"/>
            <a:ext cx="536478" cy="53647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9"/>
          <p:cNvSpPr txBox="1"/>
          <p:nvPr/>
        </p:nvSpPr>
        <p:spPr>
          <a:xfrm>
            <a:off x="1645920" y="3352739"/>
            <a:ext cx="9631467" cy="365760"/>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Unit standardisation is a safety precondition</a:t>
            </a:r>
            <a:endParaRPr lang="en-US" sz="1800" dirty="0"/>
          </a:p>
        </p:txBody>
      </p:sp>
      <p:sp>
        <p:nvSpPr>
          <p:cNvPr id="13" name="Text 10"/>
          <p:cNvSpPr txBox="1"/>
          <p:nvPr/>
        </p:nvSpPr>
        <p:spPr>
          <a:xfrm>
            <a:off x="1645920" y="3755075"/>
            <a:ext cx="9692366" cy="999714"/>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The unit error occurred inside the rule layer — the layer treated as exact. No downstream validation detects it, because every later layer faithfully reproduces a confidently wrong label.</a:t>
            </a:r>
            <a:endParaRPr lang="en-US" sz="1400" dirty="0"/>
          </a:p>
        </p:txBody>
      </p:sp>
      <p:sp>
        <p:nvSpPr>
          <p:cNvPr id="14" name="Shape 11"/>
          <p:cNvSpPr/>
          <p:nvPr/>
        </p:nvSpPr>
        <p:spPr>
          <a:xfrm>
            <a:off x="609539" y="5144872"/>
            <a:ext cx="10972526" cy="609539"/>
          </a:xfrm>
          <a:prstGeom prst="roundRect">
            <a:avLst>
              <a:gd name="adj" fmla="val 12001"/>
            </a:avLst>
          </a:prstGeom>
          <a:solidFill>
            <a:srgbClr val="1F3864"/>
          </a:solidFill>
          <a:ln w="12700">
            <a:solidFill>
              <a:srgbClr val="FFFFFF"/>
            </a:solidFill>
            <a:prstDash val="solid"/>
          </a:ln>
        </p:spPr>
      </p:sp>
      <p:sp>
        <p:nvSpPr>
          <p:cNvPr id="15" name="Text 12"/>
          <p:cNvSpPr txBox="1"/>
          <p:nvPr/>
        </p:nvSpPr>
        <p:spPr>
          <a:xfrm>
            <a:off x="853410" y="5144872"/>
            <a:ext cx="10484876" cy="609539"/>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This connects directly to the data standardisation theme (LOINC, HL7 FHIR) of Panel 3 at this conference.</a:t>
            </a:r>
            <a:endParaRPr lang="en-US" sz="1467" dirty="0"/>
          </a:p>
        </p:txBody>
      </p:sp>
      <p:sp>
        <p:nvSpPr>
          <p:cNvPr id="16" name="Text 1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14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13. Limitations</a:t>
            </a:r>
            <a:endParaRPr lang="en-US" sz="3000" dirty="0"/>
          </a:p>
        </p:txBody>
      </p:sp>
      <p:sp>
        <p:nvSpPr>
          <p:cNvPr id="4" name="Shape 1"/>
          <p:cNvSpPr/>
          <p:nvPr/>
        </p:nvSpPr>
        <p:spPr>
          <a:xfrm>
            <a:off x="609539" y="1280160"/>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5" name="Shape 2"/>
          <p:cNvSpPr/>
          <p:nvPr/>
        </p:nvSpPr>
        <p:spPr>
          <a:xfrm>
            <a:off x="609539" y="1280160"/>
            <a:ext cx="5303429" cy="512064"/>
          </a:xfrm>
          <a:prstGeom prst="roundRect">
            <a:avLst>
              <a:gd name="adj" fmla="val 14286"/>
            </a:avLst>
          </a:prstGeom>
          <a:solidFill>
            <a:srgbClr val="5A6B85"/>
          </a:solidFill>
          <a:ln w="12700">
            <a:solidFill>
              <a:srgbClr val="333333"/>
            </a:solidFill>
            <a:prstDash val="solid"/>
          </a:ln>
        </p:spPr>
      </p:sp>
      <p:sp>
        <p:nvSpPr>
          <p:cNvPr id="6" name="Text 3"/>
          <p:cNvSpPr txBox="1"/>
          <p:nvPr/>
        </p:nvSpPr>
        <p:spPr>
          <a:xfrm>
            <a:off x="828995" y="1280160"/>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No clinical validation</a:t>
            </a:r>
            <a:endParaRPr lang="en-US" sz="1600" dirty="0"/>
          </a:p>
        </p:txBody>
      </p:sp>
      <p:sp>
        <p:nvSpPr>
          <p:cNvPr id="7" name="Text 4"/>
          <p:cNvSpPr txBox="1"/>
          <p:nvPr/>
        </p:nvSpPr>
        <p:spPr>
          <a:xfrm>
            <a:off x="853410" y="1938437"/>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All evaluation is automated. No medical professional reviewed the generated explanations.</a:t>
            </a:r>
            <a:endParaRPr lang="en-US" sz="1400" dirty="0"/>
          </a:p>
        </p:txBody>
      </p:sp>
      <p:sp>
        <p:nvSpPr>
          <p:cNvPr id="8" name="Shape 5"/>
          <p:cNvSpPr/>
          <p:nvPr/>
        </p:nvSpPr>
        <p:spPr>
          <a:xfrm>
            <a:off x="6278728" y="1280160"/>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9" name="Shape 6"/>
          <p:cNvSpPr/>
          <p:nvPr/>
        </p:nvSpPr>
        <p:spPr>
          <a:xfrm>
            <a:off x="6278728" y="1280160"/>
            <a:ext cx="5303429" cy="512064"/>
          </a:xfrm>
          <a:prstGeom prst="roundRect">
            <a:avLst>
              <a:gd name="adj" fmla="val 14286"/>
            </a:avLst>
          </a:prstGeom>
          <a:solidFill>
            <a:srgbClr val="5A6B85"/>
          </a:solidFill>
          <a:ln w="12700">
            <a:solidFill>
              <a:srgbClr val="333333"/>
            </a:solidFill>
            <a:prstDash val="solid"/>
          </a:ln>
        </p:spPr>
      </p:sp>
      <p:sp>
        <p:nvSpPr>
          <p:cNvPr id="10" name="Text 7"/>
          <p:cNvSpPr txBox="1"/>
          <p:nvPr/>
        </p:nvSpPr>
        <p:spPr>
          <a:xfrm>
            <a:off x="6498184" y="1280160"/>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Thresholds not grounded</a:t>
            </a:r>
            <a:endParaRPr lang="en-US" sz="1600" dirty="0"/>
          </a:p>
        </p:txBody>
      </p:sp>
      <p:sp>
        <p:nvSpPr>
          <p:cNvPr id="11" name="Text 8"/>
          <p:cNvSpPr txBox="1"/>
          <p:nvPr/>
        </p:nvSpPr>
        <p:spPr>
          <a:xfrm>
            <a:off x="6522598" y="1938437"/>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Severity factors separating "monitor" from "seek care" were set heuristically, not against a critical value list.</a:t>
            </a:r>
            <a:endParaRPr lang="en-US" sz="1400" dirty="0"/>
          </a:p>
        </p:txBody>
      </p:sp>
      <p:sp>
        <p:nvSpPr>
          <p:cNvPr id="12" name="Shape 9"/>
          <p:cNvSpPr/>
          <p:nvPr/>
        </p:nvSpPr>
        <p:spPr>
          <a:xfrm>
            <a:off x="609539" y="3413638"/>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3" name="Shape 10"/>
          <p:cNvSpPr/>
          <p:nvPr/>
        </p:nvSpPr>
        <p:spPr>
          <a:xfrm>
            <a:off x="609539" y="3413638"/>
            <a:ext cx="5303429" cy="512064"/>
          </a:xfrm>
          <a:prstGeom prst="roundRect">
            <a:avLst>
              <a:gd name="adj" fmla="val 14286"/>
            </a:avLst>
          </a:prstGeom>
          <a:solidFill>
            <a:srgbClr val="5A6B85"/>
          </a:solidFill>
          <a:ln w="12700">
            <a:solidFill>
              <a:srgbClr val="333333"/>
            </a:solidFill>
            <a:prstDash val="solid"/>
          </a:ln>
        </p:spPr>
      </p:sp>
      <p:sp>
        <p:nvSpPr>
          <p:cNvPr id="14" name="Text 11"/>
          <p:cNvSpPr txBox="1"/>
          <p:nvPr/>
        </p:nvSpPr>
        <p:spPr>
          <a:xfrm>
            <a:off x="828995" y="3413638"/>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Synthetic data</a:t>
            </a:r>
            <a:endParaRPr lang="en-US" sz="1600" dirty="0"/>
          </a:p>
        </p:txBody>
      </p:sp>
      <p:sp>
        <p:nvSpPr>
          <p:cNvPr id="15" name="Text 12"/>
          <p:cNvSpPr txBox="1"/>
          <p:nvPr/>
        </p:nvSpPr>
        <p:spPr>
          <a:xfrm>
            <a:off x="853410" y="4072006"/>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Real reports carry noise, missing fields and formatting variation this study does not capture.</a:t>
            </a:r>
            <a:endParaRPr lang="en-US" sz="1400" dirty="0"/>
          </a:p>
        </p:txBody>
      </p:sp>
      <p:sp>
        <p:nvSpPr>
          <p:cNvPr id="16" name="Shape 13"/>
          <p:cNvSpPr/>
          <p:nvPr/>
        </p:nvSpPr>
        <p:spPr>
          <a:xfrm>
            <a:off x="6278728" y="3413638"/>
            <a:ext cx="5303429" cy="1889699"/>
          </a:xfrm>
          <a:prstGeom prst="roundRect">
            <a:avLst>
              <a:gd name="adj" fmla="val 3871"/>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7" name="Shape 14"/>
          <p:cNvSpPr/>
          <p:nvPr/>
        </p:nvSpPr>
        <p:spPr>
          <a:xfrm>
            <a:off x="6278728" y="3413638"/>
            <a:ext cx="5303429" cy="512064"/>
          </a:xfrm>
          <a:prstGeom prst="roundRect">
            <a:avLst>
              <a:gd name="adj" fmla="val 14286"/>
            </a:avLst>
          </a:prstGeom>
          <a:solidFill>
            <a:srgbClr val="5A6B85"/>
          </a:solidFill>
          <a:ln w="12700">
            <a:solidFill>
              <a:srgbClr val="333333"/>
            </a:solidFill>
            <a:prstDash val="solid"/>
          </a:ln>
        </p:spPr>
      </p:sp>
      <p:sp>
        <p:nvSpPr>
          <p:cNvPr id="18" name="Text 15"/>
          <p:cNvSpPr txBox="1"/>
          <p:nvPr/>
        </p:nvSpPr>
        <p:spPr>
          <a:xfrm>
            <a:off x="6498184" y="3413638"/>
            <a:ext cx="4876678" cy="51206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Narrow scope</a:t>
            </a:r>
            <a:endParaRPr lang="en-US" sz="1600" dirty="0"/>
          </a:p>
        </p:txBody>
      </p:sp>
      <p:sp>
        <p:nvSpPr>
          <p:cNvPr id="19" name="Text 16"/>
          <p:cNvSpPr txBox="1"/>
          <p:nvPr/>
        </p:nvSpPr>
        <p:spPr>
          <a:xfrm>
            <a:off x="6522598" y="4072006"/>
            <a:ext cx="4852264" cy="1097280"/>
          </a:xfrm>
          <a:prstGeom prst="rect">
            <a:avLst/>
          </a:prstGeom>
          <a:noFill/>
          <a:ln/>
        </p:spPr>
        <p:txBody>
          <a:bodyPr wrap="square" lIns="0" tIns="0" rIns="0" bIns="0" rtlCol="0" anchor="ctr"/>
          <a:lstStyle/>
          <a:p>
            <a:pPr indent="0" marL="0">
              <a:lnSpc>
                <a:spcPts val="1867"/>
              </a:lnSpc>
              <a:buNone/>
            </a:pPr>
            <a:r>
              <a:rPr lang="en-US" sz="1400" dirty="0">
                <a:solidFill>
                  <a:srgbClr val="203864"/>
                </a:solidFill>
                <a:latin typeface="Calibri" pitchFamily="34" charset="0"/>
                <a:ea typeface="Calibri" pitchFamily="34" charset="-122"/>
                <a:cs typeface="Calibri" pitchFamily="34" charset="-120"/>
              </a:rPr>
              <a:t>Complete blood count only. No biochemistry, one-sided intervals, qualitative results, or OCR.</a:t>
            </a:r>
            <a:endParaRPr lang="en-US" sz="1400" dirty="0"/>
          </a:p>
        </p:txBody>
      </p:sp>
      <p:sp>
        <p:nvSpPr>
          <p:cNvPr id="20" name="Text 17"/>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15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548640" y="341346"/>
            <a:ext cx="11094415" cy="670530"/>
          </a:xfrm>
          <a:prstGeom prst="rect">
            <a:avLst/>
          </a:prstGeom>
          <a:noFill/>
          <a:ln/>
        </p:spPr>
        <p:txBody>
          <a:bodyPr wrap="square" lIns="0" tIns="0" rIns="0" bIns="0" rtlCol="0" anchor="ctr"/>
          <a:lstStyle/>
          <a:p>
            <a:pPr indent="0" marL="0">
              <a:buNone/>
            </a:pPr>
            <a:r>
              <a:rPr lang="en-US" sz="3000" b="1" dirty="0">
                <a:solidFill>
                  <a:srgbClr val="1F3864"/>
                </a:solidFill>
                <a:latin typeface="Arial" pitchFamily="34" charset="0"/>
                <a:ea typeface="Arial" pitchFamily="34" charset="-122"/>
                <a:cs typeface="Arial" pitchFamily="34" charset="-120"/>
              </a:rPr>
              <a:t>14. Conclusion and future work</a:t>
            </a:r>
            <a:endParaRPr lang="en-US" sz="3000" dirty="0"/>
          </a:p>
        </p:txBody>
      </p:sp>
      <p:sp>
        <p:nvSpPr>
          <p:cNvPr id="4" name="Shape 1"/>
          <p:cNvSpPr/>
          <p:nvPr/>
        </p:nvSpPr>
        <p:spPr>
          <a:xfrm>
            <a:off x="609539" y="1194755"/>
            <a:ext cx="10972526" cy="975299"/>
          </a:xfrm>
          <a:prstGeom prst="roundRect">
            <a:avLst>
              <a:gd name="adj" fmla="val 7500"/>
            </a:avLst>
          </a:prstGeom>
          <a:solidFill>
            <a:srgbClr val="1F3864"/>
          </a:solidFill>
          <a:ln w="12700">
            <a:solidFill>
              <a:srgbClr val="FFFFFF"/>
            </a:solidFill>
            <a:prstDash val="solid"/>
          </a:ln>
        </p:spPr>
      </p:sp>
      <p:sp>
        <p:nvSpPr>
          <p:cNvPr id="5" name="Text 2"/>
          <p:cNvSpPr txBox="1"/>
          <p:nvPr/>
        </p:nvSpPr>
        <p:spPr>
          <a:xfrm>
            <a:off x="950976" y="1194755"/>
            <a:ext cx="10289835" cy="975299"/>
          </a:xfrm>
          <a:prstGeom prst="rect">
            <a:avLst/>
          </a:prstGeom>
          <a:noFill/>
          <a:ln/>
        </p:spPr>
        <p:txBody>
          <a:bodyPr wrap="square" lIns="0" tIns="0" rIns="0" bIns="0" rtlCol="0" anchor="ctr"/>
          <a:lstStyle/>
          <a:p>
            <a:pPr indent="0" marL="0">
              <a:lnSpc>
                <a:spcPts val="2267"/>
              </a:lnSpc>
              <a:buNone/>
            </a:pPr>
            <a:r>
              <a:rPr lang="en-US" sz="1600" b="1" dirty="0">
                <a:solidFill>
                  <a:srgbClr val="FFFFFF"/>
                </a:solidFill>
                <a:latin typeface="Calibri" pitchFamily="34" charset="0"/>
                <a:ea typeface="Calibri" pitchFamily="34" charset="-122"/>
                <a:cs typeface="Calibri" pitchFamily="34" charset="-120"/>
              </a:rPr>
              <a:t>The language model is not permitted to judge whether a value is abnormal. Rules decide first, the model paraphrases, a validator checks one against the other.</a:t>
            </a:r>
            <a:endParaRPr lang="en-US" sz="1600" dirty="0"/>
          </a:p>
        </p:txBody>
      </p:sp>
      <p:sp>
        <p:nvSpPr>
          <p:cNvPr id="6" name="Shape 3"/>
          <p:cNvSpPr/>
          <p:nvPr/>
        </p:nvSpPr>
        <p:spPr>
          <a:xfrm>
            <a:off x="609539" y="2377349"/>
            <a:ext cx="3486790" cy="121917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7" name="Text 4"/>
          <p:cNvSpPr txBox="1"/>
          <p:nvPr/>
        </p:nvSpPr>
        <p:spPr>
          <a:xfrm>
            <a:off x="707106" y="2499330"/>
            <a:ext cx="3291749" cy="609539"/>
          </a:xfrm>
          <a:prstGeom prst="rect">
            <a:avLst/>
          </a:prstGeom>
          <a:noFill/>
          <a:ln/>
        </p:spPr>
        <p:txBody>
          <a:bodyPr wrap="square" lIns="0" tIns="0" rIns="0" bIns="0" rtlCol="0" anchor="ctr"/>
          <a:lstStyle/>
          <a:p>
            <a:pPr algn="ctr" indent="0" marL="0">
              <a:buNone/>
            </a:pPr>
            <a:r>
              <a:rPr lang="en-US" sz="2933" b="1" dirty="0">
                <a:solidFill>
                  <a:srgbClr val="1565C0"/>
                </a:solidFill>
                <a:latin typeface="Arial" pitchFamily="34" charset="0"/>
                <a:ea typeface="Arial" pitchFamily="34" charset="-122"/>
                <a:cs typeface="Arial" pitchFamily="34" charset="-120"/>
              </a:rPr>
              <a:t>32% → 0%</a:t>
            </a:r>
            <a:endParaRPr lang="en-US" sz="2933" dirty="0"/>
          </a:p>
        </p:txBody>
      </p:sp>
      <p:sp>
        <p:nvSpPr>
          <p:cNvPr id="8" name="Text 5"/>
          <p:cNvSpPr txBox="1"/>
          <p:nvPr/>
        </p:nvSpPr>
        <p:spPr>
          <a:xfrm>
            <a:off x="731520" y="3121030"/>
            <a:ext cx="3243011"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false reassurance</a:t>
            </a:r>
            <a:endParaRPr lang="en-US" sz="1400" dirty="0"/>
          </a:p>
        </p:txBody>
      </p:sp>
      <p:sp>
        <p:nvSpPr>
          <p:cNvPr id="9" name="Shape 6"/>
          <p:cNvSpPr/>
          <p:nvPr/>
        </p:nvSpPr>
        <p:spPr>
          <a:xfrm>
            <a:off x="4352453" y="2377349"/>
            <a:ext cx="3486790" cy="121917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0" name="Text 7"/>
          <p:cNvSpPr txBox="1"/>
          <p:nvPr/>
        </p:nvSpPr>
        <p:spPr>
          <a:xfrm>
            <a:off x="4449928" y="2499330"/>
            <a:ext cx="3291749" cy="609539"/>
          </a:xfrm>
          <a:prstGeom prst="rect">
            <a:avLst/>
          </a:prstGeom>
          <a:noFill/>
          <a:ln/>
        </p:spPr>
        <p:txBody>
          <a:bodyPr wrap="square" lIns="0" tIns="0" rIns="0" bIns="0" rtlCol="0" anchor="ctr"/>
          <a:lstStyle/>
          <a:p>
            <a:pPr algn="ctr" indent="0" marL="0">
              <a:buNone/>
            </a:pPr>
            <a:r>
              <a:rPr lang="en-US" sz="2933" b="1" dirty="0">
                <a:solidFill>
                  <a:srgbClr val="1565C0"/>
                </a:solidFill>
                <a:latin typeface="Arial" pitchFamily="34" charset="0"/>
                <a:ea typeface="Arial" pitchFamily="34" charset="-122"/>
                <a:cs typeface="Arial" pitchFamily="34" charset="-120"/>
              </a:rPr>
              <a:t>100%</a:t>
            </a:r>
            <a:endParaRPr lang="en-US" sz="2933" dirty="0"/>
          </a:p>
        </p:txBody>
      </p:sp>
      <p:sp>
        <p:nvSpPr>
          <p:cNvPr id="11" name="Text 8"/>
          <p:cNvSpPr txBox="1"/>
          <p:nvPr/>
        </p:nvSpPr>
        <p:spPr>
          <a:xfrm>
            <a:off x="4474342" y="3121030"/>
            <a:ext cx="3243011"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safe output</a:t>
            </a:r>
            <a:endParaRPr lang="en-US" sz="1400" dirty="0"/>
          </a:p>
        </p:txBody>
      </p:sp>
      <p:sp>
        <p:nvSpPr>
          <p:cNvPr id="12" name="Shape 9"/>
          <p:cNvSpPr/>
          <p:nvPr/>
        </p:nvSpPr>
        <p:spPr>
          <a:xfrm>
            <a:off x="8095275" y="2377349"/>
            <a:ext cx="3486790" cy="1219170"/>
          </a:xfrm>
          <a:prstGeom prst="roundRect">
            <a:avLst>
              <a:gd name="adj" fmla="val 6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13" name="Text 10"/>
          <p:cNvSpPr txBox="1"/>
          <p:nvPr/>
        </p:nvSpPr>
        <p:spPr>
          <a:xfrm>
            <a:off x="8192841" y="2499330"/>
            <a:ext cx="3291749" cy="609539"/>
          </a:xfrm>
          <a:prstGeom prst="rect">
            <a:avLst/>
          </a:prstGeom>
          <a:noFill/>
          <a:ln/>
        </p:spPr>
        <p:txBody>
          <a:bodyPr wrap="square" lIns="0" tIns="0" rIns="0" bIns="0" rtlCol="0" anchor="ctr"/>
          <a:lstStyle/>
          <a:p>
            <a:pPr algn="ctr" indent="0" marL="0">
              <a:buNone/>
            </a:pPr>
            <a:r>
              <a:rPr lang="en-US" sz="2933" b="1" dirty="0">
                <a:solidFill>
                  <a:srgbClr val="1565C0"/>
                </a:solidFill>
                <a:latin typeface="Arial" pitchFamily="34" charset="0"/>
                <a:ea typeface="Arial" pitchFamily="34" charset="-122"/>
                <a:cs typeface="Arial" pitchFamily="34" charset="-120"/>
              </a:rPr>
              <a:t>0</a:t>
            </a:r>
            <a:endParaRPr lang="en-US" sz="2933" dirty="0"/>
          </a:p>
        </p:txBody>
      </p:sp>
      <p:sp>
        <p:nvSpPr>
          <p:cNvPr id="14" name="Text 11"/>
          <p:cNvSpPr txBox="1"/>
          <p:nvPr/>
        </p:nvSpPr>
        <p:spPr>
          <a:xfrm>
            <a:off x="8217164" y="3121030"/>
            <a:ext cx="3243011"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GPUs required</a:t>
            </a:r>
            <a:endParaRPr lang="en-US" sz="1400" dirty="0"/>
          </a:p>
        </p:txBody>
      </p:sp>
      <p:sp>
        <p:nvSpPr>
          <p:cNvPr id="15" name="Text 12"/>
          <p:cNvSpPr txBox="1"/>
          <p:nvPr/>
        </p:nvSpPr>
        <p:spPr>
          <a:xfrm>
            <a:off x="609539" y="3779398"/>
            <a:ext cx="10972526" cy="341346"/>
          </a:xfrm>
          <a:prstGeom prst="rect">
            <a:avLst/>
          </a:prstGeom>
          <a:noFill/>
          <a:ln/>
        </p:spPr>
        <p:txBody>
          <a:bodyPr wrap="square" lIns="0" tIns="0" rIns="0" bIns="0" rtlCol="0" anchor="ctr"/>
          <a:lstStyle/>
          <a:p>
            <a:pPr indent="0" marL="0">
              <a:buNone/>
            </a:pPr>
            <a:r>
              <a:rPr lang="en-US" sz="1667" b="1" dirty="0">
                <a:solidFill>
                  <a:srgbClr val="1F3864"/>
                </a:solidFill>
                <a:latin typeface="Arial" pitchFamily="34" charset="0"/>
                <a:ea typeface="Arial" pitchFamily="34" charset="-122"/>
                <a:cs typeface="Arial" pitchFamily="34" charset="-120"/>
              </a:rPr>
              <a:t>Future work, in order of importance</a:t>
            </a:r>
            <a:endParaRPr lang="en-US" sz="1667" dirty="0"/>
          </a:p>
        </p:txBody>
      </p:sp>
      <p:sp>
        <p:nvSpPr>
          <p:cNvPr id="16" name="Shape 13"/>
          <p:cNvSpPr/>
          <p:nvPr/>
        </p:nvSpPr>
        <p:spPr>
          <a:xfrm>
            <a:off x="755843" y="4267048"/>
            <a:ext cx="207294" cy="207294"/>
          </a:xfrm>
          <a:prstGeom prst="ellipse">
            <a:avLst/>
          </a:prstGeom>
          <a:solidFill>
            <a:srgbClr val="C62828"/>
          </a:solidFill>
          <a:ln/>
        </p:spPr>
      </p:sp>
      <p:sp>
        <p:nvSpPr>
          <p:cNvPr id="17" name="Text 14"/>
          <p:cNvSpPr txBox="1"/>
          <p:nvPr/>
        </p:nvSpPr>
        <p:spPr>
          <a:xfrm>
            <a:off x="1121603" y="4193987"/>
            <a:ext cx="10241006" cy="341346"/>
          </a:xfrm>
          <a:prstGeom prst="rect">
            <a:avLst/>
          </a:prstGeom>
          <a:noFill/>
          <a:ln/>
        </p:spPr>
        <p:txBody>
          <a:bodyPr wrap="square" lIns="0" tIns="0" rIns="0" bIns="0" rtlCol="0" anchor="ctr"/>
          <a:lstStyle/>
          <a:p>
            <a:pPr indent="0" marL="0">
              <a:buNone/>
            </a:pPr>
            <a:r>
              <a:rPr lang="en-US" sz="1400" b="1" dirty="0">
                <a:solidFill>
                  <a:srgbClr val="203864"/>
                </a:solidFill>
                <a:latin typeface="Calibri" pitchFamily="34" charset="0"/>
                <a:ea typeface="Calibri" pitchFamily="34" charset="-122"/>
                <a:cs typeface="Calibri" pitchFamily="34" charset="-120"/>
              </a:rPr>
              <a:t>Clinical validation by medical professionals — most pressing</a:t>
            </a:r>
            <a:endParaRPr lang="en-US" sz="1400" dirty="0"/>
          </a:p>
        </p:txBody>
      </p:sp>
      <p:sp>
        <p:nvSpPr>
          <p:cNvPr id="18" name="Shape 15"/>
          <p:cNvSpPr/>
          <p:nvPr/>
        </p:nvSpPr>
        <p:spPr>
          <a:xfrm>
            <a:off x="755843" y="4632808"/>
            <a:ext cx="207294" cy="207294"/>
          </a:xfrm>
          <a:prstGeom prst="ellipse">
            <a:avLst/>
          </a:prstGeom>
          <a:solidFill>
            <a:srgbClr val="1565C0"/>
          </a:solidFill>
          <a:ln/>
        </p:spPr>
      </p:sp>
      <p:sp>
        <p:nvSpPr>
          <p:cNvPr id="19" name="Text 16"/>
          <p:cNvSpPr txBox="1"/>
          <p:nvPr/>
        </p:nvSpPr>
        <p:spPr>
          <a:xfrm>
            <a:off x="1121603" y="455965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Replace heuristic thresholds with a critical value list</a:t>
            </a:r>
            <a:endParaRPr lang="en-US" sz="1400" dirty="0"/>
          </a:p>
        </p:txBody>
      </p:sp>
      <p:sp>
        <p:nvSpPr>
          <p:cNvPr id="20" name="Shape 17"/>
          <p:cNvSpPr/>
          <p:nvPr/>
        </p:nvSpPr>
        <p:spPr>
          <a:xfrm>
            <a:off x="755843" y="4998568"/>
            <a:ext cx="207294" cy="207294"/>
          </a:xfrm>
          <a:prstGeom prst="ellipse">
            <a:avLst/>
          </a:prstGeom>
          <a:solidFill>
            <a:srgbClr val="1565C0"/>
          </a:solidFill>
          <a:ln/>
        </p:spPr>
      </p:sp>
      <p:sp>
        <p:nvSpPr>
          <p:cNvPr id="21" name="Text 18"/>
          <p:cNvSpPr txBox="1"/>
          <p:nvPr/>
        </p:nvSpPr>
        <p:spPr>
          <a:xfrm>
            <a:off x="1121603" y="492541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Extend to biochemistry and qualitative results</a:t>
            </a:r>
            <a:endParaRPr lang="en-US" sz="1400" dirty="0"/>
          </a:p>
        </p:txBody>
      </p:sp>
      <p:sp>
        <p:nvSpPr>
          <p:cNvPr id="22" name="Shape 19"/>
          <p:cNvSpPr/>
          <p:nvPr/>
        </p:nvSpPr>
        <p:spPr>
          <a:xfrm>
            <a:off x="755843" y="5364328"/>
            <a:ext cx="207294" cy="207294"/>
          </a:xfrm>
          <a:prstGeom prst="ellipse">
            <a:avLst/>
          </a:prstGeom>
          <a:solidFill>
            <a:srgbClr val="1565C0"/>
          </a:solidFill>
          <a:ln/>
        </p:spPr>
      </p:sp>
      <p:sp>
        <p:nvSpPr>
          <p:cNvPr id="23" name="Text 20"/>
          <p:cNvSpPr txBox="1"/>
          <p:nvPr/>
        </p:nvSpPr>
        <p:spPr>
          <a:xfrm>
            <a:off x="1121603" y="529117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Speech output layer for elderly and low-literacy patients</a:t>
            </a:r>
            <a:endParaRPr lang="en-US" sz="1400" dirty="0"/>
          </a:p>
        </p:txBody>
      </p:sp>
      <p:sp>
        <p:nvSpPr>
          <p:cNvPr id="24" name="Shape 21"/>
          <p:cNvSpPr/>
          <p:nvPr/>
        </p:nvSpPr>
        <p:spPr>
          <a:xfrm>
            <a:off x="755843" y="5730088"/>
            <a:ext cx="207294" cy="207294"/>
          </a:xfrm>
          <a:prstGeom prst="ellipse">
            <a:avLst/>
          </a:prstGeom>
          <a:solidFill>
            <a:srgbClr val="1565C0"/>
          </a:solidFill>
          <a:ln/>
        </p:spPr>
      </p:sp>
      <p:sp>
        <p:nvSpPr>
          <p:cNvPr id="25" name="Text 22"/>
          <p:cNvSpPr txBox="1"/>
          <p:nvPr/>
        </p:nvSpPr>
        <p:spPr>
          <a:xfrm>
            <a:off x="1121603" y="5656936"/>
            <a:ext cx="10241006" cy="341346"/>
          </a:xfrm>
          <a:prstGeom prst="rect">
            <a:avLst/>
          </a:prstGeom>
          <a:noFill/>
          <a:ln/>
        </p:spPr>
        <p:txBody>
          <a:bodyPr wrap="square" lIns="0" tIns="0" rIns="0" bIns="0" rtlCol="0" anchor="ctr"/>
          <a:lstStyle/>
          <a:p>
            <a:pPr indent="0" marL="0">
              <a:buNone/>
            </a:pPr>
            <a:r>
              <a:rPr lang="en-US" sz="1400" dirty="0">
                <a:solidFill>
                  <a:srgbClr val="203864"/>
                </a:solidFill>
                <a:latin typeface="Calibri" pitchFamily="34" charset="0"/>
                <a:ea typeface="Calibri" pitchFamily="34" charset="-122"/>
                <a:cs typeface="Calibri" pitchFamily="34" charset="-120"/>
              </a:rPr>
              <a:t>Evaluation on real reports from multiple laboratories</a:t>
            </a:r>
            <a:endParaRPr lang="en-US" sz="1400" dirty="0"/>
          </a:p>
        </p:txBody>
      </p:sp>
      <p:sp>
        <p:nvSpPr>
          <p:cNvPr id="26" name="Text 23"/>
          <p:cNvSpPr txBox="1"/>
          <p:nvPr/>
        </p:nvSpPr>
        <p:spPr>
          <a:xfrm>
            <a:off x="10850636" y="6437193"/>
            <a:ext cx="1036290" cy="304770"/>
          </a:xfrm>
          <a:prstGeom prst="rect">
            <a:avLst/>
          </a:prstGeom>
          <a:noFill/>
          <a:ln/>
        </p:spPr>
        <p:txBody>
          <a:bodyPr wrap="square" lIns="0" tIns="0" rIns="0" bIns="0" rtlCol="0" anchor="ctr"/>
          <a:lstStyle/>
          <a:p>
            <a:pPr algn="r" indent="0" marL="0">
              <a:buNone/>
            </a:pPr>
            <a:r>
              <a:rPr lang="en-US" sz="1200" dirty="0">
                <a:solidFill>
                  <a:srgbClr val="5A6B85"/>
                </a:solidFill>
                <a:latin typeface="Calibri" pitchFamily="34" charset="0"/>
                <a:ea typeface="Calibri" pitchFamily="34" charset="-122"/>
                <a:cs typeface="Calibri" pitchFamily="34" charset="-120"/>
              </a:rPr>
              <a:t>16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hape 0"/>
          <p:cNvSpPr/>
          <p:nvPr/>
        </p:nvSpPr>
        <p:spPr>
          <a:xfrm>
            <a:off x="609539" y="1341059"/>
            <a:ext cx="10972526" cy="3657509"/>
          </a:xfrm>
          <a:prstGeom prst="roundRect">
            <a:avLst>
              <a:gd name="adj" fmla="val 2000"/>
            </a:avLst>
          </a:prstGeom>
          <a:solidFill>
            <a:srgbClr val="FFFFFF"/>
          </a:solidFill>
          <a:ln w="12700">
            <a:solidFill>
              <a:srgbClr val="FFFFFF"/>
            </a:solidFill>
            <a:prstDash val="solid"/>
          </a:ln>
          <a:effectLst>
            <a:outerShdw sx="100000" sy="100000" kx="0" ky="0" algn="bl" rotWithShape="0" blurRad="76200" dist="12700" dir="5400000">
              <a:srgbClr val="1F3864">
                <a:alpha val="16000"/>
              </a:srgbClr>
            </a:outerShdw>
          </a:effectLst>
        </p:spPr>
      </p:sp>
      <p:sp>
        <p:nvSpPr>
          <p:cNvPr id="4" name="Text 1"/>
          <p:cNvSpPr txBox="1"/>
          <p:nvPr/>
        </p:nvSpPr>
        <p:spPr>
          <a:xfrm>
            <a:off x="975299" y="1889699"/>
            <a:ext cx="10241006" cy="914400"/>
          </a:xfrm>
          <a:prstGeom prst="rect">
            <a:avLst/>
          </a:prstGeom>
          <a:noFill/>
          <a:ln/>
        </p:spPr>
        <p:txBody>
          <a:bodyPr wrap="square" lIns="0" tIns="0" rIns="0" bIns="0" rtlCol="0" anchor="ctr"/>
          <a:lstStyle/>
          <a:p>
            <a:pPr algn="ctr" indent="0" marL="0">
              <a:buNone/>
            </a:pPr>
            <a:r>
              <a:rPr lang="en-US" sz="5067" b="1" dirty="0">
                <a:solidFill>
                  <a:srgbClr val="1F3864"/>
                </a:solidFill>
                <a:latin typeface="Arial" pitchFamily="34" charset="0"/>
                <a:ea typeface="Arial" pitchFamily="34" charset="-122"/>
                <a:cs typeface="Arial" pitchFamily="34" charset="-120"/>
              </a:rPr>
              <a:t>Thank you</a:t>
            </a:r>
            <a:endParaRPr lang="en-US" sz="5067" dirty="0"/>
          </a:p>
        </p:txBody>
      </p:sp>
      <p:sp>
        <p:nvSpPr>
          <p:cNvPr id="5" name="Shape 2"/>
          <p:cNvSpPr/>
          <p:nvPr/>
        </p:nvSpPr>
        <p:spPr>
          <a:xfrm>
            <a:off x="4876678" y="2986979"/>
            <a:ext cx="2438339" cy="0"/>
          </a:xfrm>
          <a:prstGeom prst="line">
            <a:avLst/>
          </a:prstGeom>
          <a:noFill/>
          <a:ln w="25400">
            <a:solidFill>
              <a:srgbClr val="1565C0"/>
            </a:solidFill>
            <a:prstDash val="solid"/>
          </a:ln>
        </p:spPr>
      </p:sp>
      <p:sp>
        <p:nvSpPr>
          <p:cNvPr id="6" name="Text 3"/>
          <p:cNvSpPr txBox="1"/>
          <p:nvPr/>
        </p:nvSpPr>
        <p:spPr>
          <a:xfrm>
            <a:off x="975299" y="3194182"/>
            <a:ext cx="10241006" cy="487650"/>
          </a:xfrm>
          <a:prstGeom prst="rect">
            <a:avLst/>
          </a:prstGeom>
          <a:noFill/>
          <a:ln/>
        </p:spPr>
        <p:txBody>
          <a:bodyPr wrap="square" lIns="0" tIns="0" rIns="0" bIns="0" rtlCol="0" anchor="ctr"/>
          <a:lstStyle/>
          <a:p>
            <a:pPr algn="ctr" indent="0" marL="0">
              <a:buNone/>
            </a:pPr>
            <a:r>
              <a:rPr lang="en-US" sz="2133" dirty="0">
                <a:solidFill>
                  <a:srgbClr val="1565C0"/>
                </a:solidFill>
                <a:latin typeface="Calibri" pitchFamily="34" charset="0"/>
                <a:ea typeface="Calibri" pitchFamily="34" charset="-122"/>
                <a:cs typeface="Calibri" pitchFamily="34" charset="-120"/>
              </a:rPr>
              <a:t>Questions and discussion</a:t>
            </a:r>
            <a:endParaRPr lang="en-US" sz="2133" dirty="0"/>
          </a:p>
        </p:txBody>
      </p:sp>
      <p:sp>
        <p:nvSpPr>
          <p:cNvPr id="7" name="Text 4"/>
          <p:cNvSpPr txBox="1"/>
          <p:nvPr/>
        </p:nvSpPr>
        <p:spPr>
          <a:xfrm>
            <a:off x="975299" y="3901379"/>
            <a:ext cx="10241006" cy="365760"/>
          </a:xfrm>
          <a:prstGeom prst="rect">
            <a:avLst/>
          </a:prstGeom>
          <a:noFill/>
          <a:ln/>
        </p:spPr>
        <p:txBody>
          <a:bodyPr wrap="square" lIns="0" tIns="0" rIns="0" bIns="0" rtlCol="0" anchor="ctr"/>
          <a:lstStyle/>
          <a:p>
            <a:pPr algn="ctr" indent="0" marL="0">
              <a:buNone/>
            </a:pPr>
            <a:r>
              <a:rPr lang="en-US" sz="1600" b="1" dirty="0">
                <a:solidFill>
                  <a:srgbClr val="203864"/>
                </a:solidFill>
                <a:latin typeface="Calibri" pitchFamily="34" charset="0"/>
                <a:ea typeface="Calibri" pitchFamily="34" charset="-122"/>
                <a:cs typeface="Calibri" pitchFamily="34" charset="-120"/>
              </a:rPr>
              <a:t>Vo Hoang Khang¹ · Truong Quang Dai</a:t>
            </a:r>
            <a:endParaRPr lang="en-US" sz="1600" dirty="0"/>
          </a:p>
        </p:txBody>
      </p:sp>
      <p:sp>
        <p:nvSpPr>
          <p:cNvPr id="8" name="Text 5"/>
          <p:cNvSpPr txBox="1"/>
          <p:nvPr/>
        </p:nvSpPr>
        <p:spPr>
          <a:xfrm>
            <a:off x="975299" y="4328038"/>
            <a:ext cx="10241006" cy="365760"/>
          </a:xfrm>
          <a:prstGeom prst="rect">
            <a:avLst/>
          </a:prstGeom>
          <a:noFill/>
          <a:ln/>
        </p:spPr>
        <p:txBody>
          <a:bodyPr wrap="square" lIns="0" tIns="0" rIns="0" bIns="0" rtlCol="0" anchor="ctr"/>
          <a:lstStyle/>
          <a:p>
            <a:pPr algn="ctr" indent="0" marL="0">
              <a:buNone/>
            </a:pPr>
            <a:r>
              <a:rPr lang="en-US" sz="1400" dirty="0">
                <a:solidFill>
                  <a:srgbClr val="5A6B85"/>
                </a:solidFill>
                <a:latin typeface="Calibri" pitchFamily="34" charset="0"/>
                <a:ea typeface="Calibri" pitchFamily="34" charset="-122"/>
                <a:cs typeface="Calibri" pitchFamily="34" charset="-120"/>
              </a:rPr>
              <a:t>Paper ID HI26-0013 · Track B</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HEALTHINFO IV - Blood Test Interpretation</dc:title>
  <dc:subject>PptxGenJS Presentation</dc:subject>
  <dc:creator>Vo Hoang Khang</dc:creator>
  <cp:lastModifiedBy>Vo Hoang Khang</cp:lastModifiedBy>
  <cp:revision>1</cp:revision>
  <dcterms:created xsi:type="dcterms:W3CDTF">2026-09-29T10:30:20Z</dcterms:created>
  <dcterms:modified xsi:type="dcterms:W3CDTF">2026-09-29T10:30:20Z</dcterms:modified>
</cp:coreProperties>
</file>
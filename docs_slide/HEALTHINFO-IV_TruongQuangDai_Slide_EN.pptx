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3" r:id="rId22"/>
    <p:sldId id="259" r:id="rId4"/>
    <p:sldId id="260" r:id="rId5"/>
    <p:sldId id="262" r:id="rId6"/>
    <p:sldId id="263" r:id="rId7"/>
    <p:sldId id="265" r:id="rId8"/>
    <p:sldId id="266" r:id="rId9"/>
    <p:sldId id="267" r:id="rId10"/>
    <p:sldId id="274" r:id="rId23"/>
    <p:sldId id="268" r:id="rId11"/>
    <p:sldId id="269" r:id="rId12"/>
    <p:sldId id="270" r:id="rId13"/>
    <p:sldId id="271" r:id="rId14"/>
    <p:sldId id="27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1" clrIdx="0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3162" autoAdjust="0"/>
  </p:normalViewPr>
  <p:slideViewPr>
    <p:cSldViewPr snapToGrid="0" snapToObjects="1">
      <p:cViewPr varScale="1">
        <p:scale>
          <a:sx n="61" d="100"/>
          <a:sy n="61" d="100"/>
        </p:scale>
        <p:origin x="24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3.xml"/><Relationship Id="rId23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62828"/>
            </a:solidFill>
          </c:spPr>
          <c:cat>
            <c:strRef>
              <c:f>Sheet1!$A$2:$A$7</c:f>
              <c:strCache>
                <c:ptCount val="6"/>
                <c:pt idx="0">
                  <c:v>False
reassurance</c:v>
                </c:pt>
                <c:pt idx="1">
                  <c:v>Direction
mismatch</c:v>
                </c:pt>
                <c:pt idx="2">
                  <c:v>Contradictory
wording</c:v>
                </c:pt>
                <c:pt idx="3">
                  <c:v>Forbidden
terms</c:v>
                </c:pt>
                <c:pt idx="4">
                  <c:v>Fabricated
analytes</c:v>
                </c:pt>
                <c:pt idx="5">
                  <c:v>Omitted
analytes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32.0</c:v>
                </c:pt>
                <c:pt idx="1">
                  <c:v>91.3</c:v>
                </c:pt>
                <c:pt idx="2">
                  <c:v>56.0</c:v>
                </c:pt>
                <c:pt idx="3">
                  <c:v>79.3</c:v>
                </c:pt>
                <c:pt idx="4">
                  <c:v>32.0</c:v>
                </c:pt>
                <c:pt idx="5">
                  <c:v>71.3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constrained</c:v>
                </c:pt>
              </c:strCache>
            </c:strRef>
          </c:tx>
          <c:spPr>
            <a:solidFill>
              <a:srgbClr val="E6A700"/>
            </a:solidFill>
          </c:spPr>
          <c:cat>
            <c:strRef>
              <c:f>Sheet1!$A$2:$A$7</c:f>
              <c:strCache>
                <c:ptCount val="6"/>
                <c:pt idx="0">
                  <c:v>False
reassurance</c:v>
                </c:pt>
                <c:pt idx="1">
                  <c:v>Direction
mismatch</c:v>
                </c:pt>
                <c:pt idx="2">
                  <c:v>Contradictory
wording</c:v>
                </c:pt>
                <c:pt idx="3">
                  <c:v>Forbidden
terms</c:v>
                </c:pt>
                <c:pt idx="4">
                  <c:v>Fabricated
analytes</c:v>
                </c:pt>
                <c:pt idx="5">
                  <c:v>Omitted
analytes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8.0</c:v>
                </c:pt>
                <c:pt idx="1">
                  <c:v>12.7</c:v>
                </c:pt>
                <c:pt idx="2">
                  <c:v>5.3</c:v>
                </c:pt>
                <c:pt idx="3">
                  <c:v>15.3</c:v>
                </c:pt>
                <c:pt idx="4">
                  <c:v>10.0</c:v>
                </c:pt>
                <c:pt idx="5">
                  <c:v>28.7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Sheet1!$A$2:$A$7</c:f>
              <c:strCache>
                <c:ptCount val="6"/>
                <c:pt idx="0">
                  <c:v>False
reassurance</c:v>
                </c:pt>
                <c:pt idx="1">
                  <c:v>Direction
mismatch</c:v>
                </c:pt>
                <c:pt idx="2">
                  <c:v>Contradictory
wording</c:v>
                </c:pt>
                <c:pt idx="3">
                  <c:v>Forbidden
terms</c:v>
                </c:pt>
                <c:pt idx="4">
                  <c:v>Fabricated
analytes</c:v>
                </c:pt>
                <c:pt idx="5">
                  <c:v>Omitted
analytes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01T23:28:03.875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257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1  ·  Trang tiêu đề  ·  45 giây</a:t>
            </a:r>
            <a:endParaRPr lang="en-US" sz="1400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/>
              <a:t>Good afternoon, everyone.</a:t>
            </a:r>
          </a:p>
          <a:p>
            <a:r>
              <a:rPr sz="2000" b="1" i="0"/>
              <a:t>Thank you for staying with us for the last talk of the session.</a:t>
            </a:r>
          </a:p>
          <a:p>
            <a:r>
              <a:rPr sz="2000" b="1" i="0"/>
              <a:t>My name is Truong Quang Dai, from HUTECH University, in Ho Chi Minh City.</a:t>
            </a:r>
          </a:p>
          <a:p>
            <a:r>
              <a:rPr sz="2000" b="1" i="0"/>
              <a:t>This is joint work with my advisor, Vo Hoang Khang.</a:t>
            </a:r>
          </a:p>
          <a:p>
            <a:r>
              <a:rPr sz="2000" b="1" i="0"/>
              <a:t>Our paper is about helping patients understand their blood test results.</a:t>
            </a:r>
          </a:p>
          <a:p>
            <a:r>
              <a:rPr sz="2000" b="1" i="0"/>
              <a:t>The main idea is simple. The rules decide. The AI only writes the explanation.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Chào buổi chiều quý vị.</a:t>
            </a:r>
          </a:p>
          <a:p>
            <a:r>
              <a:rPr sz="1400" b="0" i="1">
                <a:solidFill>
                  <a:srgbClr val="5A5A5A"/>
                </a:solidFill>
              </a:rPr>
              <a:t>Cảm ơn quý vị đã ở lại với báo cáo cuối cùng của phiên hôm nay.</a:t>
            </a:r>
          </a:p>
          <a:p>
            <a:r>
              <a:rPr sz="1400" b="0" i="1">
                <a:solidFill>
                  <a:srgbClr val="5A5A5A"/>
                </a:solidFill>
              </a:rPr>
              <a:t>Tôi tên là Trương Quang Đại, Trường Đại học HUTECH, Thành phố Hồ Chí Minh.</a:t>
            </a:r>
          </a:p>
          <a:p>
            <a:r>
              <a:rPr sz="1400" b="0" i="1">
                <a:solidFill>
                  <a:srgbClr val="5A5A5A"/>
                </a:solidFill>
              </a:rPr>
              <a:t>Đây là nghiên cứu tôi làm cùng thầy hướng dẫn, thầy Võ Hoàng Khang.</a:t>
            </a:r>
          </a:p>
          <a:p>
            <a:r>
              <a:rPr sz="1400" b="0" i="1">
                <a:solidFill>
                  <a:srgbClr val="5A5A5A"/>
                </a:solidFill>
              </a:rPr>
              <a:t>Bài của chúng tôi nói về việc giúp bệnh nhân hiểu kết quả xét nghiệm máu.</a:t>
            </a:r>
          </a:p>
          <a:p>
            <a:r>
              <a:rPr sz="1400" b="0" i="1">
                <a:solidFill>
                  <a:srgbClr val="5A5A5A"/>
                </a:solidFill>
              </a:rPr>
              <a:t>Ý chính rất đơn giản. Luật quyết định. AI chỉ viết lời giải thích.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advisor = ơd-VAI-zờ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2  ·  Cầm kết quả mà không hiểu gì  ·  1,5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/>
              <a:t>A patient leaves the laboratory with a page of numbers.</a:t>
            </a:r>
          </a:p>
          <a:p>
            <a:r>
              <a:rPr sz="2000" b="1" i="0"/>
              <a:t>The page is full of strange terms. P D W. M C H C. Monocyte.</a:t>
            </a:r>
          </a:p>
          <a:p>
            <a:r>
              <a:rPr sz="2000" b="1" i="0">
                <a:solidFill>
                  <a:srgbClr val="5A5A5A"/>
                </a:solidFill>
              </a:rPr>
              <a:t>And strange units. G per litre. Femtolitre. Picogram.</a:t>
            </a:r>
          </a:p>
          <a:p>
            <a:r>
              <a:rPr sz="2000" b="1" i="0"/>
              <a:t>The reference interval is printed beside each value.</a:t>
            </a:r>
          </a:p>
          <a:p>
            <a:r>
              <a:rPr sz="2000" b="1" i="0">
                <a:solidFill>
                  <a:srgbClr val="5A5A5A"/>
                </a:solidFill>
              </a:rPr>
              <a:t>So the patient can see which number is outside the range.</a:t>
            </a:r>
          </a:p>
          <a:p>
            <a:r>
              <a:rPr sz="2000" b="1" i="0"/>
              <a:t>But they cannot see what the analyte measures.</a:t>
            </a:r>
          </a:p>
          <a:p>
            <a:r>
              <a:rPr sz="2000" b="1" i="0"/>
              <a:t>They cannot see if the deviation is serious. And they do not know what to do next.</a:t>
            </a:r>
          </a:p>
          <a:p>
            <a:r>
              <a:rPr sz="2000" b="1" i="0">
                <a:solidFill>
                  <a:srgbClr val="5A5A5A"/>
                </a:solidFill>
              </a:rPr>
              <a:t>Health literacy in Vietnam is still limited.</a:t>
            </a:r>
          </a:p>
          <a:p>
            <a:r>
              <a:rPr sz="2000" b="1" i="0"/>
              <a:t>In a study in Da Nang, with two hundred and four older adults, sixty point three percent had inadequate health literacy.</a:t>
            </a:r>
          </a:p>
          <a:p>
            <a:r>
              <a:rPr sz="2000" b="1" i="0"/>
              <a:t>And in another study, forty-six percent of patients searched online, to understand their own results.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Người bệnh rời phòng xét nghiệm với một trang toàn số.</a:t>
            </a:r>
          </a:p>
          <a:p>
            <a:r>
              <a:rPr sz="1400" b="0" i="1">
                <a:solidFill>
                  <a:srgbClr val="5A5A5A"/>
                </a:solidFill>
              </a:rPr>
              <a:t>Trang giấy đầy thuật ngữ lạ. PDW. MCHC. Monocyte.</a:t>
            </a:r>
          </a:p>
          <a:p>
            <a:r>
              <a:rPr sz="1400" b="0" i="1">
                <a:solidFill>
                  <a:srgbClr val="5A5A5A"/>
                </a:solidFill>
              </a:rPr>
              <a:t>Và đơn vị lạ. G trên lít. Femtolit. Picogam.</a:t>
            </a:r>
          </a:p>
          <a:p>
            <a:r>
              <a:rPr sz="1400" b="0" i="1">
                <a:solidFill>
                  <a:srgbClr val="5A5A5A"/>
                </a:solidFill>
              </a:rPr>
              <a:t>Khoảng tham chiếu có in bên cạnh mỗi con số.</a:t>
            </a:r>
          </a:p>
          <a:p>
            <a:r>
              <a:rPr sz="1400" b="0" i="1">
                <a:solidFill>
                  <a:srgbClr val="5A5A5A"/>
                </a:solidFill>
              </a:rPr>
              <a:t>Nên người bệnh thấy được số nào nằm ngoài khoảng.</a:t>
            </a:r>
          </a:p>
          <a:p>
            <a:r>
              <a:rPr sz="1400" b="0" i="1">
                <a:solidFill>
                  <a:srgbClr val="5A5A5A"/>
                </a:solidFill>
              </a:rPr>
              <a:t>Nhưng họ không biết chỉ số đó đo cái gì.</a:t>
            </a:r>
          </a:p>
          <a:p>
            <a:r>
              <a:rPr sz="1400" b="0" i="1">
                <a:solidFill>
                  <a:srgbClr val="5A5A5A"/>
                </a:solidFill>
              </a:rPr>
              <a:t>Họ không biết lệch như vậy có nặng không. Và không biết giờ phải làm gì.</a:t>
            </a:r>
          </a:p>
          <a:p>
            <a:r>
              <a:rPr sz="1400" b="0" i="1">
                <a:solidFill>
                  <a:srgbClr val="5A5A5A"/>
                </a:solidFill>
              </a:rPr>
              <a:t>Hiểu biết về sức khỏe ở Việt Nam còn hạn chế.</a:t>
            </a:r>
          </a:p>
          <a:p>
            <a:r>
              <a:rPr sz="1400" b="0" i="1">
                <a:solidFill>
                  <a:srgbClr val="5A5A5A"/>
                </a:solidFill>
              </a:rPr>
              <a:t>Một nghiên cứu ở Đà Nẵng, trên 204 người cao tuổi, cho thấy 60,3% có hiểu biết sức khỏe chưa đủ.</a:t>
            </a:r>
          </a:p>
          <a:p>
            <a:r>
              <a:rPr sz="1400" b="0" i="1">
                <a:solidFill>
                  <a:srgbClr val="5A5A5A"/>
                </a:solidFill>
              </a:rPr>
              <a:t>Một nghiên cứu khác cho thấy 46% người bệnh phải tự lên mạng tra để hiểu kết quả của mình.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laboratory = lơ-BO-rơ-tơ-ri   ·   analyte = A-nơ-lait   ·   monocyte = MO-nơ-sait   ·   deviation = đi-vi-ÂY-shừn   ·   literacy = LI-tơ-rơ-xi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4  ·  Không hiểu thì người ta hỏi AI  ·  1,5 phút</a:t>
            </a:r>
            <a:endParaRPr lang="en-US" sz="1400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/>
              <a:t>So what do patients do? They photograph the report, and they ask a chatbot.</a:t>
            </a:r>
          </a:p>
          <a:p>
            <a:r>
              <a:rPr sz="2000" b="1" i="0"/>
              <a:t>We tried this with our own model. We asked, in Vietnamese: please explain what white blood cells are.</a:t>
            </a:r>
          </a:p>
          <a:p>
            <a:r>
              <a:rPr sz="2000" b="1" i="0"/>
              <a:t>The model answered: white blood cells are lymphocytes.</a:t>
            </a:r>
          </a:p>
          <a:p>
            <a:r>
              <a:rPr sz="2000" b="1" i="0"/>
              <a:t>That is a definitional error. Lymphocytes are only one type of white blood cell. They are not a synonym.</a:t>
            </a:r>
          </a:p>
          <a:p>
            <a:r>
              <a:rPr sz="2000" b="1" i="0">
                <a:solidFill>
                  <a:srgbClr val="5A5A5A"/>
                </a:solidFill>
              </a:rPr>
              <a:t>The model also said white blood cells fight cancer cells. And it mentioned a weakened immune system.</a:t>
            </a:r>
          </a:p>
          <a:p>
            <a:r>
              <a:rPr sz="2000" b="1" i="0">
                <a:solidFill>
                  <a:srgbClr val="5A5A5A"/>
                </a:solidFill>
              </a:rPr>
              <a:t>Nobody asked about cancer.</a:t>
            </a:r>
          </a:p>
          <a:p>
            <a:r>
              <a:rPr sz="2000" b="1" i="0"/>
              <a:t>So a patient with a completely normal result hears the word cancer, in one short answer.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Vậy người bệnh làm gì? Họ chụp ảnh phiếu, rồi hỏi một chatbot.</a:t>
            </a:r>
          </a:p>
          <a:p>
            <a:r>
              <a:rPr sz="1400" b="0" i="1">
                <a:solidFill>
                  <a:srgbClr val="5A5A5A"/>
                </a:solidFill>
              </a:rPr>
              <a:t>Chúng tôi thử với chính mô hình của mình. Hỏi bằng tiếng Việt: giải thích ngắn gọn bạch cầu là gì.</a:t>
            </a:r>
          </a:p>
          <a:p>
            <a:r>
              <a:rPr sz="1400" b="0" i="1">
                <a:solidFill>
                  <a:srgbClr val="5A5A5A"/>
                </a:solidFill>
              </a:rPr>
              <a:t>Mô hình trả lời: bạch cầu là tế bào lympho.</a:t>
            </a:r>
          </a:p>
          <a:p>
            <a:r>
              <a:rPr sz="1400" b="0" i="1">
                <a:solidFill>
                  <a:srgbClr val="5A5A5A"/>
                </a:solidFill>
              </a:rPr>
              <a:t>Đây là lỗi định nghĩa. Lympho chỉ là một loại bạch cầu. Hai từ này không đồng nghĩa.</a:t>
            </a:r>
          </a:p>
          <a:p>
            <a:r>
              <a:rPr sz="1400" b="0" i="1">
                <a:solidFill>
                  <a:srgbClr val="5A5A5A"/>
                </a:solidFill>
              </a:rPr>
              <a:t>Mô hình còn nói bạch cầu chống lại tế bào ung thư. Và nhắc tới hệ miễn dịch suy yếu.</a:t>
            </a:r>
          </a:p>
          <a:p>
            <a:r>
              <a:rPr sz="1400" b="0" i="1">
                <a:solidFill>
                  <a:srgbClr val="5A5A5A"/>
                </a:solidFill>
              </a:rPr>
              <a:t>Không ai hỏi về ung thư cả.</a:t>
            </a:r>
          </a:p>
          <a:p>
            <a:r>
              <a:rPr sz="1400" b="0" i="1">
                <a:solidFill>
                  <a:srgbClr val="5A5A5A"/>
                </a:solidFill>
              </a:rPr>
              <a:t>Thế là người có kết quả hoàn toàn bình thường vẫn nghe thấy chữ ung thư, chỉ trong một câu trả lời ngắn.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lymphocyte = LIM-phơ-sait   ·   definitional = đe-phi-NI-shơ-nồ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5  ·  Lỗi đáng sợ nhất  ·  1,1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/>
              <a:t>But the most dangerous failure runs the other way.</a:t>
            </a:r>
          </a:p>
          <a:p>
            <a:r>
              <a:rPr sz="2000" b="1" i="0">
                <a:solidFill>
                  <a:srgbClr val="5A5A5A"/>
                </a:solidFill>
              </a:rPr>
              <a:t>On this slide I compare two kinds of error.</a:t>
            </a:r>
          </a:p>
          <a:p>
            <a:r>
              <a:rPr sz="2000" b="1" i="0">
                <a:solidFill>
                  <a:srgbClr val="5A5A5A"/>
                </a:solidFill>
              </a:rPr>
              <a:t>A terminological error is visible. The reader notices it, and checks it with a doctor.</a:t>
            </a:r>
          </a:p>
          <a:p>
            <a:r>
              <a:rPr sz="2000" b="1" i="0"/>
              <a:t>False reassurance is different. It is fluent, it is comfortable, and it removes the reason to seek care.</a:t>
            </a:r>
          </a:p>
          <a:p>
            <a:r>
              <a:rPr sz="2000" b="1" i="0"/>
              <a:t>False reassurance means this. The panel is abnormal, but the model says everything is normal.</a:t>
            </a:r>
          </a:p>
          <a:p>
            <a:r>
              <a:rPr sz="2000" b="1" i="0"/>
              <a:t>This is a real output from our experiment, on a panel labelled seek care.</a:t>
            </a:r>
          </a:p>
          <a:p>
            <a:r>
              <a:rPr sz="2000" b="1" i="0"/>
              <a:t>The model wrote: all test results are within the normal range.</a:t>
            </a:r>
          </a:p>
          <a:p>
            <a:r>
              <a:rPr sz="2000" b="1" i="0"/>
              <a:t>That is why we treat false reassurance as a separate error class, and measure it separately.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Nhưng lỗi nguy hiểm nhất lại đi theo chiều ngược lại.</a:t>
            </a:r>
          </a:p>
          <a:p>
            <a:r>
              <a:rPr sz="1400" b="0" i="1">
                <a:solidFill>
                  <a:srgbClr val="5A5A5A"/>
                </a:solidFill>
              </a:rPr>
              <a:t>Trên slide này tôi so sánh hai loại lỗi.</a:t>
            </a:r>
          </a:p>
          <a:p>
            <a:r>
              <a:rPr sz="1400" b="0" i="1">
                <a:solidFill>
                  <a:srgbClr val="5A5A5A"/>
                </a:solidFill>
              </a:rPr>
              <a:t>Lỗi thuật ngữ thì nhìn thấy được. Người đọc nhận ra và đi hỏi lại bác sĩ.</a:t>
            </a:r>
          </a:p>
          <a:p>
            <a:r>
              <a:rPr sz="1400" b="0" i="1">
                <a:solidFill>
                  <a:srgbClr val="5A5A5A"/>
                </a:solidFill>
              </a:rPr>
              <a:t>Trấn an sai thì khác. Nó trôi chảy, nghe dễ chịu, và làm mất lý do đi khám.</a:t>
            </a:r>
          </a:p>
          <a:p>
            <a:r>
              <a:rPr sz="1400" b="0" i="1">
                <a:solidFill>
                  <a:srgbClr val="5A5A5A"/>
                </a:solidFill>
              </a:rPr>
              <a:t>Trấn an sai nghĩa là: phiếu có chỉ số bất thường, nhưng mô hình nói mọi thứ đều bình thường.</a:t>
            </a:r>
          </a:p>
          <a:p>
            <a:r>
              <a:rPr sz="1400" b="0" i="1">
                <a:solidFill>
                  <a:srgbClr val="5A5A5A"/>
                </a:solidFill>
              </a:rPr>
              <a:t>Đây là câu thật từ thí nghiệm của chúng tôi, trên một ca được xếp mức nên đi khám.</a:t>
            </a:r>
          </a:p>
          <a:p>
            <a:r>
              <a:rPr sz="1400" b="0" i="1">
                <a:solidFill>
                  <a:srgbClr val="5A5A5A"/>
                </a:solidFill>
              </a:rPr>
              <a:t>Mô hình viết: tất cả các kết quả đều nằm trong khoảng bình thường.</a:t>
            </a:r>
          </a:p>
          <a:p>
            <a:r>
              <a:rPr sz="1400" b="0" i="1">
                <a:solidFill>
                  <a:srgbClr val="5A5A5A"/>
                </a:solidFill>
              </a:rPr>
              <a:t>Vì vậy chúng tôi tách trấn an sai thành một loại lỗi riêng, và đo riêng.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abnormal = ab-NOO-mồ   ·   reassurance = ri-ơ-SHUA-rừns   ·   false reassurance = phôls ri-ơ-SHUA-rừns   ·   terminological = tơ-mi-nơ-LO-ji-cồ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6  ·  Bốn bước xử lý  ·  2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>
                <a:solidFill>
                  <a:srgbClr val="5A5A5A"/>
                </a:solidFill>
              </a:rPr>
              <a:t>This is the architecture. Please look at the principle at the top.</a:t>
            </a:r>
          </a:p>
          <a:p>
            <a:r>
              <a:rPr sz="2000" b="1" i="0"/>
              <a:t>No clinical judgement is delegated to the language model.</a:t>
            </a:r>
          </a:p>
          <a:p>
            <a:r>
              <a:rPr sz="2000" b="1" i="0"/>
              <a:t>Layer one is normalisation. It maps every name to one canonical code, and converts the unit.</a:t>
            </a:r>
          </a:p>
          <a:p>
            <a:r>
              <a:rPr sz="2000" b="1" i="0"/>
              <a:t>Layer two is rule-based labelling. It compares the value with the reference interval, and assigns one of three levels.</a:t>
            </a:r>
          </a:p>
          <a:p>
            <a:r>
              <a:rPr sz="2000" b="1" i="0">
                <a:solidFill>
                  <a:srgbClr val="5A5A5A"/>
                </a:solidFill>
              </a:rPr>
              <a:t>Layers one and two have no AI at all.</a:t>
            </a:r>
          </a:p>
          <a:p>
            <a:r>
              <a:rPr sz="2000" b="1" i="0"/>
              <a:t>Inside the interval, the label is normal. A little outside, monitor. Far outside, seek care.</a:t>
            </a:r>
          </a:p>
          <a:p>
            <a:r>
              <a:rPr sz="2000" b="1" i="0"/>
              <a:t>The label for the whole panel is the most severe analyte label.</a:t>
            </a:r>
          </a:p>
          <a:p>
            <a:r>
              <a:rPr sz="2000" b="1" i="0"/>
              <a:t>So the classification is exact by design, and the model cannot change it.</a:t>
            </a:r>
          </a:p>
          <a:p>
            <a:r>
              <a:rPr sz="2000" b="1" i="0"/>
              <a:t>Layer three is constrained generation. The model receives the labels, and only puts them in plain language.</a:t>
            </a:r>
          </a:p>
          <a:p>
            <a:r>
              <a:rPr sz="2000" b="1" i="0"/>
              <a:t>Layer four is validation. The computer checks the text against the labels from layer two.</a:t>
            </a:r>
          </a:p>
          <a:p>
            <a:r>
              <a:rPr sz="2000" b="1" i="0"/>
              <a:t>If the text fails, the model writes it again. After the retry limit, the system uses a fixed template.</a:t>
            </a:r>
          </a:p>
          <a:p>
            <a:r>
              <a:rPr sz="2000" b="1" i="0"/>
              <a:t>So the patient never sees unverified text.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Đây là kiến trúc. Mời quý vị xem nguyên tắc ở trên cùng.</a:t>
            </a:r>
          </a:p>
          <a:p>
            <a:r>
              <a:rPr sz="1400" b="0" i="1">
                <a:solidFill>
                  <a:srgbClr val="5A5A5A"/>
                </a:solidFill>
              </a:rPr>
              <a:t>Không giao bất kỳ phán đoán lâm sàng nào cho mô hình ngôn ngữ.</a:t>
            </a:r>
          </a:p>
          <a:p>
            <a:r>
              <a:rPr sz="1400" b="0" i="1">
                <a:solidFill>
                  <a:srgbClr val="5A5A5A"/>
                </a:solidFill>
              </a:rPr>
              <a:t>Tầng một là chuẩn hóa. Quy mọi tên về một mã chuẩn, và quy đổi đơn vị.</a:t>
            </a:r>
          </a:p>
          <a:p>
            <a:r>
              <a:rPr sz="1400" b="0" i="1">
                <a:solidFill>
                  <a:srgbClr val="5A5A5A"/>
                </a:solidFill>
              </a:rPr>
              <a:t>Tầng hai là phân loại bằng luật. So giá trị với khoảng tham chiếu, rồi gán một trong ba mức.</a:t>
            </a:r>
          </a:p>
          <a:p>
            <a:r>
              <a:rPr sz="1400" b="0" i="1">
                <a:solidFill>
                  <a:srgbClr val="5A5A5A"/>
                </a:solidFill>
              </a:rPr>
              <a:t>Tầng một và tầng hai hoàn toàn không có AI.</a:t>
            </a:r>
          </a:p>
          <a:p>
            <a:r>
              <a:rPr sz="1400" b="0" i="1">
                <a:solidFill>
                  <a:srgbClr val="5A5A5A"/>
                </a:solidFill>
              </a:rPr>
              <a:t>Trong khoảng là bình thường. Lệch ít là nên theo dõi. Lệch nhiều là nên đi khám sớm.</a:t>
            </a:r>
          </a:p>
          <a:p>
            <a:r>
              <a:rPr sz="1400" b="0" i="1">
                <a:solidFill>
                  <a:srgbClr val="5A5A5A"/>
                </a:solidFill>
              </a:rPr>
              <a:t>Nhãn của cả phiếu lấy theo chỉ số nặng nhất.</a:t>
            </a:r>
          </a:p>
          <a:p>
            <a:r>
              <a:rPr sz="1400" b="0" i="1">
                <a:solidFill>
                  <a:srgbClr val="5A5A5A"/>
                </a:solidFill>
              </a:rPr>
              <a:t>Nên phân loại chính xác là nhờ thiết kế, và mô hình không thể làm sai lệch nó.</a:t>
            </a:r>
          </a:p>
          <a:p>
            <a:r>
              <a:rPr sz="1400" b="0" i="1">
                <a:solidFill>
                  <a:srgbClr val="5A5A5A"/>
                </a:solidFill>
              </a:rPr>
              <a:t>Tầng ba là sinh văn bản có ràng buộc. Mô hình nhận sẵn nhãn, và chỉ viết lại cho dễ hiểu.</a:t>
            </a:r>
          </a:p>
          <a:p>
            <a:r>
              <a:rPr sz="1400" b="0" i="1">
                <a:solidFill>
                  <a:srgbClr val="5A5A5A"/>
                </a:solidFill>
              </a:rPr>
              <a:t>Tầng bốn là kiểm chứng. Máy tính đối chiếu câu chữ với nhãn của tầng hai.</a:t>
            </a:r>
          </a:p>
          <a:p>
            <a:r>
              <a:rPr sz="1400" b="0" i="1">
                <a:solidFill>
                  <a:srgbClr val="5A5A5A"/>
                </a:solidFill>
              </a:rPr>
              <a:t>Không đạt thì bắt mô hình viết lại. Quá số lần cho phép thì dùng câu mẫu cố định.</a:t>
            </a:r>
          </a:p>
          <a:p>
            <a:r>
              <a:rPr sz="1400" b="0" i="1">
                <a:solidFill>
                  <a:srgbClr val="5A5A5A"/>
                </a:solidFill>
              </a:rPr>
              <a:t>Nhờ vậy người bệnh không bao giờ đọc phải câu chưa qua kiểm chứng.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analyte = A-nơ-lait   ·   validation = va-li-ĐÂY-shừn   ·   severe = xi-VIƠ   ·   template = TEM-plêit   ·   delegated = ĐE-li-ghây-tịt   ·   canonical = cơ-NO-ni-cồ   ·   normalisation = noo-mơ-lai-ZÂY-shừn   ·   architecture = A-ki-tec-chờ   ·   clinical = CLI-ni-cồ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7  ·  Bước 1 — tên và đơn vị  ·  1,6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>
                <a:solidFill>
                  <a:srgbClr val="5A5A5A"/>
                </a:solidFill>
              </a:rPr>
              <a:t>Let me show layer one in more detail.</a:t>
            </a:r>
          </a:p>
          <a:p>
            <a:r>
              <a:rPr sz="2000" b="1" i="0"/>
              <a:t>One analyte can have many names.</a:t>
            </a:r>
          </a:p>
          <a:p>
            <a:r>
              <a:rPr sz="2000" b="1" i="0">
                <a:solidFill>
                  <a:srgbClr val="5A5A5A"/>
                </a:solidFill>
              </a:rPr>
              <a:t>For white blood cells, we see W B C, S L B C, the full Vietnamese name, and a version with a star.</a:t>
            </a:r>
          </a:p>
          <a:p>
            <a:r>
              <a:rPr sz="2000" b="1" i="0">
                <a:solidFill>
                  <a:srgbClr val="5A5A5A"/>
                </a:solidFill>
              </a:rPr>
              <a:t>The percent and hash markers are also important. They separate a percentage from an absolute count.</a:t>
            </a:r>
          </a:p>
          <a:p>
            <a:r>
              <a:rPr sz="2000" b="1" i="0">
                <a:solidFill>
                  <a:srgbClr val="5A5A5A"/>
                </a:solidFill>
              </a:rPr>
              <a:t>And some laboratories write them before the name, some after.</a:t>
            </a:r>
          </a:p>
          <a:p>
            <a:r>
              <a:rPr sz="2000" b="1" i="0"/>
              <a:t>But units are the serious problem. Here is a real example.</a:t>
            </a:r>
          </a:p>
          <a:p>
            <a:r>
              <a:rPr sz="2000" b="1" i="0"/>
              <a:t>The report says haemoglobin is fourteen point five six grams per decilitre.</a:t>
            </a:r>
          </a:p>
          <a:p>
            <a:r>
              <a:rPr sz="2000" b="1" i="0"/>
              <a:t>Our reference interval is one hundred and thirty, to one hundred and seventy-five grams per litre.</a:t>
            </a:r>
          </a:p>
          <a:p>
            <a:r>
              <a:rPr sz="2000" b="1" i="0"/>
              <a:t>Without conversion, the system says seek care. That is a false alarm, at the most serious level.</a:t>
            </a:r>
          </a:p>
          <a:p>
            <a:r>
              <a:rPr sz="2000" b="1" i="0"/>
              <a:t>With conversion, the value is one hundred and forty-five point six, and the result is normal.</a:t>
            </a:r>
          </a:p>
          <a:p>
            <a:r>
              <a:rPr sz="2000" b="1" i="0"/>
              <a:t>So our rule is strict. If the unit is unknown, or missing, we refuse the analyte. We never guess.</a:t>
            </a:r>
          </a:p>
          <a:p>
            <a:r>
              <a:rPr sz="2000" b="1" i="0">
                <a:solidFill>
                  <a:srgbClr val="5A5A5A"/>
                </a:solidFill>
              </a:rPr>
              <a:t>This is a known problem. Six to nineteen percent of tests cannot be mapped accurately to LOINC.</a:t>
            </a:r>
          </a:p>
          <a:p>
            <a:r>
              <a:rPr sz="2000" b="1" i="0">
                <a:solidFill>
                  <a:srgbClr val="5A5A5A"/>
                </a:solidFill>
              </a:rPr>
              <a:t>And one analysis found two thousand and nineteen different unit expressions.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Tôi xin nói kỹ hơn về tầng một.</a:t>
            </a:r>
          </a:p>
          <a:p>
            <a:r>
              <a:rPr sz="1400" b="0" i="1">
                <a:solidFill>
                  <a:srgbClr val="5A5A5A"/>
                </a:solidFill>
              </a:rPr>
              <a:t>Một chỉ số có thể có nhiều tên.</a:t>
            </a:r>
          </a:p>
          <a:p>
            <a:r>
              <a:rPr sz="1400" b="0" i="1">
                <a:solidFill>
                  <a:srgbClr val="5A5A5A"/>
                </a:solidFill>
              </a:rPr>
              <a:t>Với bạch cầu, chúng tôi gặp WBC, SLBC, tên tiếng Việt đầy đủ, và cả dạng có dấu sao.</a:t>
            </a:r>
          </a:p>
          <a:p>
            <a:r>
              <a:rPr sz="1400" b="0" i="1">
                <a:solidFill>
                  <a:srgbClr val="5A5A5A"/>
                </a:solidFill>
              </a:rPr>
              <a:t>Dấu phần trăm và dấu thăng cũng quan trọng. Chúng phân biệt tỷ lệ với số lượng tuyệt đối.</a:t>
            </a:r>
          </a:p>
          <a:p>
            <a:r>
              <a:rPr sz="1400" b="0" i="1">
                <a:solidFill>
                  <a:srgbClr val="5A5A5A"/>
                </a:solidFill>
              </a:rPr>
              <a:t>Có phòng xét nghiệm viết trước tên, có phòng viết sau.</a:t>
            </a:r>
          </a:p>
          <a:p>
            <a:r>
              <a:rPr sz="1400" b="0" i="1">
                <a:solidFill>
                  <a:srgbClr val="5A5A5A"/>
                </a:solidFill>
              </a:rPr>
              <a:t>Nhưng đơn vị mới là vấn đề nghiêm trọng. Đây là ví dụ thật.</a:t>
            </a:r>
          </a:p>
          <a:p>
            <a:r>
              <a:rPr sz="1400" b="0" i="1">
                <a:solidFill>
                  <a:srgbClr val="5A5A5A"/>
                </a:solidFill>
              </a:rPr>
              <a:t>Phiếu ghi huyết sắc tố là 14,56 g/dL.</a:t>
            </a:r>
          </a:p>
          <a:p>
            <a:r>
              <a:rPr sz="1400" b="0" i="1">
                <a:solidFill>
                  <a:srgbClr val="5A5A5A"/>
                </a:solidFill>
              </a:rPr>
              <a:t>Khoảng tham chiếu của chúng tôi là 130 đến 175 g/L.</a:t>
            </a:r>
          </a:p>
          <a:p>
            <a:r>
              <a:rPr sz="1400" b="0" i="1">
                <a:solidFill>
                  <a:srgbClr val="5A5A5A"/>
                </a:solidFill>
              </a:rPr>
              <a:t>Không quy đổi thì hệ thống báo nên đi khám. Đó là báo động giả, ở mức nặng nhất.</a:t>
            </a:r>
          </a:p>
          <a:p>
            <a:r>
              <a:rPr sz="1400" b="0" i="1">
                <a:solidFill>
                  <a:srgbClr val="5A5A5A"/>
                </a:solidFill>
              </a:rPr>
              <a:t>Quy đổi rồi thì giá trị là 145,6, và kết quả là bình thường.</a:t>
            </a:r>
          </a:p>
          <a:p>
            <a:r>
              <a:rPr sz="1400" b="0" i="1">
                <a:solidFill>
                  <a:srgbClr val="5A5A5A"/>
                </a:solidFill>
              </a:rPr>
              <a:t>Nên quy tắc của chúng tôi rất chặt. Đơn vị lạ hoặc thiếu thì bỏ qua chỉ số đó. Không bao giờ đoán.</a:t>
            </a:r>
          </a:p>
          <a:p>
            <a:r>
              <a:rPr sz="1400" b="0" i="1">
                <a:solidFill>
                  <a:srgbClr val="5A5A5A"/>
                </a:solidFill>
              </a:rPr>
              <a:t>Đây là vấn đề đã biết. 6 đến 19% xét nghiệm không ánh xạ chính xác được sang LOINC.</a:t>
            </a:r>
          </a:p>
          <a:p>
            <a:r>
              <a:rPr sz="1400" b="0" i="1">
                <a:solidFill>
                  <a:srgbClr val="5A5A5A"/>
                </a:solidFill>
              </a:rPr>
              <a:t>Và một phân tích tìm thấy 2.019 cách viết đơn vị khác nhau.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analyte = A-nơ-lait   ·   haemoglobin = hi-mơ-GLÔ-bìn   ·   conversion = cừn-VƠ-shừn   ·   decilitre = ĐE-xi-li-tờ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8  ·  Bước 3 và 4 — AI viết, máy kiểm tra  ·  1,4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>
                <a:solidFill>
                  <a:srgbClr val="5A5A5A"/>
                </a:solidFill>
              </a:rPr>
              <a:t>Now layers three and four.</a:t>
            </a:r>
          </a:p>
          <a:p>
            <a:r>
              <a:rPr sz="2000" b="1" i="0"/>
              <a:t>Layer three applies three constraints.</a:t>
            </a:r>
          </a:p>
          <a:p>
            <a:r>
              <a:rPr sz="2000" b="1" i="0"/>
              <a:t>The input constraint. The model is given the labels, and is never asked to derive them.</a:t>
            </a:r>
          </a:p>
          <a:p>
            <a:r>
              <a:rPr sz="2000" b="1" i="0"/>
              <a:t>The content constraint. No disease names, no causes, no medications, no dosages.</a:t>
            </a:r>
          </a:p>
          <a:p>
            <a:r>
              <a:rPr sz="2000" b="1" i="0"/>
              <a:t>The output constraint. The model must return a fixed JSON schema.</a:t>
            </a:r>
          </a:p>
          <a:p>
            <a:r>
              <a:rPr sz="2000" b="1" i="0"/>
              <a:t>Layer four checks six error classes.</a:t>
            </a:r>
          </a:p>
          <a:p>
            <a:r>
              <a:rPr sz="2000" b="1" i="0"/>
              <a:t>One. Does the stated direction match the label from layer two?</a:t>
            </a:r>
          </a:p>
          <a:p>
            <a:r>
              <a:rPr sz="2000" b="1" i="0"/>
              <a:t>Two. Does the prose contradict that label?</a:t>
            </a:r>
          </a:p>
          <a:p>
            <a:r>
              <a:rPr sz="2000" b="1" i="0"/>
              <a:t>Three. Are forbidden terms present?</a:t>
            </a:r>
          </a:p>
          <a:p>
            <a:r>
              <a:rPr sz="2000" b="1" i="0">
                <a:solidFill>
                  <a:srgbClr val="5A5A5A"/>
                </a:solidFill>
              </a:rPr>
              <a:t>Four. Is any analyte fabricated?</a:t>
            </a:r>
          </a:p>
          <a:p>
            <a:r>
              <a:rPr sz="2000" b="1" i="0">
                <a:solidFill>
                  <a:srgbClr val="5A5A5A"/>
                </a:solidFill>
              </a:rPr>
              <a:t>Five. Is any analyte omitted?</a:t>
            </a:r>
          </a:p>
          <a:p>
            <a:r>
              <a:rPr sz="2000" b="1" i="0"/>
              <a:t>And six. Does the closing statement falsely reassure?</a:t>
            </a:r>
          </a:p>
          <a:p>
            <a:r>
              <a:rPr sz="2000" b="1" i="0"/>
              <a:t>Our model is Qwen two point five, with three billion parameters, served locally through Ollama.</a:t>
            </a:r>
          </a:p>
          <a:p>
            <a:r>
              <a:rPr sz="2000" b="1" i="0"/>
              <a:t>So the data never leaves the institution, and no GPU is required.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Giờ tới tầng ba và tầng bốn.</a:t>
            </a:r>
          </a:p>
          <a:p>
            <a:r>
              <a:rPr sz="1400" b="0" i="1">
                <a:solidFill>
                  <a:srgbClr val="5A5A5A"/>
                </a:solidFill>
              </a:rPr>
              <a:t>Tầng ba đặt ba ràng buộc.</a:t>
            </a:r>
          </a:p>
          <a:p>
            <a:r>
              <a:rPr sz="1400" b="0" i="1">
                <a:solidFill>
                  <a:srgbClr val="5A5A5A"/>
                </a:solidFill>
              </a:rPr>
              <a:t>Ràng buộc đầu vào. Mô hình được cho sẵn nhãn, không bao giờ phải tự suy ra.</a:t>
            </a:r>
          </a:p>
          <a:p>
            <a:r>
              <a:rPr sz="1400" b="0" i="1">
                <a:solidFill>
                  <a:srgbClr val="5A5A5A"/>
                </a:solidFill>
              </a:rPr>
              <a:t>Ràng buộc nội dung. Không tên bệnh, không nguyên nhân, không thuốc, không liều lượng.</a:t>
            </a:r>
          </a:p>
          <a:p>
            <a:r>
              <a:rPr sz="1400" b="0" i="1">
                <a:solidFill>
                  <a:srgbClr val="5A5A5A"/>
                </a:solidFill>
              </a:rPr>
              <a:t>Ràng buộc đầu ra. Mô hình phải trả về đúng khuôn JSON cố định.</a:t>
            </a:r>
          </a:p>
          <a:p>
            <a:r>
              <a:rPr sz="1400" b="0" i="1">
                <a:solidFill>
                  <a:srgbClr val="5A5A5A"/>
                </a:solidFill>
              </a:rPr>
              <a:t>Tầng bốn kiểm tra sáu loại lỗi.</a:t>
            </a:r>
          </a:p>
          <a:p>
            <a:r>
              <a:rPr sz="1400" b="0" i="1">
                <a:solidFill>
                  <a:srgbClr val="5A5A5A"/>
                </a:solidFill>
              </a:rPr>
              <a:t>Một. Chiều cao thấp có khớp nhãn của tầng hai không?</a:t>
            </a:r>
          </a:p>
          <a:p>
            <a:r>
              <a:rPr sz="1400" b="0" i="1">
                <a:solidFill>
                  <a:srgbClr val="5A5A5A"/>
                </a:solidFill>
              </a:rPr>
              <a:t>Hai. Câu văn có nói ngược nhãn không?</a:t>
            </a:r>
          </a:p>
          <a:p>
            <a:r>
              <a:rPr sz="1400" b="0" i="1">
                <a:solidFill>
                  <a:srgbClr val="5A5A5A"/>
                </a:solidFill>
              </a:rPr>
              <a:t>Ba. Có từ bị cấm không?</a:t>
            </a:r>
          </a:p>
          <a:p>
            <a:r>
              <a:rPr sz="1400" b="0" i="1">
                <a:solidFill>
                  <a:srgbClr val="5A5A5A"/>
                </a:solidFill>
              </a:rPr>
              <a:t>Bốn. Có bịa thêm chỉ số nào không?</a:t>
            </a:r>
          </a:p>
          <a:p>
            <a:r>
              <a:rPr sz="1400" b="0" i="1">
                <a:solidFill>
                  <a:srgbClr val="5A5A5A"/>
                </a:solidFill>
              </a:rPr>
              <a:t>Năm. Có bỏ sót chỉ số nào không?</a:t>
            </a:r>
          </a:p>
          <a:p>
            <a:r>
              <a:rPr sz="1400" b="0" i="1">
                <a:solidFill>
                  <a:srgbClr val="5A5A5A"/>
                </a:solidFill>
              </a:rPr>
              <a:t>Và sáu. Câu kết có trấn an sai không?</a:t>
            </a:r>
          </a:p>
          <a:p>
            <a:r>
              <a:rPr sz="1400" b="0" i="1">
                <a:solidFill>
                  <a:srgbClr val="5A5A5A"/>
                </a:solidFill>
              </a:rPr>
              <a:t>Mô hình là Qwen 2.5, ba tỷ tham số, chạy tại chỗ qua Ollama.</a:t>
            </a:r>
          </a:p>
          <a:p>
            <a:r>
              <a:rPr sz="1400" b="0" i="1">
                <a:solidFill>
                  <a:srgbClr val="5A5A5A"/>
                </a:solidFill>
              </a:rPr>
              <a:t>Nhờ vậy dữ liệu không ra khỏi đơn vị, và không cần card đồ họa.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analyte = A-nơ-lait   ·   constraint = cừn-XTRÂYNT   ·   contradict = con-trơ-ĐICT   ·   fabricated = PHA-bri-kây-tịt   ·   omitted = ơ-MI-tịt   ·   parameter = pơ-RA-mi-tờ   ·   Qwen = Quen   ·   Ollama = Ô-LA-ma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9  ·  Cách thử nghiệm  ·  1,3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>
                <a:solidFill>
                  <a:srgbClr val="5A5A5A"/>
                </a:solidFill>
              </a:rPr>
              <a:t>Now the evaluation.</a:t>
            </a:r>
          </a:p>
          <a:p>
            <a:r>
              <a:rPr sz="2000" b="1" i="0"/>
              <a:t>We used one hundred and fifty synthetic blood count panels. Each panel has ten to eighteen analytes.</a:t>
            </a:r>
          </a:p>
          <a:p>
            <a:r>
              <a:rPr sz="2000" b="1" i="0"/>
              <a:t>The panels are split equally across the three severity classes.</a:t>
            </a:r>
          </a:p>
          <a:p>
            <a:r>
              <a:rPr sz="2000" b="1" i="0">
                <a:solidFill>
                  <a:srgbClr val="5A5A5A"/>
                </a:solidFill>
              </a:rPr>
              <a:t>Names and units are random, to test layer one.</a:t>
            </a:r>
          </a:p>
          <a:p>
            <a:r>
              <a:rPr sz="2000" b="1" i="0">
                <a:solidFill>
                  <a:srgbClr val="5A5A5A"/>
                </a:solidFill>
              </a:rPr>
              <a:t>Why synthetic data? There are three reasons.</a:t>
            </a:r>
          </a:p>
          <a:p>
            <a:r>
              <a:rPr sz="2000" b="1" i="0"/>
              <a:t>We need ground truth labels, to score the output. Real reports do not carry them.</a:t>
            </a:r>
          </a:p>
          <a:p>
            <a:r>
              <a:rPr sz="2000" b="1" i="0"/>
              <a:t>We need a balanced design. Real panels are mostly normal, so we would have too few severe cases.</a:t>
            </a:r>
          </a:p>
          <a:p>
            <a:r>
              <a:rPr sz="2000" b="1" i="0">
                <a:solidFill>
                  <a:srgbClr val="5A5A5A"/>
                </a:solidFill>
              </a:rPr>
              <a:t>And this way we do not handle patient data.</a:t>
            </a:r>
          </a:p>
          <a:p>
            <a:r>
              <a:rPr sz="2000" b="1" i="0"/>
              <a:t>We compare three configurations.</a:t>
            </a:r>
          </a:p>
          <a:p>
            <a:r>
              <a:rPr sz="2000" b="1" i="0"/>
              <a:t>Baseline gives the raw values to the model. No labels, no constraints, no validation.</a:t>
            </a:r>
          </a:p>
          <a:p>
            <a:r>
              <a:rPr sz="2000" b="1" i="0">
                <a:solidFill>
                  <a:srgbClr val="5A5A5A"/>
                </a:solidFill>
              </a:rPr>
              <a:t>This is what happens when a patient pastes a report into a chatbot.</a:t>
            </a:r>
          </a:p>
          <a:p>
            <a:r>
              <a:rPr sz="2000" b="1" i="0"/>
              <a:t>Constrained uses layers one to three. Labels and constraints, but no validation.</a:t>
            </a:r>
          </a:p>
          <a:p>
            <a:r>
              <a:rPr sz="2000" b="1" i="0"/>
              <a:t>Full uses all four layers.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Giờ tới phần thử nghiệm.</a:t>
            </a:r>
          </a:p>
          <a:p>
            <a:r>
              <a:rPr sz="1400" b="0" i="1">
                <a:solidFill>
                  <a:srgbClr val="5A5A5A"/>
                </a:solidFill>
              </a:rPr>
              <a:t>Chúng tôi dùng 150 phiếu công thức máu tự tạo. Mỗi phiếu có 10 đến 18 chỉ số.</a:t>
            </a:r>
          </a:p>
          <a:p>
            <a:r>
              <a:rPr sz="1400" b="0" i="1">
                <a:solidFill>
                  <a:srgbClr val="5A5A5A"/>
                </a:solidFill>
              </a:rPr>
              <a:t>Các phiếu chia đều cho ba mức nặng nhẹ.</a:t>
            </a:r>
          </a:p>
          <a:p>
            <a:r>
              <a:rPr sz="1400" b="0" i="1">
                <a:solidFill>
                  <a:srgbClr val="5A5A5A"/>
                </a:solidFill>
              </a:rPr>
              <a:t>Tên và đơn vị lấy ngẫu nhiên, để thử tầng một.</a:t>
            </a:r>
          </a:p>
          <a:p>
            <a:r>
              <a:rPr sz="1400" b="0" i="1">
                <a:solidFill>
                  <a:srgbClr val="5A5A5A"/>
                </a:solidFill>
              </a:rPr>
              <a:t>Vì sao dùng dữ liệu tự tạo? Có ba lý do.</a:t>
            </a:r>
          </a:p>
          <a:p>
            <a:r>
              <a:rPr sz="1400" b="0" i="1">
                <a:solidFill>
                  <a:srgbClr val="5A5A5A"/>
                </a:solidFill>
              </a:rPr>
              <a:t>Chúng tôi cần đáp án đúng để chấm điểm. Phiếu thật không có sẵn.</a:t>
            </a:r>
          </a:p>
          <a:p>
            <a:r>
              <a:rPr sz="1400" b="0" i="1">
                <a:solidFill>
                  <a:srgbClr val="5A5A5A"/>
                </a:solidFill>
              </a:rPr>
              <a:t>Chúng tôi cần thiết kế cân bằng. Phiếu thật hầu hết bình thường, sẽ thiếu ca nặng.</a:t>
            </a:r>
          </a:p>
          <a:p>
            <a:r>
              <a:rPr sz="1400" b="0" i="1">
                <a:solidFill>
                  <a:srgbClr val="5A5A5A"/>
                </a:solidFill>
              </a:rPr>
              <a:t>Và như vậy chúng tôi không phải đụng tới dữ liệu người bệnh.</a:t>
            </a:r>
          </a:p>
          <a:p>
            <a:r>
              <a:rPr sz="1400" b="0" i="1">
                <a:solidFill>
                  <a:srgbClr val="5A5A5A"/>
                </a:solidFill>
              </a:rPr>
              <a:t>Chúng tôi so ba cấu hình.</a:t>
            </a:r>
          </a:p>
          <a:p>
            <a:r>
              <a:rPr sz="1400" b="0" i="1">
                <a:solidFill>
                  <a:srgbClr val="5A5A5A"/>
                </a:solidFill>
              </a:rPr>
              <a:t>Cấu hình một đưa thẳng số cho mô hình. Không nhãn, không ràng buộc, không kiểm chứng.</a:t>
            </a:r>
          </a:p>
          <a:p>
            <a:r>
              <a:rPr sz="1400" b="0" i="1">
                <a:solidFill>
                  <a:srgbClr val="5A5A5A"/>
                </a:solidFill>
              </a:rPr>
              <a:t>Đây chính là việc xảy ra khi người dân dán phiếu vào chatbot.</a:t>
            </a:r>
          </a:p>
          <a:p>
            <a:r>
              <a:rPr sz="1400" b="0" i="1">
                <a:solidFill>
                  <a:srgbClr val="5A5A5A"/>
                </a:solidFill>
              </a:rPr>
              <a:t>Cấu hình hai dùng tầng một tới ba. Có nhãn và ràng buộc, nhưng không kiểm chứng.</a:t>
            </a:r>
          </a:p>
          <a:p>
            <a:r>
              <a:rPr sz="1400" b="0" i="1">
                <a:solidFill>
                  <a:srgbClr val="5A5A5A"/>
                </a:solidFill>
              </a:rPr>
              <a:t>Cấu hình ba dùng đủ bốn tầng.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analyte = A-nơ-lait   ·   validation = va-li-ĐÂY-shừn   ·   synthetic = xin-THE-tic   ·   constraint = cừn-XTRÂYNT   ·   configuration = cừn-phi-ghơ-RÂY-shừn   ·   severity = xi-VE-rơ-ti   ·   severe = xi-VIƠ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10  ·  Kết quả  ·  1,6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>
                <a:solidFill>
                  <a:srgbClr val="5A5A5A"/>
                </a:solidFill>
              </a:rPr>
              <a:t>This is the main results table. The values are the percentage of panels.</a:t>
            </a:r>
          </a:p>
          <a:p>
            <a:r>
              <a:rPr sz="2000" b="1" i="0"/>
              <a:t>Every error metric goes down, from baseline, to constrained, to full.</a:t>
            </a:r>
          </a:p>
          <a:p>
            <a:r>
              <a:rPr sz="2000" b="1" i="0"/>
              <a:t>Please look at the baseline row. Zero safe outputs, in all one hundred and fifty panels.</a:t>
            </a:r>
          </a:p>
          <a:p>
            <a:r>
              <a:rPr sz="2000" b="1" i="0"/>
              <a:t>The direction was wrong in ninety-one point three percent of panels.</a:t>
            </a:r>
          </a:p>
          <a:p>
            <a:r>
              <a:rPr sz="2000" b="1" i="0">
                <a:solidFill>
                  <a:srgbClr val="5A5A5A"/>
                </a:solidFill>
              </a:rPr>
              <a:t>Forbidden terms appeared in seventy-nine point three percent.</a:t>
            </a:r>
          </a:p>
          <a:p>
            <a:r>
              <a:rPr sz="2000" b="1" i="0"/>
              <a:t>And false reassurance in thirty-two percent. That is one patient in three.</a:t>
            </a:r>
          </a:p>
          <a:p>
            <a:r>
              <a:rPr sz="2000" b="1" i="0"/>
              <a:t>The constrained row is much better. False reassurance is down to eight percent.</a:t>
            </a:r>
          </a:p>
          <a:p>
            <a:r>
              <a:rPr sz="2000" b="1" i="0">
                <a:solidFill>
                  <a:srgbClr val="5A5A5A"/>
                </a:solidFill>
              </a:rPr>
              <a:t>Direction mismatch is down to twelve point seven percent.</a:t>
            </a:r>
          </a:p>
          <a:p>
            <a:r>
              <a:rPr sz="2000" b="1" i="0"/>
              <a:t>But fifty-two percent of these outputs still failed validation.</a:t>
            </a:r>
          </a:p>
          <a:p>
            <a:r>
              <a:rPr sz="2000" b="1" i="0"/>
              <a:t>The full row. One hundred percent safe output, and zero in every error column.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Đây là bảng kết quả chính. Các số là phần trăm số phiếu.</a:t>
            </a:r>
          </a:p>
          <a:p>
            <a:r>
              <a:rPr sz="1400" b="0" i="1">
                <a:solidFill>
                  <a:srgbClr val="5A5A5A"/>
                </a:solidFill>
              </a:rPr>
              <a:t>Mọi chỉ số lỗi đều giảm, từ cấu hình một, sang hai, sang ba.</a:t>
            </a:r>
          </a:p>
          <a:p>
            <a:r>
              <a:rPr sz="1400" b="0" i="1">
                <a:solidFill>
                  <a:srgbClr val="5A5A5A"/>
                </a:solidFill>
              </a:rPr>
              <a:t>Mời quý vị xem dòng cấu hình một. Không có phiếu nào an toàn, trong cả 150 phiếu.</a:t>
            </a:r>
          </a:p>
          <a:p>
            <a:r>
              <a:rPr sz="1400" b="0" i="1">
                <a:solidFill>
                  <a:srgbClr val="5A5A5A"/>
                </a:solidFill>
              </a:rPr>
              <a:t>Sai chiều cao thấp ở 91,3% số phiếu.</a:t>
            </a:r>
          </a:p>
          <a:p>
            <a:r>
              <a:rPr sz="1400" b="0" i="1">
                <a:solidFill>
                  <a:srgbClr val="5A5A5A"/>
                </a:solidFill>
              </a:rPr>
              <a:t>Từ bị cấm xuất hiện ở 79,3%.</a:t>
            </a:r>
          </a:p>
          <a:p>
            <a:r>
              <a:rPr sz="1400" b="0" i="1">
                <a:solidFill>
                  <a:srgbClr val="5A5A5A"/>
                </a:solidFill>
              </a:rPr>
              <a:t>Và trấn an sai ở 32%. Tức là cứ ba người thì một.</a:t>
            </a:r>
          </a:p>
          <a:p>
            <a:r>
              <a:rPr sz="1400" b="0" i="1">
                <a:solidFill>
                  <a:srgbClr val="5A5A5A"/>
                </a:solidFill>
              </a:rPr>
              <a:t>Dòng cấu hình hai tốt hơn nhiều. Trấn an sai còn 8%.</a:t>
            </a:r>
          </a:p>
          <a:p>
            <a:r>
              <a:rPr sz="1400" b="0" i="1">
                <a:solidFill>
                  <a:srgbClr val="5A5A5A"/>
                </a:solidFill>
              </a:rPr>
              <a:t>Sai chiều lệch còn 12,7%.</a:t>
            </a:r>
          </a:p>
          <a:p>
            <a:r>
              <a:rPr sz="1400" b="0" i="1">
                <a:solidFill>
                  <a:srgbClr val="5A5A5A"/>
                </a:solidFill>
              </a:rPr>
              <a:t>Nhưng 52% số câu ở cấu hình này vẫn không qua kiểm chứng.</a:t>
            </a:r>
          </a:p>
          <a:p>
            <a:r>
              <a:rPr sz="1400" b="0" i="1">
                <a:solidFill>
                  <a:srgbClr val="5A5A5A"/>
                </a:solidFill>
              </a:rPr>
              <a:t>Dòng cấu hình ba. An toàn 100%, và bằng không ở mọi cột lỗi.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reassurance = ri-ơ-SHUA-rừns   ·   false reassurance = phôls ri-ơ-SHUA-rừns   ·   validation = va-li-ĐÂY-shừn   ·   metric = ME-tric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12  ·  Ba con số đáng nhớ  ·  1,5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>
                <a:solidFill>
                  <a:srgbClr val="5A5A5A"/>
                </a:solidFill>
              </a:rPr>
              <a:t>Here are the three numbers I would like you to remember.</a:t>
            </a:r>
          </a:p>
          <a:p>
            <a:r>
              <a:rPr sz="2000" b="1" i="0"/>
              <a:t>First, false reassurance, from thirty-two percent, down to zero.</a:t>
            </a:r>
          </a:p>
          <a:p>
            <a:r>
              <a:rPr sz="2000" b="1" i="0"/>
              <a:t>Without constraints, one patient in three, with abnormal results, would be told that nothing needed attention.</a:t>
            </a:r>
          </a:p>
          <a:p>
            <a:r>
              <a:rPr sz="2000" b="1" i="0"/>
              <a:t>Second, direction mismatch, from ninety-one point three percent, down to zero.</a:t>
            </a:r>
          </a:p>
          <a:p>
            <a:r>
              <a:rPr sz="2000" b="1" i="0">
                <a:solidFill>
                  <a:srgbClr val="5A5A5A"/>
                </a:solidFill>
              </a:rPr>
              <a:t>When the model judges for itself, it fails almost always. In a rule layer, classification is exact.</a:t>
            </a:r>
          </a:p>
          <a:p>
            <a:r>
              <a:rPr sz="2000" b="1" i="0"/>
              <a:t>Third, forty-eight percent. Even with careful instructions, more than half of the outputs still failed.</a:t>
            </a:r>
          </a:p>
          <a:p>
            <a:r>
              <a:rPr sz="2000" b="1" i="0">
                <a:solidFill>
                  <a:srgbClr val="5A5A5A"/>
                </a:solidFill>
              </a:rPr>
              <a:t>Instruction alone does not guarantee compliance.</a:t>
            </a:r>
          </a:p>
          <a:p>
            <a:r>
              <a:rPr sz="2000" b="1" i="0"/>
              <a:t>And I want to be clear about the one hundred percent.</a:t>
            </a:r>
          </a:p>
          <a:p>
            <a:r>
              <a:rPr sz="2000" b="1" i="0"/>
              <a:t>Sixty-four percent of panels were served by model text. Thirty-six percent used a fixed template.</a:t>
            </a:r>
          </a:p>
          <a:p>
            <a:r>
              <a:rPr sz="2000" b="1" i="0"/>
              <a:t>The guarantee comes from the pipeline. It is not evidence that a three billion model writes reliably.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Đây là ba con số tôi mong quý vị nhớ.</a:t>
            </a:r>
          </a:p>
          <a:p>
            <a:r>
              <a:rPr sz="1400" b="0" i="1">
                <a:solidFill>
                  <a:srgbClr val="5A5A5A"/>
                </a:solidFill>
              </a:rPr>
              <a:t>Thứ nhất, trấn an sai, từ 32% về 0.</a:t>
            </a:r>
          </a:p>
          <a:p>
            <a:r>
              <a:rPr sz="1400" b="0" i="1">
                <a:solidFill>
                  <a:srgbClr val="5A5A5A"/>
                </a:solidFill>
              </a:rPr>
              <a:t>Không có ràng buộc thì cứ ba người có kết quả bất thường, một người được bảo là không có gì đáng lo.</a:t>
            </a:r>
          </a:p>
          <a:p>
            <a:r>
              <a:rPr sz="1400" b="0" i="1">
                <a:solidFill>
                  <a:srgbClr val="5A5A5A"/>
                </a:solidFill>
              </a:rPr>
              <a:t>Thứ hai, sai chiều lệch, từ 91,3% về 0.</a:t>
            </a:r>
          </a:p>
          <a:p>
            <a:r>
              <a:rPr sz="1400" b="0" i="1">
                <a:solidFill>
                  <a:srgbClr val="5A5A5A"/>
                </a:solidFill>
              </a:rPr>
              <a:t>Khi mô hình tự phán đoán thì nó sai gần như luôn. Giao cho tầng luật thì chính xác tuyệt đối.</a:t>
            </a:r>
          </a:p>
          <a:p>
            <a:r>
              <a:rPr sz="1400" b="0" i="1">
                <a:solidFill>
                  <a:srgbClr val="5A5A5A"/>
                </a:solidFill>
              </a:rPr>
              <a:t>Thứ ba, 48%. Dù đã dặn rất kỹ, hơn một nửa số câu vẫn không đạt.</a:t>
            </a:r>
          </a:p>
          <a:p>
            <a:r>
              <a:rPr sz="1400" b="0" i="1">
                <a:solidFill>
                  <a:srgbClr val="5A5A5A"/>
                </a:solidFill>
              </a:rPr>
              <a:t>Chỉ dặn dò thôi thì không bảo đảm mô hình làm theo.</a:t>
            </a:r>
          </a:p>
          <a:p>
            <a:r>
              <a:rPr sz="1400" b="0" i="1">
                <a:solidFill>
                  <a:srgbClr val="5A5A5A"/>
                </a:solidFill>
              </a:rPr>
              <a:t>Và tôi muốn nói rõ về con số 100%.</a:t>
            </a:r>
          </a:p>
          <a:p>
            <a:r>
              <a:rPr sz="1400" b="0" i="1">
                <a:solidFill>
                  <a:srgbClr val="5A5A5A"/>
                </a:solidFill>
              </a:rPr>
              <a:t>64% số phiếu dùng câu do mô hình viết. 36% dùng câu mẫu cố định.</a:t>
            </a:r>
          </a:p>
          <a:p>
            <a:r>
              <a:rPr sz="1400" b="0" i="1">
                <a:solidFill>
                  <a:srgbClr val="5A5A5A"/>
                </a:solidFill>
              </a:rPr>
              <a:t>Đảm bảo an toàn đến từ quy trình. Không phải bằng chứng rằng mô hình ba tỷ tham số viết tốt.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abnormal = ab-NOO-mồ   ·   reassurance = ri-ơ-SHUA-rừns   ·   false reassurance = phôls ri-ơ-SHUA-rừns   ·   pipeline = PAIP-lain   ·   constraint = cừn-XTRÂYNT   ·   template = TEM-plêit   ·   guarantee = ga-rừn-TI   ·   attention = ơ-TEN-shừn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13  ·  Hai điều rút ra  ·  1,2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>
                <a:solidFill>
                  <a:srgbClr val="5A5A5A"/>
                </a:solidFill>
              </a:rPr>
              <a:t>Two observations from this work.</a:t>
            </a:r>
          </a:p>
          <a:p>
            <a:r>
              <a:rPr sz="2000" b="1" i="0"/>
              <a:t>First, false reassurance deserves its own metric.</a:t>
            </a:r>
          </a:p>
          <a:p>
            <a:r>
              <a:rPr sz="2000" b="1" i="0">
                <a:solidFill>
                  <a:srgbClr val="5A5A5A"/>
                </a:solidFill>
              </a:rPr>
              <a:t>Current evaluations report readability, and factual accuracy.</a:t>
            </a:r>
          </a:p>
          <a:p>
            <a:r>
              <a:rPr sz="2000" b="1" i="0"/>
              <a:t>But a falsely reassuring sentence can score high on readability, because it is simple and calming.</a:t>
            </a:r>
          </a:p>
          <a:p>
            <a:r>
              <a:rPr sz="2000" b="1" i="0"/>
              <a:t>The harm is that it stops the reader from seeking care.</a:t>
            </a:r>
          </a:p>
          <a:p>
            <a:r>
              <a:rPr sz="2000" b="1" i="0"/>
              <a:t>Second, unit standardisation is a safety precondition.</a:t>
            </a:r>
          </a:p>
          <a:p>
            <a:r>
              <a:rPr sz="2000" b="1" i="0"/>
              <a:t>Our unit error happened inside the rule layer. The layer we treat as exact.</a:t>
            </a:r>
          </a:p>
          <a:p>
            <a:r>
              <a:rPr sz="2000" b="1" i="0"/>
              <a:t>No later check can detect it, because every later layer repeats a confidently wrong label.</a:t>
            </a:r>
          </a:p>
          <a:p>
            <a:r>
              <a:rPr sz="2000" b="1" i="0"/>
              <a:t>So standards, like LOINC and HL7 FHIR, are needed, before we build rule-based clinical logic.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Hai điều rút ra từ nghiên cứu này.</a:t>
            </a:r>
          </a:p>
          <a:p>
            <a:r>
              <a:rPr sz="1400" b="0" i="1">
                <a:solidFill>
                  <a:srgbClr val="5A5A5A"/>
                </a:solidFill>
              </a:rPr>
              <a:t>Thứ nhất, trấn an sai xứng đáng có chỉ số đo riêng.</a:t>
            </a:r>
          </a:p>
          <a:p>
            <a:r>
              <a:rPr sz="1400" b="0" i="1">
                <a:solidFill>
                  <a:srgbClr val="5A5A5A"/>
                </a:solidFill>
              </a:rPr>
              <a:t>Các đánh giá hiện nay báo cáo độ dễ đọc và độ chính xác thông tin.</a:t>
            </a:r>
          </a:p>
          <a:p>
            <a:r>
              <a:rPr sz="1400" b="0" i="1">
                <a:solidFill>
                  <a:srgbClr val="5A5A5A"/>
                </a:solidFill>
              </a:rPr>
              <a:t>Nhưng một câu trấn an sai vẫn có thể được chấm dễ đọc điểm cao, vì nó đơn giản và êm tai.</a:t>
            </a:r>
          </a:p>
          <a:p>
            <a:r>
              <a:rPr sz="1400" b="0" i="1">
                <a:solidFill>
                  <a:srgbClr val="5A5A5A"/>
                </a:solidFill>
              </a:rPr>
              <a:t>Cái hại là nó khiến người đọc không đi khám.</a:t>
            </a:r>
          </a:p>
          <a:p>
            <a:r>
              <a:rPr sz="1400" b="0" i="1">
                <a:solidFill>
                  <a:srgbClr val="5A5A5A"/>
                </a:solidFill>
              </a:rPr>
              <a:t>Thứ hai, chuẩn hóa đơn vị là điều kiện cần về an toàn.</a:t>
            </a:r>
          </a:p>
          <a:p>
            <a:r>
              <a:rPr sz="1400" b="0" i="1">
                <a:solidFill>
                  <a:srgbClr val="5A5A5A"/>
                </a:solidFill>
              </a:rPr>
              <a:t>Lỗi đơn vị của chúng tôi xảy ra ngay trong tầng luật. Tầng mà chúng tôi coi là chính xác tuyệt đối.</a:t>
            </a:r>
          </a:p>
          <a:p>
            <a:r>
              <a:rPr sz="1400" b="0" i="1">
                <a:solidFill>
                  <a:srgbClr val="5A5A5A"/>
                </a:solidFill>
              </a:rPr>
              <a:t>Các bước sau không phát hiện được, vì tầng nào cũng chép lại y nguyên một nhãn sai.</a:t>
            </a:r>
          </a:p>
          <a:p>
            <a:r>
              <a:rPr sz="1400" b="0" i="1">
                <a:solidFill>
                  <a:srgbClr val="5A5A5A"/>
                </a:solidFill>
              </a:rPr>
              <a:t>Nên cần các chuẩn như LOINC và HL7 FHIR, trước khi xây dựng logic lâm sàng bằng quy tắc.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reassurance = ri-ơ-SHUA-rừns   ·   false reassurance = phôls ri-ơ-SHUA-rừns   ·   standardisation = xtan-đơ-đai-ZÂY-shừn   ·   precondition = pri-cừn-ĐI-shừn   ·   readability = ri-đơ-BI-lơ-ti   ·   metric = ME-tric   ·   clinical = CLI-ni-cồ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C62828"/>
                </a:solidFill>
              </a:rPr>
              <a:t>⚑ ĐỪNG BỎ hai câu 64% và 36%. Người phản biện hay hỏi chỗ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14  ·  Hạn chế  ·  55 giây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>
                <a:solidFill>
                  <a:srgbClr val="5A5A5A"/>
                </a:solidFill>
              </a:rPr>
              <a:t>Now the limitations. I want to state them clearly.</a:t>
            </a:r>
          </a:p>
          <a:p>
            <a:r>
              <a:rPr sz="2000" b="1" i="0"/>
              <a:t>First, no clinical validation. All our evaluation is automated.</a:t>
            </a:r>
          </a:p>
          <a:p>
            <a:r>
              <a:rPr sz="2000" b="1" i="0">
                <a:solidFill>
                  <a:srgbClr val="5A5A5A"/>
                </a:solidFill>
              </a:rPr>
              <a:t>No medical professional has reviewed the explanations.</a:t>
            </a:r>
          </a:p>
          <a:p>
            <a:r>
              <a:rPr sz="2000" b="1" i="0"/>
              <a:t>Second, our severity thresholds are heuristic. They do not come from a laboratory critical value list.</a:t>
            </a:r>
          </a:p>
          <a:p>
            <a:r>
              <a:rPr sz="2000" b="1" i="0"/>
              <a:t>Third, the data is synthetic. Real reports have noise, missing fields, and different formats.</a:t>
            </a:r>
          </a:p>
          <a:p>
            <a:r>
              <a:rPr sz="2000" b="1" i="0"/>
              <a:t>Fourth, the scope is narrow. We support the complete blood count only.</a:t>
            </a:r>
          </a:p>
          <a:p>
            <a:r>
              <a:rPr sz="2000" b="1" i="0"/>
              <a:t>No biochemistry, no qualitative results, and no image input.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Giờ tới phần hạn chế. Tôi xin nói thẳng.</a:t>
            </a:r>
          </a:p>
          <a:p>
            <a:r>
              <a:rPr sz="1400" b="0" i="1">
                <a:solidFill>
                  <a:srgbClr val="5A5A5A"/>
                </a:solidFill>
              </a:rPr>
              <a:t>Thứ nhất, chưa có kiểm chứng lâm sàng. Toàn bộ đánh giá do máy làm.</a:t>
            </a:r>
          </a:p>
          <a:p>
            <a:r>
              <a:rPr sz="1400" b="0" i="1">
                <a:solidFill>
                  <a:srgbClr val="5A5A5A"/>
                </a:solidFill>
              </a:rPr>
              <a:t>Chưa có người trong ngành y đọc lại các câu giải thích.</a:t>
            </a:r>
          </a:p>
          <a:p>
            <a:r>
              <a:rPr sz="1400" b="0" i="1">
                <a:solidFill>
                  <a:srgbClr val="5A5A5A"/>
                </a:solidFill>
              </a:rPr>
              <a:t>Thứ hai, ngưỡng nặng nhẹ là tự đặt. Chưa lấy từ danh mục giá trị nguy hiểm của phòng xét nghiệm.</a:t>
            </a:r>
          </a:p>
          <a:p>
            <a:r>
              <a:rPr sz="1400" b="0" i="1">
                <a:solidFill>
                  <a:srgbClr val="5A5A5A"/>
                </a:solidFill>
              </a:rPr>
              <a:t>Thứ ba, dữ liệu là tự tạo. Phiếu thật có nhiễu, có ô trống, và trình bày khác nhau.</a:t>
            </a:r>
          </a:p>
          <a:p>
            <a:r>
              <a:rPr sz="1400" b="0" i="1">
                <a:solidFill>
                  <a:srgbClr val="5A5A5A"/>
                </a:solidFill>
              </a:rPr>
              <a:t>Thứ tư, phạm vi còn hẹp. Chúng tôi mới làm được công thức máu.</a:t>
            </a:r>
          </a:p>
          <a:p>
            <a:r>
              <a:rPr sz="1400" b="0" i="1">
                <a:solidFill>
                  <a:srgbClr val="5A5A5A"/>
                </a:solidFill>
              </a:rPr>
              <a:t>Chưa có sinh hóa, chưa có kết quả âm tính dương tính, và chưa đọc được ảnh chụp.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laboratory = lơ-BO-rơ-tơ-ri   ·   validation = va-li-ĐÂY-shừn   ·   threshold = THRESH-hôld   ·   heuristic = hiu-RIT-xtic   ·   synthetic = xin-THE-tic   ·   severity = xi-VE-rơ-ti   ·   limitation = li-mi-TÂY-shừn   ·   clinical = CLI-ni-cồ   ·   biochemistry = bai-ô-KE-mịt-tri   ·   qualitative = QUO-li-tơ-tịv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15  ·  Kết luận và việc làm tiếp  ·  1 phút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/>
              <a:t>In summary. The language model is not permitted to decide whether a value is abnormal.</a:t>
            </a:r>
          </a:p>
          <a:p>
            <a:r>
              <a:rPr sz="2000" b="1" i="0"/>
              <a:t>Rules decide first. The model paraphrases. Then the validator checks one against the other.</a:t>
            </a:r>
          </a:p>
          <a:p>
            <a:r>
              <a:rPr sz="2000" b="1" i="0"/>
              <a:t>False reassurance went from thirty-two percent, to zero. Safe output is one hundred percent. And the system needs no GPU.</a:t>
            </a:r>
          </a:p>
          <a:p>
            <a:r>
              <a:rPr sz="2000" b="1" i="0">
                <a:solidFill>
                  <a:srgbClr val="5A5A5A"/>
                </a:solidFill>
              </a:rPr>
              <a:t>For future work, in order of importance.</a:t>
            </a:r>
          </a:p>
          <a:p>
            <a:r>
              <a:rPr sz="2000" b="1" i="0"/>
              <a:t>Clinical review by medical professionals. This is the most pressing.</a:t>
            </a:r>
          </a:p>
          <a:p>
            <a:r>
              <a:rPr sz="2000" b="1" i="0"/>
              <a:t>Then, replacing our heuristic thresholds, with a real critical value list.</a:t>
            </a:r>
          </a:p>
          <a:p>
            <a:r>
              <a:rPr sz="2000" b="1" i="0">
                <a:solidFill>
                  <a:srgbClr val="5A5A5A"/>
                </a:solidFill>
              </a:rPr>
              <a:t>Then, biochemistry and qualitative results.</a:t>
            </a:r>
          </a:p>
          <a:p>
            <a:r>
              <a:rPr sz="2000" b="1" i="0">
                <a:solidFill>
                  <a:srgbClr val="5A5A5A"/>
                </a:solidFill>
              </a:rPr>
              <a:t>A speech output layer, for elderly and low-literacy patients.</a:t>
            </a:r>
          </a:p>
          <a:p>
            <a:r>
              <a:rPr sz="2000" b="1" i="0"/>
              <a:t>And evaluation on real reports, from several laboratories.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Tóm lại. Mô hình ngôn ngữ không được quyết định một giá trị có bất thường hay không.</a:t>
            </a:r>
          </a:p>
          <a:p>
            <a:r>
              <a:rPr sz="1400" b="0" i="1">
                <a:solidFill>
                  <a:srgbClr val="5A5A5A"/>
                </a:solidFill>
              </a:rPr>
              <a:t>Luật quyết định trước. Mô hình viết lại. Rồi bộ kiểm chứng đối chiếu hai bên.</a:t>
            </a:r>
          </a:p>
          <a:p>
            <a:r>
              <a:rPr sz="1400" b="0" i="1">
                <a:solidFill>
                  <a:srgbClr val="5A5A5A"/>
                </a:solidFill>
              </a:rPr>
              <a:t>Trấn an sai từ 32% về 0. Kết quả an toàn đạt 100%. Và hệ thống không cần card đồ họa.</a:t>
            </a:r>
          </a:p>
          <a:p>
            <a:r>
              <a:rPr sz="1400" b="0" i="1">
                <a:solidFill>
                  <a:srgbClr val="5A5A5A"/>
                </a:solidFill>
              </a:rPr>
              <a:t>Việc làm tiếp, theo thứ tự quan trọng.</a:t>
            </a:r>
          </a:p>
          <a:p>
            <a:r>
              <a:rPr sz="1400" b="0" i="1">
                <a:solidFill>
                  <a:srgbClr val="5A5A5A"/>
                </a:solidFill>
              </a:rPr>
              <a:t>Nhờ người trong ngành y kiểm tra lại. Đây là việc cấp thiết nhất.</a:t>
            </a:r>
          </a:p>
          <a:p>
            <a:r>
              <a:rPr sz="1400" b="0" i="1">
                <a:solidFill>
                  <a:srgbClr val="5A5A5A"/>
                </a:solidFill>
              </a:rPr>
              <a:t>Sau đó, thay ngưỡng tự đặt bằng danh mục giá trị nguy hiểm thật.</a:t>
            </a:r>
          </a:p>
          <a:p>
            <a:r>
              <a:rPr sz="1400" b="0" i="1">
                <a:solidFill>
                  <a:srgbClr val="5A5A5A"/>
                </a:solidFill>
              </a:rPr>
              <a:t>Rồi tới sinh hóa và kết quả âm tính dương tính.</a:t>
            </a:r>
          </a:p>
          <a:p>
            <a:r>
              <a:rPr sz="1400" b="0" i="1">
                <a:solidFill>
                  <a:srgbClr val="5A5A5A"/>
                </a:solidFill>
              </a:rPr>
              <a:t>Thêm phần đọc thành tiếng, cho người già và người đọc kém.</a:t>
            </a:r>
          </a:p>
          <a:p>
            <a:r>
              <a:rPr sz="1400" b="0" i="1">
                <a:solidFill>
                  <a:srgbClr val="5A5A5A"/>
                </a:solidFill>
              </a:rPr>
              <a:t>Và thử nghiệm trên phiếu thật, từ nhiều phòng xét nghiệm.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abnormal = ab-NOO-mồ   ·   reassurance = ri-ơ-SHUA-rừns   ·   false reassurance = phôls ri-ơ-SHUA-rừns   ·   validator = VA-li-đây-tờ   ·   threshold = THRESH-hôld   ·   heuristic = hiu-RIT-xtic   ·   literacy = LI-tơ-rơ-xi   ·   clinical = CLI-ni-cồ   ·   biochemistry = bai-ô-KE-mịt-tri   ·   qualitative = QUO-li-tơ-tịv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16  ·  Cảm ơn và hỏi đáp  ·  còn lại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/>
              <a:t>Thank you for your attention, and for staying until the end of the session.</a:t>
            </a:r>
          </a:p>
          <a:p>
            <a:r>
              <a:rPr sz="2000" b="1" i="0"/>
              <a:t>I am happy to take your questions.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Cảm ơn quý vị đã lắng nghe, và đã ở lại tới cuối phiên.</a:t>
            </a:r>
          </a:p>
          <a:p>
            <a:r>
              <a:rPr sz="1400" b="0" i="1">
                <a:solidFill>
                  <a:srgbClr val="5A5A5A"/>
                </a:solidFill>
              </a:rPr>
              <a:t>Tôi sẵn sàng nhận câu hỏi của quý vị.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attention = ơ-TEN-shừn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3  ·  Phiếu xét nghiệm người bệnh cầm về  ·  40 giây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/>
              <a:t>This is the report a patient takes home.</a:t>
            </a:r>
          </a:p>
          <a:p>
            <a:r>
              <a:rPr sz="2000" b="1" i="0"/>
              <a:t>The rows in red are outside the reference interval.</a:t>
            </a:r>
          </a:p>
          <a:p>
            <a:r>
              <a:rPr sz="2000" b="1" i="0"/>
              <a:t>The interval is printed, but nothing tells the patient what the analyte means.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Đây là phiếu mà người bệnh cầm về nhà.</a:t>
            </a:r>
          </a:p>
          <a:p>
            <a:r>
              <a:rPr sz="1400" b="0" i="1">
                <a:solidFill>
                  <a:srgbClr val="5A5A5A"/>
                </a:solidFill>
              </a:rPr>
              <a:t>Các dòng màu đỏ là chỉ số nằm ngoài khoảng tham chiếu.</a:t>
            </a:r>
          </a:p>
          <a:p>
            <a:r>
              <a:rPr sz="1400" b="0" i="1">
                <a:solidFill>
                  <a:srgbClr val="5A5A5A"/>
                </a:solidFill>
              </a:rPr>
              <a:t>Khoảng tham chiếu có in sẵn, nhưng không có gì cho người bệnh biết chỉ số đó là gì.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patient = PÂY-shừnt   ·   analyte = A-nơ-lait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 i="0">
                <a:solidFill>
                  <a:srgbClr val="1F3864"/>
                </a:solidFill>
              </a:rPr>
              <a:t>SLIDE 11  ·  Kết quả nhìn bằng biểu đồ  ·  40 giây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1F3864"/>
                </a:solidFill>
              </a:rPr>
              <a:t>ĐỌC NGUYÊN VĂN  (câu màu xám: bỏ được nếu thiếu giờ)</a:t>
            </a:r>
          </a:p>
          <a:p>
            <a:r>
              <a:rPr sz="2000" b="1" i="0"/>
              <a:t>Here are the same results, as a chart.</a:t>
            </a:r>
          </a:p>
          <a:p>
            <a:r>
              <a:rPr sz="2000" b="1" i="0"/>
              <a:t>Every error class falls, from baseline, to constrained, to full.</a:t>
            </a:r>
          </a:p>
          <a:p>
            <a:r>
              <a:rPr sz="2000" b="1" i="0"/>
              <a:t>The full pipeline is zero in all six classes.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1F3864"/>
                </a:solidFill>
              </a:rPr>
              <a:t>NGHĨA TIẾNG VIỆT</a:t>
            </a:r>
          </a:p>
          <a:p>
            <a:r>
              <a:rPr sz="1400" b="0" i="1">
                <a:solidFill>
                  <a:srgbClr val="5A5A5A"/>
                </a:solidFill>
              </a:rPr>
              <a:t>Vẫn kết quả đó, nhìn bằng biểu đồ.</a:t>
            </a:r>
          </a:p>
          <a:p>
            <a:r>
              <a:rPr sz="1400" b="0" i="1">
                <a:solidFill>
                  <a:srgbClr val="5A5A5A"/>
                </a:solidFill>
              </a:rPr>
              <a:t>Mọi loại lỗi đều giảm, từ cấu hình một, sang hai, sang ba.</a:t>
            </a:r>
          </a:p>
          <a:p>
            <a:r>
              <a:rPr sz="1400" b="0" i="1">
                <a:solidFill>
                  <a:srgbClr val="5A5A5A"/>
                </a:solidFill>
              </a:rPr>
              <a:t>Cấu hình đầy đủ bằng không ở cả sáu loại lỗi.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5A5A"/>
                </a:solidFill>
              </a:rPr>
              <a:t>Từ khó:  pipeline = PAIP-lain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BDD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539" y="609539"/>
            <a:ext cx="10972526" cy="4084259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 txBox="1"/>
          <p:nvPr/>
        </p:nvSpPr>
        <p:spPr>
          <a:xfrm>
            <a:off x="975299" y="1036290"/>
            <a:ext cx="10241006" cy="1828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933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Rule-Constrained Large Language Model Pipeline</a:t>
            </a:r>
            <a:endParaRPr lang="en-US" sz="2933" dirty="0"/>
          </a:p>
          <a:p>
            <a:pPr marL="0" indent="0" algn="ctr">
              <a:lnSpc>
                <a:spcPts val="4000"/>
              </a:lnSpc>
              <a:buNone/>
            </a:pPr>
            <a:r>
              <a:rPr lang="en-US" sz="2933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Patient-Friendly Interpretation</a:t>
            </a:r>
            <a:endParaRPr lang="en-US" sz="2933" dirty="0"/>
          </a:p>
          <a:p>
            <a:pPr marL="0" indent="0" algn="ctr">
              <a:lnSpc>
                <a:spcPts val="4000"/>
              </a:lnSpc>
              <a:buNone/>
            </a:pPr>
            <a:r>
              <a:rPr lang="en-US" sz="2933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Vietnamese Blood Test Results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4389029" y="3023555"/>
            <a:ext cx="3413638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75299" y="3169859"/>
            <a:ext cx="10241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· Paper ID HI26-0013 · Oral Presentation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75299" y="3657509"/>
            <a:ext cx="10241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7" b="1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Truong Quang Dai¹ · Vo Hoang Khang¹</a:t>
            </a:r>
            <a:endParaRPr lang="en-US" sz="1867" dirty="0"/>
          </a:p>
        </p:txBody>
      </p:sp>
      <p:sp>
        <p:nvSpPr>
          <p:cNvPr id="8" name="Text 5"/>
          <p:cNvSpPr txBox="1"/>
          <p:nvPr/>
        </p:nvSpPr>
        <p:spPr>
          <a:xfrm>
            <a:off x="975299" y="4096421"/>
            <a:ext cx="10241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7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HUTECH University, Ho Chi Minh City</a:t>
            </a:r>
            <a:endParaRPr lang="en-US" sz="1467" dirty="0"/>
          </a:p>
        </p:txBody>
      </p:sp>
      <p:sp>
        <p:nvSpPr>
          <p:cNvPr id="9" name="Text 6"/>
          <p:cNvSpPr txBox="1"/>
          <p:nvPr/>
        </p:nvSpPr>
        <p:spPr>
          <a:xfrm>
            <a:off x="612648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67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HEALTHINFO IV — 4th International Health Informatics Conference</a:t>
            </a:r>
            <a:endParaRPr lang="en-US" sz="1467" dirty="0"/>
          </a:p>
          <a:p>
            <a:pPr marL="0" indent="0" algn="ctr">
              <a:lnSpc>
                <a:spcPts val="2267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02–03 October 2026 · University of Information Technology, VNU-HCM</a:t>
            </a:r>
            <a:endParaRPr lang="en-US" sz="1467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problem: having a result without understanding it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09539" y="1158179"/>
            <a:ext cx="1097252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leaves the laboratory with a panel of numbers and terms:</a:t>
            </a:r>
            <a:endParaRPr lang="en-US" sz="1733" dirty="0"/>
          </a:p>
        </p:txBody>
      </p:sp>
      <p:sp>
        <p:nvSpPr>
          <p:cNvPr id="5" name="Shape 2"/>
          <p:cNvSpPr/>
          <p:nvPr/>
        </p:nvSpPr>
        <p:spPr>
          <a:xfrm>
            <a:off x="609539" y="1609344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609539" y="1609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PDW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2438339" y="1609344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2438339" y="1609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MCHC</a:t>
            </a:r>
            <a:endParaRPr lang="en-US" sz="1733" dirty="0"/>
          </a:p>
        </p:txBody>
      </p:sp>
      <p:sp>
        <p:nvSpPr>
          <p:cNvPr id="9" name="Shape 6"/>
          <p:cNvSpPr/>
          <p:nvPr/>
        </p:nvSpPr>
        <p:spPr>
          <a:xfrm>
            <a:off x="4267048" y="1609344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267048" y="1609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Monocyte</a:t>
            </a:r>
            <a:endParaRPr lang="en-US" sz="1733" dirty="0"/>
          </a:p>
        </p:txBody>
      </p:sp>
      <p:sp>
        <p:nvSpPr>
          <p:cNvPr id="11" name="Shape 8"/>
          <p:cNvSpPr/>
          <p:nvPr/>
        </p:nvSpPr>
        <p:spPr>
          <a:xfrm>
            <a:off x="6095848" y="1609344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095848" y="1609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G/L</a:t>
            </a:r>
            <a:endParaRPr lang="en-US" sz="1733" dirty="0"/>
          </a:p>
        </p:txBody>
      </p:sp>
      <p:sp>
        <p:nvSpPr>
          <p:cNvPr id="13" name="Shape 10"/>
          <p:cNvSpPr/>
          <p:nvPr/>
        </p:nvSpPr>
        <p:spPr>
          <a:xfrm>
            <a:off x="7924556" y="1609344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7924556" y="1609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</a:t>
            </a:r>
            <a:endParaRPr lang="en-US" sz="1733" dirty="0"/>
          </a:p>
        </p:txBody>
      </p:sp>
      <p:sp>
        <p:nvSpPr>
          <p:cNvPr id="15" name="Shape 12"/>
          <p:cNvSpPr/>
          <p:nvPr/>
        </p:nvSpPr>
        <p:spPr>
          <a:xfrm>
            <a:off x="9753356" y="1609344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9753356" y="1609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1733" dirty="0"/>
          </a:p>
        </p:txBody>
      </p:sp>
      <p:sp>
        <p:nvSpPr>
          <p:cNvPr id="17" name="Text 14"/>
          <p:cNvSpPr txBox="1"/>
          <p:nvPr/>
        </p:nvSpPr>
        <p:spPr>
          <a:xfrm>
            <a:off x="609539" y="2377349"/>
            <a:ext cx="10972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33"/>
              </a:lnSpc>
              <a:buNone/>
            </a:pPr>
            <a:r>
              <a:rPr lang="en-US" sz="16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interval is printed beside each value, so a patient can see</a:t>
            </a:r>
            <a:endParaRPr lang="en-US" sz="1667" dirty="0"/>
          </a:p>
          <a:p>
            <a:pPr marL="0" indent="0">
              <a:lnSpc>
                <a:spcPts val="2533"/>
              </a:lnSpc>
              <a:buNone/>
            </a:pPr>
            <a:r>
              <a:rPr lang="en-US" sz="16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falls outside it, but not what it measures or what to do next.</a:t>
            </a:r>
            <a:endParaRPr lang="en-US" sz="1667" dirty="0"/>
          </a:p>
        </p:txBody>
      </p:sp>
      <p:sp>
        <p:nvSpPr>
          <p:cNvPr id="18" name="Shape 15"/>
          <p:cNvSpPr/>
          <p:nvPr/>
        </p:nvSpPr>
        <p:spPr>
          <a:xfrm>
            <a:off x="609539" y="3352739"/>
            <a:ext cx="5303429" cy="213357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792419" y="3596518"/>
            <a:ext cx="49376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60.3%</a:t>
            </a:r>
            <a:endParaRPr lang="en-US" sz="56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08485"/>
            <a:ext cx="46937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33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older adults in Da Nang have inadequate</a:t>
            </a:r>
            <a:endParaRPr lang="en-US" sz="1467" dirty="0"/>
          </a:p>
          <a:p>
            <a:pPr marL="0" indent="0" algn="ctr">
              <a:lnSpc>
                <a:spcPts val="2133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health literacy</a:t>
            </a:r>
            <a:endParaRPr lang="en-US" sz="1467" dirty="0"/>
          </a:p>
        </p:txBody>
      </p:sp>
      <p:sp>
        <p:nvSpPr>
          <p:cNvPr id="21" name="Shape 18"/>
          <p:cNvSpPr/>
          <p:nvPr/>
        </p:nvSpPr>
        <p:spPr>
          <a:xfrm>
            <a:off x="6278728" y="3352739"/>
            <a:ext cx="5303429" cy="213357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6461608" y="3596518"/>
            <a:ext cx="49376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5600" dirty="0"/>
          </a:p>
        </p:txBody>
      </p:sp>
      <p:sp>
        <p:nvSpPr>
          <p:cNvPr id="23" name="Text 20"/>
          <p:cNvSpPr txBox="1"/>
          <p:nvPr/>
        </p:nvSpPr>
        <p:spPr>
          <a:xfrm>
            <a:off x="6583497" y="4608485"/>
            <a:ext cx="46937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33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search online to understand</a:t>
            </a:r>
            <a:endParaRPr lang="en-US" sz="1467" dirty="0"/>
          </a:p>
          <a:p>
            <a:pPr marL="0" indent="0" algn="ctr">
              <a:lnSpc>
                <a:spcPts val="2133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test results</a:t>
            </a:r>
            <a:endParaRPr lang="en-US" sz="1467" dirty="0"/>
          </a:p>
        </p:txBody>
      </p:sp>
      <p:sp>
        <p:nvSpPr>
          <p:cNvPr id="24" name="Text 21"/>
          <p:cNvSpPr txBox="1"/>
          <p:nvPr/>
        </p:nvSpPr>
        <p:spPr>
          <a:xfrm>
            <a:off x="609539" y="5632521"/>
            <a:ext cx="1097252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cross-sectional study in Da Nang (n=204); Giardina et al., JAMIA 2018 (n=93)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the patient actually receives</a:t>
            </a:r>
            <a:endParaRPr lang="en-US" sz="3000" dirty="0"/>
          </a:p>
        </p:txBody>
      </p:sp>
      <p:pic>
        <p:nvPicPr>
          <p:cNvPr id="4" name="Picture 3" descr="phieu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143000"/>
            <a:ext cx="5486400" cy="457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12648" y="5897880"/>
            <a:ext cx="10972800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report. Red rows are outside the reference interval printed beside each value.</a:t>
            </a:r>
            <a:endParaRPr lang="en-US" sz="1333" dirty="0"/>
          </a:p>
        </p:txBody>
      </p:sp>
      <p:sp>
        <p:nvSpPr>
          <p:cNvPr id="25" name="Text 22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patients currently close the gap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09539" y="1158179"/>
            <a:ext cx="1097252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photograph the report and ask a general-purpose language model.</a:t>
            </a:r>
            <a:endParaRPr lang="en-US" sz="1733" dirty="0"/>
          </a:p>
        </p:txBody>
      </p:sp>
      <p:sp>
        <p:nvSpPr>
          <p:cNvPr id="5" name="Shape 2"/>
          <p:cNvSpPr/>
          <p:nvPr/>
        </p:nvSpPr>
        <p:spPr>
          <a:xfrm>
            <a:off x="609539" y="1584930"/>
            <a:ext cx="10972526" cy="633954"/>
          </a:xfrm>
          <a:prstGeom prst="roundRect">
            <a:avLst>
              <a:gd name="adj" fmla="val 115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53410" y="1584930"/>
            <a:ext cx="10484876" cy="633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</a:t>
            </a:r>
            <a:r>
              <a:rPr lang="en-US" sz="1600" i="1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"Briefly explain what white blood cells are" (in Vietnamese)</a:t>
            </a:r>
            <a:endParaRPr lang="en-US" sz="1333" dirty="0"/>
          </a:p>
        </p:txBody>
      </p:sp>
      <p:sp>
        <p:nvSpPr>
          <p:cNvPr id="7" name="Shape 4"/>
          <p:cNvSpPr/>
          <p:nvPr/>
        </p:nvSpPr>
        <p:spPr>
          <a:xfrm>
            <a:off x="609539" y="2340773"/>
            <a:ext cx="10972526" cy="1402050"/>
          </a:xfrm>
          <a:prstGeom prst="roundRect">
            <a:avLst>
              <a:gd name="adj" fmla="val 5218"/>
            </a:avLst>
          </a:prstGeom>
          <a:solidFill>
            <a:srgbClr val="FF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53410" y="2426178"/>
            <a:ext cx="36575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model response</a:t>
            </a:r>
            <a:endParaRPr lang="en-US" sz="1333" dirty="0"/>
          </a:p>
        </p:txBody>
      </p:sp>
      <p:sp>
        <p:nvSpPr>
          <p:cNvPr id="9" name="Text 6"/>
          <p:cNvSpPr txBox="1"/>
          <p:nvPr/>
        </p:nvSpPr>
        <p:spPr>
          <a:xfrm>
            <a:off x="853410" y="2730947"/>
            <a:ext cx="104848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67" i="1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"White blood cells ... are lymphocytes capable of moving through the blood ...</a:t>
            </a:r>
            <a:endParaRPr lang="en-US" sz="1467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67" i="1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help the body fight viruses, bacteria and cancer-causing cells.</a:t>
            </a:r>
            <a:endParaRPr lang="en-US" sz="1467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67" i="1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immune system is weakened, white blood cells also decrease ..."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609539" y="3901379"/>
            <a:ext cx="5303429" cy="1121603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28995" y="4169573"/>
            <a:ext cx="512064" cy="512064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828995" y="416957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487363" y="4047683"/>
            <a:ext cx="4267048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Definitional error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87363" y="4364614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Lymphocytes are ONE type of white blood cell, not a synonym</a:t>
            </a:r>
            <a:endParaRPr lang="en-US" sz="1333" dirty="0"/>
          </a:p>
        </p:txBody>
      </p:sp>
      <p:sp>
        <p:nvSpPr>
          <p:cNvPr id="15" name="Shape 12"/>
          <p:cNvSpPr/>
          <p:nvPr/>
        </p:nvSpPr>
        <p:spPr>
          <a:xfrm>
            <a:off x="6278728" y="3901379"/>
            <a:ext cx="5303429" cy="1121603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6498184" y="4169573"/>
            <a:ext cx="512064" cy="512064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6498184" y="416957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156552" y="4047683"/>
            <a:ext cx="4267048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Unprompted disease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156552" y="4364614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cancer and immune deficiency without being asked</a:t>
            </a:r>
            <a:endParaRPr lang="en-US" sz="1333" dirty="0"/>
          </a:p>
        </p:txBody>
      </p:sp>
      <p:sp>
        <p:nvSpPr>
          <p:cNvPr id="20" name="Text 17"/>
          <p:cNvSpPr txBox="1"/>
          <p:nvPr/>
        </p:nvSpPr>
        <p:spPr>
          <a:xfrm>
            <a:off x="609539" y="5266853"/>
            <a:ext cx="109725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an entirely normal result meets one definitional error and two alarming diseases in a single short answer.</a:t>
            </a:r>
            <a:endParaRPr lang="en-US" sz="1533" dirty="0"/>
          </a:p>
        </p:txBody>
      </p:sp>
      <p:sp>
        <p:nvSpPr>
          <p:cNvPr id="21" name="Text 18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But the most dangerous failure runs the other way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219170"/>
            <a:ext cx="5303429" cy="1523939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853410" y="1402050"/>
            <a:ext cx="4815688" cy="39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Terminological error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3410" y="1853123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33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the reader</a:t>
            </a:r>
            <a:endParaRPr lang="en-US" sz="1467" dirty="0"/>
          </a:p>
          <a:p>
            <a:pPr marL="0" indent="0" algn="ctr">
              <a:lnSpc>
                <a:spcPts val="2133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invites verification</a:t>
            </a:r>
            <a:endParaRPr lang="en-US" sz="1467" dirty="0"/>
          </a:p>
        </p:txBody>
      </p:sp>
      <p:sp>
        <p:nvSpPr>
          <p:cNvPr id="7" name="Shape 4"/>
          <p:cNvSpPr/>
          <p:nvPr/>
        </p:nvSpPr>
        <p:spPr>
          <a:xfrm>
            <a:off x="6278728" y="1219170"/>
            <a:ext cx="5303429" cy="1523939"/>
          </a:xfrm>
          <a:prstGeom prst="roundRect">
            <a:avLst>
              <a:gd name="adj" fmla="val 4800"/>
            </a:avLst>
          </a:prstGeom>
          <a:solidFill>
            <a:srgbClr val="FFF4F4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522598" y="1402050"/>
            <a:ext cx="4815688" cy="39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reassurance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22598" y="1853123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33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and comfortable,</a:t>
            </a:r>
            <a:endParaRPr lang="en-US" sz="1467" dirty="0"/>
          </a:p>
          <a:p>
            <a:pPr marL="0" indent="0" algn="ctr">
              <a:lnSpc>
                <a:spcPts val="2133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removes the reason to seek care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609539" y="2950403"/>
            <a:ext cx="10972526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853410" y="2950403"/>
            <a:ext cx="104848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reassurance: asserting that all results are normal on a panel that is NOT.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09539" y="3681923"/>
            <a:ext cx="10972526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output from our experiment, on a panel labelled "seek care":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9539" y="4047683"/>
            <a:ext cx="10972526" cy="731520"/>
          </a:xfrm>
          <a:prstGeom prst="roundRect">
            <a:avLst>
              <a:gd name="adj" fmla="val 10000"/>
            </a:avLst>
          </a:prstGeom>
          <a:solidFill>
            <a:srgbClr val="FF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53410" y="4047683"/>
            <a:ext cx="10484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test results are within the normal range."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09539" y="5059558"/>
            <a:ext cx="10972526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this as a distinct error class and measure it separately.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Four-layer architecture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158179"/>
            <a:ext cx="10972526" cy="512064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609539" y="1158179"/>
            <a:ext cx="109725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NO clinical judgement is delegated to the language model</a:t>
            </a:r>
            <a:endParaRPr lang="en-US" sz="1667" dirty="0"/>
          </a:p>
        </p:txBody>
      </p:sp>
      <p:sp>
        <p:nvSpPr>
          <p:cNvPr id="6" name="Shape 3"/>
          <p:cNvSpPr/>
          <p:nvPr/>
        </p:nvSpPr>
        <p:spPr>
          <a:xfrm>
            <a:off x="609539" y="1975013"/>
            <a:ext cx="2499330" cy="2621219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09539" y="1975013"/>
            <a:ext cx="2499330" cy="512064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70530" y="1975013"/>
            <a:ext cx="23773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Normalisation</a:t>
            </a:r>
            <a:endParaRPr lang="en-US" sz="1307" dirty="0"/>
          </a:p>
        </p:txBody>
      </p:sp>
      <p:sp>
        <p:nvSpPr>
          <p:cNvPr id="9" name="Text 6"/>
          <p:cNvSpPr txBox="1"/>
          <p:nvPr/>
        </p:nvSpPr>
        <p:spPr>
          <a:xfrm>
            <a:off x="755843" y="2682210"/>
            <a:ext cx="22067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canonical code</a:t>
            </a:r>
            <a:endParaRPr lang="en-US" sz="1333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975299" y="3925702"/>
            <a:ext cx="1767810" cy="390174"/>
          </a:xfrm>
          <a:prstGeom prst="roundRect">
            <a:avLst>
              <a:gd name="adj" fmla="val 15632"/>
            </a:avLst>
          </a:prstGeom>
          <a:solidFill>
            <a:srgbClr val="F2F6FB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975299" y="3925702"/>
            <a:ext cx="1767810" cy="39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57606" y="3108869"/>
            <a:ext cx="231618" cy="317022"/>
          </a:xfrm>
          <a:prstGeom prst="rightArrow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438053" y="1975013"/>
            <a:ext cx="2499330" cy="2621219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3438053" y="1975013"/>
            <a:ext cx="2499330" cy="512064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3499043" y="1975013"/>
            <a:ext cx="23773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Rule-based labelling</a:t>
            </a:r>
            <a:endParaRPr lang="en-US" sz="1307" dirty="0"/>
          </a:p>
        </p:txBody>
      </p:sp>
      <p:sp>
        <p:nvSpPr>
          <p:cNvPr id="16" name="Text 13"/>
          <p:cNvSpPr txBox="1"/>
          <p:nvPr/>
        </p:nvSpPr>
        <p:spPr>
          <a:xfrm>
            <a:off x="3584357" y="2682210"/>
            <a:ext cx="22067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interval</a:t>
            </a:r>
            <a:endParaRPr lang="en-US" sz="1333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3-level label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3803813" y="3925702"/>
            <a:ext cx="1767810" cy="390174"/>
          </a:xfrm>
          <a:prstGeom prst="roundRect">
            <a:avLst>
              <a:gd name="adj" fmla="val 15632"/>
            </a:avLst>
          </a:prstGeom>
          <a:solidFill>
            <a:srgbClr val="F2F6FB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3803813" y="3925702"/>
            <a:ext cx="1767810" cy="39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86120" y="3108869"/>
            <a:ext cx="231618" cy="317022"/>
          </a:xfrm>
          <a:prstGeom prst="rightArrow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266566" y="1975013"/>
            <a:ext cx="2499330" cy="2621219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266566" y="1975013"/>
            <a:ext cx="2499330" cy="512064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6327465" y="1975013"/>
            <a:ext cx="23773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Constrained generation</a:t>
            </a:r>
            <a:endParaRPr lang="en-US" sz="1307" dirty="0"/>
          </a:p>
        </p:txBody>
      </p:sp>
      <p:sp>
        <p:nvSpPr>
          <p:cNvPr id="23" name="Text 20"/>
          <p:cNvSpPr txBox="1"/>
          <p:nvPr/>
        </p:nvSpPr>
        <p:spPr>
          <a:xfrm>
            <a:off x="6412870" y="2682210"/>
            <a:ext cx="22067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labels</a:t>
            </a:r>
            <a:endParaRPr lang="en-US" sz="1333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Paraphrases only</a:t>
            </a:r>
            <a:endParaRPr lang="en-US" sz="1333" dirty="0"/>
          </a:p>
        </p:txBody>
      </p:sp>
      <p:sp>
        <p:nvSpPr>
          <p:cNvPr id="24" name="Shape 21"/>
          <p:cNvSpPr/>
          <p:nvPr/>
        </p:nvSpPr>
        <p:spPr>
          <a:xfrm>
            <a:off x="6632326" y="3925702"/>
            <a:ext cx="1767810" cy="390174"/>
          </a:xfrm>
          <a:prstGeom prst="roundRect">
            <a:avLst>
              <a:gd name="adj" fmla="val 15632"/>
            </a:avLst>
          </a:prstGeom>
          <a:solidFill>
            <a:srgbClr val="F2F6FB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 txBox="1"/>
          <p:nvPr/>
        </p:nvSpPr>
        <p:spPr>
          <a:xfrm>
            <a:off x="6632326" y="3925702"/>
            <a:ext cx="1767810" cy="39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814633" y="3108869"/>
            <a:ext cx="231618" cy="317022"/>
          </a:xfrm>
          <a:prstGeom prst="rightArrow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9094988" y="1975013"/>
            <a:ext cx="2499330" cy="2621219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9094988" y="1975013"/>
            <a:ext cx="2499330" cy="512064"/>
          </a:xfrm>
          <a:prstGeom prst="roundRect">
            <a:avLst>
              <a:gd name="adj" fmla="val 14286"/>
            </a:avLst>
          </a:prstGeom>
          <a:solidFill>
            <a:srgbClr val="E6A7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 txBox="1"/>
          <p:nvPr/>
        </p:nvSpPr>
        <p:spPr>
          <a:xfrm>
            <a:off x="9155979" y="1975013"/>
            <a:ext cx="23773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· Validation</a:t>
            </a:r>
            <a:endParaRPr lang="en-US" sz="1307" dirty="0"/>
          </a:p>
        </p:txBody>
      </p:sp>
      <p:sp>
        <p:nvSpPr>
          <p:cNvPr id="30" name="Text 27"/>
          <p:cNvSpPr txBox="1"/>
          <p:nvPr/>
        </p:nvSpPr>
        <p:spPr>
          <a:xfrm>
            <a:off x="9241292" y="2682210"/>
            <a:ext cx="22067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against labels</a:t>
            </a:r>
            <a:endParaRPr lang="en-US" sz="1333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/ template</a:t>
            </a:r>
            <a:endParaRPr lang="en-US" sz="1333" dirty="0"/>
          </a:p>
        </p:txBody>
      </p:sp>
      <p:sp>
        <p:nvSpPr>
          <p:cNvPr id="31" name="Shape 28"/>
          <p:cNvSpPr/>
          <p:nvPr/>
        </p:nvSpPr>
        <p:spPr>
          <a:xfrm>
            <a:off x="9460748" y="3925702"/>
            <a:ext cx="1767810" cy="390174"/>
          </a:xfrm>
          <a:prstGeom prst="roundRect">
            <a:avLst>
              <a:gd name="adj" fmla="val 15632"/>
            </a:avLst>
          </a:prstGeom>
          <a:solidFill>
            <a:srgbClr val="F2F6FB"/>
          </a:solidFill>
          <a:ln w="1270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 txBox="1"/>
          <p:nvPr/>
        </p:nvSpPr>
        <p:spPr>
          <a:xfrm>
            <a:off x="9460748" y="3925702"/>
            <a:ext cx="1767810" cy="39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9539" y="4815688"/>
            <a:ext cx="10972526" cy="731520"/>
          </a:xfrm>
          <a:prstGeom prst="roundRect">
            <a:avLst>
              <a:gd name="adj" fmla="val 10000"/>
            </a:avLst>
          </a:prstGeom>
          <a:solidFill>
            <a:srgbClr val="FFF8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 txBox="1"/>
          <p:nvPr/>
        </p:nvSpPr>
        <p:spPr>
          <a:xfrm>
            <a:off x="853410" y="4815688"/>
            <a:ext cx="10484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output → regenerate → fixed template after the retry limit. Unverified text is never displayed.</a:t>
            </a:r>
            <a:endParaRPr lang="en-US" sz="1467" dirty="0"/>
          </a:p>
        </p:txBody>
      </p:sp>
      <p:sp>
        <p:nvSpPr>
          <p:cNvPr id="35" name="Text 32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Layer 1 — Name and unit normalisation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194755"/>
            <a:ext cx="5303429" cy="2743109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853410" y="1341059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analyte, many names</a:t>
            </a:r>
            <a:endParaRPr lang="en-US" sz="1733" dirty="0"/>
          </a:p>
        </p:txBody>
      </p:sp>
      <p:sp>
        <p:nvSpPr>
          <p:cNvPr id="6" name="Shape 3"/>
          <p:cNvSpPr/>
          <p:nvPr/>
        </p:nvSpPr>
        <p:spPr>
          <a:xfrm>
            <a:off x="877824" y="1779971"/>
            <a:ext cx="2316450" cy="414498"/>
          </a:xfrm>
          <a:prstGeom prst="roundRect">
            <a:avLst>
              <a:gd name="adj" fmla="val 11758"/>
            </a:avLst>
          </a:prstGeom>
          <a:solidFill>
            <a:srgbClr val="F2F6FB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877824" y="1779971"/>
            <a:ext cx="2316450" cy="414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3" dirty="0">
                <a:solidFill>
                  <a:srgbClr val="20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WBC</a:t>
            </a:r>
            <a:endParaRPr lang="en-US" sz="1333" dirty="0"/>
          </a:p>
        </p:txBody>
      </p:sp>
      <p:sp>
        <p:nvSpPr>
          <p:cNvPr id="8" name="Shape 5"/>
          <p:cNvSpPr/>
          <p:nvPr/>
        </p:nvSpPr>
        <p:spPr>
          <a:xfrm>
            <a:off x="3316163" y="1779971"/>
            <a:ext cx="2316450" cy="414498"/>
          </a:xfrm>
          <a:prstGeom prst="roundRect">
            <a:avLst>
              <a:gd name="adj" fmla="val 11758"/>
            </a:avLst>
          </a:prstGeom>
          <a:solidFill>
            <a:srgbClr val="F2F6FB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3316163" y="1779971"/>
            <a:ext cx="2316450" cy="414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3" dirty="0">
                <a:solidFill>
                  <a:srgbClr val="20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SLBC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877824" y="2292035"/>
            <a:ext cx="2316450" cy="414498"/>
          </a:xfrm>
          <a:prstGeom prst="roundRect">
            <a:avLst>
              <a:gd name="adj" fmla="val 11758"/>
            </a:avLst>
          </a:prstGeom>
          <a:solidFill>
            <a:srgbClr val="F2F6FB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877824" y="2292035"/>
            <a:ext cx="2316450" cy="414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3" dirty="0">
                <a:solidFill>
                  <a:srgbClr val="20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Số lượng bạch cầu</a:t>
            </a:r>
            <a:endParaRPr lang="en-US" sz="1333" dirty="0"/>
          </a:p>
        </p:txBody>
      </p:sp>
      <p:sp>
        <p:nvSpPr>
          <p:cNvPr id="12" name="Shape 9"/>
          <p:cNvSpPr/>
          <p:nvPr/>
        </p:nvSpPr>
        <p:spPr>
          <a:xfrm>
            <a:off x="3316163" y="2292035"/>
            <a:ext cx="2316450" cy="414498"/>
          </a:xfrm>
          <a:prstGeom prst="roundRect">
            <a:avLst>
              <a:gd name="adj" fmla="val 11758"/>
            </a:avLst>
          </a:prstGeom>
          <a:solidFill>
            <a:srgbClr val="F2F6FB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3316163" y="2292035"/>
            <a:ext cx="2316450" cy="414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3" dirty="0">
                <a:solidFill>
                  <a:srgbClr val="20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WBC</a:t>
            </a:r>
            <a:endParaRPr lang="en-US" sz="1333" dirty="0"/>
          </a:p>
        </p:txBody>
      </p:sp>
      <p:sp>
        <p:nvSpPr>
          <p:cNvPr id="14" name="Text 11"/>
          <p:cNvSpPr txBox="1"/>
          <p:nvPr/>
        </p:nvSpPr>
        <p:spPr>
          <a:xfrm>
            <a:off x="853410" y="3047878"/>
            <a:ext cx="485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267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and # markers distinguish percentage from absolute count, and may precede (% Neu) or follow (NEUT%) the name.</a:t>
            </a:r>
            <a:endParaRPr lang="en-US" sz="1267" dirty="0"/>
          </a:p>
        </p:txBody>
      </p:sp>
      <p:sp>
        <p:nvSpPr>
          <p:cNvPr id="15" name="Shape 12"/>
          <p:cNvSpPr/>
          <p:nvPr/>
        </p:nvSpPr>
        <p:spPr>
          <a:xfrm>
            <a:off x="6278728" y="1194755"/>
            <a:ext cx="5303429" cy="2743109"/>
          </a:xfrm>
          <a:prstGeom prst="roundRect">
            <a:avLst>
              <a:gd name="adj" fmla="val 2667"/>
            </a:avLst>
          </a:prstGeom>
          <a:solidFill>
            <a:srgbClr val="FFF4F4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6522598" y="1341059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are the serious problem</a:t>
            </a:r>
            <a:endParaRPr lang="en-US" sz="1733" dirty="0"/>
          </a:p>
        </p:txBody>
      </p:sp>
      <p:sp>
        <p:nvSpPr>
          <p:cNvPr id="17" name="Text 14"/>
          <p:cNvSpPr txBox="1"/>
          <p:nvPr/>
        </p:nvSpPr>
        <p:spPr>
          <a:xfrm>
            <a:off x="6522598" y="1755648"/>
            <a:ext cx="4815688" cy="633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Hb = 14.56 g/dL</a:t>
            </a:r>
            <a:endParaRPr lang="en-US" sz="1467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67" dirty="0">
                <a:solidFill>
                  <a:srgbClr val="20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interval: 130–175 g/L</a:t>
            </a:r>
            <a:endParaRPr lang="en-US" sz="1467" dirty="0"/>
          </a:p>
        </p:txBody>
      </p:sp>
      <p:sp>
        <p:nvSpPr>
          <p:cNvPr id="18" name="Text 15"/>
          <p:cNvSpPr txBox="1"/>
          <p:nvPr/>
        </p:nvSpPr>
        <p:spPr>
          <a:xfrm>
            <a:off x="6522598" y="2584643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Unconverted → classified as "SEEK CARE"</a:t>
            </a:r>
            <a:endParaRPr lang="en-US" sz="1333" dirty="0"/>
          </a:p>
        </p:txBody>
      </p:sp>
      <p:sp>
        <p:nvSpPr>
          <p:cNvPr id="19" name="Text 16"/>
          <p:cNvSpPr txBox="1"/>
          <p:nvPr/>
        </p:nvSpPr>
        <p:spPr>
          <a:xfrm>
            <a:off x="6522598" y="304787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Converted → 145.6 g/L → Normal</a:t>
            </a:r>
            <a:endParaRPr lang="en-US" sz="1333" dirty="0"/>
          </a:p>
        </p:txBody>
      </p:sp>
      <p:sp>
        <p:nvSpPr>
          <p:cNvPr id="20" name="Shape 17"/>
          <p:cNvSpPr/>
          <p:nvPr/>
        </p:nvSpPr>
        <p:spPr>
          <a:xfrm>
            <a:off x="609539" y="4169573"/>
            <a:ext cx="10972526" cy="755843"/>
          </a:xfrm>
          <a:prstGeom prst="roundRect">
            <a:avLst>
              <a:gd name="adj" fmla="val 9678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53410" y="4169573"/>
            <a:ext cx="10484876" cy="75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unknown or missing unit → REFUSE to process. Never guess.</a:t>
            </a:r>
            <a:endParaRPr lang="en-US" sz="1667" dirty="0"/>
          </a:p>
        </p:txBody>
      </p:sp>
      <p:sp>
        <p:nvSpPr>
          <p:cNvPr id="22" name="Text 19"/>
          <p:cNvSpPr txBox="1"/>
          <p:nvPr/>
        </p:nvSpPr>
        <p:spPr>
          <a:xfrm>
            <a:off x="609539" y="5120549"/>
            <a:ext cx="10972526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333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evidence: 6–19% of laboratory tests cannot be accurately mapped to LOINC; an analysis of 163 million results identified 2,019 distinct unit expressions.</a:t>
            </a:r>
            <a:endParaRPr lang="en-US" sz="1333" dirty="0"/>
          </a:p>
        </p:txBody>
      </p:sp>
      <p:sp>
        <p:nvSpPr>
          <p:cNvPr id="23" name="Text 20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Layers 3 &amp; 4 — Constrained generation and validation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194755"/>
            <a:ext cx="5303429" cy="3352739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09539" y="1194755"/>
            <a:ext cx="5303429" cy="487650"/>
          </a:xfrm>
          <a:prstGeom prst="roundRect">
            <a:avLst>
              <a:gd name="adj" fmla="val 15001"/>
            </a:avLst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792419" y="1194755"/>
            <a:ext cx="4937669" cy="48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· Three constraints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853123"/>
            <a:ext cx="1341059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67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157893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GIVEN labels, never asked to derive them</a:t>
            </a:r>
            <a:endParaRPr lang="en-US" sz="1333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706533"/>
            <a:ext cx="1341059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67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3011394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 names, causes, medications or dosages</a:t>
            </a:r>
            <a:endParaRPr lang="en-US" sz="1333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559942"/>
            <a:ext cx="1341059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67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864803"/>
            <a:ext cx="481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JSON schema required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6278728" y="1194755"/>
            <a:ext cx="5303429" cy="3352739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278728" y="1194755"/>
            <a:ext cx="5303429" cy="487650"/>
          </a:xfrm>
          <a:prstGeom prst="roundRect">
            <a:avLst>
              <a:gd name="adj" fmla="val 15001"/>
            </a:avLst>
          </a:prstGeom>
          <a:solidFill>
            <a:srgbClr val="E6A7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6461608" y="1194755"/>
            <a:ext cx="4937669" cy="48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· Six error classes checked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59174" y="1810512"/>
            <a:ext cx="243870" cy="243870"/>
          </a:xfrm>
          <a:prstGeom prst="ellipse">
            <a:avLst/>
          </a:prstGeom>
          <a:solidFill>
            <a:srgbClr val="E6A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6949257" y="1755648"/>
            <a:ext cx="444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stated direction match the Layer 2 label?</a:t>
            </a:r>
            <a:endParaRPr lang="en-US" sz="1333" dirty="0"/>
          </a:p>
        </p:txBody>
      </p:sp>
      <p:sp>
        <p:nvSpPr>
          <p:cNvPr id="18" name="Shape 15"/>
          <p:cNvSpPr/>
          <p:nvPr/>
        </p:nvSpPr>
        <p:spPr>
          <a:xfrm>
            <a:off x="6559174" y="2258568"/>
            <a:ext cx="243870" cy="243870"/>
          </a:xfrm>
          <a:prstGeom prst="ellipse">
            <a:avLst/>
          </a:prstGeom>
          <a:solidFill>
            <a:srgbClr val="E6A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6949257" y="2203704"/>
            <a:ext cx="444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prose contradict the assigned label?</a:t>
            </a:r>
            <a:endParaRPr lang="en-US" sz="1333" dirty="0"/>
          </a:p>
        </p:txBody>
      </p:sp>
      <p:sp>
        <p:nvSpPr>
          <p:cNvPr id="20" name="Shape 17"/>
          <p:cNvSpPr/>
          <p:nvPr/>
        </p:nvSpPr>
        <p:spPr>
          <a:xfrm>
            <a:off x="6559174" y="2706624"/>
            <a:ext cx="243870" cy="243870"/>
          </a:xfrm>
          <a:prstGeom prst="ellipse">
            <a:avLst/>
          </a:prstGeom>
          <a:solidFill>
            <a:srgbClr val="E6A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6949257" y="2651760"/>
            <a:ext cx="444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forbidden terms present?</a:t>
            </a:r>
            <a:endParaRPr lang="en-US" sz="1333" dirty="0"/>
          </a:p>
        </p:txBody>
      </p:sp>
      <p:sp>
        <p:nvSpPr>
          <p:cNvPr id="22" name="Shape 19"/>
          <p:cNvSpPr/>
          <p:nvPr/>
        </p:nvSpPr>
        <p:spPr>
          <a:xfrm>
            <a:off x="6559174" y="3154679"/>
            <a:ext cx="243870" cy="243870"/>
          </a:xfrm>
          <a:prstGeom prst="ellipse">
            <a:avLst/>
          </a:prstGeom>
          <a:solidFill>
            <a:srgbClr val="E6A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6949257" y="3099815"/>
            <a:ext cx="444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 analyte fabricated?</a:t>
            </a:r>
            <a:endParaRPr lang="en-US" sz="1333" dirty="0"/>
          </a:p>
        </p:txBody>
      </p:sp>
      <p:sp>
        <p:nvSpPr>
          <p:cNvPr id="24" name="Shape 21"/>
          <p:cNvSpPr/>
          <p:nvPr/>
        </p:nvSpPr>
        <p:spPr>
          <a:xfrm>
            <a:off x="609539" y="4754789"/>
            <a:ext cx="10972526" cy="755843"/>
          </a:xfrm>
          <a:prstGeom prst="roundRect">
            <a:avLst>
              <a:gd name="adj" fmla="val 96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 txBox="1"/>
          <p:nvPr/>
        </p:nvSpPr>
        <p:spPr>
          <a:xfrm>
            <a:off x="853410" y="4754789"/>
            <a:ext cx="10484876" cy="75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Qwen2.5-3B served locally via Ollama. Data never leaves the institution, and no GPU is required.</a:t>
            </a:r>
            <a:endParaRPr lang="en-US" sz="1533" dirty="0"/>
          </a:p>
        </p:txBody>
      </p:sp>
      <p:sp>
        <p:nvSpPr>
          <p:cNvPr id="26" name="Text 23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200" dirty="0"/>
          </a:p>
        </p:txBody>
      </p:sp>
      <p:sp>
        <p:nvSpPr>
          <p:cNvPr id="2" name="Shape 19"/>
          <p:cNvSpPr/>
          <p:nvPr/>
        </p:nvSpPr>
        <p:spPr>
          <a:xfrm>
            <a:off x="6559174" y="3602736"/>
            <a:ext cx="243870" cy="243870"/>
          </a:xfrm>
          <a:prstGeom prst="ellipse">
            <a:avLst/>
          </a:prstGeom>
          <a:solidFill>
            <a:srgbClr val="E6A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0"/>
          <p:cNvSpPr txBox="1"/>
          <p:nvPr/>
        </p:nvSpPr>
        <p:spPr>
          <a:xfrm>
            <a:off x="6949257" y="3547872"/>
            <a:ext cx="444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 analyte omitted?</a:t>
            </a:r>
            <a:endParaRPr lang="en-US" sz="1333" dirty="0"/>
          </a:p>
        </p:txBody>
      </p:sp>
      <p:sp>
        <p:nvSpPr>
          <p:cNvPr id="28" name="Shape 19"/>
          <p:cNvSpPr/>
          <p:nvPr/>
        </p:nvSpPr>
        <p:spPr>
          <a:xfrm>
            <a:off x="6559174" y="4050791"/>
            <a:ext cx="243870" cy="243870"/>
          </a:xfrm>
          <a:prstGeom prst="ellipse">
            <a:avLst/>
          </a:prstGeom>
          <a:solidFill>
            <a:srgbClr val="E6A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0"/>
          <p:cNvSpPr txBox="1"/>
          <p:nvPr/>
        </p:nvSpPr>
        <p:spPr>
          <a:xfrm>
            <a:off x="6949257" y="3995928"/>
            <a:ext cx="444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closing statement falsely reassure?</a:t>
            </a:r>
            <a:endParaRPr lang="en-US" sz="133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Evaluation design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194755"/>
            <a:ext cx="5303429" cy="195069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853410" y="131673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67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731234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synthetic complete blood count panels</a:t>
            </a:r>
            <a:endParaRPr lang="en-US" sz="1333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10–18 analytes per panel</a:t>
            </a:r>
            <a:endParaRPr lang="en-US" sz="1333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split across 3 severity classes</a:t>
            </a:r>
            <a:endParaRPr lang="en-US" sz="1333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aliases and units per analyte</a:t>
            </a:r>
            <a:endParaRPr lang="en-US" sz="1333" dirty="0"/>
          </a:p>
        </p:txBody>
      </p:sp>
      <p:sp>
        <p:nvSpPr>
          <p:cNvPr id="7" name="Shape 4"/>
          <p:cNvSpPr/>
          <p:nvPr/>
        </p:nvSpPr>
        <p:spPr>
          <a:xfrm>
            <a:off x="6278728" y="1194755"/>
            <a:ext cx="5303429" cy="195069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522598" y="131673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synthetic data</a:t>
            </a:r>
            <a:endParaRPr lang="en-US" sz="1667" dirty="0"/>
          </a:p>
        </p:txBody>
      </p:sp>
      <p:sp>
        <p:nvSpPr>
          <p:cNvPr id="9" name="Text 6"/>
          <p:cNvSpPr txBox="1"/>
          <p:nvPr/>
        </p:nvSpPr>
        <p:spPr>
          <a:xfrm>
            <a:off x="6583497" y="1731234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labels required; real reports carry none</a:t>
            </a:r>
            <a:endParaRPr lang="en-US" sz="1333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design required; real panels are mostly normal</a:t>
            </a:r>
            <a:endParaRPr lang="en-US" sz="1333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data handled</a:t>
            </a:r>
            <a:endParaRPr lang="en-US" sz="1333" dirty="0"/>
          </a:p>
        </p:txBody>
      </p:sp>
      <p:sp>
        <p:nvSpPr>
          <p:cNvPr id="10" name="Text 7"/>
          <p:cNvSpPr txBox="1"/>
          <p:nvPr/>
        </p:nvSpPr>
        <p:spPr>
          <a:xfrm>
            <a:off x="609539" y="3316163"/>
            <a:ext cx="1097252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configurations</a:t>
            </a:r>
            <a:endParaRPr lang="en-US" sz="1667" dirty="0"/>
          </a:p>
        </p:txBody>
      </p:sp>
      <p:sp>
        <p:nvSpPr>
          <p:cNvPr id="11" name="Shape 8"/>
          <p:cNvSpPr/>
          <p:nvPr/>
        </p:nvSpPr>
        <p:spPr>
          <a:xfrm>
            <a:off x="609539" y="3755075"/>
            <a:ext cx="348679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09539" y="3755075"/>
            <a:ext cx="3486790" cy="438912"/>
          </a:xfrm>
          <a:prstGeom prst="roundRect">
            <a:avLst>
              <a:gd name="adj" fmla="val 16667"/>
            </a:avLst>
          </a:prstGeom>
          <a:solidFill>
            <a:srgbClr val="5A6B8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609539" y="3755075"/>
            <a:ext cx="34867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533" dirty="0"/>
          </a:p>
        </p:txBody>
      </p:sp>
      <p:sp>
        <p:nvSpPr>
          <p:cNvPr id="14" name="Text 11"/>
          <p:cNvSpPr txBox="1"/>
          <p:nvPr/>
        </p:nvSpPr>
        <p:spPr>
          <a:xfrm>
            <a:off x="792419" y="4291462"/>
            <a:ext cx="3121030" cy="97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2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given to the model. No labels, no constraints, no validation.</a:t>
            </a:r>
            <a:endParaRPr lang="en-US" sz="1267" dirty="0"/>
          </a:p>
        </p:txBody>
      </p:sp>
      <p:sp>
        <p:nvSpPr>
          <p:cNvPr id="15" name="Shape 12"/>
          <p:cNvSpPr/>
          <p:nvPr/>
        </p:nvSpPr>
        <p:spPr>
          <a:xfrm>
            <a:off x="4352453" y="3755075"/>
            <a:ext cx="348679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4352453" y="3755075"/>
            <a:ext cx="3486790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4352453" y="3755075"/>
            <a:ext cx="34867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constrained</a:t>
            </a:r>
            <a:endParaRPr lang="en-US" sz="1533" dirty="0"/>
          </a:p>
        </p:txBody>
      </p:sp>
      <p:sp>
        <p:nvSpPr>
          <p:cNvPr id="18" name="Text 15"/>
          <p:cNvSpPr txBox="1"/>
          <p:nvPr/>
        </p:nvSpPr>
        <p:spPr>
          <a:xfrm>
            <a:off x="4535333" y="4291462"/>
            <a:ext cx="3121030" cy="97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2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1–3. Labels and constraints, but output not verified.</a:t>
            </a:r>
            <a:endParaRPr lang="en-US" sz="1267" dirty="0"/>
          </a:p>
        </p:txBody>
      </p:sp>
      <p:sp>
        <p:nvSpPr>
          <p:cNvPr id="19" name="Shape 16"/>
          <p:cNvSpPr/>
          <p:nvPr/>
        </p:nvSpPr>
        <p:spPr>
          <a:xfrm>
            <a:off x="8095275" y="3755075"/>
            <a:ext cx="348679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095275" y="3755075"/>
            <a:ext cx="3486790" cy="438912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095275" y="3755075"/>
            <a:ext cx="34867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endParaRPr lang="en-US" sz="1533" dirty="0"/>
          </a:p>
        </p:txBody>
      </p:sp>
      <p:sp>
        <p:nvSpPr>
          <p:cNvPr id="22" name="Text 19"/>
          <p:cNvSpPr txBox="1"/>
          <p:nvPr/>
        </p:nvSpPr>
        <p:spPr>
          <a:xfrm>
            <a:off x="8278155" y="4291462"/>
            <a:ext cx="3121030" cy="97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33"/>
              </a:lnSpc>
              <a:buNone/>
            </a:pPr>
            <a:r>
              <a:rPr lang="en-US" sz="1267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1–4. Complete, with regeneration and template fallback.</a:t>
            </a:r>
            <a:endParaRPr lang="en-US" sz="1267" dirty="0"/>
          </a:p>
        </p:txBody>
      </p:sp>
      <p:sp>
        <p:nvSpPr>
          <p:cNvPr id="23" name="Text 20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Results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39" y="1280160"/>
          <a:ext cx="10972800" cy="265770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55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Omitted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67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baseline</a:t>
                      </a:r>
                      <a:endParaRPr lang="en-US" sz="1467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67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constrained</a:t>
                      </a:r>
                      <a:endParaRPr lang="en-US" sz="1467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9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67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1467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9539" y="4047683"/>
            <a:ext cx="10972526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% of panels · n = 150 · Lower is better for all error columns</a:t>
            </a:r>
            <a:endParaRPr lang="en-US" sz="1333" dirty="0"/>
          </a:p>
        </p:txBody>
      </p:sp>
      <p:sp>
        <p:nvSpPr>
          <p:cNvPr id="6" name="Shape 2"/>
          <p:cNvSpPr/>
          <p:nvPr/>
        </p:nvSpPr>
        <p:spPr>
          <a:xfrm>
            <a:off x="609539" y="4510918"/>
            <a:ext cx="10972526" cy="633954"/>
          </a:xfrm>
          <a:prstGeom prst="roundRect">
            <a:avLst>
              <a:gd name="adj" fmla="val 115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 txBox="1"/>
          <p:nvPr/>
        </p:nvSpPr>
        <p:spPr>
          <a:xfrm>
            <a:off x="853410" y="4510918"/>
            <a:ext cx="10484876" cy="633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metric decreases monotonically across the three configurations.</a:t>
            </a:r>
            <a:endParaRPr lang="en-US" sz="1667" dirty="0"/>
          </a:p>
        </p:txBody>
      </p:sp>
      <p:sp>
        <p:nvSpPr>
          <p:cNvPr id="8" name="Text 4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The same results, as a chart</a:t>
            </a:r>
            <a:endParaRPr lang="en-US" sz="300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10725912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12648" y="5806440"/>
            <a:ext cx="10972800" cy="31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axis: % of panels with that error. Lower is better. Full is zero in all six classes.</a:t>
            </a:r>
            <a:endParaRPr lang="en-US" sz="1333" dirty="0"/>
          </a:p>
        </p:txBody>
      </p:sp>
      <p:sp>
        <p:nvSpPr>
          <p:cNvPr id="25" name="Text 22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Three key findings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219170"/>
            <a:ext cx="3486790" cy="3169859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707106" y="1438626"/>
            <a:ext cx="3291749" cy="75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33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→ 0%</a:t>
            </a:r>
            <a:endParaRPr lang="en-US" sz="3333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55459"/>
            <a:ext cx="324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reassurance</a:t>
            </a:r>
            <a:endParaRPr lang="en-US" sz="1667" dirty="0"/>
          </a:p>
        </p:txBody>
      </p:sp>
      <p:sp>
        <p:nvSpPr>
          <p:cNvPr id="7" name="Shape 4"/>
          <p:cNvSpPr/>
          <p:nvPr/>
        </p:nvSpPr>
        <p:spPr>
          <a:xfrm>
            <a:off x="1767810" y="2682210"/>
            <a:ext cx="1170432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28995" y="2828514"/>
            <a:ext cx="3047878" cy="140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67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Unconstrained: roughly one patient in three with abnormal results would be told nothing needed attention.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4352453" y="1219170"/>
            <a:ext cx="3486790" cy="3169859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449928" y="1438626"/>
            <a:ext cx="3291749" cy="75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33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91.3% → 0%</a:t>
            </a:r>
            <a:endParaRPr lang="en-US" sz="3333" dirty="0"/>
          </a:p>
        </p:txBody>
      </p:sp>
      <p:sp>
        <p:nvSpPr>
          <p:cNvPr id="11" name="Text 8"/>
          <p:cNvSpPr txBox="1"/>
          <p:nvPr/>
        </p:nvSpPr>
        <p:spPr>
          <a:xfrm>
            <a:off x="4474342" y="2255459"/>
            <a:ext cx="324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mismatch</a:t>
            </a:r>
            <a:endParaRPr lang="en-US" sz="1667" dirty="0"/>
          </a:p>
        </p:txBody>
      </p:sp>
      <p:sp>
        <p:nvSpPr>
          <p:cNvPr id="12" name="Shape 9"/>
          <p:cNvSpPr/>
          <p:nvPr/>
        </p:nvSpPr>
        <p:spPr>
          <a:xfrm>
            <a:off x="5510632" y="2682210"/>
            <a:ext cx="1170432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4571909" y="2828514"/>
            <a:ext cx="3047878" cy="140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67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judging for itself fails almost always. Moved to a rule layer, classification becomes exact.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8095275" y="1219170"/>
            <a:ext cx="3486790" cy="3169859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8192841" y="1438626"/>
            <a:ext cx="3291749" cy="75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33" b="1" dirty="0">
                <a:solidFill>
                  <a:srgbClr val="E6A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3333" dirty="0"/>
          </a:p>
        </p:txBody>
      </p:sp>
      <p:sp>
        <p:nvSpPr>
          <p:cNvPr id="16" name="Text 13"/>
          <p:cNvSpPr txBox="1"/>
          <p:nvPr/>
        </p:nvSpPr>
        <p:spPr>
          <a:xfrm>
            <a:off x="8217164" y="2255459"/>
            <a:ext cx="324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insufficient</a:t>
            </a:r>
            <a:endParaRPr lang="en-US" sz="1667" dirty="0"/>
          </a:p>
        </p:txBody>
      </p:sp>
      <p:sp>
        <p:nvSpPr>
          <p:cNvPr id="17" name="Shape 14"/>
          <p:cNvSpPr/>
          <p:nvPr/>
        </p:nvSpPr>
        <p:spPr>
          <a:xfrm>
            <a:off x="9253454" y="2682210"/>
            <a:ext cx="1170432" cy="0"/>
          </a:xfrm>
          <a:prstGeom prst="line">
            <a:avLst/>
          </a:prstGeom>
          <a:noFill/>
          <a:ln w="19050">
            <a:solidFill>
              <a:srgbClr val="E6A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8314731" y="2828514"/>
            <a:ext cx="3047878" cy="140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67"/>
              </a:lnSpc>
              <a:buNone/>
            </a:pPr>
            <a:r>
              <a:rPr lang="en-US" sz="1333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prompt-constrained outputs still failed validation. Instruction does not guarantee compliance.</a:t>
            </a:r>
            <a:endParaRPr lang="en-US" sz="1333" dirty="0"/>
          </a:p>
        </p:txBody>
      </p:sp>
      <p:sp>
        <p:nvSpPr>
          <p:cNvPr id="19" name="Shape 16"/>
          <p:cNvSpPr/>
          <p:nvPr/>
        </p:nvSpPr>
        <p:spPr>
          <a:xfrm>
            <a:off x="609539" y="4608485"/>
            <a:ext cx="10972526" cy="950976"/>
          </a:xfrm>
          <a:prstGeom prst="roundRect">
            <a:avLst>
              <a:gd name="adj" fmla="val 7692"/>
            </a:avLst>
          </a:prstGeom>
          <a:solidFill>
            <a:srgbClr val="FFF8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877824" y="4608485"/>
            <a:ext cx="1043604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100% comprises 64% model-generated text and 36% fixed templates. That guarantee comes from the pipeline, and is not evidence that a 3B model performs this task reliably.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Discussion — two observations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219170"/>
            <a:ext cx="10972526" cy="1731234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914400" y="1438626"/>
            <a:ext cx="536478" cy="536478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14400" y="1438626"/>
            <a:ext cx="536478" cy="53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402050"/>
            <a:ext cx="96314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reassurance deserves its own metric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804386"/>
            <a:ext cx="9692366" cy="999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evaluations report readability and factual accuracy. A falsely reassuring sentence may still score HIGH on readability, because it is simple and calming. The harm is that it stops the reader from seeking care.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539" y="3169859"/>
            <a:ext cx="10972526" cy="1731234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914400" y="3389315"/>
            <a:ext cx="536478" cy="53647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914400" y="3389315"/>
            <a:ext cx="536478" cy="53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3352739"/>
            <a:ext cx="96314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standardisation is a safety precondition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755075"/>
            <a:ext cx="9692366" cy="999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error occurred inside the rule layer, the layer treated as exact. No downstream validation detects it, because every later layer faithfully reproduces a confidently wrong label.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9539" y="5144872"/>
            <a:ext cx="10972526" cy="609539"/>
          </a:xfrm>
          <a:prstGeom prst="roundRect">
            <a:avLst>
              <a:gd name="adj" fmla="val 12001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853410" y="5144872"/>
            <a:ext cx="10484876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standardisation (LOINC, HL7 FHIR) is therefore a precondition for rule-based clinical logic, not only a data-reuse concern.</a:t>
            </a:r>
            <a:endParaRPr lang="en-US" sz="1467" dirty="0"/>
          </a:p>
        </p:txBody>
      </p:sp>
      <p:sp>
        <p:nvSpPr>
          <p:cNvPr id="16" name="Text 13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Limitations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280160"/>
            <a:ext cx="5303429" cy="1889699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09539" y="1280160"/>
            <a:ext cx="5303429" cy="512064"/>
          </a:xfrm>
          <a:prstGeom prst="roundRect">
            <a:avLst>
              <a:gd name="adj" fmla="val 14286"/>
            </a:avLst>
          </a:prstGeom>
          <a:solidFill>
            <a:srgbClr val="5A6B8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28995" y="1280160"/>
            <a:ext cx="4876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clinical validation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3410" y="1938437"/>
            <a:ext cx="485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evaluation is automated. No medical professional reviewed the generated explanations.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78728" y="1280160"/>
            <a:ext cx="5303429" cy="1889699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278728" y="1280160"/>
            <a:ext cx="5303429" cy="512064"/>
          </a:xfrm>
          <a:prstGeom prst="roundRect">
            <a:avLst>
              <a:gd name="adj" fmla="val 14286"/>
            </a:avLst>
          </a:prstGeom>
          <a:solidFill>
            <a:srgbClr val="5A6B8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6498184" y="1280160"/>
            <a:ext cx="4876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not grounded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22598" y="1938437"/>
            <a:ext cx="485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factors separating "monitor" from "seek care" were set heuristically, not against a critical value list.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9539" y="3413638"/>
            <a:ext cx="5303429" cy="1889699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09539" y="3413638"/>
            <a:ext cx="5303429" cy="512064"/>
          </a:xfrm>
          <a:prstGeom prst="roundRect">
            <a:avLst>
              <a:gd name="adj" fmla="val 14286"/>
            </a:avLst>
          </a:prstGeom>
          <a:solidFill>
            <a:srgbClr val="5A6B8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28995" y="3413638"/>
            <a:ext cx="4876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53410" y="4072006"/>
            <a:ext cx="485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reports carry noise, missing fields and formatting variation this study does not capture.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78728" y="3413638"/>
            <a:ext cx="5303429" cy="1889699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6278728" y="3413638"/>
            <a:ext cx="5303429" cy="512064"/>
          </a:xfrm>
          <a:prstGeom prst="roundRect">
            <a:avLst>
              <a:gd name="adj" fmla="val 14286"/>
            </a:avLst>
          </a:prstGeom>
          <a:solidFill>
            <a:srgbClr val="5A6B8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6498184" y="3413638"/>
            <a:ext cx="4876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scope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522598" y="4072006"/>
            <a:ext cx="485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7"/>
              </a:lnSpc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blood count only. No biochemistry, one-sided intervals, qualitative results, or OCR.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1346"/>
            <a:ext cx="11094415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Conclusion and future work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9539" y="1194755"/>
            <a:ext cx="10972526" cy="975299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950976" y="1194755"/>
            <a:ext cx="10289835" cy="97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67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is not permitted to judge whether a value is abnormal. Rules decide first, the model paraphrases, a validator checks one against the other.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539" y="2377349"/>
            <a:ext cx="3486790" cy="12191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707106" y="2499330"/>
            <a:ext cx="3291749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→ 0%</a:t>
            </a:r>
            <a:endParaRPr lang="en-US" sz="2933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21030"/>
            <a:ext cx="324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reassurance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2453" y="2377349"/>
            <a:ext cx="3486790" cy="12191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449928" y="2499330"/>
            <a:ext cx="3291749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933" dirty="0"/>
          </a:p>
        </p:txBody>
      </p:sp>
      <p:sp>
        <p:nvSpPr>
          <p:cNvPr id="11" name="Text 8"/>
          <p:cNvSpPr txBox="1"/>
          <p:nvPr/>
        </p:nvSpPr>
        <p:spPr>
          <a:xfrm>
            <a:off x="4474342" y="3121030"/>
            <a:ext cx="324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output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95275" y="2377349"/>
            <a:ext cx="3486790" cy="12191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192841" y="2499330"/>
            <a:ext cx="3291749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933" dirty="0"/>
          </a:p>
        </p:txBody>
      </p:sp>
      <p:sp>
        <p:nvSpPr>
          <p:cNvPr id="14" name="Text 11"/>
          <p:cNvSpPr txBox="1"/>
          <p:nvPr/>
        </p:nvSpPr>
        <p:spPr>
          <a:xfrm>
            <a:off x="8217164" y="3121030"/>
            <a:ext cx="324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required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09539" y="3779398"/>
            <a:ext cx="1097252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work, in order of importance</a:t>
            </a:r>
            <a:endParaRPr lang="en-US" sz="1667" dirty="0"/>
          </a:p>
        </p:txBody>
      </p:sp>
      <p:sp>
        <p:nvSpPr>
          <p:cNvPr id="16" name="Shape 13"/>
          <p:cNvSpPr/>
          <p:nvPr/>
        </p:nvSpPr>
        <p:spPr>
          <a:xfrm>
            <a:off x="755843" y="4267048"/>
            <a:ext cx="207294" cy="207294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1121603" y="4193987"/>
            <a:ext cx="1024100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by medical professionals (most pressing)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55843" y="4632808"/>
            <a:ext cx="207294" cy="20729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1121603" y="4559656"/>
            <a:ext cx="1024100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thresholds with a critical value list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5843" y="4998568"/>
            <a:ext cx="207294" cy="20729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1121603" y="4925416"/>
            <a:ext cx="1024100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biochemistry and qualitative results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55843" y="5364328"/>
            <a:ext cx="207294" cy="20729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1121603" y="5291176"/>
            <a:ext cx="1024100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output layer for elderly and low-literacy patients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55843" y="5730088"/>
            <a:ext cx="207294" cy="20729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 txBox="1"/>
          <p:nvPr/>
        </p:nvSpPr>
        <p:spPr>
          <a:xfrm>
            <a:off x="1121603" y="5656936"/>
            <a:ext cx="10241006" cy="34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real reports from multiple laboratories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850636" y="6437193"/>
            <a:ext cx="10362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539" y="1341059"/>
            <a:ext cx="10972526" cy="365750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1F386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 txBox="1"/>
          <p:nvPr/>
        </p:nvSpPr>
        <p:spPr>
          <a:xfrm>
            <a:off x="975299" y="1889699"/>
            <a:ext cx="10241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67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067" dirty="0"/>
          </a:p>
        </p:txBody>
      </p:sp>
      <p:sp>
        <p:nvSpPr>
          <p:cNvPr id="5" name="Shape 2"/>
          <p:cNvSpPr/>
          <p:nvPr/>
        </p:nvSpPr>
        <p:spPr>
          <a:xfrm>
            <a:off x="4876678" y="2986979"/>
            <a:ext cx="2438339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75299" y="3194182"/>
            <a:ext cx="10241006" cy="48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3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133" dirty="0"/>
          </a:p>
        </p:txBody>
      </p:sp>
      <p:sp>
        <p:nvSpPr>
          <p:cNvPr id="7" name="Text 4"/>
          <p:cNvSpPr txBox="1"/>
          <p:nvPr/>
        </p:nvSpPr>
        <p:spPr>
          <a:xfrm>
            <a:off x="975299" y="3901379"/>
            <a:ext cx="10241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Truong Quang Dai¹ · Vo Hoang Khang¹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75299" y="4328038"/>
            <a:ext cx="10241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 HI26-0013 · Track B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6003</Words>
  <Application>Microsoft Office PowerPoint</Application>
  <PresentationFormat>Widescreen</PresentationFormat>
  <Paragraphs>558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HEALTHINFO IV - Blood Test Interpretation</dc:title>
  <dc:subject>PptxGenJS Presentation</dc:subject>
  <dc:creator>Vo Hoang Khang</dc:creator>
  <cp:lastModifiedBy>PC</cp:lastModifiedBy>
  <cp:revision>2</cp:revision>
  <dcterms:created xsi:type="dcterms:W3CDTF">2026-09-29T10:30:20Z</dcterms:created>
  <dcterms:modified xsi:type="dcterms:W3CDTF">2026-10-01T16:29:03Z</dcterms:modified>
</cp:coreProperties>
</file>
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2" r:id="rId6"/>
    <p:sldId id="263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1" clrIdx="0">
    <p:extLst>
      <p:ext uri="{19B8F6BF-5375-455C-9EA6-DF929625EA0E}">
        <p15:presenceInfo xmlns:p15="http://schemas.microsoft.com/office/powerpoint/2012/main" userId="P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3162" autoAdjust="0"/>
  </p:normalViewPr>
  <p:slideViewPr>
    <p:cSldViewPr snapToGrid="0" snapToObjects="1">
      <p:cViewPr varScale="1">
        <p:scale>
          <a:sx n="61" d="100"/>
          <a:sy n="61" d="100"/>
        </p:scale>
        <p:origin x="24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10-01T23:28:03.875" idx="1">
    <p:pos x="10" y="10"/>
    <p:text/>
    <p:extLst>
      <p:ext uri="{C676402C-5697-4E1C-873F-D02D1690AC5C}">
        <p15:threadingInfo xmlns:p15="http://schemas.microsoft.com/office/powerpoint/2012/main" timeZoneBias="-420"/>
      </p:ext>
    </p:extLs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257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 b="1" i="0" dirty="0">
                <a:solidFill>
                  <a:srgbClr val="1F3864"/>
                </a:solidFill>
              </a:rPr>
              <a:t>SLIDE 1  ·  </a:t>
            </a:r>
            <a:r>
              <a:rPr sz="1600" b="1" i="0" dirty="0" err="1">
                <a:solidFill>
                  <a:srgbClr val="1F3864"/>
                </a:solidFill>
              </a:rPr>
              <a:t>Trang</a:t>
            </a:r>
            <a:r>
              <a:rPr sz="1600" b="1" i="0" dirty="0">
                <a:solidFill>
                  <a:srgbClr val="1F3864"/>
                </a:solidFill>
              </a:rPr>
              <a:t> </a:t>
            </a:r>
            <a:r>
              <a:rPr sz="1600" b="1" i="0" dirty="0" err="1">
                <a:solidFill>
                  <a:srgbClr val="1F3864"/>
                </a:solidFill>
              </a:rPr>
              <a:t>tiêu</a:t>
            </a:r>
            <a:r>
              <a:rPr sz="1600" b="1" i="0" dirty="0">
                <a:solidFill>
                  <a:srgbClr val="1F3864"/>
                </a:solidFill>
              </a:rPr>
              <a:t> </a:t>
            </a:r>
            <a:r>
              <a:rPr sz="1600" b="1" i="0" dirty="0" err="1">
                <a:solidFill>
                  <a:srgbClr val="1F3864"/>
                </a:solidFill>
              </a:rPr>
              <a:t>đề</a:t>
            </a:r>
            <a:r>
              <a:rPr sz="1600" b="1" i="0" dirty="0">
                <a:solidFill>
                  <a:srgbClr val="1F3864"/>
                </a:solidFill>
              </a:rPr>
              <a:t>  ·  45 </a:t>
            </a:r>
            <a:r>
              <a:rPr sz="1600" b="1" i="0" dirty="0" err="1">
                <a:solidFill>
                  <a:srgbClr val="1F3864"/>
                </a:solidFill>
              </a:rPr>
              <a:t>giây</a:t>
            </a:r>
            <a:endParaRPr lang="en-US" sz="1400" dirty="0"/>
          </a:p>
          <a:p>
            <a:pPr>
              <a:spcBef>
                <a:spcPts val="1000"/>
              </a:spcBef>
            </a:pPr>
            <a:r>
              <a:rPr sz="1400" b="1" i="0" dirty="0">
                <a:solidFill>
                  <a:srgbClr val="1F3864"/>
                </a:solidFill>
              </a:rPr>
              <a:t>ĐỌC NGUYÊN VĂN  (</a:t>
            </a:r>
            <a:r>
              <a:rPr sz="1400" b="1" i="0" dirty="0" err="1">
                <a:solidFill>
                  <a:srgbClr val="1F3864"/>
                </a:solidFill>
              </a:rPr>
              <a:t>câu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màu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xám</a:t>
            </a:r>
            <a:r>
              <a:rPr sz="1400" b="1" i="0" dirty="0">
                <a:solidFill>
                  <a:srgbClr val="1F3864"/>
                </a:solidFill>
              </a:rPr>
              <a:t>: </a:t>
            </a:r>
            <a:r>
              <a:rPr sz="1400" b="1" i="0" dirty="0" err="1">
                <a:solidFill>
                  <a:srgbClr val="1F3864"/>
                </a:solidFill>
              </a:rPr>
              <a:t>bỏ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được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nếu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thiếu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giờ</a:t>
            </a:r>
            <a:r>
              <a:rPr sz="1400" b="1" i="0" dirty="0">
                <a:solidFill>
                  <a:srgbClr val="1F3864"/>
                </a:solidFill>
              </a:rPr>
              <a:t>)</a:t>
            </a:r>
          </a:p>
          <a:p>
            <a:r>
              <a:rPr sz="2400" b="1" i="0" dirty="0"/>
              <a:t>Good afternoon, everyone.</a:t>
            </a:r>
          </a:p>
          <a:p>
            <a:r>
              <a:rPr sz="2400" b="1" i="0" dirty="0"/>
              <a:t>Thank you for staying with us for the last talk of the session.</a:t>
            </a:r>
          </a:p>
          <a:p>
            <a:r>
              <a:rPr sz="2400" b="1" i="0" dirty="0"/>
              <a:t>My name is Truong </a:t>
            </a:r>
            <a:r>
              <a:rPr sz="2400" b="1" i="0" dirty="0" err="1"/>
              <a:t>Quang</a:t>
            </a:r>
            <a:r>
              <a:rPr sz="2400" b="1" i="0" dirty="0"/>
              <a:t> Dai, from HUTECH University, in Ho Chi Minh City.</a:t>
            </a:r>
          </a:p>
          <a:p>
            <a:r>
              <a:rPr sz="2400" b="1" i="0" dirty="0"/>
              <a:t>This is joint work with my advisor, Vo Hoang </a:t>
            </a:r>
            <a:r>
              <a:rPr sz="2400" b="1" i="0" dirty="0" err="1"/>
              <a:t>Khang</a:t>
            </a:r>
            <a:r>
              <a:rPr sz="2400" b="1" i="0" dirty="0"/>
              <a:t>.</a:t>
            </a:r>
          </a:p>
          <a:p>
            <a:r>
              <a:rPr sz="2400" b="1" i="0" dirty="0"/>
              <a:t>Our paper is about helping patients understand their blood test results.</a:t>
            </a:r>
          </a:p>
          <a:p>
            <a:r>
              <a:rPr sz="2400" b="1" i="0" dirty="0"/>
              <a:t>The main idea is simple. The rules decide. The AI only writes the explanation.</a:t>
            </a:r>
          </a:p>
          <a:p>
            <a:pPr>
              <a:spcBef>
                <a:spcPts val="1200"/>
              </a:spcBef>
            </a:pPr>
            <a:r>
              <a:rPr sz="14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Chào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buổi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chiều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quý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vị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Cảm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ơn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quý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vị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đã</a:t>
            </a:r>
            <a:r>
              <a:rPr sz="1600" b="0" i="1" dirty="0">
                <a:solidFill>
                  <a:srgbClr val="5A5A5A"/>
                </a:solidFill>
              </a:rPr>
              <a:t> ở </a:t>
            </a:r>
            <a:r>
              <a:rPr sz="1600" b="0" i="1" dirty="0" err="1">
                <a:solidFill>
                  <a:srgbClr val="5A5A5A"/>
                </a:solidFill>
              </a:rPr>
              <a:t>lại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với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báo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cáo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cuối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cùng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của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phiên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hôm</a:t>
            </a:r>
            <a:r>
              <a:rPr sz="1600" b="0" i="1" dirty="0">
                <a:solidFill>
                  <a:srgbClr val="5A5A5A"/>
                </a:solidFill>
              </a:rPr>
              <a:t> nay.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Tôi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tên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Trương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Quang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Đại</a:t>
            </a:r>
            <a:r>
              <a:rPr sz="1600" b="0" i="1" dirty="0">
                <a:solidFill>
                  <a:srgbClr val="5A5A5A"/>
                </a:solidFill>
              </a:rPr>
              <a:t>, </a:t>
            </a:r>
            <a:r>
              <a:rPr sz="1600" b="0" i="1" dirty="0" err="1">
                <a:solidFill>
                  <a:srgbClr val="5A5A5A"/>
                </a:solidFill>
              </a:rPr>
              <a:t>Trường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Đại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học</a:t>
            </a:r>
            <a:r>
              <a:rPr sz="1600" b="0" i="1" dirty="0">
                <a:solidFill>
                  <a:srgbClr val="5A5A5A"/>
                </a:solidFill>
              </a:rPr>
              <a:t> HUTECH, </a:t>
            </a:r>
            <a:r>
              <a:rPr sz="1600" b="0" i="1" dirty="0" err="1">
                <a:solidFill>
                  <a:srgbClr val="5A5A5A"/>
                </a:solidFill>
              </a:rPr>
              <a:t>Thành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phố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Hồ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Chí</a:t>
            </a:r>
            <a:r>
              <a:rPr sz="1600" b="0" i="1" dirty="0">
                <a:solidFill>
                  <a:srgbClr val="5A5A5A"/>
                </a:solidFill>
              </a:rPr>
              <a:t> Minh.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Đây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nghiên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cứu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tôi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làm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cùng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thầy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hướng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dẫn</a:t>
            </a:r>
            <a:r>
              <a:rPr sz="1600" b="0" i="1" dirty="0">
                <a:solidFill>
                  <a:srgbClr val="5A5A5A"/>
                </a:solidFill>
              </a:rPr>
              <a:t>, </a:t>
            </a:r>
            <a:r>
              <a:rPr sz="1600" b="0" i="1" dirty="0" err="1">
                <a:solidFill>
                  <a:srgbClr val="5A5A5A"/>
                </a:solidFill>
              </a:rPr>
              <a:t>thầy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Võ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Hoàng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Khang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Bài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của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chúng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tôi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nói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về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việc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giúp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bệnh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nhân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hiểu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kết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quả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xét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nghiệm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máu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>
                <a:solidFill>
                  <a:srgbClr val="5A5A5A"/>
                </a:solidFill>
              </a:rPr>
              <a:t>Ý </a:t>
            </a:r>
            <a:r>
              <a:rPr sz="1600" b="0" i="1" dirty="0" err="1">
                <a:solidFill>
                  <a:srgbClr val="5A5A5A"/>
                </a:solidFill>
              </a:rPr>
              <a:t>chính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rất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đơn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giản</a:t>
            </a:r>
            <a:r>
              <a:rPr sz="1600" b="0" i="1" dirty="0">
                <a:solidFill>
                  <a:srgbClr val="5A5A5A"/>
                </a:solidFill>
              </a:rPr>
              <a:t>. </a:t>
            </a:r>
            <a:r>
              <a:rPr sz="1600" b="0" i="1" dirty="0" err="1">
                <a:solidFill>
                  <a:srgbClr val="5A5A5A"/>
                </a:solidFill>
              </a:rPr>
              <a:t>Luật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quyết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định</a:t>
            </a:r>
            <a:r>
              <a:rPr sz="1600" b="0" i="1" dirty="0">
                <a:solidFill>
                  <a:srgbClr val="5A5A5A"/>
                </a:solidFill>
              </a:rPr>
              <a:t>. AI </a:t>
            </a:r>
            <a:r>
              <a:rPr sz="1600" b="0" i="1" dirty="0" err="1">
                <a:solidFill>
                  <a:srgbClr val="5A5A5A"/>
                </a:solidFill>
              </a:rPr>
              <a:t>chỉ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viết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lời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giải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thích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400" b="0" i="0" dirty="0" err="1">
                <a:solidFill>
                  <a:srgbClr val="5A5A5A"/>
                </a:solidFill>
              </a:rPr>
              <a:t>Từ</a:t>
            </a:r>
            <a:r>
              <a:rPr sz="1400" b="0" i="0" dirty="0">
                <a:solidFill>
                  <a:srgbClr val="5A5A5A"/>
                </a:solidFill>
              </a:rPr>
              <a:t> </a:t>
            </a:r>
            <a:r>
              <a:rPr sz="1400" b="0" i="0" dirty="0" err="1">
                <a:solidFill>
                  <a:srgbClr val="5A5A5A"/>
                </a:solidFill>
              </a:rPr>
              <a:t>khó</a:t>
            </a:r>
            <a:r>
              <a:rPr sz="1400" b="0" i="0" dirty="0">
                <a:solidFill>
                  <a:srgbClr val="5A5A5A"/>
                </a:solidFill>
              </a:rPr>
              <a:t>:  patient = PÂY-</a:t>
            </a:r>
            <a:r>
              <a:rPr sz="1400" b="0" i="0" dirty="0" err="1">
                <a:solidFill>
                  <a:srgbClr val="5A5A5A"/>
                </a:solidFill>
              </a:rPr>
              <a:t>shừnt</a:t>
            </a:r>
            <a:r>
              <a:rPr sz="1400" b="0" i="0" dirty="0">
                <a:solidFill>
                  <a:srgbClr val="5A5A5A"/>
                </a:solidFill>
              </a:rPr>
              <a:t>   ·   advisor = </a:t>
            </a:r>
            <a:r>
              <a:rPr sz="1400" b="0" i="0" dirty="0" err="1">
                <a:solidFill>
                  <a:srgbClr val="5A5A5A"/>
                </a:solidFill>
              </a:rPr>
              <a:t>ơd</a:t>
            </a:r>
            <a:r>
              <a:rPr sz="1400" b="0" i="0" dirty="0">
                <a:solidFill>
                  <a:srgbClr val="5A5A5A"/>
                </a:solidFill>
              </a:rPr>
              <a:t>-VAI-</a:t>
            </a:r>
            <a:r>
              <a:rPr sz="1400" b="0" i="0" dirty="0" err="1">
                <a:solidFill>
                  <a:srgbClr val="5A5A5A"/>
                </a:solidFill>
              </a:rPr>
              <a:t>zờ</a:t>
            </a:r>
            <a:endParaRPr sz="1400" b="0" i="0" dirty="0">
              <a:solidFill>
                <a:srgbClr val="5A5A5A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 dirty="0">
                <a:solidFill>
                  <a:srgbClr val="1F3864"/>
                </a:solidFill>
              </a:rPr>
              <a:t>SLIDE 2  ·  </a:t>
            </a:r>
            <a:r>
              <a:rPr sz="1400" b="1" i="0" dirty="0" err="1">
                <a:solidFill>
                  <a:srgbClr val="1F3864"/>
                </a:solidFill>
              </a:rPr>
              <a:t>Cầm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kết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quả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mà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không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hiểu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gì</a:t>
            </a:r>
            <a:r>
              <a:rPr sz="1400" b="1" i="0" dirty="0">
                <a:solidFill>
                  <a:srgbClr val="1F3864"/>
                </a:solidFill>
              </a:rPr>
              <a:t>  ·  1,5 </a:t>
            </a:r>
            <a:r>
              <a:rPr sz="1400" b="1" i="0" dirty="0" err="1">
                <a:solidFill>
                  <a:srgbClr val="1F3864"/>
                </a:solidFill>
              </a:rPr>
              <a:t>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 dirty="0">
                <a:solidFill>
                  <a:srgbClr val="1F3864"/>
                </a:solidFill>
              </a:rPr>
              <a:t>ĐỌC NGUYÊN VĂN  (</a:t>
            </a:r>
            <a:r>
              <a:rPr sz="1300" b="1" i="0" dirty="0" err="1">
                <a:solidFill>
                  <a:srgbClr val="1F3864"/>
                </a:solidFill>
              </a:rPr>
              <a:t>câu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màu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xám</a:t>
            </a:r>
            <a:r>
              <a:rPr sz="1300" b="1" i="0" dirty="0">
                <a:solidFill>
                  <a:srgbClr val="1F3864"/>
                </a:solidFill>
              </a:rPr>
              <a:t>: </a:t>
            </a:r>
            <a:r>
              <a:rPr sz="1300" b="1" i="0" dirty="0" err="1">
                <a:solidFill>
                  <a:srgbClr val="1F3864"/>
                </a:solidFill>
              </a:rPr>
              <a:t>bỏ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được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nếu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thiếu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giờ</a:t>
            </a:r>
            <a:r>
              <a:rPr sz="1300" b="1" i="0" dirty="0">
                <a:solidFill>
                  <a:srgbClr val="1F3864"/>
                </a:solidFill>
              </a:rPr>
              <a:t>)</a:t>
            </a:r>
          </a:p>
          <a:p>
            <a:r>
              <a:rPr sz="2000" b="1" i="0" dirty="0"/>
              <a:t>A patient leaves the laboratory with a page of numbers.</a:t>
            </a:r>
          </a:p>
          <a:p>
            <a:r>
              <a:rPr sz="2000" b="1" i="0" dirty="0"/>
              <a:t>The page is full of strange terms. P D W. M C H C. Monocyte.</a:t>
            </a:r>
          </a:p>
          <a:p>
            <a:r>
              <a:rPr sz="2000" b="1" i="0" dirty="0">
                <a:solidFill>
                  <a:srgbClr val="5A5A5A"/>
                </a:solidFill>
              </a:rPr>
              <a:t>And strange units. G per </a:t>
            </a:r>
            <a:r>
              <a:rPr sz="2000" b="1" i="0" dirty="0" err="1">
                <a:solidFill>
                  <a:srgbClr val="5A5A5A"/>
                </a:solidFill>
              </a:rPr>
              <a:t>litre</a:t>
            </a:r>
            <a:r>
              <a:rPr sz="2000" b="1" i="0" dirty="0">
                <a:solidFill>
                  <a:srgbClr val="5A5A5A"/>
                </a:solidFill>
              </a:rPr>
              <a:t>. </a:t>
            </a:r>
            <a:r>
              <a:rPr sz="2000" b="1" i="0" dirty="0" err="1">
                <a:solidFill>
                  <a:srgbClr val="5A5A5A"/>
                </a:solidFill>
              </a:rPr>
              <a:t>Femtolitre</a:t>
            </a:r>
            <a:r>
              <a:rPr sz="2000" b="1" i="0" dirty="0">
                <a:solidFill>
                  <a:srgbClr val="5A5A5A"/>
                </a:solidFill>
              </a:rPr>
              <a:t>. </a:t>
            </a:r>
            <a:r>
              <a:rPr sz="2000" b="1" i="0" dirty="0" err="1">
                <a:solidFill>
                  <a:srgbClr val="5A5A5A"/>
                </a:solidFill>
              </a:rPr>
              <a:t>Picogram</a:t>
            </a:r>
            <a:r>
              <a:rPr sz="2000" b="1" i="0" dirty="0">
                <a:solidFill>
                  <a:srgbClr val="5A5A5A"/>
                </a:solidFill>
              </a:rPr>
              <a:t>.</a:t>
            </a:r>
          </a:p>
          <a:p>
            <a:r>
              <a:rPr sz="2000" b="1" i="0" dirty="0"/>
              <a:t>The reference interval is printed beside each value.</a:t>
            </a:r>
          </a:p>
          <a:p>
            <a:r>
              <a:rPr sz="2000" b="1" i="0" dirty="0">
                <a:solidFill>
                  <a:srgbClr val="5A5A5A"/>
                </a:solidFill>
              </a:rPr>
              <a:t>So the patient can see which number is outside the range.</a:t>
            </a:r>
          </a:p>
          <a:p>
            <a:r>
              <a:rPr sz="2000" b="1" i="0" dirty="0"/>
              <a:t>But they cannot see what the </a:t>
            </a:r>
            <a:r>
              <a:rPr sz="2000" b="1" i="0" dirty="0" err="1"/>
              <a:t>analyte</a:t>
            </a:r>
            <a:r>
              <a:rPr sz="2000" b="1" i="0" dirty="0"/>
              <a:t> measures.</a:t>
            </a:r>
          </a:p>
          <a:p>
            <a:r>
              <a:rPr sz="2000" b="1" i="0" dirty="0"/>
              <a:t>They cannot see if the deviation is serious. And they do not know what to do next.</a:t>
            </a:r>
          </a:p>
          <a:p>
            <a:r>
              <a:rPr sz="2000" b="1" i="0" dirty="0">
                <a:solidFill>
                  <a:srgbClr val="5A5A5A"/>
                </a:solidFill>
              </a:rPr>
              <a:t>Health literacy in Vietnam is still limited.</a:t>
            </a:r>
          </a:p>
          <a:p>
            <a:r>
              <a:rPr sz="2000" b="1" i="0" dirty="0"/>
              <a:t>In a study in Da Nang, with two hundred and four older adults, sixty point three percent had inadequate health literacy.</a:t>
            </a:r>
          </a:p>
          <a:p>
            <a:r>
              <a:rPr sz="2000" b="1" i="0" dirty="0"/>
              <a:t>And in another study, forty-six percent of patients searched online, to understand their own results.</a:t>
            </a:r>
          </a:p>
          <a:p>
            <a:pPr>
              <a:spcBef>
                <a:spcPts val="1200"/>
              </a:spcBef>
            </a:pPr>
            <a:r>
              <a:rPr sz="13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bệnh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phòng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xét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nghiệm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trang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toàn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Trang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giấy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đầy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thuật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ngữ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</a:t>
            </a:r>
            <a:r>
              <a:rPr sz="1400" b="0" i="1" dirty="0">
                <a:solidFill>
                  <a:srgbClr val="5A5A5A"/>
                </a:solidFill>
              </a:rPr>
              <a:t>. PDW. MCHC. Monocyte.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</a:t>
            </a:r>
            <a:r>
              <a:rPr sz="1400" b="0" i="1" dirty="0">
                <a:solidFill>
                  <a:srgbClr val="5A5A5A"/>
                </a:solidFill>
              </a:rPr>
              <a:t>. G </a:t>
            </a:r>
            <a:r>
              <a:rPr sz="1400" b="0" i="1" dirty="0" err="1">
                <a:solidFill>
                  <a:srgbClr val="5A5A5A"/>
                </a:solidFill>
              </a:rPr>
              <a:t>trên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lít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Femtolit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Picogam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Khoảng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tham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in </a:t>
            </a:r>
            <a:r>
              <a:rPr sz="1400" b="0" i="1" dirty="0" err="1">
                <a:solidFill>
                  <a:srgbClr val="5A5A5A"/>
                </a:solidFill>
              </a:rPr>
              <a:t>bên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cạnh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mỗi</a:t>
            </a:r>
            <a:r>
              <a:rPr sz="1400" b="0" i="1" dirty="0">
                <a:solidFill>
                  <a:srgbClr val="5A5A5A"/>
                </a:solidFill>
              </a:rPr>
              <a:t> con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bệnh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thấy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được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nào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nằm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ngoài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khoảng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Nhưng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họ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chỉ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cái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gì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Họ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lệch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như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vậy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nặng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giờ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phải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gì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Hiểu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sức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khỏe</a:t>
            </a:r>
            <a:r>
              <a:rPr sz="1400" b="0" i="1" dirty="0">
                <a:solidFill>
                  <a:srgbClr val="5A5A5A"/>
                </a:solidFill>
              </a:rPr>
              <a:t> ở </a:t>
            </a:r>
            <a:r>
              <a:rPr sz="1400" b="0" i="1" dirty="0" err="1">
                <a:solidFill>
                  <a:srgbClr val="5A5A5A"/>
                </a:solidFill>
              </a:rPr>
              <a:t>Việt</a:t>
            </a:r>
            <a:r>
              <a:rPr sz="1400" b="0" i="1" dirty="0">
                <a:solidFill>
                  <a:srgbClr val="5A5A5A"/>
                </a:solidFill>
              </a:rPr>
              <a:t> Nam </a:t>
            </a:r>
            <a:r>
              <a:rPr sz="1400" b="0" i="1" dirty="0" err="1">
                <a:solidFill>
                  <a:srgbClr val="5A5A5A"/>
                </a:solidFill>
              </a:rPr>
              <a:t>còn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chế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cứu</a:t>
            </a:r>
            <a:r>
              <a:rPr sz="1400" b="0" i="1" dirty="0">
                <a:solidFill>
                  <a:srgbClr val="5A5A5A"/>
                </a:solidFill>
              </a:rPr>
              <a:t> ở </a:t>
            </a:r>
            <a:r>
              <a:rPr sz="1400" b="0" i="1" dirty="0" err="1">
                <a:solidFill>
                  <a:srgbClr val="5A5A5A"/>
                </a:solidFill>
              </a:rPr>
              <a:t>Đà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Nẵng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trên</a:t>
            </a:r>
            <a:r>
              <a:rPr sz="1400" b="0" i="1" dirty="0">
                <a:solidFill>
                  <a:srgbClr val="5A5A5A"/>
                </a:solidFill>
              </a:rPr>
              <a:t> 204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cao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tuổi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cho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thấy</a:t>
            </a:r>
            <a:r>
              <a:rPr sz="1400" b="0" i="1" dirty="0">
                <a:solidFill>
                  <a:srgbClr val="5A5A5A"/>
                </a:solidFill>
              </a:rPr>
              <a:t> 60,3%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hiểu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sức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khỏe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chưa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đủ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cứu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thấy</a:t>
            </a:r>
            <a:r>
              <a:rPr sz="1400" b="0" i="1" dirty="0">
                <a:solidFill>
                  <a:srgbClr val="5A5A5A"/>
                </a:solidFill>
              </a:rPr>
              <a:t> 46%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bệnh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phải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tự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mạng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để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hiểu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của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mình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300" b="0" i="0" dirty="0" err="1">
                <a:solidFill>
                  <a:srgbClr val="5A5A5A"/>
                </a:solidFill>
              </a:rPr>
              <a:t>Từ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khó</a:t>
            </a:r>
            <a:r>
              <a:rPr sz="1300" b="0" i="0" dirty="0">
                <a:solidFill>
                  <a:srgbClr val="5A5A5A"/>
                </a:solidFill>
              </a:rPr>
              <a:t>:  patient = PÂY-</a:t>
            </a:r>
            <a:r>
              <a:rPr sz="1300" b="0" i="0" dirty="0" err="1">
                <a:solidFill>
                  <a:srgbClr val="5A5A5A"/>
                </a:solidFill>
              </a:rPr>
              <a:t>shừnt</a:t>
            </a:r>
            <a:r>
              <a:rPr sz="1300" b="0" i="0" dirty="0">
                <a:solidFill>
                  <a:srgbClr val="5A5A5A"/>
                </a:solidFill>
              </a:rPr>
              <a:t>   ·   laboratory = </a:t>
            </a:r>
            <a:r>
              <a:rPr sz="1300" b="0" i="0" dirty="0" err="1">
                <a:solidFill>
                  <a:srgbClr val="5A5A5A"/>
                </a:solidFill>
              </a:rPr>
              <a:t>lơ</a:t>
            </a:r>
            <a:r>
              <a:rPr sz="1300" b="0" i="0" dirty="0">
                <a:solidFill>
                  <a:srgbClr val="5A5A5A"/>
                </a:solidFill>
              </a:rPr>
              <a:t>-BO-</a:t>
            </a:r>
            <a:r>
              <a:rPr sz="1300" b="0" i="0" dirty="0" err="1">
                <a:solidFill>
                  <a:srgbClr val="5A5A5A"/>
                </a:solidFill>
              </a:rPr>
              <a:t>rơ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tơ-ri</a:t>
            </a:r>
            <a:r>
              <a:rPr sz="1300" b="0" i="0" dirty="0">
                <a:solidFill>
                  <a:srgbClr val="5A5A5A"/>
                </a:solidFill>
              </a:rPr>
              <a:t>   ·   </a:t>
            </a:r>
            <a:r>
              <a:rPr sz="1300" b="0" i="0" dirty="0" err="1">
                <a:solidFill>
                  <a:srgbClr val="5A5A5A"/>
                </a:solidFill>
              </a:rPr>
              <a:t>analyte</a:t>
            </a:r>
            <a:r>
              <a:rPr sz="1300" b="0" i="0" dirty="0">
                <a:solidFill>
                  <a:srgbClr val="5A5A5A"/>
                </a:solidFill>
              </a:rPr>
              <a:t> = A-</a:t>
            </a:r>
            <a:r>
              <a:rPr sz="1300" b="0" i="0" dirty="0" err="1">
                <a:solidFill>
                  <a:srgbClr val="5A5A5A"/>
                </a:solidFill>
              </a:rPr>
              <a:t>nơ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lait</a:t>
            </a:r>
            <a:r>
              <a:rPr sz="1300" b="0" i="0" dirty="0">
                <a:solidFill>
                  <a:srgbClr val="5A5A5A"/>
                </a:solidFill>
              </a:rPr>
              <a:t>   ·   monocyte = MO-</a:t>
            </a:r>
            <a:r>
              <a:rPr sz="1300" b="0" i="0" dirty="0" err="1">
                <a:solidFill>
                  <a:srgbClr val="5A5A5A"/>
                </a:solidFill>
              </a:rPr>
              <a:t>nơ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sait</a:t>
            </a:r>
            <a:r>
              <a:rPr sz="1300" b="0" i="0" dirty="0">
                <a:solidFill>
                  <a:srgbClr val="5A5A5A"/>
                </a:solidFill>
              </a:rPr>
              <a:t>   ·   deviation = </a:t>
            </a:r>
            <a:r>
              <a:rPr sz="1300" b="0" i="0" dirty="0" err="1">
                <a:solidFill>
                  <a:srgbClr val="5A5A5A"/>
                </a:solidFill>
              </a:rPr>
              <a:t>đi</a:t>
            </a:r>
            <a:r>
              <a:rPr sz="1300" b="0" i="0" dirty="0">
                <a:solidFill>
                  <a:srgbClr val="5A5A5A"/>
                </a:solidFill>
              </a:rPr>
              <a:t>-vi-ÂY-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r>
              <a:rPr sz="1300" b="0" i="0" dirty="0">
                <a:solidFill>
                  <a:srgbClr val="5A5A5A"/>
                </a:solidFill>
              </a:rPr>
              <a:t>   ·   literacy = LI-</a:t>
            </a:r>
            <a:r>
              <a:rPr sz="1300" b="0" i="0" dirty="0" err="1">
                <a:solidFill>
                  <a:srgbClr val="5A5A5A"/>
                </a:solidFill>
              </a:rPr>
              <a:t>tơ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rơ</a:t>
            </a:r>
            <a:r>
              <a:rPr sz="1300" b="0" i="0" dirty="0">
                <a:solidFill>
                  <a:srgbClr val="5A5A5A"/>
                </a:solidFill>
              </a:rPr>
              <a:t>-xi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 b="1" i="0" dirty="0">
                <a:solidFill>
                  <a:srgbClr val="1F3864"/>
                </a:solidFill>
              </a:rPr>
              <a:t>SLIDE 3  ·  </a:t>
            </a:r>
            <a:r>
              <a:rPr sz="1600" b="1" i="0" dirty="0" err="1">
                <a:solidFill>
                  <a:srgbClr val="1F3864"/>
                </a:solidFill>
              </a:rPr>
              <a:t>Không</a:t>
            </a:r>
            <a:r>
              <a:rPr sz="1600" b="1" i="0" dirty="0">
                <a:solidFill>
                  <a:srgbClr val="1F3864"/>
                </a:solidFill>
              </a:rPr>
              <a:t> </a:t>
            </a:r>
            <a:r>
              <a:rPr sz="1600" b="1" i="0" dirty="0" err="1">
                <a:solidFill>
                  <a:srgbClr val="1F3864"/>
                </a:solidFill>
              </a:rPr>
              <a:t>hiểu</a:t>
            </a:r>
            <a:r>
              <a:rPr sz="1600" b="1" i="0" dirty="0">
                <a:solidFill>
                  <a:srgbClr val="1F3864"/>
                </a:solidFill>
              </a:rPr>
              <a:t> </a:t>
            </a:r>
            <a:r>
              <a:rPr sz="1600" b="1" i="0" dirty="0" err="1">
                <a:solidFill>
                  <a:srgbClr val="1F3864"/>
                </a:solidFill>
              </a:rPr>
              <a:t>thì</a:t>
            </a:r>
            <a:r>
              <a:rPr sz="1600" b="1" i="0" dirty="0">
                <a:solidFill>
                  <a:srgbClr val="1F3864"/>
                </a:solidFill>
              </a:rPr>
              <a:t> </a:t>
            </a:r>
            <a:r>
              <a:rPr sz="1600" b="1" i="0" dirty="0" err="1">
                <a:solidFill>
                  <a:srgbClr val="1F3864"/>
                </a:solidFill>
              </a:rPr>
              <a:t>người</a:t>
            </a:r>
            <a:r>
              <a:rPr sz="1600" b="1" i="0" dirty="0">
                <a:solidFill>
                  <a:srgbClr val="1F3864"/>
                </a:solidFill>
              </a:rPr>
              <a:t> ta </a:t>
            </a:r>
            <a:r>
              <a:rPr sz="1600" b="1" i="0" dirty="0" err="1">
                <a:solidFill>
                  <a:srgbClr val="1F3864"/>
                </a:solidFill>
              </a:rPr>
              <a:t>hỏi</a:t>
            </a:r>
            <a:r>
              <a:rPr sz="1600" b="1" i="0" dirty="0">
                <a:solidFill>
                  <a:srgbClr val="1F3864"/>
                </a:solidFill>
              </a:rPr>
              <a:t> AI  ·  1,5 </a:t>
            </a:r>
            <a:r>
              <a:rPr sz="1600" b="1" i="0" dirty="0" err="1">
                <a:solidFill>
                  <a:srgbClr val="1F3864"/>
                </a:solidFill>
              </a:rPr>
              <a:t>phút</a:t>
            </a:r>
            <a:endParaRPr lang="en-US" sz="1400" dirty="0"/>
          </a:p>
          <a:p>
            <a:pPr>
              <a:spcBef>
                <a:spcPts val="1000"/>
              </a:spcBef>
            </a:pPr>
            <a:r>
              <a:rPr sz="1400" b="1" i="0" dirty="0">
                <a:solidFill>
                  <a:srgbClr val="1F3864"/>
                </a:solidFill>
              </a:rPr>
              <a:t>ĐỌC NGUYÊN VĂN  (</a:t>
            </a:r>
            <a:r>
              <a:rPr sz="1400" b="1" i="0" dirty="0" err="1">
                <a:solidFill>
                  <a:srgbClr val="1F3864"/>
                </a:solidFill>
              </a:rPr>
              <a:t>câu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màu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xám</a:t>
            </a:r>
            <a:r>
              <a:rPr sz="1400" b="1" i="0" dirty="0">
                <a:solidFill>
                  <a:srgbClr val="1F3864"/>
                </a:solidFill>
              </a:rPr>
              <a:t>: </a:t>
            </a:r>
            <a:r>
              <a:rPr sz="1400" b="1" i="0" dirty="0" err="1">
                <a:solidFill>
                  <a:srgbClr val="1F3864"/>
                </a:solidFill>
              </a:rPr>
              <a:t>bỏ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được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nếu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thiếu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giờ</a:t>
            </a:r>
            <a:r>
              <a:rPr sz="1400" b="1" i="0" dirty="0">
                <a:solidFill>
                  <a:srgbClr val="1F3864"/>
                </a:solidFill>
              </a:rPr>
              <a:t>)</a:t>
            </a:r>
          </a:p>
          <a:p>
            <a:r>
              <a:rPr sz="2400" b="1" i="0" dirty="0"/>
              <a:t>So what do patients do? They photograph the report, and they ask a </a:t>
            </a:r>
            <a:r>
              <a:rPr sz="2400" b="1" i="0" dirty="0" err="1"/>
              <a:t>chatbot</a:t>
            </a:r>
            <a:r>
              <a:rPr sz="2400" b="1" i="0" dirty="0"/>
              <a:t>.</a:t>
            </a:r>
          </a:p>
          <a:p>
            <a:r>
              <a:rPr sz="2400" b="1" i="0" dirty="0"/>
              <a:t>We tried this with our own model. We asked, in Vietnamese: please explain what white blood cells are.</a:t>
            </a:r>
          </a:p>
          <a:p>
            <a:r>
              <a:rPr sz="2400" b="1" i="0" dirty="0"/>
              <a:t>The model answered: white blood cells are lymphocytes.</a:t>
            </a:r>
          </a:p>
          <a:p>
            <a:r>
              <a:rPr sz="2400" b="1" i="0" dirty="0"/>
              <a:t>That is a definitional error. Lymphocytes are only one type of white blood cell. They are not a synonym.</a:t>
            </a:r>
          </a:p>
          <a:p>
            <a:r>
              <a:rPr sz="2400" b="1" i="0" dirty="0">
                <a:solidFill>
                  <a:srgbClr val="5A5A5A"/>
                </a:solidFill>
              </a:rPr>
              <a:t>The model also said white blood cells fight cancer cells. And it mentioned a weakened immune system.</a:t>
            </a:r>
          </a:p>
          <a:p>
            <a:r>
              <a:rPr sz="2400" b="1" i="0" dirty="0">
                <a:solidFill>
                  <a:srgbClr val="5A5A5A"/>
                </a:solidFill>
              </a:rPr>
              <a:t>Nobody asked about cancer.</a:t>
            </a:r>
          </a:p>
          <a:p>
            <a:r>
              <a:rPr sz="2400" b="1" i="0" dirty="0"/>
              <a:t>So a patient with a completely normal result hears the word cancer, in one short answer.</a:t>
            </a:r>
          </a:p>
          <a:p>
            <a:pPr>
              <a:spcBef>
                <a:spcPts val="1200"/>
              </a:spcBef>
            </a:pPr>
            <a:r>
              <a:rPr sz="14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Vậy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người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bệnh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làm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gì</a:t>
            </a:r>
            <a:r>
              <a:rPr sz="1600" b="0" i="1" dirty="0">
                <a:solidFill>
                  <a:srgbClr val="5A5A5A"/>
                </a:solidFill>
              </a:rPr>
              <a:t>? </a:t>
            </a:r>
            <a:r>
              <a:rPr sz="1600" b="0" i="1" dirty="0" err="1">
                <a:solidFill>
                  <a:srgbClr val="5A5A5A"/>
                </a:solidFill>
              </a:rPr>
              <a:t>Họ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chụp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ảnh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phiếu</a:t>
            </a:r>
            <a:r>
              <a:rPr sz="1600" b="0" i="1" dirty="0">
                <a:solidFill>
                  <a:srgbClr val="5A5A5A"/>
                </a:solidFill>
              </a:rPr>
              <a:t>, </a:t>
            </a:r>
            <a:r>
              <a:rPr sz="1600" b="0" i="1" dirty="0" err="1">
                <a:solidFill>
                  <a:srgbClr val="5A5A5A"/>
                </a:solidFill>
              </a:rPr>
              <a:t>rồi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hỏi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một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chatbot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Chúng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tôi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thử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với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chính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mô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hình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của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mình</a:t>
            </a:r>
            <a:r>
              <a:rPr sz="1600" b="0" i="1" dirty="0">
                <a:solidFill>
                  <a:srgbClr val="5A5A5A"/>
                </a:solidFill>
              </a:rPr>
              <a:t>. </a:t>
            </a:r>
            <a:r>
              <a:rPr sz="1600" b="0" i="1" dirty="0" err="1">
                <a:solidFill>
                  <a:srgbClr val="5A5A5A"/>
                </a:solidFill>
              </a:rPr>
              <a:t>Hỏi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bằng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tiếng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Việt</a:t>
            </a:r>
            <a:r>
              <a:rPr sz="1600" b="0" i="1" dirty="0">
                <a:solidFill>
                  <a:srgbClr val="5A5A5A"/>
                </a:solidFill>
              </a:rPr>
              <a:t>: </a:t>
            </a:r>
            <a:r>
              <a:rPr sz="1600" b="0" i="1" dirty="0" err="1">
                <a:solidFill>
                  <a:srgbClr val="5A5A5A"/>
                </a:solidFill>
              </a:rPr>
              <a:t>giải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thích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ngắn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gọn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bạch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cầu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gì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Mô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hình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trả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lời</a:t>
            </a:r>
            <a:r>
              <a:rPr sz="1600" b="0" i="1" dirty="0">
                <a:solidFill>
                  <a:srgbClr val="5A5A5A"/>
                </a:solidFill>
              </a:rPr>
              <a:t>: </a:t>
            </a:r>
            <a:r>
              <a:rPr sz="1600" b="0" i="1" dirty="0" err="1">
                <a:solidFill>
                  <a:srgbClr val="5A5A5A"/>
                </a:solidFill>
              </a:rPr>
              <a:t>bạch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cầu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tế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bào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lympho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Đây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lỗi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định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nghĩa</a:t>
            </a:r>
            <a:r>
              <a:rPr sz="1600" b="0" i="1" dirty="0">
                <a:solidFill>
                  <a:srgbClr val="5A5A5A"/>
                </a:solidFill>
              </a:rPr>
              <a:t>. </a:t>
            </a:r>
            <a:r>
              <a:rPr sz="1600" b="0" i="1" dirty="0" err="1">
                <a:solidFill>
                  <a:srgbClr val="5A5A5A"/>
                </a:solidFill>
              </a:rPr>
              <a:t>Lympho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chỉ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một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loại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bạch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cầu</a:t>
            </a:r>
            <a:r>
              <a:rPr sz="1600" b="0" i="1" dirty="0">
                <a:solidFill>
                  <a:srgbClr val="5A5A5A"/>
                </a:solidFill>
              </a:rPr>
              <a:t>. Hai </a:t>
            </a:r>
            <a:r>
              <a:rPr sz="1600" b="0" i="1" dirty="0" err="1">
                <a:solidFill>
                  <a:srgbClr val="5A5A5A"/>
                </a:solidFill>
              </a:rPr>
              <a:t>từ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này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không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đồng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nghĩa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Mô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hình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còn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nói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bạch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cầu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chống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lại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tế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bào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ung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thư</a:t>
            </a:r>
            <a:r>
              <a:rPr sz="1600" b="0" i="1" dirty="0">
                <a:solidFill>
                  <a:srgbClr val="5A5A5A"/>
                </a:solidFill>
              </a:rPr>
              <a:t>. </a:t>
            </a:r>
            <a:r>
              <a:rPr sz="1600" b="0" i="1" dirty="0" err="1">
                <a:solidFill>
                  <a:srgbClr val="5A5A5A"/>
                </a:solidFill>
              </a:rPr>
              <a:t>Và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nhắc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tới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hệ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miễn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dịch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suy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yếu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Không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ai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hỏi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về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ung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thư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cả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r>
              <a:rPr sz="1600" b="0" i="1" dirty="0" err="1">
                <a:solidFill>
                  <a:srgbClr val="5A5A5A"/>
                </a:solidFill>
              </a:rPr>
              <a:t>Thế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là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người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có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kết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quả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hoàn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toàn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bình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thường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vẫn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nghe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thấy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chữ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ung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thư</a:t>
            </a:r>
            <a:r>
              <a:rPr sz="1600" b="0" i="1" dirty="0">
                <a:solidFill>
                  <a:srgbClr val="5A5A5A"/>
                </a:solidFill>
              </a:rPr>
              <a:t>, </a:t>
            </a:r>
            <a:r>
              <a:rPr sz="1600" b="0" i="1" dirty="0" err="1">
                <a:solidFill>
                  <a:srgbClr val="5A5A5A"/>
                </a:solidFill>
              </a:rPr>
              <a:t>chỉ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trong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một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câu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trả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lời</a:t>
            </a:r>
            <a:r>
              <a:rPr sz="1600" b="0" i="1" dirty="0">
                <a:solidFill>
                  <a:srgbClr val="5A5A5A"/>
                </a:solidFill>
              </a:rPr>
              <a:t> </a:t>
            </a:r>
            <a:r>
              <a:rPr sz="1600" b="0" i="1" dirty="0" err="1">
                <a:solidFill>
                  <a:srgbClr val="5A5A5A"/>
                </a:solidFill>
              </a:rPr>
              <a:t>ngắn</a:t>
            </a:r>
            <a:r>
              <a:rPr sz="16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400" b="0" i="0" dirty="0" err="1">
                <a:solidFill>
                  <a:srgbClr val="5A5A5A"/>
                </a:solidFill>
              </a:rPr>
              <a:t>Từ</a:t>
            </a:r>
            <a:r>
              <a:rPr sz="1400" b="0" i="0" dirty="0">
                <a:solidFill>
                  <a:srgbClr val="5A5A5A"/>
                </a:solidFill>
              </a:rPr>
              <a:t> </a:t>
            </a:r>
            <a:r>
              <a:rPr sz="1400" b="0" i="0" dirty="0" err="1">
                <a:solidFill>
                  <a:srgbClr val="5A5A5A"/>
                </a:solidFill>
              </a:rPr>
              <a:t>khó</a:t>
            </a:r>
            <a:r>
              <a:rPr sz="1400" b="0" i="0" dirty="0">
                <a:solidFill>
                  <a:srgbClr val="5A5A5A"/>
                </a:solidFill>
              </a:rPr>
              <a:t>:  patient = PÂY-</a:t>
            </a:r>
            <a:r>
              <a:rPr sz="1400" b="0" i="0" dirty="0" err="1">
                <a:solidFill>
                  <a:srgbClr val="5A5A5A"/>
                </a:solidFill>
              </a:rPr>
              <a:t>shừnt</a:t>
            </a:r>
            <a:r>
              <a:rPr sz="1400" b="0" i="0" dirty="0">
                <a:solidFill>
                  <a:srgbClr val="5A5A5A"/>
                </a:solidFill>
              </a:rPr>
              <a:t>   ·   lymphocyte = LIM-</a:t>
            </a:r>
            <a:r>
              <a:rPr sz="1400" b="0" i="0" dirty="0" err="1">
                <a:solidFill>
                  <a:srgbClr val="5A5A5A"/>
                </a:solidFill>
              </a:rPr>
              <a:t>phơ</a:t>
            </a:r>
            <a:r>
              <a:rPr sz="1400" b="0" i="0" dirty="0">
                <a:solidFill>
                  <a:srgbClr val="5A5A5A"/>
                </a:solidFill>
              </a:rPr>
              <a:t>-</a:t>
            </a:r>
            <a:r>
              <a:rPr sz="1400" b="0" i="0" dirty="0" err="1">
                <a:solidFill>
                  <a:srgbClr val="5A5A5A"/>
                </a:solidFill>
              </a:rPr>
              <a:t>sait</a:t>
            </a:r>
            <a:r>
              <a:rPr sz="1400" b="0" i="0" dirty="0">
                <a:solidFill>
                  <a:srgbClr val="5A5A5A"/>
                </a:solidFill>
              </a:rPr>
              <a:t>   ·   definitional = </a:t>
            </a:r>
            <a:r>
              <a:rPr sz="1400" b="0" i="0" dirty="0" err="1">
                <a:solidFill>
                  <a:srgbClr val="5A5A5A"/>
                </a:solidFill>
              </a:rPr>
              <a:t>đe</a:t>
            </a:r>
            <a:r>
              <a:rPr sz="1400" b="0" i="0" dirty="0">
                <a:solidFill>
                  <a:srgbClr val="5A5A5A"/>
                </a:solidFill>
              </a:rPr>
              <a:t>-phi-NI-</a:t>
            </a:r>
            <a:r>
              <a:rPr sz="1400" b="0" i="0" dirty="0" err="1">
                <a:solidFill>
                  <a:srgbClr val="5A5A5A"/>
                </a:solidFill>
              </a:rPr>
              <a:t>shơ</a:t>
            </a:r>
            <a:r>
              <a:rPr sz="1400" b="0" i="0" dirty="0">
                <a:solidFill>
                  <a:srgbClr val="5A5A5A"/>
                </a:solidFill>
              </a:rPr>
              <a:t>-</a:t>
            </a:r>
            <a:r>
              <a:rPr sz="1400" b="0" i="0" dirty="0" err="1">
                <a:solidFill>
                  <a:srgbClr val="5A5A5A"/>
                </a:solidFill>
              </a:rPr>
              <a:t>nồ</a:t>
            </a:r>
            <a:endParaRPr sz="1400" b="0" i="0" dirty="0">
              <a:solidFill>
                <a:srgbClr val="5A5A5A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>
                <a:solidFill>
                  <a:srgbClr val="1F3864"/>
                </a:solidFill>
              </a:rPr>
              <a:t>SLIDE 4  ·  Lỗi đáng sợ nhất  ·  1,1 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1F3864"/>
                </a:solidFill>
              </a:rPr>
              <a:t>ĐỌC NGUYÊN VĂN  (câu màu xám: bỏ được nếu thiếu giờ)</a:t>
            </a:r>
          </a:p>
          <a:p>
            <a:r>
              <a:rPr sz="2000" b="1" i="0"/>
              <a:t>But the most dangerous failure runs the other way.</a:t>
            </a:r>
          </a:p>
          <a:p>
            <a:r>
              <a:rPr sz="2000" b="1" i="0">
                <a:solidFill>
                  <a:srgbClr val="5A5A5A"/>
                </a:solidFill>
              </a:rPr>
              <a:t>On this slide I compare two kinds of error.</a:t>
            </a:r>
          </a:p>
          <a:p>
            <a:r>
              <a:rPr sz="2000" b="1" i="0">
                <a:solidFill>
                  <a:srgbClr val="5A5A5A"/>
                </a:solidFill>
              </a:rPr>
              <a:t>A terminological error is visible. The reader notices it, and checks it with a doctor.</a:t>
            </a:r>
          </a:p>
          <a:p>
            <a:r>
              <a:rPr sz="2000" b="1" i="0"/>
              <a:t>False reassurance is different. It is fluent, it is comfortable, and it removes the reason to seek care.</a:t>
            </a:r>
          </a:p>
          <a:p>
            <a:r>
              <a:rPr sz="2000" b="1" i="0"/>
              <a:t>False reassurance means this. The panel is abnormal, but the model says everything is normal.</a:t>
            </a:r>
          </a:p>
          <a:p>
            <a:r>
              <a:rPr sz="2000" b="1" i="0"/>
              <a:t>This is a real output from our experiment, on a panel labelled seek care.</a:t>
            </a:r>
          </a:p>
          <a:p>
            <a:r>
              <a:rPr sz="2000" b="1" i="0"/>
              <a:t>The model wrote: all test results are within the normal range.</a:t>
            </a:r>
          </a:p>
          <a:p>
            <a:r>
              <a:rPr sz="2000" b="1" i="0"/>
              <a:t>That is why we treat false reassurance as a separate error class, and measure it separately.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>
                <a:solidFill>
                  <a:srgbClr val="5A5A5A"/>
                </a:solidFill>
              </a:rPr>
              <a:t>Nhưng lỗi nguy hiểm nhất lại đi theo chiều ngược lại.</a:t>
            </a:r>
          </a:p>
          <a:p>
            <a:r>
              <a:rPr sz="1400" b="0" i="1">
                <a:solidFill>
                  <a:srgbClr val="5A5A5A"/>
                </a:solidFill>
              </a:rPr>
              <a:t>Trên slide này tôi so sánh hai loại lỗi.</a:t>
            </a:r>
          </a:p>
          <a:p>
            <a:r>
              <a:rPr sz="1400" b="0" i="1">
                <a:solidFill>
                  <a:srgbClr val="5A5A5A"/>
                </a:solidFill>
              </a:rPr>
              <a:t>Lỗi thuật ngữ thì nhìn thấy được. Người đọc nhận ra và đi hỏi lại bác sĩ.</a:t>
            </a:r>
          </a:p>
          <a:p>
            <a:r>
              <a:rPr sz="1400" b="0" i="1">
                <a:solidFill>
                  <a:srgbClr val="5A5A5A"/>
                </a:solidFill>
              </a:rPr>
              <a:t>Trấn an sai thì khác. Nó trôi chảy, nghe dễ chịu, và làm mất lý do đi khám.</a:t>
            </a:r>
          </a:p>
          <a:p>
            <a:r>
              <a:rPr sz="1400" b="0" i="1">
                <a:solidFill>
                  <a:srgbClr val="5A5A5A"/>
                </a:solidFill>
              </a:rPr>
              <a:t>Trấn an sai nghĩa là: phiếu có chỉ số bất thường, nhưng mô hình nói mọi thứ đều bình thường.</a:t>
            </a:r>
          </a:p>
          <a:p>
            <a:r>
              <a:rPr sz="1400" b="0" i="1">
                <a:solidFill>
                  <a:srgbClr val="5A5A5A"/>
                </a:solidFill>
              </a:rPr>
              <a:t>Đây là câu thật từ thí nghiệm của chúng tôi, trên một ca được xếp mức nên đi khám.</a:t>
            </a:r>
          </a:p>
          <a:p>
            <a:r>
              <a:rPr sz="1400" b="0" i="1">
                <a:solidFill>
                  <a:srgbClr val="5A5A5A"/>
                </a:solidFill>
              </a:rPr>
              <a:t>Mô hình viết: tất cả các kết quả đều nằm trong khoảng bình thường.</a:t>
            </a:r>
          </a:p>
          <a:p>
            <a:r>
              <a:rPr sz="1400" b="0" i="1">
                <a:solidFill>
                  <a:srgbClr val="5A5A5A"/>
                </a:solidFill>
              </a:rPr>
              <a:t>Vì vậy chúng tôi tách trấn an sai thành một loại lỗi riêng, và đo riêng.</a:t>
            </a:r>
          </a:p>
          <a:p>
            <a:pPr>
              <a:spcBef>
                <a:spcPts val="1000"/>
              </a:spcBef>
            </a:pPr>
            <a:r>
              <a:rPr sz="1300" b="0" i="0">
                <a:solidFill>
                  <a:srgbClr val="5A5A5A"/>
                </a:solidFill>
              </a:rPr>
              <a:t>Từ khó:  abnormal = ab-NOO-mồ   ·   reassurance = ri-ơ-SHUA-rừns   ·   false reassurance = phôls ri-ơ-SHUA-rừns   ·   terminological = tơ-mi-nơ-LO-ji-cồ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 dirty="0">
                <a:solidFill>
                  <a:srgbClr val="1F3864"/>
                </a:solidFill>
              </a:rPr>
              <a:t>SLIDE 5  ·  </a:t>
            </a:r>
            <a:r>
              <a:rPr sz="1400" b="1" i="0" dirty="0" err="1">
                <a:solidFill>
                  <a:srgbClr val="1F3864"/>
                </a:solidFill>
              </a:rPr>
              <a:t>Bốn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bước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xử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lý</a:t>
            </a:r>
            <a:r>
              <a:rPr sz="1400" b="1" i="0" dirty="0">
                <a:solidFill>
                  <a:srgbClr val="1F3864"/>
                </a:solidFill>
              </a:rPr>
              <a:t>  ·  2 </a:t>
            </a:r>
            <a:r>
              <a:rPr sz="1400" b="1" i="0" dirty="0" err="1">
                <a:solidFill>
                  <a:srgbClr val="1F3864"/>
                </a:solidFill>
              </a:rPr>
              <a:t>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 dirty="0">
                <a:solidFill>
                  <a:srgbClr val="1F3864"/>
                </a:solidFill>
              </a:rPr>
              <a:t>ĐỌC NGUYÊN VĂN  (</a:t>
            </a:r>
            <a:r>
              <a:rPr sz="1300" b="1" i="0" dirty="0" err="1">
                <a:solidFill>
                  <a:srgbClr val="1F3864"/>
                </a:solidFill>
              </a:rPr>
              <a:t>câu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màu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xám</a:t>
            </a:r>
            <a:r>
              <a:rPr sz="1300" b="1" i="0" dirty="0">
                <a:solidFill>
                  <a:srgbClr val="1F3864"/>
                </a:solidFill>
              </a:rPr>
              <a:t>: </a:t>
            </a:r>
            <a:r>
              <a:rPr sz="1300" b="1" i="0" dirty="0" err="1">
                <a:solidFill>
                  <a:srgbClr val="1F3864"/>
                </a:solidFill>
              </a:rPr>
              <a:t>bỏ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được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nếu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thiếu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giờ</a:t>
            </a:r>
            <a:r>
              <a:rPr sz="1300" b="1" i="0" dirty="0">
                <a:solidFill>
                  <a:srgbClr val="1F3864"/>
                </a:solidFill>
              </a:rPr>
              <a:t>)</a:t>
            </a:r>
          </a:p>
          <a:p>
            <a:r>
              <a:rPr sz="2000" b="1" i="0" dirty="0">
                <a:solidFill>
                  <a:srgbClr val="5A5A5A"/>
                </a:solidFill>
              </a:rPr>
              <a:t>This is the architecture. Please look at the principle at the top.</a:t>
            </a:r>
          </a:p>
          <a:p>
            <a:r>
              <a:rPr sz="2000" b="1" i="0" dirty="0"/>
              <a:t>No clinical judgement is delegated to the language model.</a:t>
            </a:r>
          </a:p>
          <a:p>
            <a:r>
              <a:rPr sz="2000" b="1" i="0" dirty="0"/>
              <a:t>Layer one is </a:t>
            </a:r>
            <a:r>
              <a:rPr sz="2000" b="1" i="0" dirty="0" err="1"/>
              <a:t>normalisation</a:t>
            </a:r>
            <a:r>
              <a:rPr sz="2000" b="1" i="0" dirty="0"/>
              <a:t>. It maps every name to one canonical code, and converts the unit.</a:t>
            </a:r>
          </a:p>
          <a:p>
            <a:r>
              <a:rPr sz="2000" b="1" i="0" dirty="0"/>
              <a:t>Layer two is rule-based labelling. It compares the value with the reference interval, and assigns one of three levels.</a:t>
            </a:r>
          </a:p>
          <a:p>
            <a:r>
              <a:rPr sz="2000" b="1" i="0" dirty="0">
                <a:solidFill>
                  <a:srgbClr val="5A5A5A"/>
                </a:solidFill>
              </a:rPr>
              <a:t>Layers one and two have no AI at all.</a:t>
            </a:r>
          </a:p>
          <a:p>
            <a:r>
              <a:rPr sz="2000" b="1" i="0" dirty="0"/>
              <a:t>Inside the interval, the label is normal. A little outside, monitor. Far outside, seek care.</a:t>
            </a:r>
          </a:p>
          <a:p>
            <a:r>
              <a:rPr sz="2000" b="1" i="0" dirty="0"/>
              <a:t>The label for the whole panel is the most severe </a:t>
            </a:r>
            <a:r>
              <a:rPr sz="2000" b="1" i="0" dirty="0" err="1"/>
              <a:t>analyte</a:t>
            </a:r>
            <a:r>
              <a:rPr sz="2000" b="1" i="0" dirty="0"/>
              <a:t> label.</a:t>
            </a:r>
          </a:p>
          <a:p>
            <a:r>
              <a:rPr sz="2000" b="1" i="0" dirty="0"/>
              <a:t>So the classification is exact by design, and the model cannot change it.</a:t>
            </a:r>
          </a:p>
          <a:p>
            <a:r>
              <a:rPr sz="2000" b="1" i="0" dirty="0"/>
              <a:t>Layer three is constrained generation. The model receives the labels, and only puts them in plain language.</a:t>
            </a:r>
          </a:p>
          <a:p>
            <a:r>
              <a:rPr sz="2000" b="1" i="0" dirty="0"/>
              <a:t>Layer four is validation. The computer checks the text against the labels from layer two.</a:t>
            </a:r>
          </a:p>
          <a:p>
            <a:r>
              <a:rPr sz="2000" b="1" i="0" dirty="0"/>
              <a:t>If the text fails, the model writes it again. After the retry limit, the system uses a fixed template.</a:t>
            </a:r>
          </a:p>
          <a:p>
            <a:r>
              <a:rPr sz="2000" b="1" i="0" dirty="0"/>
              <a:t>So the patient never sees unverified text.</a:t>
            </a:r>
          </a:p>
          <a:p>
            <a:pPr>
              <a:spcBef>
                <a:spcPts val="1200"/>
              </a:spcBef>
            </a:pPr>
            <a:r>
              <a:rPr sz="13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Đây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kiến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trúc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Mời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quý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xem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nguyên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tắc</a:t>
            </a:r>
            <a:r>
              <a:rPr sz="1400" b="0" i="1" dirty="0">
                <a:solidFill>
                  <a:srgbClr val="5A5A5A"/>
                </a:solidFill>
              </a:rPr>
              <a:t> ở </a:t>
            </a:r>
            <a:r>
              <a:rPr sz="1400" b="0" i="1" dirty="0" err="1">
                <a:solidFill>
                  <a:srgbClr val="5A5A5A"/>
                </a:solidFill>
              </a:rPr>
              <a:t>trên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cùng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giao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bất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đoán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lâm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sàng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nào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ngôn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ngữ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chuẩn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hóa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Quy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mọi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chuẩn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đổi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phân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loại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bằng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luật</a:t>
            </a:r>
            <a:r>
              <a:rPr sz="1400" b="0" i="1" dirty="0">
                <a:solidFill>
                  <a:srgbClr val="5A5A5A"/>
                </a:solidFill>
              </a:rPr>
              <a:t>. So </a:t>
            </a:r>
            <a:r>
              <a:rPr sz="1400" b="0" i="1" dirty="0" err="1">
                <a:solidFill>
                  <a:srgbClr val="5A5A5A"/>
                </a:solidFill>
              </a:rPr>
              <a:t>giá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khoảng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tham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chiếu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rồi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trong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mức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hoàn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toàn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AI.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Trong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khoảng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thường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Lệch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ít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theo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dõi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Lệch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nhiều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khám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sớm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Nhãn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của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lấy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theo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chỉ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nặng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nhất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phân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loại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chính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nhờ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kế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thể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lệch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nó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sinh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văn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bản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ràng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buộc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nhận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sẵn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nhãn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chỉ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dễ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hiểu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bốn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kiểm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chứng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Máy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tính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đối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chữ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nhãn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của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hai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đạt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bắt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lại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Quá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lần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phép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dùng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mẫu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định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Nhờ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vậy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bệnh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giờ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đọc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phải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chưa</a:t>
            </a:r>
            <a:r>
              <a:rPr sz="1400" b="0" i="1" dirty="0">
                <a:solidFill>
                  <a:srgbClr val="5A5A5A"/>
                </a:solidFill>
              </a:rPr>
              <a:t> qua </a:t>
            </a:r>
            <a:r>
              <a:rPr sz="1400" b="0" i="1" dirty="0" err="1">
                <a:solidFill>
                  <a:srgbClr val="5A5A5A"/>
                </a:solidFill>
              </a:rPr>
              <a:t>kiểm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chứng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300" b="0" i="0" dirty="0" err="1">
                <a:solidFill>
                  <a:srgbClr val="5A5A5A"/>
                </a:solidFill>
              </a:rPr>
              <a:t>Từ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khó</a:t>
            </a:r>
            <a:r>
              <a:rPr sz="1300" b="0" i="0" dirty="0">
                <a:solidFill>
                  <a:srgbClr val="5A5A5A"/>
                </a:solidFill>
              </a:rPr>
              <a:t>:  patient = PÂY-</a:t>
            </a:r>
            <a:r>
              <a:rPr sz="1300" b="0" i="0" dirty="0" err="1">
                <a:solidFill>
                  <a:srgbClr val="5A5A5A"/>
                </a:solidFill>
              </a:rPr>
              <a:t>shừnt</a:t>
            </a:r>
            <a:r>
              <a:rPr sz="1300" b="0" i="0" dirty="0">
                <a:solidFill>
                  <a:srgbClr val="5A5A5A"/>
                </a:solidFill>
              </a:rPr>
              <a:t>   ·   </a:t>
            </a:r>
            <a:r>
              <a:rPr sz="1300" b="0" i="0" dirty="0" err="1">
                <a:solidFill>
                  <a:srgbClr val="5A5A5A"/>
                </a:solidFill>
              </a:rPr>
              <a:t>analyte</a:t>
            </a:r>
            <a:r>
              <a:rPr sz="1300" b="0" i="0" dirty="0">
                <a:solidFill>
                  <a:srgbClr val="5A5A5A"/>
                </a:solidFill>
              </a:rPr>
              <a:t> = A-</a:t>
            </a:r>
            <a:r>
              <a:rPr sz="1300" b="0" i="0" dirty="0" err="1">
                <a:solidFill>
                  <a:srgbClr val="5A5A5A"/>
                </a:solidFill>
              </a:rPr>
              <a:t>nơ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lait</a:t>
            </a:r>
            <a:r>
              <a:rPr sz="1300" b="0" i="0" dirty="0">
                <a:solidFill>
                  <a:srgbClr val="5A5A5A"/>
                </a:solidFill>
              </a:rPr>
              <a:t>   ·   validation = </a:t>
            </a:r>
            <a:r>
              <a:rPr sz="1300" b="0" i="0" dirty="0" err="1">
                <a:solidFill>
                  <a:srgbClr val="5A5A5A"/>
                </a:solidFill>
              </a:rPr>
              <a:t>va</a:t>
            </a:r>
            <a:r>
              <a:rPr sz="1300" b="0" i="0" dirty="0">
                <a:solidFill>
                  <a:srgbClr val="5A5A5A"/>
                </a:solidFill>
              </a:rPr>
              <a:t>-li-ĐÂY-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r>
              <a:rPr sz="1300" b="0" i="0" dirty="0">
                <a:solidFill>
                  <a:srgbClr val="5A5A5A"/>
                </a:solidFill>
              </a:rPr>
              <a:t>   ·   severe = xi-VIƠ   ·   template = TEM-</a:t>
            </a:r>
            <a:r>
              <a:rPr sz="1300" b="0" i="0" dirty="0" err="1">
                <a:solidFill>
                  <a:srgbClr val="5A5A5A"/>
                </a:solidFill>
              </a:rPr>
              <a:t>plêit</a:t>
            </a:r>
            <a:r>
              <a:rPr sz="1300" b="0" i="0" dirty="0">
                <a:solidFill>
                  <a:srgbClr val="5A5A5A"/>
                </a:solidFill>
              </a:rPr>
              <a:t>   ·   delegated = ĐE-li-</a:t>
            </a:r>
            <a:r>
              <a:rPr sz="1300" b="0" i="0" dirty="0" err="1">
                <a:solidFill>
                  <a:srgbClr val="5A5A5A"/>
                </a:solidFill>
              </a:rPr>
              <a:t>ghây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tịt</a:t>
            </a:r>
            <a:r>
              <a:rPr sz="1300" b="0" i="0" dirty="0">
                <a:solidFill>
                  <a:srgbClr val="5A5A5A"/>
                </a:solidFill>
              </a:rPr>
              <a:t>   ·   canonical = </a:t>
            </a:r>
            <a:r>
              <a:rPr sz="1300" b="0" i="0" dirty="0" err="1">
                <a:solidFill>
                  <a:srgbClr val="5A5A5A"/>
                </a:solidFill>
              </a:rPr>
              <a:t>cơ</a:t>
            </a:r>
            <a:r>
              <a:rPr sz="1300" b="0" i="0" dirty="0">
                <a:solidFill>
                  <a:srgbClr val="5A5A5A"/>
                </a:solidFill>
              </a:rPr>
              <a:t>-NO-</a:t>
            </a:r>
            <a:r>
              <a:rPr sz="1300" b="0" i="0" dirty="0" err="1">
                <a:solidFill>
                  <a:srgbClr val="5A5A5A"/>
                </a:solidFill>
              </a:rPr>
              <a:t>ni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cồ</a:t>
            </a:r>
            <a:r>
              <a:rPr sz="1300" b="0" i="0" dirty="0">
                <a:solidFill>
                  <a:srgbClr val="5A5A5A"/>
                </a:solidFill>
              </a:rPr>
              <a:t>   ·   </a:t>
            </a:r>
            <a:r>
              <a:rPr sz="1300" b="0" i="0" dirty="0" err="1">
                <a:solidFill>
                  <a:srgbClr val="5A5A5A"/>
                </a:solidFill>
              </a:rPr>
              <a:t>normalisation</a:t>
            </a:r>
            <a:r>
              <a:rPr sz="1300" b="0" i="0" dirty="0">
                <a:solidFill>
                  <a:srgbClr val="5A5A5A"/>
                </a:solidFill>
              </a:rPr>
              <a:t> = </a:t>
            </a:r>
            <a:r>
              <a:rPr sz="1300" b="0" i="0" dirty="0" err="1">
                <a:solidFill>
                  <a:srgbClr val="5A5A5A"/>
                </a:solidFill>
              </a:rPr>
              <a:t>noo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mơ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lai</a:t>
            </a:r>
            <a:r>
              <a:rPr sz="1300" b="0" i="0" dirty="0">
                <a:solidFill>
                  <a:srgbClr val="5A5A5A"/>
                </a:solidFill>
              </a:rPr>
              <a:t>-ZÂY-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r>
              <a:rPr sz="1300" b="0" i="0" dirty="0">
                <a:solidFill>
                  <a:srgbClr val="5A5A5A"/>
                </a:solidFill>
              </a:rPr>
              <a:t>   ·   architecture = A-</a:t>
            </a:r>
            <a:r>
              <a:rPr sz="1300" b="0" i="0" dirty="0" err="1">
                <a:solidFill>
                  <a:srgbClr val="5A5A5A"/>
                </a:solidFill>
              </a:rPr>
              <a:t>ki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tec-chờ</a:t>
            </a:r>
            <a:r>
              <a:rPr sz="1300" b="0" i="0" dirty="0">
                <a:solidFill>
                  <a:srgbClr val="5A5A5A"/>
                </a:solidFill>
              </a:rPr>
              <a:t>   ·   clinical = CLI-</a:t>
            </a:r>
            <a:r>
              <a:rPr sz="1300" b="0" i="0" dirty="0" err="1">
                <a:solidFill>
                  <a:srgbClr val="5A5A5A"/>
                </a:solidFill>
              </a:rPr>
              <a:t>ni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cồ</a:t>
            </a:r>
            <a:endParaRPr sz="1300" b="0" i="0" dirty="0">
              <a:solidFill>
                <a:srgbClr val="5A5A5A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 dirty="0">
                <a:solidFill>
                  <a:srgbClr val="1F3864"/>
                </a:solidFill>
              </a:rPr>
              <a:t>SLIDE 6  ·  </a:t>
            </a:r>
            <a:r>
              <a:rPr sz="1400" b="1" i="0" dirty="0" err="1">
                <a:solidFill>
                  <a:srgbClr val="1F3864"/>
                </a:solidFill>
              </a:rPr>
              <a:t>Bước</a:t>
            </a:r>
            <a:r>
              <a:rPr sz="1400" b="1" i="0" dirty="0">
                <a:solidFill>
                  <a:srgbClr val="1F3864"/>
                </a:solidFill>
              </a:rPr>
              <a:t> 1 — </a:t>
            </a:r>
            <a:r>
              <a:rPr sz="1400" b="1" i="0" dirty="0" err="1">
                <a:solidFill>
                  <a:srgbClr val="1F3864"/>
                </a:solidFill>
              </a:rPr>
              <a:t>tên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và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đơn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vị</a:t>
            </a:r>
            <a:r>
              <a:rPr sz="1400" b="1" i="0" dirty="0">
                <a:solidFill>
                  <a:srgbClr val="1F3864"/>
                </a:solidFill>
              </a:rPr>
              <a:t>  ·  1,6 </a:t>
            </a:r>
            <a:r>
              <a:rPr sz="1400" b="1" i="0" dirty="0" err="1">
                <a:solidFill>
                  <a:srgbClr val="1F3864"/>
                </a:solidFill>
              </a:rPr>
              <a:t>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 dirty="0">
                <a:solidFill>
                  <a:srgbClr val="1F3864"/>
                </a:solidFill>
              </a:rPr>
              <a:t>ĐỌC NGUYÊN VĂN  (</a:t>
            </a:r>
            <a:r>
              <a:rPr sz="1300" b="1" i="0" dirty="0" err="1">
                <a:solidFill>
                  <a:srgbClr val="1F3864"/>
                </a:solidFill>
              </a:rPr>
              <a:t>câu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màu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xám</a:t>
            </a:r>
            <a:r>
              <a:rPr sz="1300" b="1" i="0" dirty="0">
                <a:solidFill>
                  <a:srgbClr val="1F3864"/>
                </a:solidFill>
              </a:rPr>
              <a:t>: </a:t>
            </a:r>
            <a:r>
              <a:rPr sz="1300" b="1" i="0" dirty="0" err="1">
                <a:solidFill>
                  <a:srgbClr val="1F3864"/>
                </a:solidFill>
              </a:rPr>
              <a:t>bỏ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được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nếu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thiếu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giờ</a:t>
            </a:r>
            <a:r>
              <a:rPr sz="1300" b="1" i="0" dirty="0">
                <a:solidFill>
                  <a:srgbClr val="1F3864"/>
                </a:solidFill>
              </a:rPr>
              <a:t>)</a:t>
            </a:r>
          </a:p>
          <a:p>
            <a:r>
              <a:rPr sz="2000" b="1" i="0" dirty="0">
                <a:solidFill>
                  <a:srgbClr val="5A5A5A"/>
                </a:solidFill>
              </a:rPr>
              <a:t>Let me show layer one in more detail.</a:t>
            </a:r>
          </a:p>
          <a:p>
            <a:r>
              <a:rPr sz="2000" b="1" i="0" dirty="0"/>
              <a:t>One </a:t>
            </a:r>
            <a:r>
              <a:rPr sz="2000" b="1" i="0" dirty="0" err="1"/>
              <a:t>analyte</a:t>
            </a:r>
            <a:r>
              <a:rPr sz="2000" b="1" i="0" dirty="0"/>
              <a:t> can have many names.</a:t>
            </a:r>
          </a:p>
          <a:p>
            <a:r>
              <a:rPr sz="2000" b="1" i="0" dirty="0">
                <a:solidFill>
                  <a:srgbClr val="5A5A5A"/>
                </a:solidFill>
              </a:rPr>
              <a:t>For white blood cells, we see W B C, S L B C, the full Vietnamese name, and a version with a star.</a:t>
            </a:r>
          </a:p>
          <a:p>
            <a:r>
              <a:rPr sz="2000" b="1" i="0" dirty="0">
                <a:solidFill>
                  <a:srgbClr val="5A5A5A"/>
                </a:solidFill>
              </a:rPr>
              <a:t>The percent and hash markers are also important. They separate a percentage from an absolute count.</a:t>
            </a:r>
          </a:p>
          <a:p>
            <a:r>
              <a:rPr sz="2000" b="1" i="0" dirty="0">
                <a:solidFill>
                  <a:srgbClr val="5A5A5A"/>
                </a:solidFill>
              </a:rPr>
              <a:t>And some laboratories write them before the name, some after.</a:t>
            </a:r>
          </a:p>
          <a:p>
            <a:r>
              <a:rPr sz="2000" b="1" i="0" dirty="0"/>
              <a:t>But units are the serious problem. Here is a real example.</a:t>
            </a:r>
          </a:p>
          <a:p>
            <a:r>
              <a:rPr sz="2000" b="1" i="0" dirty="0"/>
              <a:t>The report says </a:t>
            </a:r>
            <a:r>
              <a:rPr sz="2000" b="1" i="0" dirty="0" err="1"/>
              <a:t>haemoglobin</a:t>
            </a:r>
            <a:r>
              <a:rPr sz="2000" b="1" i="0" dirty="0"/>
              <a:t> is fourteen point five six grams per </a:t>
            </a:r>
            <a:r>
              <a:rPr sz="2000" b="1" i="0" dirty="0" err="1"/>
              <a:t>decilitre</a:t>
            </a:r>
            <a:r>
              <a:rPr sz="2000" b="1" i="0" dirty="0"/>
              <a:t>.</a:t>
            </a:r>
          </a:p>
          <a:p>
            <a:r>
              <a:rPr sz="2000" b="1" i="0" dirty="0"/>
              <a:t>Our reference interval is one hundred and thirty, to one hundred and seventy-five grams per </a:t>
            </a:r>
            <a:r>
              <a:rPr sz="2000" b="1" i="0" dirty="0" err="1"/>
              <a:t>litre</a:t>
            </a:r>
            <a:r>
              <a:rPr sz="2000" b="1" i="0" dirty="0"/>
              <a:t>.</a:t>
            </a:r>
          </a:p>
          <a:p>
            <a:r>
              <a:rPr sz="2000" b="1" i="0" dirty="0"/>
              <a:t>Without conversion, the system says seek care. That is a false alarm, at the most serious level.</a:t>
            </a:r>
          </a:p>
          <a:p>
            <a:r>
              <a:rPr sz="2000" b="1" i="0" dirty="0"/>
              <a:t>With conversion, the value is one hundred and forty-five point six, and the result is normal.</a:t>
            </a:r>
          </a:p>
          <a:p>
            <a:r>
              <a:rPr sz="2000" b="1" i="0" dirty="0"/>
              <a:t>So our rule is strict. If the unit is unknown, or missing, we refuse the </a:t>
            </a:r>
            <a:r>
              <a:rPr sz="2000" b="1" i="0" dirty="0" err="1"/>
              <a:t>analyte</a:t>
            </a:r>
            <a:r>
              <a:rPr sz="2000" b="1" i="0" dirty="0"/>
              <a:t>. We never guess.</a:t>
            </a:r>
          </a:p>
          <a:p>
            <a:r>
              <a:rPr sz="2000" b="1" i="0" dirty="0">
                <a:solidFill>
                  <a:srgbClr val="5A5A5A"/>
                </a:solidFill>
              </a:rPr>
              <a:t>This is a known problem. Six to nineteen percent of tests cannot be mapped accurately to LOINC.</a:t>
            </a:r>
          </a:p>
          <a:p>
            <a:r>
              <a:rPr sz="2000" b="1" i="0" dirty="0">
                <a:solidFill>
                  <a:srgbClr val="5A5A5A"/>
                </a:solidFill>
              </a:rPr>
              <a:t>And one analysis found two thousand and nineteen different unit expressions.</a:t>
            </a:r>
          </a:p>
          <a:p>
            <a:pPr>
              <a:spcBef>
                <a:spcPts val="1200"/>
              </a:spcBef>
            </a:pPr>
            <a:r>
              <a:rPr sz="13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xin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nói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kỹ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chỉ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thể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nhiều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tên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Với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bạch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cầu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chúng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gặp</a:t>
            </a:r>
            <a:r>
              <a:rPr sz="1400" b="0" i="1" dirty="0">
                <a:solidFill>
                  <a:srgbClr val="5A5A5A"/>
                </a:solidFill>
              </a:rPr>
              <a:t> WBC, SLBC, </a:t>
            </a:r>
            <a:r>
              <a:rPr sz="1400" b="0" i="1" dirty="0" err="1">
                <a:solidFill>
                  <a:srgbClr val="5A5A5A"/>
                </a:solidFill>
              </a:rPr>
              <a:t>tên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tiếng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Việt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đầy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đủ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dạng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dấu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sao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Dấu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phần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trăm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dấu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thăng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cũng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quan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trọng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Chúng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phân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biệt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tỷ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lệ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lượng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tuyệt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đối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phòng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xét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nghiệm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trước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tên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phòng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sau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Nhưng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vấn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đề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nghiêm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trọng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Đây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ví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dụ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thật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Phiếu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ghi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huyết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sắc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14,56 g/</a:t>
            </a:r>
            <a:r>
              <a:rPr sz="1400" b="0" i="1" dirty="0" err="1">
                <a:solidFill>
                  <a:srgbClr val="5A5A5A"/>
                </a:solidFill>
              </a:rPr>
              <a:t>dL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Khoảng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tham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của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chúng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130 </a:t>
            </a:r>
            <a:r>
              <a:rPr sz="1400" b="0" i="1" dirty="0" err="1">
                <a:solidFill>
                  <a:srgbClr val="5A5A5A"/>
                </a:solidFill>
              </a:rPr>
              <a:t>đến</a:t>
            </a:r>
            <a:r>
              <a:rPr sz="1400" b="0" i="1" dirty="0">
                <a:solidFill>
                  <a:srgbClr val="5A5A5A"/>
                </a:solidFill>
              </a:rPr>
              <a:t> 175 g/L.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đổi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hệ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thống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báo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khám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Đó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báo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động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giả</a:t>
            </a:r>
            <a:r>
              <a:rPr sz="1400" b="0" i="1" dirty="0">
                <a:solidFill>
                  <a:srgbClr val="5A5A5A"/>
                </a:solidFill>
              </a:rPr>
              <a:t>, ở </a:t>
            </a:r>
            <a:r>
              <a:rPr sz="1400" b="0" i="1" dirty="0" err="1">
                <a:solidFill>
                  <a:srgbClr val="5A5A5A"/>
                </a:solidFill>
              </a:rPr>
              <a:t>mức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nặng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nhất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Quy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đổi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rồi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145,6,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thường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tắc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của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chúng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rất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chặt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hoặc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bỏ</a:t>
            </a:r>
            <a:r>
              <a:rPr sz="1400" b="0" i="1" dirty="0">
                <a:solidFill>
                  <a:srgbClr val="5A5A5A"/>
                </a:solidFill>
              </a:rPr>
              <a:t> qua </a:t>
            </a:r>
            <a:r>
              <a:rPr sz="1400" b="0" i="1" dirty="0" err="1">
                <a:solidFill>
                  <a:srgbClr val="5A5A5A"/>
                </a:solidFill>
              </a:rPr>
              <a:t>chỉ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đó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giờ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đoán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Đây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vấn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đề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biết</a:t>
            </a:r>
            <a:r>
              <a:rPr sz="1400" b="0" i="1" dirty="0">
                <a:solidFill>
                  <a:srgbClr val="5A5A5A"/>
                </a:solidFill>
              </a:rPr>
              <a:t>. 6 </a:t>
            </a:r>
            <a:r>
              <a:rPr sz="1400" b="0" i="1" dirty="0" err="1">
                <a:solidFill>
                  <a:srgbClr val="5A5A5A"/>
                </a:solidFill>
              </a:rPr>
              <a:t>đến</a:t>
            </a:r>
            <a:r>
              <a:rPr sz="1400" b="0" i="1" dirty="0">
                <a:solidFill>
                  <a:srgbClr val="5A5A5A"/>
                </a:solidFill>
              </a:rPr>
              <a:t> 19% </a:t>
            </a:r>
            <a:r>
              <a:rPr sz="1400" b="0" i="1" dirty="0" err="1">
                <a:solidFill>
                  <a:srgbClr val="5A5A5A"/>
                </a:solidFill>
              </a:rPr>
              <a:t>xét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nghiệm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ánh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chính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được</a:t>
            </a:r>
            <a:r>
              <a:rPr sz="1400" b="0" i="1" dirty="0">
                <a:solidFill>
                  <a:srgbClr val="5A5A5A"/>
                </a:solidFill>
              </a:rPr>
              <a:t> sang LOINC.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phân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tích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tìm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thấy</a:t>
            </a:r>
            <a:r>
              <a:rPr sz="1400" b="0" i="1" dirty="0">
                <a:solidFill>
                  <a:srgbClr val="5A5A5A"/>
                </a:solidFill>
              </a:rPr>
              <a:t> 2.019 </a:t>
            </a:r>
            <a:r>
              <a:rPr sz="1400" b="0" i="1" dirty="0" err="1">
                <a:solidFill>
                  <a:srgbClr val="5A5A5A"/>
                </a:solidFill>
              </a:rPr>
              <a:t>cách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nhau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300" b="0" i="0" dirty="0" err="1">
                <a:solidFill>
                  <a:srgbClr val="5A5A5A"/>
                </a:solidFill>
              </a:rPr>
              <a:t>Từ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khó</a:t>
            </a:r>
            <a:r>
              <a:rPr sz="1300" b="0" i="0" dirty="0">
                <a:solidFill>
                  <a:srgbClr val="5A5A5A"/>
                </a:solidFill>
              </a:rPr>
              <a:t>:  </a:t>
            </a:r>
            <a:r>
              <a:rPr sz="1300" b="0" i="0" dirty="0" err="1">
                <a:solidFill>
                  <a:srgbClr val="5A5A5A"/>
                </a:solidFill>
              </a:rPr>
              <a:t>analyte</a:t>
            </a:r>
            <a:r>
              <a:rPr sz="1300" b="0" i="0" dirty="0">
                <a:solidFill>
                  <a:srgbClr val="5A5A5A"/>
                </a:solidFill>
              </a:rPr>
              <a:t> = A-</a:t>
            </a:r>
            <a:r>
              <a:rPr sz="1300" b="0" i="0" dirty="0" err="1">
                <a:solidFill>
                  <a:srgbClr val="5A5A5A"/>
                </a:solidFill>
              </a:rPr>
              <a:t>nơ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lait</a:t>
            </a:r>
            <a:r>
              <a:rPr sz="1300" b="0" i="0" dirty="0">
                <a:solidFill>
                  <a:srgbClr val="5A5A5A"/>
                </a:solidFill>
              </a:rPr>
              <a:t>   ·   </a:t>
            </a:r>
            <a:r>
              <a:rPr sz="1300" b="0" i="0" dirty="0" err="1">
                <a:solidFill>
                  <a:srgbClr val="5A5A5A"/>
                </a:solidFill>
              </a:rPr>
              <a:t>haemoglobin</a:t>
            </a:r>
            <a:r>
              <a:rPr sz="1300" b="0" i="0" dirty="0">
                <a:solidFill>
                  <a:srgbClr val="5A5A5A"/>
                </a:solidFill>
              </a:rPr>
              <a:t> = hi-</a:t>
            </a:r>
            <a:r>
              <a:rPr sz="1300" b="0" i="0" dirty="0" err="1">
                <a:solidFill>
                  <a:srgbClr val="5A5A5A"/>
                </a:solidFill>
              </a:rPr>
              <a:t>mơ</a:t>
            </a:r>
            <a:r>
              <a:rPr sz="1300" b="0" i="0" dirty="0">
                <a:solidFill>
                  <a:srgbClr val="5A5A5A"/>
                </a:solidFill>
              </a:rPr>
              <a:t>-GLÔ-</a:t>
            </a:r>
            <a:r>
              <a:rPr sz="1300" b="0" i="0" dirty="0" err="1">
                <a:solidFill>
                  <a:srgbClr val="5A5A5A"/>
                </a:solidFill>
              </a:rPr>
              <a:t>bìn</a:t>
            </a:r>
            <a:r>
              <a:rPr sz="1300" b="0" i="0" dirty="0">
                <a:solidFill>
                  <a:srgbClr val="5A5A5A"/>
                </a:solidFill>
              </a:rPr>
              <a:t>   ·   conversion = </a:t>
            </a:r>
            <a:r>
              <a:rPr sz="1300" b="0" i="0" dirty="0" err="1">
                <a:solidFill>
                  <a:srgbClr val="5A5A5A"/>
                </a:solidFill>
              </a:rPr>
              <a:t>cừn</a:t>
            </a:r>
            <a:r>
              <a:rPr sz="1300" b="0" i="0" dirty="0">
                <a:solidFill>
                  <a:srgbClr val="5A5A5A"/>
                </a:solidFill>
              </a:rPr>
              <a:t>-VƠ-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r>
              <a:rPr sz="1300" b="0" i="0" dirty="0">
                <a:solidFill>
                  <a:srgbClr val="5A5A5A"/>
                </a:solidFill>
              </a:rPr>
              <a:t>   ·   </a:t>
            </a:r>
            <a:r>
              <a:rPr sz="1300" b="0" i="0" dirty="0" err="1">
                <a:solidFill>
                  <a:srgbClr val="5A5A5A"/>
                </a:solidFill>
              </a:rPr>
              <a:t>decilitre</a:t>
            </a:r>
            <a:r>
              <a:rPr sz="1300" b="0" i="0" dirty="0">
                <a:solidFill>
                  <a:srgbClr val="5A5A5A"/>
                </a:solidFill>
              </a:rPr>
              <a:t> = ĐE-xi-li-</a:t>
            </a:r>
            <a:r>
              <a:rPr sz="1300" b="0" i="0" dirty="0" err="1">
                <a:solidFill>
                  <a:srgbClr val="5A5A5A"/>
                </a:solidFill>
              </a:rPr>
              <a:t>tờ</a:t>
            </a:r>
            <a:endParaRPr sz="1300" b="0" i="0" dirty="0">
              <a:solidFill>
                <a:srgbClr val="5A5A5A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>
                <a:solidFill>
                  <a:srgbClr val="1F3864"/>
                </a:solidFill>
              </a:rPr>
              <a:t>SLIDE 7  ·  Bước 3 và 4 — AI viết, máy kiểm tra  ·  1,4 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1F3864"/>
                </a:solidFill>
              </a:rPr>
              <a:t>ĐỌC NGUYÊN VĂN  (câu màu xám: bỏ được nếu thiếu giờ)</a:t>
            </a:r>
          </a:p>
          <a:p>
            <a:r>
              <a:rPr sz="2000" b="1" i="0">
                <a:solidFill>
                  <a:srgbClr val="5A5A5A"/>
                </a:solidFill>
              </a:rPr>
              <a:t>Now layers three and four.</a:t>
            </a:r>
          </a:p>
          <a:p>
            <a:r>
              <a:rPr sz="2000" b="1" i="0"/>
              <a:t>Layer three applies three constraints.</a:t>
            </a:r>
          </a:p>
          <a:p>
            <a:r>
              <a:rPr sz="2000" b="1" i="0"/>
              <a:t>The input constraint. The model is given the labels, and is never asked to derive them.</a:t>
            </a:r>
          </a:p>
          <a:p>
            <a:r>
              <a:rPr sz="2000" b="1" i="0"/>
              <a:t>The content constraint. No disease names, no causes, no medications, no dosages.</a:t>
            </a:r>
          </a:p>
          <a:p>
            <a:r>
              <a:rPr sz="2000" b="1" i="0"/>
              <a:t>The output constraint. The model must return a fixed JSON schema.</a:t>
            </a:r>
          </a:p>
          <a:p>
            <a:r>
              <a:rPr sz="2000" b="1" i="0"/>
              <a:t>Layer four checks six error classes.</a:t>
            </a:r>
          </a:p>
          <a:p>
            <a:r>
              <a:rPr sz="2000" b="1" i="0"/>
              <a:t>One. Does the stated direction match the label from layer two?</a:t>
            </a:r>
          </a:p>
          <a:p>
            <a:r>
              <a:rPr sz="2000" b="1" i="0"/>
              <a:t>Two. Does the prose contradict that label?</a:t>
            </a:r>
          </a:p>
          <a:p>
            <a:r>
              <a:rPr sz="2000" b="1" i="0"/>
              <a:t>Three. Are forbidden terms present?</a:t>
            </a:r>
          </a:p>
          <a:p>
            <a:r>
              <a:rPr sz="2000" b="1" i="0">
                <a:solidFill>
                  <a:srgbClr val="5A5A5A"/>
                </a:solidFill>
              </a:rPr>
              <a:t>Four. Is any analyte fabricated?</a:t>
            </a:r>
          </a:p>
          <a:p>
            <a:r>
              <a:rPr sz="2000" b="1" i="0">
                <a:solidFill>
                  <a:srgbClr val="5A5A5A"/>
                </a:solidFill>
              </a:rPr>
              <a:t>Five. Is any analyte omitted?</a:t>
            </a:r>
          </a:p>
          <a:p>
            <a:r>
              <a:rPr sz="2000" b="1" i="0"/>
              <a:t>And six. Does the closing statement falsely reassure?</a:t>
            </a:r>
          </a:p>
          <a:p>
            <a:r>
              <a:rPr sz="2000" b="1" i="0"/>
              <a:t>Our model is Qwen two point five, with three billion parameters, served locally through Ollama.</a:t>
            </a:r>
          </a:p>
          <a:p>
            <a:r>
              <a:rPr sz="2000" b="1" i="0"/>
              <a:t>So the data never leaves the institution, and no GPU is required.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>
                <a:solidFill>
                  <a:srgbClr val="5A5A5A"/>
                </a:solidFill>
              </a:rPr>
              <a:t>Giờ tới tầng ba và tầng bốn.</a:t>
            </a:r>
          </a:p>
          <a:p>
            <a:r>
              <a:rPr sz="1400" b="0" i="1">
                <a:solidFill>
                  <a:srgbClr val="5A5A5A"/>
                </a:solidFill>
              </a:rPr>
              <a:t>Tầng ba đặt ba ràng buộc.</a:t>
            </a:r>
          </a:p>
          <a:p>
            <a:r>
              <a:rPr sz="1400" b="0" i="1">
                <a:solidFill>
                  <a:srgbClr val="5A5A5A"/>
                </a:solidFill>
              </a:rPr>
              <a:t>Ràng buộc đầu vào. Mô hình được cho sẵn nhãn, không bao giờ phải tự suy ra.</a:t>
            </a:r>
          </a:p>
          <a:p>
            <a:r>
              <a:rPr sz="1400" b="0" i="1">
                <a:solidFill>
                  <a:srgbClr val="5A5A5A"/>
                </a:solidFill>
              </a:rPr>
              <a:t>Ràng buộc nội dung. Không tên bệnh, không nguyên nhân, không thuốc, không liều lượng.</a:t>
            </a:r>
          </a:p>
          <a:p>
            <a:r>
              <a:rPr sz="1400" b="0" i="1">
                <a:solidFill>
                  <a:srgbClr val="5A5A5A"/>
                </a:solidFill>
              </a:rPr>
              <a:t>Ràng buộc đầu ra. Mô hình phải trả về đúng khuôn JSON cố định.</a:t>
            </a:r>
          </a:p>
          <a:p>
            <a:r>
              <a:rPr sz="1400" b="0" i="1">
                <a:solidFill>
                  <a:srgbClr val="5A5A5A"/>
                </a:solidFill>
              </a:rPr>
              <a:t>Tầng bốn kiểm tra sáu loại lỗi.</a:t>
            </a:r>
          </a:p>
          <a:p>
            <a:r>
              <a:rPr sz="1400" b="0" i="1">
                <a:solidFill>
                  <a:srgbClr val="5A5A5A"/>
                </a:solidFill>
              </a:rPr>
              <a:t>Một. Chiều cao thấp có khớp nhãn của tầng hai không?</a:t>
            </a:r>
          </a:p>
          <a:p>
            <a:r>
              <a:rPr sz="1400" b="0" i="1">
                <a:solidFill>
                  <a:srgbClr val="5A5A5A"/>
                </a:solidFill>
              </a:rPr>
              <a:t>Hai. Câu văn có nói ngược nhãn không?</a:t>
            </a:r>
          </a:p>
          <a:p>
            <a:r>
              <a:rPr sz="1400" b="0" i="1">
                <a:solidFill>
                  <a:srgbClr val="5A5A5A"/>
                </a:solidFill>
              </a:rPr>
              <a:t>Ba. Có từ bị cấm không?</a:t>
            </a:r>
          </a:p>
          <a:p>
            <a:r>
              <a:rPr sz="1400" b="0" i="1">
                <a:solidFill>
                  <a:srgbClr val="5A5A5A"/>
                </a:solidFill>
              </a:rPr>
              <a:t>Bốn. Có bịa thêm chỉ số nào không?</a:t>
            </a:r>
          </a:p>
          <a:p>
            <a:r>
              <a:rPr sz="1400" b="0" i="1">
                <a:solidFill>
                  <a:srgbClr val="5A5A5A"/>
                </a:solidFill>
              </a:rPr>
              <a:t>Năm. Có bỏ sót chỉ số nào không?</a:t>
            </a:r>
          </a:p>
          <a:p>
            <a:r>
              <a:rPr sz="1400" b="0" i="1">
                <a:solidFill>
                  <a:srgbClr val="5A5A5A"/>
                </a:solidFill>
              </a:rPr>
              <a:t>Và sáu. Câu kết có trấn an sai không?</a:t>
            </a:r>
          </a:p>
          <a:p>
            <a:r>
              <a:rPr sz="1400" b="0" i="1">
                <a:solidFill>
                  <a:srgbClr val="5A5A5A"/>
                </a:solidFill>
              </a:rPr>
              <a:t>Mô hình là Qwen 2.5, ba tỷ tham số, chạy tại chỗ qua Ollama.</a:t>
            </a:r>
          </a:p>
          <a:p>
            <a:r>
              <a:rPr sz="1400" b="0" i="1">
                <a:solidFill>
                  <a:srgbClr val="5A5A5A"/>
                </a:solidFill>
              </a:rPr>
              <a:t>Nhờ vậy dữ liệu không ra khỏi đơn vị, và không cần card đồ họa.</a:t>
            </a:r>
          </a:p>
          <a:p>
            <a:pPr>
              <a:spcBef>
                <a:spcPts val="1000"/>
              </a:spcBef>
            </a:pPr>
            <a:r>
              <a:rPr sz="1300" b="0" i="0">
                <a:solidFill>
                  <a:srgbClr val="5A5A5A"/>
                </a:solidFill>
              </a:rPr>
              <a:t>Từ khó:  analyte = A-nơ-lait   ·   constraint = cừn-XTRÂYNT   ·   contradict = con-trơ-ĐICT   ·   fabricated = PHA-bri-kây-tịt   ·   omitted = ơ-MI-tịt   ·   parameter = pơ-RA-mi-tờ   ·   Qwen = Quen   ·   Ollama = Ô-LA-ma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>
                <a:solidFill>
                  <a:srgbClr val="1F3864"/>
                </a:solidFill>
              </a:rPr>
              <a:t>SLIDE 8  ·  Cách thử nghiệm  ·  1,3 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1F3864"/>
                </a:solidFill>
              </a:rPr>
              <a:t>ĐỌC NGUYÊN VĂN  (câu màu xám: bỏ được nếu thiếu giờ)</a:t>
            </a:r>
          </a:p>
          <a:p>
            <a:r>
              <a:rPr sz="2000" b="1" i="0">
                <a:solidFill>
                  <a:srgbClr val="5A5A5A"/>
                </a:solidFill>
              </a:rPr>
              <a:t>Now the evaluation.</a:t>
            </a:r>
          </a:p>
          <a:p>
            <a:r>
              <a:rPr sz="2000" b="1" i="0"/>
              <a:t>We used one hundred and fifty synthetic blood count panels. Each panel has ten to eighteen analytes.</a:t>
            </a:r>
          </a:p>
          <a:p>
            <a:r>
              <a:rPr sz="2000" b="1" i="0"/>
              <a:t>The panels are split equally across the three severity classes.</a:t>
            </a:r>
          </a:p>
          <a:p>
            <a:r>
              <a:rPr sz="2000" b="1" i="0">
                <a:solidFill>
                  <a:srgbClr val="5A5A5A"/>
                </a:solidFill>
              </a:rPr>
              <a:t>Names and units are random, to test layer one.</a:t>
            </a:r>
          </a:p>
          <a:p>
            <a:r>
              <a:rPr sz="2000" b="1" i="0">
                <a:solidFill>
                  <a:srgbClr val="5A5A5A"/>
                </a:solidFill>
              </a:rPr>
              <a:t>Why synthetic data? There are three reasons.</a:t>
            </a:r>
          </a:p>
          <a:p>
            <a:r>
              <a:rPr sz="2000" b="1" i="0"/>
              <a:t>We need ground truth labels, to score the output. Real reports do not carry them.</a:t>
            </a:r>
          </a:p>
          <a:p>
            <a:r>
              <a:rPr sz="2000" b="1" i="0"/>
              <a:t>We need a balanced design. Real panels are mostly normal, so we would have too few severe cases.</a:t>
            </a:r>
          </a:p>
          <a:p>
            <a:r>
              <a:rPr sz="2000" b="1" i="0">
                <a:solidFill>
                  <a:srgbClr val="5A5A5A"/>
                </a:solidFill>
              </a:rPr>
              <a:t>And this way we do not handle patient data.</a:t>
            </a:r>
          </a:p>
          <a:p>
            <a:r>
              <a:rPr sz="2000" b="1" i="0"/>
              <a:t>We compare three configurations.</a:t>
            </a:r>
          </a:p>
          <a:p>
            <a:r>
              <a:rPr sz="2000" b="1" i="0"/>
              <a:t>Baseline gives the raw values to the model. No labels, no constraints, no validation.</a:t>
            </a:r>
          </a:p>
          <a:p>
            <a:r>
              <a:rPr sz="2000" b="1" i="0">
                <a:solidFill>
                  <a:srgbClr val="5A5A5A"/>
                </a:solidFill>
              </a:rPr>
              <a:t>This is what happens when a patient pastes a report into a chatbot.</a:t>
            </a:r>
          </a:p>
          <a:p>
            <a:r>
              <a:rPr sz="2000" b="1" i="0"/>
              <a:t>Constrained uses layers one to three. Labels and constraints, but no validation.</a:t>
            </a:r>
          </a:p>
          <a:p>
            <a:r>
              <a:rPr sz="2000" b="1" i="0"/>
              <a:t>Full uses all four layers.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>
                <a:solidFill>
                  <a:srgbClr val="5A5A5A"/>
                </a:solidFill>
              </a:rPr>
              <a:t>Giờ tới phần thử nghiệm.</a:t>
            </a:r>
          </a:p>
          <a:p>
            <a:r>
              <a:rPr sz="1400" b="0" i="1">
                <a:solidFill>
                  <a:srgbClr val="5A5A5A"/>
                </a:solidFill>
              </a:rPr>
              <a:t>Chúng tôi dùng 150 phiếu công thức máu tự tạo. Mỗi phiếu có 10 đến 18 chỉ số.</a:t>
            </a:r>
          </a:p>
          <a:p>
            <a:r>
              <a:rPr sz="1400" b="0" i="1">
                <a:solidFill>
                  <a:srgbClr val="5A5A5A"/>
                </a:solidFill>
              </a:rPr>
              <a:t>Các phiếu chia đều cho ba mức nặng nhẹ.</a:t>
            </a:r>
          </a:p>
          <a:p>
            <a:r>
              <a:rPr sz="1400" b="0" i="1">
                <a:solidFill>
                  <a:srgbClr val="5A5A5A"/>
                </a:solidFill>
              </a:rPr>
              <a:t>Tên và đơn vị lấy ngẫu nhiên, để thử tầng một.</a:t>
            </a:r>
          </a:p>
          <a:p>
            <a:r>
              <a:rPr sz="1400" b="0" i="1">
                <a:solidFill>
                  <a:srgbClr val="5A5A5A"/>
                </a:solidFill>
              </a:rPr>
              <a:t>Vì sao dùng dữ liệu tự tạo? Có ba lý do.</a:t>
            </a:r>
          </a:p>
          <a:p>
            <a:r>
              <a:rPr sz="1400" b="0" i="1">
                <a:solidFill>
                  <a:srgbClr val="5A5A5A"/>
                </a:solidFill>
              </a:rPr>
              <a:t>Chúng tôi cần đáp án đúng để chấm điểm. Phiếu thật không có sẵn.</a:t>
            </a:r>
          </a:p>
          <a:p>
            <a:r>
              <a:rPr sz="1400" b="0" i="1">
                <a:solidFill>
                  <a:srgbClr val="5A5A5A"/>
                </a:solidFill>
              </a:rPr>
              <a:t>Chúng tôi cần thiết kế cân bằng. Phiếu thật hầu hết bình thường, sẽ thiếu ca nặng.</a:t>
            </a:r>
          </a:p>
          <a:p>
            <a:r>
              <a:rPr sz="1400" b="0" i="1">
                <a:solidFill>
                  <a:srgbClr val="5A5A5A"/>
                </a:solidFill>
              </a:rPr>
              <a:t>Và như vậy chúng tôi không phải đụng tới dữ liệu người bệnh.</a:t>
            </a:r>
          </a:p>
          <a:p>
            <a:r>
              <a:rPr sz="1400" b="0" i="1">
                <a:solidFill>
                  <a:srgbClr val="5A5A5A"/>
                </a:solidFill>
              </a:rPr>
              <a:t>Chúng tôi so ba cấu hình.</a:t>
            </a:r>
          </a:p>
          <a:p>
            <a:r>
              <a:rPr sz="1400" b="0" i="1">
                <a:solidFill>
                  <a:srgbClr val="5A5A5A"/>
                </a:solidFill>
              </a:rPr>
              <a:t>Cấu hình một đưa thẳng số cho mô hình. Không nhãn, không ràng buộc, không kiểm chứng.</a:t>
            </a:r>
          </a:p>
          <a:p>
            <a:r>
              <a:rPr sz="1400" b="0" i="1">
                <a:solidFill>
                  <a:srgbClr val="5A5A5A"/>
                </a:solidFill>
              </a:rPr>
              <a:t>Đây chính là việc xảy ra khi người dân dán phiếu vào chatbot.</a:t>
            </a:r>
          </a:p>
          <a:p>
            <a:r>
              <a:rPr sz="1400" b="0" i="1">
                <a:solidFill>
                  <a:srgbClr val="5A5A5A"/>
                </a:solidFill>
              </a:rPr>
              <a:t>Cấu hình hai dùng tầng một tới ba. Có nhãn và ràng buộc, nhưng không kiểm chứng.</a:t>
            </a:r>
          </a:p>
          <a:p>
            <a:r>
              <a:rPr sz="1400" b="0" i="1">
                <a:solidFill>
                  <a:srgbClr val="5A5A5A"/>
                </a:solidFill>
              </a:rPr>
              <a:t>Cấu hình ba dùng đủ bốn tầng.</a:t>
            </a:r>
          </a:p>
          <a:p>
            <a:pPr>
              <a:spcBef>
                <a:spcPts val="1000"/>
              </a:spcBef>
            </a:pPr>
            <a:r>
              <a:rPr sz="1300" b="0" i="0">
                <a:solidFill>
                  <a:srgbClr val="5A5A5A"/>
                </a:solidFill>
              </a:rPr>
              <a:t>Từ khó:  patient = PÂY-shừnt   ·   analyte = A-nơ-lait   ·   validation = va-li-ĐÂY-shừn   ·   synthetic = xin-THE-tic   ·   constraint = cừn-XTRÂYNT   ·   configuration = cừn-phi-ghơ-RÂY-shừn   ·   severity = xi-VE-rơ-ti   ·   severe = xi-VIƠ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>
                <a:solidFill>
                  <a:srgbClr val="1F3864"/>
                </a:solidFill>
              </a:rPr>
              <a:t>SLIDE 9  ·  Kết quả  ·  1,6 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1F3864"/>
                </a:solidFill>
              </a:rPr>
              <a:t>ĐỌC NGUYÊN VĂN  (câu màu xám: bỏ được nếu thiếu giờ)</a:t>
            </a:r>
          </a:p>
          <a:p>
            <a:r>
              <a:rPr sz="2000" b="1" i="0">
                <a:solidFill>
                  <a:srgbClr val="5A5A5A"/>
                </a:solidFill>
              </a:rPr>
              <a:t>This is the main results table. The values are the percentage of panels.</a:t>
            </a:r>
          </a:p>
          <a:p>
            <a:r>
              <a:rPr sz="2000" b="1" i="0"/>
              <a:t>Every error metric goes down, from baseline, to constrained, to full.</a:t>
            </a:r>
          </a:p>
          <a:p>
            <a:r>
              <a:rPr sz="2000" b="1" i="0"/>
              <a:t>Please look at the baseline row. Zero safe outputs, in all one hundred and fifty panels.</a:t>
            </a:r>
          </a:p>
          <a:p>
            <a:r>
              <a:rPr sz="2000" b="1" i="0"/>
              <a:t>The direction was wrong in ninety-one point three percent of panels.</a:t>
            </a:r>
          </a:p>
          <a:p>
            <a:r>
              <a:rPr sz="2000" b="1" i="0">
                <a:solidFill>
                  <a:srgbClr val="5A5A5A"/>
                </a:solidFill>
              </a:rPr>
              <a:t>Forbidden terms appeared in seventy-nine point three percent.</a:t>
            </a:r>
          </a:p>
          <a:p>
            <a:r>
              <a:rPr sz="2000" b="1" i="0"/>
              <a:t>And false reassurance in thirty-two percent. That is one patient in three.</a:t>
            </a:r>
          </a:p>
          <a:p>
            <a:r>
              <a:rPr sz="2000" b="1" i="0"/>
              <a:t>The constrained row is much better. False reassurance is down to eight percent.</a:t>
            </a:r>
          </a:p>
          <a:p>
            <a:r>
              <a:rPr sz="2000" b="1" i="0">
                <a:solidFill>
                  <a:srgbClr val="5A5A5A"/>
                </a:solidFill>
              </a:rPr>
              <a:t>Direction mismatch is down to twelve point seven percent.</a:t>
            </a:r>
          </a:p>
          <a:p>
            <a:r>
              <a:rPr sz="2000" b="1" i="0"/>
              <a:t>But fifty-two percent of these outputs still failed validation.</a:t>
            </a:r>
          </a:p>
          <a:p>
            <a:r>
              <a:rPr sz="2000" b="1" i="0"/>
              <a:t>The full row. One hundred percent safe output, and zero in every error column.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>
                <a:solidFill>
                  <a:srgbClr val="5A5A5A"/>
                </a:solidFill>
              </a:rPr>
              <a:t>Đây là bảng kết quả chính. Các số là phần trăm số phiếu.</a:t>
            </a:r>
          </a:p>
          <a:p>
            <a:r>
              <a:rPr sz="1400" b="0" i="1">
                <a:solidFill>
                  <a:srgbClr val="5A5A5A"/>
                </a:solidFill>
              </a:rPr>
              <a:t>Mọi chỉ số lỗi đều giảm, từ cấu hình một, sang hai, sang ba.</a:t>
            </a:r>
          </a:p>
          <a:p>
            <a:r>
              <a:rPr sz="1400" b="0" i="1">
                <a:solidFill>
                  <a:srgbClr val="5A5A5A"/>
                </a:solidFill>
              </a:rPr>
              <a:t>Mời quý vị xem dòng cấu hình một. Không có phiếu nào an toàn, trong cả 150 phiếu.</a:t>
            </a:r>
          </a:p>
          <a:p>
            <a:r>
              <a:rPr sz="1400" b="0" i="1">
                <a:solidFill>
                  <a:srgbClr val="5A5A5A"/>
                </a:solidFill>
              </a:rPr>
              <a:t>Sai chiều cao thấp ở 91,3% số phiếu.</a:t>
            </a:r>
          </a:p>
          <a:p>
            <a:r>
              <a:rPr sz="1400" b="0" i="1">
                <a:solidFill>
                  <a:srgbClr val="5A5A5A"/>
                </a:solidFill>
              </a:rPr>
              <a:t>Từ bị cấm xuất hiện ở 79,3%.</a:t>
            </a:r>
          </a:p>
          <a:p>
            <a:r>
              <a:rPr sz="1400" b="0" i="1">
                <a:solidFill>
                  <a:srgbClr val="5A5A5A"/>
                </a:solidFill>
              </a:rPr>
              <a:t>Và trấn an sai ở 32%. Tức là cứ ba người thì một.</a:t>
            </a:r>
          </a:p>
          <a:p>
            <a:r>
              <a:rPr sz="1400" b="0" i="1">
                <a:solidFill>
                  <a:srgbClr val="5A5A5A"/>
                </a:solidFill>
              </a:rPr>
              <a:t>Dòng cấu hình hai tốt hơn nhiều. Trấn an sai còn 8%.</a:t>
            </a:r>
          </a:p>
          <a:p>
            <a:r>
              <a:rPr sz="1400" b="0" i="1">
                <a:solidFill>
                  <a:srgbClr val="5A5A5A"/>
                </a:solidFill>
              </a:rPr>
              <a:t>Sai chiều lệch còn 12,7%.</a:t>
            </a:r>
          </a:p>
          <a:p>
            <a:r>
              <a:rPr sz="1400" b="0" i="1">
                <a:solidFill>
                  <a:srgbClr val="5A5A5A"/>
                </a:solidFill>
              </a:rPr>
              <a:t>Nhưng 52% số câu ở cấu hình này vẫn không qua kiểm chứng.</a:t>
            </a:r>
          </a:p>
          <a:p>
            <a:r>
              <a:rPr sz="1400" b="0" i="1">
                <a:solidFill>
                  <a:srgbClr val="5A5A5A"/>
                </a:solidFill>
              </a:rPr>
              <a:t>Dòng cấu hình ba. An toàn 100%, và bằng không ở mọi cột lỗi.</a:t>
            </a:r>
          </a:p>
          <a:p>
            <a:pPr>
              <a:spcBef>
                <a:spcPts val="1000"/>
              </a:spcBef>
            </a:pPr>
            <a:r>
              <a:rPr sz="1300" b="0" i="0">
                <a:solidFill>
                  <a:srgbClr val="5A5A5A"/>
                </a:solidFill>
              </a:rPr>
              <a:t>Từ khó:  patient = PÂY-shừnt   ·   reassurance = ri-ơ-SHUA-rừns   ·   false reassurance = phôls ri-ơ-SHUA-rừns   ·   validation = va-li-ĐÂY-shừn   ·   metric = ME-tric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 dirty="0">
                <a:solidFill>
                  <a:srgbClr val="1F3864"/>
                </a:solidFill>
              </a:rPr>
              <a:t>SLIDE 10  ·  Ba con </a:t>
            </a:r>
            <a:r>
              <a:rPr sz="1400" b="1" i="0" dirty="0" err="1">
                <a:solidFill>
                  <a:srgbClr val="1F3864"/>
                </a:solidFill>
              </a:rPr>
              <a:t>số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đáng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nhớ</a:t>
            </a:r>
            <a:r>
              <a:rPr sz="1400" b="1" i="0" dirty="0">
                <a:solidFill>
                  <a:srgbClr val="1F3864"/>
                </a:solidFill>
              </a:rPr>
              <a:t>  ·  1,5 </a:t>
            </a:r>
            <a:r>
              <a:rPr sz="1400" b="1" i="0" dirty="0" err="1">
                <a:solidFill>
                  <a:srgbClr val="1F3864"/>
                </a:solidFill>
              </a:rPr>
              <a:t>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 dirty="0">
                <a:solidFill>
                  <a:srgbClr val="1F3864"/>
                </a:solidFill>
              </a:rPr>
              <a:t>ĐỌC NGUYÊN VĂN  (</a:t>
            </a:r>
            <a:r>
              <a:rPr sz="1300" b="1" i="0" dirty="0" err="1">
                <a:solidFill>
                  <a:srgbClr val="1F3864"/>
                </a:solidFill>
              </a:rPr>
              <a:t>câu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màu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xám</a:t>
            </a:r>
            <a:r>
              <a:rPr sz="1300" b="1" i="0" dirty="0">
                <a:solidFill>
                  <a:srgbClr val="1F3864"/>
                </a:solidFill>
              </a:rPr>
              <a:t>: </a:t>
            </a:r>
            <a:r>
              <a:rPr sz="1300" b="1" i="0" dirty="0" err="1">
                <a:solidFill>
                  <a:srgbClr val="1F3864"/>
                </a:solidFill>
              </a:rPr>
              <a:t>bỏ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được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nếu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thiếu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giờ</a:t>
            </a:r>
            <a:r>
              <a:rPr sz="1300" b="1" i="0" dirty="0">
                <a:solidFill>
                  <a:srgbClr val="1F3864"/>
                </a:solidFill>
              </a:rPr>
              <a:t>)</a:t>
            </a:r>
          </a:p>
          <a:p>
            <a:r>
              <a:rPr sz="2000" b="1" i="0" dirty="0">
                <a:solidFill>
                  <a:srgbClr val="5A5A5A"/>
                </a:solidFill>
              </a:rPr>
              <a:t>Here are the three numbers I would like you to remember.</a:t>
            </a:r>
          </a:p>
          <a:p>
            <a:r>
              <a:rPr sz="2000" b="1" i="0" dirty="0"/>
              <a:t>First, false reassurance, from thirty-two percent, down to zero.</a:t>
            </a:r>
          </a:p>
          <a:p>
            <a:r>
              <a:rPr sz="2000" b="1" i="0" dirty="0"/>
              <a:t>Without constraints, one patient in three, with abnormal results, would be told that nothing needed attention.</a:t>
            </a:r>
          </a:p>
          <a:p>
            <a:r>
              <a:rPr sz="2000" b="1" i="0" dirty="0"/>
              <a:t>Second, direction mismatch, from ninety-one point three percent, down to zero.</a:t>
            </a:r>
          </a:p>
          <a:p>
            <a:r>
              <a:rPr sz="2000" b="1" i="0" dirty="0">
                <a:solidFill>
                  <a:srgbClr val="5A5A5A"/>
                </a:solidFill>
              </a:rPr>
              <a:t>When the model judges for itself, it fails almost always. In a rule layer, classification is exact.</a:t>
            </a:r>
          </a:p>
          <a:p>
            <a:r>
              <a:rPr sz="2000" b="1" i="0" dirty="0"/>
              <a:t>Third, forty-eight percent. Even with careful instructions, more than half of the outputs still failed.</a:t>
            </a:r>
          </a:p>
          <a:p>
            <a:r>
              <a:rPr sz="2000" b="1" i="0" dirty="0">
                <a:solidFill>
                  <a:srgbClr val="5A5A5A"/>
                </a:solidFill>
              </a:rPr>
              <a:t>Instruction alone does not guarantee compliance.</a:t>
            </a:r>
          </a:p>
          <a:p>
            <a:r>
              <a:rPr sz="2000" b="1" i="0" dirty="0"/>
              <a:t>And I want to be clear about the one hundred percent.</a:t>
            </a:r>
          </a:p>
          <a:p>
            <a:r>
              <a:rPr sz="2000" b="1" i="0" dirty="0"/>
              <a:t>Sixty-four percent of panels were served by model text. Thirty-six percent used a fixed template.</a:t>
            </a:r>
          </a:p>
          <a:p>
            <a:r>
              <a:rPr sz="2000" b="1" i="0" dirty="0"/>
              <a:t>The guarantee comes from the pipeline. It is not evidence that a three billion model writes reliably.</a:t>
            </a:r>
          </a:p>
          <a:p>
            <a:pPr>
              <a:spcBef>
                <a:spcPts val="1200"/>
              </a:spcBef>
            </a:pPr>
            <a:r>
              <a:rPr sz="13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Đây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</a:t>
            </a:r>
            <a:r>
              <a:rPr sz="1400" b="0" i="1" dirty="0">
                <a:solidFill>
                  <a:srgbClr val="5A5A5A"/>
                </a:solidFill>
              </a:rPr>
              <a:t> con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mong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quý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nhớ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Thứ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nhất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trấn</a:t>
            </a:r>
            <a:r>
              <a:rPr sz="1400" b="0" i="1" dirty="0">
                <a:solidFill>
                  <a:srgbClr val="5A5A5A"/>
                </a:solidFill>
              </a:rPr>
              <a:t> an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từ</a:t>
            </a:r>
            <a:r>
              <a:rPr sz="1400" b="0" i="1" dirty="0">
                <a:solidFill>
                  <a:srgbClr val="5A5A5A"/>
                </a:solidFill>
              </a:rPr>
              <a:t> 32%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0.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ràng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buộc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cứ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bất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thường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được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bảo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đáng</a:t>
            </a:r>
            <a:r>
              <a:rPr sz="1400" b="0" i="1" dirty="0">
                <a:solidFill>
                  <a:srgbClr val="5A5A5A"/>
                </a:solidFill>
              </a:rPr>
              <a:t> lo.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Thứ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hai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chiều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lệch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từ</a:t>
            </a:r>
            <a:r>
              <a:rPr sz="1400" b="0" i="1" dirty="0">
                <a:solidFill>
                  <a:srgbClr val="5A5A5A"/>
                </a:solidFill>
              </a:rPr>
              <a:t> 91,3%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0.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Khi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tự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đoán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gần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như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luôn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Giao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luật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chính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tuyệt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đối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Thứ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</a:t>
            </a:r>
            <a:r>
              <a:rPr sz="1400" b="0" i="1" dirty="0">
                <a:solidFill>
                  <a:srgbClr val="5A5A5A"/>
                </a:solidFill>
              </a:rPr>
              <a:t>, 48%. </a:t>
            </a:r>
            <a:r>
              <a:rPr sz="1400" b="0" i="1" dirty="0" err="1">
                <a:solidFill>
                  <a:srgbClr val="5A5A5A"/>
                </a:solidFill>
              </a:rPr>
              <a:t>Dù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dặn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rất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kỹ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hơn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nửa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vẫn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đạt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Chỉ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dặn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dò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bảo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đảm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theo.</a:t>
            </a:r>
            <a:endParaRPr sz="1400" b="0" i="1" dirty="0">
              <a:solidFill>
                <a:srgbClr val="5A5A5A"/>
              </a:solidFill>
            </a:endParaRPr>
          </a:p>
          <a:p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muốn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nói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rõ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con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100%.</a:t>
            </a:r>
          </a:p>
          <a:p>
            <a:r>
              <a:rPr sz="1400" b="0" i="1" dirty="0">
                <a:solidFill>
                  <a:srgbClr val="5A5A5A"/>
                </a:solidFill>
              </a:rPr>
              <a:t>64%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dùng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do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. 36% </a:t>
            </a:r>
            <a:r>
              <a:rPr sz="1400" b="0" i="1" dirty="0" err="1">
                <a:solidFill>
                  <a:srgbClr val="5A5A5A"/>
                </a:solidFill>
              </a:rPr>
              <a:t>dùng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mẫu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định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Đảm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bảo</a:t>
            </a:r>
            <a:r>
              <a:rPr sz="1400" b="0" i="1" dirty="0">
                <a:solidFill>
                  <a:srgbClr val="5A5A5A"/>
                </a:solidFill>
              </a:rPr>
              <a:t> an </a:t>
            </a:r>
            <a:r>
              <a:rPr sz="1400" b="0" i="1" dirty="0" err="1">
                <a:solidFill>
                  <a:srgbClr val="5A5A5A"/>
                </a:solidFill>
              </a:rPr>
              <a:t>toàn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đến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từ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trình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phải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bằng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chứng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rằng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tỷ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tham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tốt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300" b="0" i="0" dirty="0" err="1">
                <a:solidFill>
                  <a:srgbClr val="5A5A5A"/>
                </a:solidFill>
              </a:rPr>
              <a:t>Từ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khó</a:t>
            </a:r>
            <a:r>
              <a:rPr sz="1300" b="0" i="0" dirty="0">
                <a:solidFill>
                  <a:srgbClr val="5A5A5A"/>
                </a:solidFill>
              </a:rPr>
              <a:t>:  patient = PÂY-</a:t>
            </a:r>
            <a:r>
              <a:rPr sz="1300" b="0" i="0" dirty="0" err="1">
                <a:solidFill>
                  <a:srgbClr val="5A5A5A"/>
                </a:solidFill>
              </a:rPr>
              <a:t>shừnt</a:t>
            </a:r>
            <a:r>
              <a:rPr sz="1300" b="0" i="0" dirty="0">
                <a:solidFill>
                  <a:srgbClr val="5A5A5A"/>
                </a:solidFill>
              </a:rPr>
              <a:t>   ·   abnormal = ab-NOO-</a:t>
            </a:r>
            <a:r>
              <a:rPr sz="1300" b="0" i="0" dirty="0" err="1">
                <a:solidFill>
                  <a:srgbClr val="5A5A5A"/>
                </a:solidFill>
              </a:rPr>
              <a:t>mồ</a:t>
            </a:r>
            <a:r>
              <a:rPr sz="1300" b="0" i="0" dirty="0">
                <a:solidFill>
                  <a:srgbClr val="5A5A5A"/>
                </a:solidFill>
              </a:rPr>
              <a:t>   ·   reassurance = </a:t>
            </a:r>
            <a:r>
              <a:rPr sz="1300" b="0" i="0" dirty="0" err="1">
                <a:solidFill>
                  <a:srgbClr val="5A5A5A"/>
                </a:solidFill>
              </a:rPr>
              <a:t>ri</a:t>
            </a:r>
            <a:r>
              <a:rPr sz="1300" b="0" i="0" dirty="0">
                <a:solidFill>
                  <a:srgbClr val="5A5A5A"/>
                </a:solidFill>
              </a:rPr>
              <a:t>-ơ-SHUA-</a:t>
            </a:r>
            <a:r>
              <a:rPr sz="1300" b="0" i="0" dirty="0" err="1">
                <a:solidFill>
                  <a:srgbClr val="5A5A5A"/>
                </a:solidFill>
              </a:rPr>
              <a:t>rừns</a:t>
            </a:r>
            <a:r>
              <a:rPr sz="1300" b="0" i="0" dirty="0">
                <a:solidFill>
                  <a:srgbClr val="5A5A5A"/>
                </a:solidFill>
              </a:rPr>
              <a:t>   ·   false reassurance = </a:t>
            </a:r>
            <a:r>
              <a:rPr sz="1300" b="0" i="0" dirty="0" err="1">
                <a:solidFill>
                  <a:srgbClr val="5A5A5A"/>
                </a:solidFill>
              </a:rPr>
              <a:t>phôls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ri</a:t>
            </a:r>
            <a:r>
              <a:rPr sz="1300" b="0" i="0" dirty="0">
                <a:solidFill>
                  <a:srgbClr val="5A5A5A"/>
                </a:solidFill>
              </a:rPr>
              <a:t>-ơ-SHUA-</a:t>
            </a:r>
            <a:r>
              <a:rPr sz="1300" b="0" i="0" dirty="0" err="1">
                <a:solidFill>
                  <a:srgbClr val="5A5A5A"/>
                </a:solidFill>
              </a:rPr>
              <a:t>rừns</a:t>
            </a:r>
            <a:r>
              <a:rPr sz="1300" b="0" i="0" dirty="0">
                <a:solidFill>
                  <a:srgbClr val="5A5A5A"/>
                </a:solidFill>
              </a:rPr>
              <a:t>   ·   pipeline = PAIP-lain   ·   constraint = </a:t>
            </a:r>
            <a:r>
              <a:rPr sz="1300" b="0" i="0" dirty="0" err="1">
                <a:solidFill>
                  <a:srgbClr val="5A5A5A"/>
                </a:solidFill>
              </a:rPr>
              <a:t>cừn</a:t>
            </a:r>
            <a:r>
              <a:rPr sz="1300" b="0" i="0" dirty="0">
                <a:solidFill>
                  <a:srgbClr val="5A5A5A"/>
                </a:solidFill>
              </a:rPr>
              <a:t>-XTRÂYNT   ·   template = TEM-</a:t>
            </a:r>
            <a:r>
              <a:rPr sz="1300" b="0" i="0" dirty="0" err="1">
                <a:solidFill>
                  <a:srgbClr val="5A5A5A"/>
                </a:solidFill>
              </a:rPr>
              <a:t>plêit</a:t>
            </a:r>
            <a:r>
              <a:rPr sz="1300" b="0" i="0" dirty="0">
                <a:solidFill>
                  <a:srgbClr val="5A5A5A"/>
                </a:solidFill>
              </a:rPr>
              <a:t>   ·   guarantee = </a:t>
            </a:r>
            <a:r>
              <a:rPr sz="1300" b="0" i="0" dirty="0" err="1">
                <a:solidFill>
                  <a:srgbClr val="5A5A5A"/>
                </a:solidFill>
              </a:rPr>
              <a:t>ga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rừn</a:t>
            </a:r>
            <a:r>
              <a:rPr sz="1300" b="0" i="0" dirty="0">
                <a:solidFill>
                  <a:srgbClr val="5A5A5A"/>
                </a:solidFill>
              </a:rPr>
              <a:t>-TI   ·   attention = ơ-TEN-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endParaRPr sz="1300" b="0" i="0" dirty="0">
              <a:solidFill>
                <a:srgbClr val="5A5A5A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 dirty="0">
                <a:solidFill>
                  <a:srgbClr val="1F3864"/>
                </a:solidFill>
              </a:rPr>
              <a:t>SLIDE 11  ·  Hai </a:t>
            </a:r>
            <a:r>
              <a:rPr sz="1400" b="1" i="0" dirty="0" err="1">
                <a:solidFill>
                  <a:srgbClr val="1F3864"/>
                </a:solidFill>
              </a:rPr>
              <a:t>điều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rút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ra</a:t>
            </a:r>
            <a:r>
              <a:rPr sz="1400" b="1" i="0" dirty="0">
                <a:solidFill>
                  <a:srgbClr val="1F3864"/>
                </a:solidFill>
              </a:rPr>
              <a:t>  ·  1,2 </a:t>
            </a:r>
            <a:r>
              <a:rPr sz="1400" b="1" i="0" dirty="0" err="1">
                <a:solidFill>
                  <a:srgbClr val="1F3864"/>
                </a:solidFill>
              </a:rPr>
              <a:t>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 dirty="0">
                <a:solidFill>
                  <a:srgbClr val="1F3864"/>
                </a:solidFill>
              </a:rPr>
              <a:t>ĐỌC NGUYÊN VĂN  (</a:t>
            </a:r>
            <a:r>
              <a:rPr sz="1300" b="1" i="0" dirty="0" err="1">
                <a:solidFill>
                  <a:srgbClr val="1F3864"/>
                </a:solidFill>
              </a:rPr>
              <a:t>câu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màu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xám</a:t>
            </a:r>
            <a:r>
              <a:rPr sz="1300" b="1" i="0" dirty="0">
                <a:solidFill>
                  <a:srgbClr val="1F3864"/>
                </a:solidFill>
              </a:rPr>
              <a:t>: </a:t>
            </a:r>
            <a:r>
              <a:rPr sz="1300" b="1" i="0" dirty="0" err="1">
                <a:solidFill>
                  <a:srgbClr val="1F3864"/>
                </a:solidFill>
              </a:rPr>
              <a:t>bỏ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được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nếu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thiếu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giờ</a:t>
            </a:r>
            <a:r>
              <a:rPr sz="1300" b="1" i="0" dirty="0">
                <a:solidFill>
                  <a:srgbClr val="1F3864"/>
                </a:solidFill>
              </a:rPr>
              <a:t>)</a:t>
            </a:r>
          </a:p>
          <a:p>
            <a:r>
              <a:rPr sz="2000" b="1" i="0" dirty="0">
                <a:solidFill>
                  <a:srgbClr val="5A5A5A"/>
                </a:solidFill>
              </a:rPr>
              <a:t>Two observations from this work.</a:t>
            </a:r>
          </a:p>
          <a:p>
            <a:r>
              <a:rPr sz="2000" b="1" i="0" dirty="0"/>
              <a:t>First, false reassurance deserves its own metric.</a:t>
            </a:r>
          </a:p>
          <a:p>
            <a:r>
              <a:rPr sz="2000" b="1" i="0" dirty="0">
                <a:solidFill>
                  <a:srgbClr val="5A5A5A"/>
                </a:solidFill>
              </a:rPr>
              <a:t>Current evaluations report readability, and factual accuracy.</a:t>
            </a:r>
          </a:p>
          <a:p>
            <a:r>
              <a:rPr sz="2000" b="1" i="0" dirty="0"/>
              <a:t>But a falsely reassuring sentence can score high on readability, because it is simple and calming.</a:t>
            </a:r>
          </a:p>
          <a:p>
            <a:r>
              <a:rPr sz="2000" b="1" i="0" dirty="0"/>
              <a:t>The harm is that it stops the reader from seeking care.</a:t>
            </a:r>
          </a:p>
          <a:p>
            <a:r>
              <a:rPr sz="2000" b="1" i="0" dirty="0"/>
              <a:t>Second, unit </a:t>
            </a:r>
            <a:r>
              <a:rPr sz="2000" b="1" i="0" dirty="0" err="1"/>
              <a:t>standardisation</a:t>
            </a:r>
            <a:r>
              <a:rPr sz="2000" b="1" i="0" dirty="0"/>
              <a:t> is a safety precondition.</a:t>
            </a:r>
          </a:p>
          <a:p>
            <a:r>
              <a:rPr sz="2000" b="1" i="0" dirty="0"/>
              <a:t>Our unit error happened inside the rule layer. The layer we treat as exact.</a:t>
            </a:r>
          </a:p>
          <a:p>
            <a:r>
              <a:rPr sz="2000" b="1" i="0" dirty="0"/>
              <a:t>No later check can detect it, because every later layer repeats a confidently wrong label.</a:t>
            </a:r>
          </a:p>
          <a:p>
            <a:r>
              <a:rPr sz="2000" b="1" i="0" dirty="0"/>
              <a:t>So standards, like LOINC and HL7 FHIR, are needed, before we build rule-based clinical logic.</a:t>
            </a:r>
          </a:p>
          <a:p>
            <a:pPr>
              <a:spcBef>
                <a:spcPts val="1200"/>
              </a:spcBef>
            </a:pPr>
            <a:r>
              <a:rPr sz="13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 dirty="0">
                <a:solidFill>
                  <a:srgbClr val="5A5A5A"/>
                </a:solidFill>
              </a:rPr>
              <a:t>Hai </a:t>
            </a:r>
            <a:r>
              <a:rPr sz="1400" b="0" i="1" dirty="0" err="1">
                <a:solidFill>
                  <a:srgbClr val="5A5A5A"/>
                </a:solidFill>
              </a:rPr>
              <a:t>điều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rút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từ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cứu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này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Thứ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nhất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trấn</a:t>
            </a:r>
            <a:r>
              <a:rPr sz="1400" b="0" i="1" dirty="0">
                <a:solidFill>
                  <a:srgbClr val="5A5A5A"/>
                </a:solidFill>
              </a:rPr>
              <a:t> an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xứng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đáng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chỉ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số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riêng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Các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đánh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hiện</a:t>
            </a:r>
            <a:r>
              <a:rPr sz="1400" b="0" i="1" dirty="0">
                <a:solidFill>
                  <a:srgbClr val="5A5A5A"/>
                </a:solidFill>
              </a:rPr>
              <a:t> nay </a:t>
            </a:r>
            <a:r>
              <a:rPr sz="1400" b="0" i="1" dirty="0" err="1">
                <a:solidFill>
                  <a:srgbClr val="5A5A5A"/>
                </a:solidFill>
              </a:rPr>
              <a:t>báo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cáo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độ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dễ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đọc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độ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chính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thông</a:t>
            </a:r>
            <a:r>
              <a:rPr sz="1400" b="0" i="1" dirty="0">
                <a:solidFill>
                  <a:srgbClr val="5A5A5A"/>
                </a:solidFill>
              </a:rPr>
              <a:t> tin.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Nhưng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trấn</a:t>
            </a:r>
            <a:r>
              <a:rPr sz="1400" b="0" i="1" dirty="0">
                <a:solidFill>
                  <a:srgbClr val="5A5A5A"/>
                </a:solidFill>
              </a:rPr>
              <a:t> an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vẫn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thể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được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chấm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dễ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đọc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điểm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cao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vì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giản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êm</a:t>
            </a:r>
            <a:r>
              <a:rPr sz="1400" b="0" i="1" dirty="0">
                <a:solidFill>
                  <a:srgbClr val="5A5A5A"/>
                </a:solidFill>
              </a:rPr>
              <a:t> tai.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Cái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hại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khiến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đọc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khám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Thứ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hai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chuẩn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hóa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điều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kiện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cần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an </a:t>
            </a:r>
            <a:r>
              <a:rPr sz="1400" b="0" i="1" dirty="0" err="1">
                <a:solidFill>
                  <a:srgbClr val="5A5A5A"/>
                </a:solidFill>
              </a:rPr>
              <a:t>toàn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Lỗi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của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chúng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xảy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ra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ngay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trong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luật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chúng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coi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chính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tuyệt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đối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Các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bước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sau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phát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hiện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được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vì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tầng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nào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cũng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chép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lại</a:t>
            </a:r>
            <a:r>
              <a:rPr sz="1400" b="0" i="1" dirty="0">
                <a:solidFill>
                  <a:srgbClr val="5A5A5A"/>
                </a:solidFill>
              </a:rPr>
              <a:t> y </a:t>
            </a:r>
            <a:r>
              <a:rPr sz="1400" b="0" i="1" dirty="0" err="1">
                <a:solidFill>
                  <a:srgbClr val="5A5A5A"/>
                </a:solidFill>
              </a:rPr>
              <a:t>nguyên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nhãn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cần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các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chuẩn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như</a:t>
            </a:r>
            <a:r>
              <a:rPr sz="1400" b="0" i="1" dirty="0">
                <a:solidFill>
                  <a:srgbClr val="5A5A5A"/>
                </a:solidFill>
              </a:rPr>
              <a:t> LOINC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HL7 FHIR, </a:t>
            </a:r>
            <a:r>
              <a:rPr sz="1400" b="0" i="1" dirty="0" err="1">
                <a:solidFill>
                  <a:srgbClr val="5A5A5A"/>
                </a:solidFill>
              </a:rPr>
              <a:t>trước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xây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dựng</a:t>
            </a:r>
            <a:r>
              <a:rPr sz="1400" b="0" i="1" dirty="0">
                <a:solidFill>
                  <a:srgbClr val="5A5A5A"/>
                </a:solidFill>
              </a:rPr>
              <a:t> logic </a:t>
            </a:r>
            <a:r>
              <a:rPr sz="1400" b="0" i="1" dirty="0" err="1">
                <a:solidFill>
                  <a:srgbClr val="5A5A5A"/>
                </a:solidFill>
              </a:rPr>
              <a:t>lâm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sàng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bằng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tắc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300" b="0" i="0" dirty="0" err="1">
                <a:solidFill>
                  <a:srgbClr val="5A5A5A"/>
                </a:solidFill>
              </a:rPr>
              <a:t>Từ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khó</a:t>
            </a:r>
            <a:r>
              <a:rPr sz="1300" b="0" i="0" dirty="0">
                <a:solidFill>
                  <a:srgbClr val="5A5A5A"/>
                </a:solidFill>
              </a:rPr>
              <a:t>:  reassurance = </a:t>
            </a:r>
            <a:r>
              <a:rPr sz="1300" b="0" i="0" dirty="0" err="1">
                <a:solidFill>
                  <a:srgbClr val="5A5A5A"/>
                </a:solidFill>
              </a:rPr>
              <a:t>ri</a:t>
            </a:r>
            <a:r>
              <a:rPr sz="1300" b="0" i="0" dirty="0">
                <a:solidFill>
                  <a:srgbClr val="5A5A5A"/>
                </a:solidFill>
              </a:rPr>
              <a:t>-ơ-SHUA-</a:t>
            </a:r>
            <a:r>
              <a:rPr sz="1300" b="0" i="0" dirty="0" err="1">
                <a:solidFill>
                  <a:srgbClr val="5A5A5A"/>
                </a:solidFill>
              </a:rPr>
              <a:t>rừns</a:t>
            </a:r>
            <a:r>
              <a:rPr sz="1300" b="0" i="0" dirty="0">
                <a:solidFill>
                  <a:srgbClr val="5A5A5A"/>
                </a:solidFill>
              </a:rPr>
              <a:t>   ·   false reassurance = </a:t>
            </a:r>
            <a:r>
              <a:rPr sz="1300" b="0" i="0" dirty="0" err="1">
                <a:solidFill>
                  <a:srgbClr val="5A5A5A"/>
                </a:solidFill>
              </a:rPr>
              <a:t>phôls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ri</a:t>
            </a:r>
            <a:r>
              <a:rPr sz="1300" b="0" i="0" dirty="0">
                <a:solidFill>
                  <a:srgbClr val="5A5A5A"/>
                </a:solidFill>
              </a:rPr>
              <a:t>-ơ-SHUA-</a:t>
            </a:r>
            <a:r>
              <a:rPr sz="1300" b="0" i="0" dirty="0" err="1">
                <a:solidFill>
                  <a:srgbClr val="5A5A5A"/>
                </a:solidFill>
              </a:rPr>
              <a:t>rừns</a:t>
            </a:r>
            <a:r>
              <a:rPr sz="1300" b="0" i="0" dirty="0">
                <a:solidFill>
                  <a:srgbClr val="5A5A5A"/>
                </a:solidFill>
              </a:rPr>
              <a:t>   ·   </a:t>
            </a:r>
            <a:r>
              <a:rPr sz="1300" b="0" i="0" dirty="0" err="1">
                <a:solidFill>
                  <a:srgbClr val="5A5A5A"/>
                </a:solidFill>
              </a:rPr>
              <a:t>standardisation</a:t>
            </a:r>
            <a:r>
              <a:rPr sz="1300" b="0" i="0" dirty="0">
                <a:solidFill>
                  <a:srgbClr val="5A5A5A"/>
                </a:solidFill>
              </a:rPr>
              <a:t> = </a:t>
            </a:r>
            <a:r>
              <a:rPr sz="1300" b="0" i="0" dirty="0" err="1">
                <a:solidFill>
                  <a:srgbClr val="5A5A5A"/>
                </a:solidFill>
              </a:rPr>
              <a:t>xtan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đơ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đai</a:t>
            </a:r>
            <a:r>
              <a:rPr sz="1300" b="0" i="0" dirty="0">
                <a:solidFill>
                  <a:srgbClr val="5A5A5A"/>
                </a:solidFill>
              </a:rPr>
              <a:t>-ZÂY-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r>
              <a:rPr sz="1300" b="0" i="0" dirty="0">
                <a:solidFill>
                  <a:srgbClr val="5A5A5A"/>
                </a:solidFill>
              </a:rPr>
              <a:t>   ·   precondition = </a:t>
            </a:r>
            <a:r>
              <a:rPr sz="1300" b="0" i="0" dirty="0" err="1">
                <a:solidFill>
                  <a:srgbClr val="5A5A5A"/>
                </a:solidFill>
              </a:rPr>
              <a:t>pri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cừn</a:t>
            </a:r>
            <a:r>
              <a:rPr sz="1300" b="0" i="0" dirty="0">
                <a:solidFill>
                  <a:srgbClr val="5A5A5A"/>
                </a:solidFill>
              </a:rPr>
              <a:t>-ĐI-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r>
              <a:rPr sz="1300" b="0" i="0" dirty="0">
                <a:solidFill>
                  <a:srgbClr val="5A5A5A"/>
                </a:solidFill>
              </a:rPr>
              <a:t>   ·   readability = </a:t>
            </a:r>
            <a:r>
              <a:rPr sz="1300" b="0" i="0" dirty="0" err="1">
                <a:solidFill>
                  <a:srgbClr val="5A5A5A"/>
                </a:solidFill>
              </a:rPr>
              <a:t>ri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đơ</a:t>
            </a:r>
            <a:r>
              <a:rPr sz="1300" b="0" i="0" dirty="0">
                <a:solidFill>
                  <a:srgbClr val="5A5A5A"/>
                </a:solidFill>
              </a:rPr>
              <a:t>-BI-</a:t>
            </a:r>
            <a:r>
              <a:rPr sz="1300" b="0" i="0" dirty="0" err="1">
                <a:solidFill>
                  <a:srgbClr val="5A5A5A"/>
                </a:solidFill>
              </a:rPr>
              <a:t>lơ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ti</a:t>
            </a:r>
            <a:r>
              <a:rPr sz="1300" b="0" i="0" dirty="0">
                <a:solidFill>
                  <a:srgbClr val="5A5A5A"/>
                </a:solidFill>
              </a:rPr>
              <a:t>   ·   metric = ME-</a:t>
            </a:r>
            <a:r>
              <a:rPr sz="1300" b="0" i="0" dirty="0" err="1">
                <a:solidFill>
                  <a:srgbClr val="5A5A5A"/>
                </a:solidFill>
              </a:rPr>
              <a:t>tric</a:t>
            </a:r>
            <a:r>
              <a:rPr sz="1300" b="0" i="0" dirty="0">
                <a:solidFill>
                  <a:srgbClr val="5A5A5A"/>
                </a:solidFill>
              </a:rPr>
              <a:t>   ·   clinical = CLI-</a:t>
            </a:r>
            <a:r>
              <a:rPr sz="1300" b="0" i="0" dirty="0" err="1">
                <a:solidFill>
                  <a:srgbClr val="5A5A5A"/>
                </a:solidFill>
              </a:rPr>
              <a:t>ni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cồ</a:t>
            </a:r>
            <a:endParaRPr sz="1300" b="0" i="0" dirty="0">
              <a:solidFill>
                <a:srgbClr val="5A5A5A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>
                <a:solidFill>
                  <a:srgbClr val="1F3864"/>
                </a:solidFill>
              </a:rPr>
              <a:t>SLIDE 12  ·  Hạn chế  ·  55 giây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1F3864"/>
                </a:solidFill>
              </a:rPr>
              <a:t>ĐỌC NGUYÊN VĂN  (câu màu xám: bỏ được nếu thiếu giờ)</a:t>
            </a:r>
          </a:p>
          <a:p>
            <a:r>
              <a:rPr sz="2000" b="1" i="0">
                <a:solidFill>
                  <a:srgbClr val="5A5A5A"/>
                </a:solidFill>
              </a:rPr>
              <a:t>Now the limitations. I want to state them clearly.</a:t>
            </a:r>
          </a:p>
          <a:p>
            <a:r>
              <a:rPr sz="2000" b="1" i="0"/>
              <a:t>First, no clinical validation. All our evaluation is automated.</a:t>
            </a:r>
          </a:p>
          <a:p>
            <a:r>
              <a:rPr sz="2000" b="1" i="0">
                <a:solidFill>
                  <a:srgbClr val="5A5A5A"/>
                </a:solidFill>
              </a:rPr>
              <a:t>No medical professional has reviewed the explanations.</a:t>
            </a:r>
          </a:p>
          <a:p>
            <a:r>
              <a:rPr sz="2000" b="1" i="0"/>
              <a:t>Second, our severity thresholds are heuristic. They do not come from a laboratory critical value list.</a:t>
            </a:r>
          </a:p>
          <a:p>
            <a:r>
              <a:rPr sz="2000" b="1" i="0"/>
              <a:t>Third, the data is synthetic. Real reports have noise, missing fields, and different formats.</a:t>
            </a:r>
          </a:p>
          <a:p>
            <a:r>
              <a:rPr sz="2000" b="1" i="0"/>
              <a:t>Fourth, the scope is narrow. We support the complete blood count only.</a:t>
            </a:r>
          </a:p>
          <a:p>
            <a:r>
              <a:rPr sz="2000" b="1" i="0"/>
              <a:t>No biochemistry, no qualitative results, and no image input.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>
                <a:solidFill>
                  <a:srgbClr val="5A5A5A"/>
                </a:solidFill>
              </a:rPr>
              <a:t>Giờ tới phần hạn chế. Tôi xin nói thẳng.</a:t>
            </a:r>
          </a:p>
          <a:p>
            <a:r>
              <a:rPr sz="1400" b="0" i="1">
                <a:solidFill>
                  <a:srgbClr val="5A5A5A"/>
                </a:solidFill>
              </a:rPr>
              <a:t>Thứ nhất, chưa có kiểm chứng lâm sàng. Toàn bộ đánh giá do máy làm.</a:t>
            </a:r>
          </a:p>
          <a:p>
            <a:r>
              <a:rPr sz="1400" b="0" i="1">
                <a:solidFill>
                  <a:srgbClr val="5A5A5A"/>
                </a:solidFill>
              </a:rPr>
              <a:t>Chưa có người trong ngành y đọc lại các câu giải thích.</a:t>
            </a:r>
          </a:p>
          <a:p>
            <a:r>
              <a:rPr sz="1400" b="0" i="1">
                <a:solidFill>
                  <a:srgbClr val="5A5A5A"/>
                </a:solidFill>
              </a:rPr>
              <a:t>Thứ hai, ngưỡng nặng nhẹ là tự đặt. Chưa lấy từ danh mục giá trị nguy hiểm của phòng xét nghiệm.</a:t>
            </a:r>
          </a:p>
          <a:p>
            <a:r>
              <a:rPr sz="1400" b="0" i="1">
                <a:solidFill>
                  <a:srgbClr val="5A5A5A"/>
                </a:solidFill>
              </a:rPr>
              <a:t>Thứ ba, dữ liệu là tự tạo. Phiếu thật có nhiễu, có ô trống, và trình bày khác nhau.</a:t>
            </a:r>
          </a:p>
          <a:p>
            <a:r>
              <a:rPr sz="1400" b="0" i="1">
                <a:solidFill>
                  <a:srgbClr val="5A5A5A"/>
                </a:solidFill>
              </a:rPr>
              <a:t>Thứ tư, phạm vi còn hẹp. Chúng tôi mới làm được công thức máu.</a:t>
            </a:r>
          </a:p>
          <a:p>
            <a:r>
              <a:rPr sz="1400" b="0" i="1">
                <a:solidFill>
                  <a:srgbClr val="5A5A5A"/>
                </a:solidFill>
              </a:rPr>
              <a:t>Chưa có sinh hóa, chưa có kết quả âm tính dương tính, và chưa đọc được ảnh chụp.</a:t>
            </a:r>
          </a:p>
          <a:p>
            <a:pPr>
              <a:spcBef>
                <a:spcPts val="1000"/>
              </a:spcBef>
            </a:pPr>
            <a:r>
              <a:rPr sz="1300" b="0" i="0">
                <a:solidFill>
                  <a:srgbClr val="5A5A5A"/>
                </a:solidFill>
              </a:rPr>
              <a:t>Từ khó:  laboratory = lơ-BO-rơ-tơ-ri   ·   validation = va-li-ĐÂY-shừn   ·   threshold = THRESH-hôld   ·   heuristic = hiu-RIT-xtic   ·   synthetic = xin-THE-tic   ·   severity = xi-VE-rơ-ti   ·   limitation = li-mi-TÂY-shừn   ·   clinical = CLI-ni-cồ   ·   biochemistry = bai-ô-KE-mịt-tri   ·   qualitative = QUO-li-tơ-tịv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 dirty="0">
                <a:solidFill>
                  <a:srgbClr val="1F3864"/>
                </a:solidFill>
              </a:rPr>
              <a:t>SLIDE 13  ·  </a:t>
            </a:r>
            <a:r>
              <a:rPr sz="1400" b="1" i="0" dirty="0" err="1">
                <a:solidFill>
                  <a:srgbClr val="1F3864"/>
                </a:solidFill>
              </a:rPr>
              <a:t>Kết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luận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và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việc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làm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tiếp</a:t>
            </a:r>
            <a:r>
              <a:rPr sz="1400" b="1" i="0" dirty="0">
                <a:solidFill>
                  <a:srgbClr val="1F3864"/>
                </a:solidFill>
              </a:rPr>
              <a:t>  ·  1 </a:t>
            </a:r>
            <a:r>
              <a:rPr sz="1400" b="1" i="0" dirty="0" err="1">
                <a:solidFill>
                  <a:srgbClr val="1F3864"/>
                </a:solidFill>
              </a:rPr>
              <a:t>phút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 dirty="0">
                <a:solidFill>
                  <a:srgbClr val="1F3864"/>
                </a:solidFill>
              </a:rPr>
              <a:t>ĐỌC NGUYÊN VĂN  (</a:t>
            </a:r>
            <a:r>
              <a:rPr sz="1300" b="1" i="0" dirty="0" err="1">
                <a:solidFill>
                  <a:srgbClr val="1F3864"/>
                </a:solidFill>
              </a:rPr>
              <a:t>câu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màu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xám</a:t>
            </a:r>
            <a:r>
              <a:rPr sz="1300" b="1" i="0" dirty="0">
                <a:solidFill>
                  <a:srgbClr val="1F3864"/>
                </a:solidFill>
              </a:rPr>
              <a:t>: </a:t>
            </a:r>
            <a:r>
              <a:rPr sz="1300" b="1" i="0" dirty="0" err="1">
                <a:solidFill>
                  <a:srgbClr val="1F3864"/>
                </a:solidFill>
              </a:rPr>
              <a:t>bỏ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được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nếu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thiếu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giờ</a:t>
            </a:r>
            <a:r>
              <a:rPr sz="1300" b="1" i="0" dirty="0">
                <a:solidFill>
                  <a:srgbClr val="1F3864"/>
                </a:solidFill>
              </a:rPr>
              <a:t>)</a:t>
            </a:r>
          </a:p>
          <a:p>
            <a:r>
              <a:rPr sz="2000" b="1" i="0" dirty="0"/>
              <a:t>In summary. The language model is not permitted to decide whether a value is abnormal.</a:t>
            </a:r>
          </a:p>
          <a:p>
            <a:r>
              <a:rPr sz="2000" b="1" i="0" dirty="0"/>
              <a:t>Rules decide first. The model paraphrases. Then the validator checks one against the other.</a:t>
            </a:r>
          </a:p>
          <a:p>
            <a:r>
              <a:rPr sz="2000" b="1" i="0" dirty="0"/>
              <a:t>False reassurance went from thirty-two percent, to zero. Safe output is one hundred percent. And the system needs no GPU.</a:t>
            </a:r>
          </a:p>
          <a:p>
            <a:r>
              <a:rPr sz="2000" b="1" i="0" dirty="0">
                <a:solidFill>
                  <a:srgbClr val="5A5A5A"/>
                </a:solidFill>
              </a:rPr>
              <a:t>For future work, in order of importance.</a:t>
            </a:r>
          </a:p>
          <a:p>
            <a:r>
              <a:rPr sz="2000" b="1" i="0" dirty="0"/>
              <a:t>Clinical review by medical professionals. This is the most pressing.</a:t>
            </a:r>
          </a:p>
          <a:p>
            <a:r>
              <a:rPr sz="2000" b="1" i="0" dirty="0"/>
              <a:t>Then, replacing our heuristic thresholds, with a real critical value list.</a:t>
            </a:r>
          </a:p>
          <a:p>
            <a:r>
              <a:rPr sz="2000" b="1" i="0" dirty="0">
                <a:solidFill>
                  <a:srgbClr val="5A5A5A"/>
                </a:solidFill>
              </a:rPr>
              <a:t>Then, biochemistry and qualitative results.</a:t>
            </a:r>
          </a:p>
          <a:p>
            <a:r>
              <a:rPr sz="2000" b="1" i="0" dirty="0">
                <a:solidFill>
                  <a:srgbClr val="5A5A5A"/>
                </a:solidFill>
              </a:rPr>
              <a:t>A speech output layer, for elderly and low-literacy patients.</a:t>
            </a:r>
          </a:p>
          <a:p>
            <a:r>
              <a:rPr sz="2000" b="1" i="0" dirty="0"/>
              <a:t>And evaluation on real reports, from several laboratories.</a:t>
            </a:r>
          </a:p>
          <a:p>
            <a:pPr>
              <a:spcBef>
                <a:spcPts val="1200"/>
              </a:spcBef>
            </a:pPr>
            <a:r>
              <a:rPr sz="13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Tóm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lại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ngôn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ngữ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được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quyết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định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một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có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bất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thường</a:t>
            </a:r>
            <a:r>
              <a:rPr sz="1400" b="0" i="1" dirty="0">
                <a:solidFill>
                  <a:srgbClr val="5A5A5A"/>
                </a:solidFill>
              </a:rPr>
              <a:t> hay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Luật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quyết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định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trước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Mô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hình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lại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Rồi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bộ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kiểm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chứng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đối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bên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Trấn</a:t>
            </a:r>
            <a:r>
              <a:rPr sz="1400" b="0" i="1" dirty="0">
                <a:solidFill>
                  <a:srgbClr val="5A5A5A"/>
                </a:solidFill>
              </a:rPr>
              <a:t> an </a:t>
            </a:r>
            <a:r>
              <a:rPr sz="1400" b="0" i="1" dirty="0" err="1">
                <a:solidFill>
                  <a:srgbClr val="5A5A5A"/>
                </a:solidFill>
              </a:rPr>
              <a:t>sai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từ</a:t>
            </a:r>
            <a:r>
              <a:rPr sz="1400" b="0" i="1" dirty="0">
                <a:solidFill>
                  <a:srgbClr val="5A5A5A"/>
                </a:solidFill>
              </a:rPr>
              <a:t> 32% </a:t>
            </a:r>
            <a:r>
              <a:rPr sz="1400" b="0" i="1" dirty="0" err="1">
                <a:solidFill>
                  <a:srgbClr val="5A5A5A"/>
                </a:solidFill>
              </a:rPr>
              <a:t>về</a:t>
            </a:r>
            <a:r>
              <a:rPr sz="1400" b="0" i="1" dirty="0">
                <a:solidFill>
                  <a:srgbClr val="5A5A5A"/>
                </a:solidFill>
              </a:rPr>
              <a:t> 0. </a:t>
            </a:r>
            <a:r>
              <a:rPr sz="1400" b="0" i="1" dirty="0" err="1">
                <a:solidFill>
                  <a:srgbClr val="5A5A5A"/>
                </a:solidFill>
              </a:rPr>
              <a:t>Kết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quả</a:t>
            </a:r>
            <a:r>
              <a:rPr sz="1400" b="0" i="1" dirty="0">
                <a:solidFill>
                  <a:srgbClr val="5A5A5A"/>
                </a:solidFill>
              </a:rPr>
              <a:t> an </a:t>
            </a:r>
            <a:r>
              <a:rPr sz="1400" b="0" i="1" dirty="0" err="1">
                <a:solidFill>
                  <a:srgbClr val="5A5A5A"/>
                </a:solidFill>
              </a:rPr>
              <a:t>toàn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đạt</a:t>
            </a:r>
            <a:r>
              <a:rPr sz="1400" b="0" i="1" dirty="0">
                <a:solidFill>
                  <a:srgbClr val="5A5A5A"/>
                </a:solidFill>
              </a:rPr>
              <a:t> 100%.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hệ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thống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không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cần</a:t>
            </a:r>
            <a:r>
              <a:rPr sz="1400" b="0" i="1" dirty="0">
                <a:solidFill>
                  <a:srgbClr val="5A5A5A"/>
                </a:solidFill>
              </a:rPr>
              <a:t> card </a:t>
            </a:r>
            <a:r>
              <a:rPr sz="1400" b="0" i="1" dirty="0" err="1">
                <a:solidFill>
                  <a:srgbClr val="5A5A5A"/>
                </a:solidFill>
              </a:rPr>
              <a:t>đồ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họa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Việc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tiếp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theo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thứ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tự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quan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trọng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Nhờ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trong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ngành</a:t>
            </a:r>
            <a:r>
              <a:rPr sz="1400" b="0" i="1" dirty="0">
                <a:solidFill>
                  <a:srgbClr val="5A5A5A"/>
                </a:solidFill>
              </a:rPr>
              <a:t> y </a:t>
            </a:r>
            <a:r>
              <a:rPr sz="1400" b="0" i="1" dirty="0" err="1">
                <a:solidFill>
                  <a:srgbClr val="5A5A5A"/>
                </a:solidFill>
              </a:rPr>
              <a:t>kiểm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lại</a:t>
            </a:r>
            <a:r>
              <a:rPr sz="1400" b="0" i="1" dirty="0">
                <a:solidFill>
                  <a:srgbClr val="5A5A5A"/>
                </a:solidFill>
              </a:rPr>
              <a:t>. </a:t>
            </a:r>
            <a:r>
              <a:rPr sz="1400" b="0" i="1" dirty="0" err="1">
                <a:solidFill>
                  <a:srgbClr val="5A5A5A"/>
                </a:solidFill>
              </a:rPr>
              <a:t>Đây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việc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cấp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thiết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nhất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Sau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đó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thay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ngưỡng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tự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đặt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bằng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danh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mục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giá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nguy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hiểm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thật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Rồi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sinh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hóa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kết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âm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tính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dương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tính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Thêm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phần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đọc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thành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tiếng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cho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già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người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đọc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kém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thử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nghiệm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trên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phiếu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thật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từ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nhiều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phòng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xét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nghiệm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300" b="0" i="0" dirty="0" err="1">
                <a:solidFill>
                  <a:srgbClr val="5A5A5A"/>
                </a:solidFill>
              </a:rPr>
              <a:t>Từ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khó</a:t>
            </a:r>
            <a:r>
              <a:rPr sz="1300" b="0" i="0" dirty="0">
                <a:solidFill>
                  <a:srgbClr val="5A5A5A"/>
                </a:solidFill>
              </a:rPr>
              <a:t>:  patient = PÂY-</a:t>
            </a:r>
            <a:r>
              <a:rPr sz="1300" b="0" i="0" dirty="0" err="1">
                <a:solidFill>
                  <a:srgbClr val="5A5A5A"/>
                </a:solidFill>
              </a:rPr>
              <a:t>shừnt</a:t>
            </a:r>
            <a:r>
              <a:rPr sz="1300" b="0" i="0" dirty="0">
                <a:solidFill>
                  <a:srgbClr val="5A5A5A"/>
                </a:solidFill>
              </a:rPr>
              <a:t>   ·   abnormal = ab-NOO-</a:t>
            </a:r>
            <a:r>
              <a:rPr sz="1300" b="0" i="0" dirty="0" err="1">
                <a:solidFill>
                  <a:srgbClr val="5A5A5A"/>
                </a:solidFill>
              </a:rPr>
              <a:t>mồ</a:t>
            </a:r>
            <a:r>
              <a:rPr sz="1300" b="0" i="0" dirty="0">
                <a:solidFill>
                  <a:srgbClr val="5A5A5A"/>
                </a:solidFill>
              </a:rPr>
              <a:t>   ·   reassurance = </a:t>
            </a:r>
            <a:r>
              <a:rPr sz="1300" b="0" i="0" dirty="0" err="1">
                <a:solidFill>
                  <a:srgbClr val="5A5A5A"/>
                </a:solidFill>
              </a:rPr>
              <a:t>ri</a:t>
            </a:r>
            <a:r>
              <a:rPr sz="1300" b="0" i="0" dirty="0">
                <a:solidFill>
                  <a:srgbClr val="5A5A5A"/>
                </a:solidFill>
              </a:rPr>
              <a:t>-ơ-SHUA-</a:t>
            </a:r>
            <a:r>
              <a:rPr sz="1300" b="0" i="0" dirty="0" err="1">
                <a:solidFill>
                  <a:srgbClr val="5A5A5A"/>
                </a:solidFill>
              </a:rPr>
              <a:t>rừns</a:t>
            </a:r>
            <a:r>
              <a:rPr sz="1300" b="0" i="0" dirty="0">
                <a:solidFill>
                  <a:srgbClr val="5A5A5A"/>
                </a:solidFill>
              </a:rPr>
              <a:t>   ·   false reassurance = </a:t>
            </a:r>
            <a:r>
              <a:rPr sz="1300" b="0" i="0" dirty="0" err="1">
                <a:solidFill>
                  <a:srgbClr val="5A5A5A"/>
                </a:solidFill>
              </a:rPr>
              <a:t>phôls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ri</a:t>
            </a:r>
            <a:r>
              <a:rPr sz="1300" b="0" i="0" dirty="0">
                <a:solidFill>
                  <a:srgbClr val="5A5A5A"/>
                </a:solidFill>
              </a:rPr>
              <a:t>-ơ-SHUA-</a:t>
            </a:r>
            <a:r>
              <a:rPr sz="1300" b="0" i="0" dirty="0" err="1">
                <a:solidFill>
                  <a:srgbClr val="5A5A5A"/>
                </a:solidFill>
              </a:rPr>
              <a:t>rừns</a:t>
            </a:r>
            <a:r>
              <a:rPr sz="1300" b="0" i="0" dirty="0">
                <a:solidFill>
                  <a:srgbClr val="5A5A5A"/>
                </a:solidFill>
              </a:rPr>
              <a:t>   ·   validator = VA-li-</a:t>
            </a:r>
            <a:r>
              <a:rPr sz="1300" b="0" i="0" dirty="0" err="1">
                <a:solidFill>
                  <a:srgbClr val="5A5A5A"/>
                </a:solidFill>
              </a:rPr>
              <a:t>đây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tờ</a:t>
            </a:r>
            <a:r>
              <a:rPr sz="1300" b="0" i="0" dirty="0">
                <a:solidFill>
                  <a:srgbClr val="5A5A5A"/>
                </a:solidFill>
              </a:rPr>
              <a:t>   ·   threshold = THRESH-</a:t>
            </a:r>
            <a:r>
              <a:rPr sz="1300" b="0" i="0" dirty="0" err="1">
                <a:solidFill>
                  <a:srgbClr val="5A5A5A"/>
                </a:solidFill>
              </a:rPr>
              <a:t>hôld</a:t>
            </a:r>
            <a:r>
              <a:rPr sz="1300" b="0" i="0" dirty="0">
                <a:solidFill>
                  <a:srgbClr val="5A5A5A"/>
                </a:solidFill>
              </a:rPr>
              <a:t>   ·   heuristic = </a:t>
            </a:r>
            <a:r>
              <a:rPr sz="1300" b="0" i="0" dirty="0" err="1">
                <a:solidFill>
                  <a:srgbClr val="5A5A5A"/>
                </a:solidFill>
              </a:rPr>
              <a:t>hiu</a:t>
            </a:r>
            <a:r>
              <a:rPr sz="1300" b="0" i="0" dirty="0">
                <a:solidFill>
                  <a:srgbClr val="5A5A5A"/>
                </a:solidFill>
              </a:rPr>
              <a:t>-RIT-</a:t>
            </a:r>
            <a:r>
              <a:rPr sz="1300" b="0" i="0" dirty="0" err="1">
                <a:solidFill>
                  <a:srgbClr val="5A5A5A"/>
                </a:solidFill>
              </a:rPr>
              <a:t>xtic</a:t>
            </a:r>
            <a:r>
              <a:rPr sz="1300" b="0" i="0" dirty="0">
                <a:solidFill>
                  <a:srgbClr val="5A5A5A"/>
                </a:solidFill>
              </a:rPr>
              <a:t>   ·   literacy = LI-</a:t>
            </a:r>
            <a:r>
              <a:rPr sz="1300" b="0" i="0" dirty="0" err="1">
                <a:solidFill>
                  <a:srgbClr val="5A5A5A"/>
                </a:solidFill>
              </a:rPr>
              <a:t>tơ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rơ</a:t>
            </a:r>
            <a:r>
              <a:rPr sz="1300" b="0" i="0" dirty="0">
                <a:solidFill>
                  <a:srgbClr val="5A5A5A"/>
                </a:solidFill>
              </a:rPr>
              <a:t>-xi   ·   clinical = CLI-</a:t>
            </a:r>
            <a:r>
              <a:rPr sz="1300" b="0" i="0" dirty="0" err="1">
                <a:solidFill>
                  <a:srgbClr val="5A5A5A"/>
                </a:solidFill>
              </a:rPr>
              <a:t>ni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cồ</a:t>
            </a:r>
            <a:r>
              <a:rPr sz="1300" b="0" i="0" dirty="0">
                <a:solidFill>
                  <a:srgbClr val="5A5A5A"/>
                </a:solidFill>
              </a:rPr>
              <a:t>   ·   biochemistry = </a:t>
            </a:r>
            <a:r>
              <a:rPr sz="1300" b="0" i="0" dirty="0" err="1">
                <a:solidFill>
                  <a:srgbClr val="5A5A5A"/>
                </a:solidFill>
              </a:rPr>
              <a:t>bai</a:t>
            </a:r>
            <a:r>
              <a:rPr sz="1300" b="0" i="0" dirty="0">
                <a:solidFill>
                  <a:srgbClr val="5A5A5A"/>
                </a:solidFill>
              </a:rPr>
              <a:t>-ô-KE-</a:t>
            </a:r>
            <a:r>
              <a:rPr sz="1300" b="0" i="0" dirty="0" err="1">
                <a:solidFill>
                  <a:srgbClr val="5A5A5A"/>
                </a:solidFill>
              </a:rPr>
              <a:t>mịt</a:t>
            </a:r>
            <a:r>
              <a:rPr sz="1300" b="0" i="0" dirty="0">
                <a:solidFill>
                  <a:srgbClr val="5A5A5A"/>
                </a:solidFill>
              </a:rPr>
              <a:t>-tri   ·   qualitative = QUO-li-</a:t>
            </a:r>
            <a:r>
              <a:rPr sz="1300" b="0" i="0" dirty="0" err="1">
                <a:solidFill>
                  <a:srgbClr val="5A5A5A"/>
                </a:solidFill>
              </a:rPr>
              <a:t>tơ</a:t>
            </a:r>
            <a:r>
              <a:rPr sz="1300" b="0" i="0" dirty="0">
                <a:solidFill>
                  <a:srgbClr val="5A5A5A"/>
                </a:solidFill>
              </a:rPr>
              <a:t>-</a:t>
            </a:r>
            <a:r>
              <a:rPr sz="1300" b="0" i="0" dirty="0" err="1">
                <a:solidFill>
                  <a:srgbClr val="5A5A5A"/>
                </a:solidFill>
              </a:rPr>
              <a:t>tịv</a:t>
            </a:r>
            <a:endParaRPr sz="1300" b="0" i="0" dirty="0">
              <a:solidFill>
                <a:srgbClr val="5A5A5A"/>
              </a:solidFill>
            </a:endParaRPr>
          </a:p>
          <a:p>
            <a:pPr>
              <a:spcBef>
                <a:spcPts val="1000"/>
              </a:spcBef>
            </a:pPr>
            <a:r>
              <a:rPr sz="1400" b="1" i="0" dirty="0">
                <a:solidFill>
                  <a:srgbClr val="C62828"/>
                </a:solidFill>
              </a:rPr>
              <a:t>⚑ ĐỪNG BỎ </a:t>
            </a:r>
            <a:r>
              <a:rPr sz="1400" b="1" i="0" dirty="0" err="1">
                <a:solidFill>
                  <a:srgbClr val="C62828"/>
                </a:solidFill>
              </a:rPr>
              <a:t>hai</a:t>
            </a:r>
            <a:r>
              <a:rPr sz="1400" b="1" i="0" dirty="0">
                <a:solidFill>
                  <a:srgbClr val="C62828"/>
                </a:solidFill>
              </a:rPr>
              <a:t> </a:t>
            </a:r>
            <a:r>
              <a:rPr sz="1400" b="1" i="0" dirty="0" err="1">
                <a:solidFill>
                  <a:srgbClr val="C62828"/>
                </a:solidFill>
              </a:rPr>
              <a:t>câu</a:t>
            </a:r>
            <a:r>
              <a:rPr sz="1400" b="1" i="0" dirty="0">
                <a:solidFill>
                  <a:srgbClr val="C62828"/>
                </a:solidFill>
              </a:rPr>
              <a:t> 64% </a:t>
            </a:r>
            <a:r>
              <a:rPr sz="1400" b="1" i="0" dirty="0" err="1">
                <a:solidFill>
                  <a:srgbClr val="C62828"/>
                </a:solidFill>
              </a:rPr>
              <a:t>và</a:t>
            </a:r>
            <a:r>
              <a:rPr sz="1400" b="1" i="0" dirty="0">
                <a:solidFill>
                  <a:srgbClr val="C62828"/>
                </a:solidFill>
              </a:rPr>
              <a:t> 36%. </a:t>
            </a:r>
            <a:r>
              <a:rPr sz="1400" b="1" i="0" dirty="0" err="1">
                <a:solidFill>
                  <a:srgbClr val="C62828"/>
                </a:solidFill>
              </a:rPr>
              <a:t>Người</a:t>
            </a:r>
            <a:r>
              <a:rPr sz="1400" b="1" i="0" dirty="0">
                <a:solidFill>
                  <a:srgbClr val="C62828"/>
                </a:solidFill>
              </a:rPr>
              <a:t> </a:t>
            </a:r>
            <a:r>
              <a:rPr sz="1400" b="1" i="0" dirty="0" err="1">
                <a:solidFill>
                  <a:srgbClr val="C62828"/>
                </a:solidFill>
              </a:rPr>
              <a:t>phản</a:t>
            </a:r>
            <a:r>
              <a:rPr sz="1400" b="1" i="0" dirty="0">
                <a:solidFill>
                  <a:srgbClr val="C62828"/>
                </a:solidFill>
              </a:rPr>
              <a:t> </a:t>
            </a:r>
            <a:r>
              <a:rPr sz="1400" b="1" i="0" dirty="0" err="1">
                <a:solidFill>
                  <a:srgbClr val="C62828"/>
                </a:solidFill>
              </a:rPr>
              <a:t>biện</a:t>
            </a:r>
            <a:r>
              <a:rPr sz="1400" b="1" i="0" dirty="0">
                <a:solidFill>
                  <a:srgbClr val="C62828"/>
                </a:solidFill>
              </a:rPr>
              <a:t> hay </a:t>
            </a:r>
            <a:r>
              <a:rPr sz="1400" b="1" i="0" dirty="0" err="1">
                <a:solidFill>
                  <a:srgbClr val="C62828"/>
                </a:solidFill>
              </a:rPr>
              <a:t>hỏi</a:t>
            </a:r>
            <a:r>
              <a:rPr sz="1400" b="1" i="0" dirty="0">
                <a:solidFill>
                  <a:srgbClr val="C62828"/>
                </a:solidFill>
              </a:rPr>
              <a:t> </a:t>
            </a:r>
            <a:r>
              <a:rPr sz="1400" b="1" i="0" dirty="0" err="1">
                <a:solidFill>
                  <a:srgbClr val="C62828"/>
                </a:solidFill>
              </a:rPr>
              <a:t>chỗ</a:t>
            </a:r>
            <a:r>
              <a:rPr sz="1400" b="1" i="0" dirty="0">
                <a:solidFill>
                  <a:srgbClr val="C62828"/>
                </a:solidFill>
              </a:rPr>
              <a:t> </a:t>
            </a:r>
            <a:r>
              <a:rPr sz="1400" b="1" i="0" dirty="0" err="1">
                <a:solidFill>
                  <a:srgbClr val="C62828"/>
                </a:solidFill>
              </a:rPr>
              <a:t>này</a:t>
            </a:r>
            <a:r>
              <a:rPr sz="1400" b="1" i="0" dirty="0">
                <a:solidFill>
                  <a:srgbClr val="C62828"/>
                </a:solidFill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 i="0" dirty="0">
                <a:solidFill>
                  <a:srgbClr val="1F3864"/>
                </a:solidFill>
              </a:rPr>
              <a:t>SLIDE 14  ·  </a:t>
            </a:r>
            <a:r>
              <a:rPr sz="1400" b="1" i="0" dirty="0" err="1">
                <a:solidFill>
                  <a:srgbClr val="1F3864"/>
                </a:solidFill>
              </a:rPr>
              <a:t>Cảm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ơn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và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hỏi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đáp</a:t>
            </a:r>
            <a:r>
              <a:rPr sz="1400" b="1" i="0" dirty="0">
                <a:solidFill>
                  <a:srgbClr val="1F3864"/>
                </a:solidFill>
              </a:rPr>
              <a:t>  ·  </a:t>
            </a:r>
            <a:r>
              <a:rPr sz="1400" b="1" i="0" dirty="0" err="1">
                <a:solidFill>
                  <a:srgbClr val="1F3864"/>
                </a:solidFill>
              </a:rPr>
              <a:t>còn</a:t>
            </a:r>
            <a:r>
              <a:rPr sz="1400" b="1" i="0" dirty="0">
                <a:solidFill>
                  <a:srgbClr val="1F3864"/>
                </a:solidFill>
              </a:rPr>
              <a:t> </a:t>
            </a:r>
            <a:r>
              <a:rPr sz="1400" b="1" i="0" dirty="0" err="1">
                <a:solidFill>
                  <a:srgbClr val="1F3864"/>
                </a:solidFill>
              </a:rPr>
              <a:t>lại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sz="1300" b="1" i="0" dirty="0">
                <a:solidFill>
                  <a:srgbClr val="1F3864"/>
                </a:solidFill>
              </a:rPr>
              <a:t>ĐỌC NGUYÊN VĂN  (</a:t>
            </a:r>
            <a:r>
              <a:rPr sz="1300" b="1" i="0" dirty="0" err="1">
                <a:solidFill>
                  <a:srgbClr val="1F3864"/>
                </a:solidFill>
              </a:rPr>
              <a:t>câu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màu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xám</a:t>
            </a:r>
            <a:r>
              <a:rPr sz="1300" b="1" i="0" dirty="0">
                <a:solidFill>
                  <a:srgbClr val="1F3864"/>
                </a:solidFill>
              </a:rPr>
              <a:t>: </a:t>
            </a:r>
            <a:r>
              <a:rPr sz="1300" b="1" i="0" dirty="0" err="1">
                <a:solidFill>
                  <a:srgbClr val="1F3864"/>
                </a:solidFill>
              </a:rPr>
              <a:t>bỏ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được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nếu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thiếu</a:t>
            </a:r>
            <a:r>
              <a:rPr sz="1300" b="1" i="0" dirty="0">
                <a:solidFill>
                  <a:srgbClr val="1F3864"/>
                </a:solidFill>
              </a:rPr>
              <a:t> </a:t>
            </a:r>
            <a:r>
              <a:rPr sz="1300" b="1" i="0" dirty="0" err="1">
                <a:solidFill>
                  <a:srgbClr val="1F3864"/>
                </a:solidFill>
              </a:rPr>
              <a:t>giờ</a:t>
            </a:r>
            <a:r>
              <a:rPr sz="1300" b="1" i="0" dirty="0">
                <a:solidFill>
                  <a:srgbClr val="1F3864"/>
                </a:solidFill>
              </a:rPr>
              <a:t>)</a:t>
            </a:r>
          </a:p>
          <a:p>
            <a:r>
              <a:rPr sz="2000" b="1" i="0" dirty="0"/>
              <a:t>Thank you for your attention, and for staying until the end of the session.</a:t>
            </a:r>
          </a:p>
          <a:p>
            <a:r>
              <a:rPr sz="2000" b="1" i="0" dirty="0"/>
              <a:t>I am happy to take your questions.</a:t>
            </a:r>
          </a:p>
          <a:p>
            <a:pPr>
              <a:spcBef>
                <a:spcPts val="1200"/>
              </a:spcBef>
            </a:pPr>
            <a:r>
              <a:rPr sz="1300" b="1" i="0" dirty="0">
                <a:solidFill>
                  <a:srgbClr val="1F3864"/>
                </a:solidFill>
              </a:rPr>
              <a:t>NGHĨA TIẾNG VIỆT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Cảm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ơn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quý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đã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lắng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nghe</a:t>
            </a:r>
            <a:r>
              <a:rPr sz="1400" b="0" i="1" dirty="0">
                <a:solidFill>
                  <a:srgbClr val="5A5A5A"/>
                </a:solidFill>
              </a:rPr>
              <a:t>, </a:t>
            </a:r>
            <a:r>
              <a:rPr sz="1400" b="0" i="1" dirty="0" err="1">
                <a:solidFill>
                  <a:srgbClr val="5A5A5A"/>
                </a:solidFill>
              </a:rPr>
              <a:t>và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đã</a:t>
            </a:r>
            <a:r>
              <a:rPr sz="1400" b="0" i="1" dirty="0">
                <a:solidFill>
                  <a:srgbClr val="5A5A5A"/>
                </a:solidFill>
              </a:rPr>
              <a:t> ở </a:t>
            </a:r>
            <a:r>
              <a:rPr sz="1400" b="0" i="1" dirty="0" err="1">
                <a:solidFill>
                  <a:srgbClr val="5A5A5A"/>
                </a:solidFill>
              </a:rPr>
              <a:t>lại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tới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cuối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phiên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r>
              <a:rPr sz="1400" b="0" i="1" dirty="0" err="1">
                <a:solidFill>
                  <a:srgbClr val="5A5A5A"/>
                </a:solidFill>
              </a:rPr>
              <a:t>Tôi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sẵn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sàng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nhận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câu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hỏi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của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quý</a:t>
            </a:r>
            <a:r>
              <a:rPr sz="1400" b="0" i="1" dirty="0">
                <a:solidFill>
                  <a:srgbClr val="5A5A5A"/>
                </a:solidFill>
              </a:rPr>
              <a:t> </a:t>
            </a:r>
            <a:r>
              <a:rPr sz="1400" b="0" i="1" dirty="0" err="1">
                <a:solidFill>
                  <a:srgbClr val="5A5A5A"/>
                </a:solidFill>
              </a:rPr>
              <a:t>vị</a:t>
            </a:r>
            <a:r>
              <a:rPr sz="1400" b="0" i="1" dirty="0">
                <a:solidFill>
                  <a:srgbClr val="5A5A5A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sz="1300" b="0" i="0" dirty="0" err="1">
                <a:solidFill>
                  <a:srgbClr val="5A5A5A"/>
                </a:solidFill>
              </a:rPr>
              <a:t>Từ</a:t>
            </a:r>
            <a:r>
              <a:rPr sz="1300" b="0" i="0" dirty="0">
                <a:solidFill>
                  <a:srgbClr val="5A5A5A"/>
                </a:solidFill>
              </a:rPr>
              <a:t> </a:t>
            </a:r>
            <a:r>
              <a:rPr sz="1300" b="0" i="0" dirty="0" err="1">
                <a:solidFill>
                  <a:srgbClr val="5A5A5A"/>
                </a:solidFill>
              </a:rPr>
              <a:t>khó</a:t>
            </a:r>
            <a:r>
              <a:rPr sz="1300" b="0" i="0" dirty="0">
                <a:solidFill>
                  <a:srgbClr val="5A5A5A"/>
                </a:solidFill>
              </a:rPr>
              <a:t>:  attention = ơ-TEN-</a:t>
            </a:r>
            <a:r>
              <a:rPr sz="1300" b="0" i="0" dirty="0" err="1">
                <a:solidFill>
                  <a:srgbClr val="5A5A5A"/>
                </a:solidFill>
              </a:rPr>
              <a:t>shừn</a:t>
            </a:r>
            <a:endParaRPr sz="1300" b="0" i="0" dirty="0">
              <a:solidFill>
                <a:srgbClr val="5A5A5A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BDD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9539" y="609539"/>
            <a:ext cx="10972526" cy="4084259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Text 1"/>
          <p:cNvSpPr txBox="1"/>
          <p:nvPr/>
        </p:nvSpPr>
        <p:spPr>
          <a:xfrm>
            <a:off x="975299" y="1036290"/>
            <a:ext cx="10241006" cy="182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4000"/>
              </a:lnSpc>
              <a:buNone/>
            </a:pPr>
            <a:r>
              <a:rPr lang="en-US" sz="2933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Rule-Constrained Large Language Model Pipeline</a:t>
            </a:r>
            <a:endParaRPr lang="en-US" sz="2933" dirty="0"/>
          </a:p>
          <a:p>
            <a:pPr marL="0" indent="0" algn="ctr">
              <a:lnSpc>
                <a:spcPts val="4000"/>
              </a:lnSpc>
              <a:buNone/>
            </a:pPr>
            <a:r>
              <a:rPr lang="en-US" sz="2933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Patient-Friendly Interpretation</a:t>
            </a:r>
            <a:endParaRPr lang="en-US" sz="2933" dirty="0"/>
          </a:p>
          <a:p>
            <a:pPr marL="0" indent="0" algn="ctr">
              <a:lnSpc>
                <a:spcPts val="4000"/>
              </a:lnSpc>
              <a:buNone/>
            </a:pPr>
            <a:r>
              <a:rPr lang="en-US" sz="2933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Vietnamese Blood Test Results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4389029" y="3023555"/>
            <a:ext cx="3413638" cy="0"/>
          </a:xfrm>
          <a:prstGeom prst="line">
            <a:avLst/>
          </a:prstGeom>
          <a:noFill/>
          <a:ln w="25400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75299" y="3169859"/>
            <a:ext cx="102410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· Paper ID HI26-0013 · Oral Presentation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75299" y="3657509"/>
            <a:ext cx="102410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67" b="1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Truong Quang Dai¹ · Vo Hoang Khang¹</a:t>
            </a:r>
            <a:endParaRPr lang="en-US" sz="1867" dirty="0"/>
          </a:p>
        </p:txBody>
      </p:sp>
      <p:sp>
        <p:nvSpPr>
          <p:cNvPr id="8" name="Text 5"/>
          <p:cNvSpPr txBox="1"/>
          <p:nvPr/>
        </p:nvSpPr>
        <p:spPr>
          <a:xfrm>
            <a:off x="975299" y="4096421"/>
            <a:ext cx="102410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67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HUTECH University, Ho Chi Minh City</a:t>
            </a:r>
            <a:endParaRPr lang="en-US" sz="1467" dirty="0"/>
          </a:p>
        </p:txBody>
      </p:sp>
      <p:sp>
        <p:nvSpPr>
          <p:cNvPr id="9" name="Text 6"/>
          <p:cNvSpPr txBox="1"/>
          <p:nvPr/>
        </p:nvSpPr>
        <p:spPr>
          <a:xfrm>
            <a:off x="612648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67"/>
              </a:lnSpc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HEALTHINFO IV — 4th International Health Informatics Conference</a:t>
            </a:r>
            <a:endParaRPr lang="en-US" sz="1467" dirty="0"/>
          </a:p>
          <a:p>
            <a:pPr marL="0" indent="0" algn="ctr">
              <a:lnSpc>
                <a:spcPts val="2267"/>
              </a:lnSpc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02–03 October 2026 · University of Information Technology, VNU-HCM</a:t>
            </a:r>
            <a:endParaRPr lang="en-US" sz="1467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problem: having a result without understanding it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09539" y="1158179"/>
            <a:ext cx="1097252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leaves the laboratory with a panel of numbers and terms:</a:t>
            </a:r>
            <a:endParaRPr lang="en-US" sz="1733" dirty="0"/>
          </a:p>
        </p:txBody>
      </p:sp>
      <p:sp>
        <p:nvSpPr>
          <p:cNvPr id="5" name="Shape 2"/>
          <p:cNvSpPr/>
          <p:nvPr/>
        </p:nvSpPr>
        <p:spPr>
          <a:xfrm>
            <a:off x="609539" y="1609344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609539" y="160934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33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PDW</a:t>
            </a:r>
            <a:endParaRPr lang="en-US" sz="1733" dirty="0"/>
          </a:p>
        </p:txBody>
      </p:sp>
      <p:sp>
        <p:nvSpPr>
          <p:cNvPr id="7" name="Shape 4"/>
          <p:cNvSpPr/>
          <p:nvPr/>
        </p:nvSpPr>
        <p:spPr>
          <a:xfrm>
            <a:off x="2438339" y="1609344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2438339" y="160934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33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MCHC</a:t>
            </a:r>
            <a:endParaRPr lang="en-US" sz="1733" dirty="0"/>
          </a:p>
        </p:txBody>
      </p:sp>
      <p:sp>
        <p:nvSpPr>
          <p:cNvPr id="9" name="Shape 6"/>
          <p:cNvSpPr/>
          <p:nvPr/>
        </p:nvSpPr>
        <p:spPr>
          <a:xfrm>
            <a:off x="4267048" y="1609344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4267048" y="160934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33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Monocyte</a:t>
            </a:r>
            <a:endParaRPr lang="en-US" sz="1733" dirty="0"/>
          </a:p>
        </p:txBody>
      </p:sp>
      <p:sp>
        <p:nvSpPr>
          <p:cNvPr id="11" name="Shape 8"/>
          <p:cNvSpPr/>
          <p:nvPr/>
        </p:nvSpPr>
        <p:spPr>
          <a:xfrm>
            <a:off x="6095848" y="1609344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6095848" y="160934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33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G/L</a:t>
            </a:r>
            <a:endParaRPr lang="en-US" sz="1733" dirty="0"/>
          </a:p>
        </p:txBody>
      </p:sp>
      <p:sp>
        <p:nvSpPr>
          <p:cNvPr id="13" name="Shape 10"/>
          <p:cNvSpPr/>
          <p:nvPr/>
        </p:nvSpPr>
        <p:spPr>
          <a:xfrm>
            <a:off x="7924556" y="1609344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7924556" y="160934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33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</a:t>
            </a:r>
            <a:endParaRPr lang="en-US" sz="1733" dirty="0"/>
          </a:p>
        </p:txBody>
      </p:sp>
      <p:sp>
        <p:nvSpPr>
          <p:cNvPr id="15" name="Shape 12"/>
          <p:cNvSpPr/>
          <p:nvPr/>
        </p:nvSpPr>
        <p:spPr>
          <a:xfrm>
            <a:off x="9753356" y="1609344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9753356" y="160934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33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</a:t>
            </a:r>
            <a:endParaRPr lang="en-US" sz="1733" dirty="0"/>
          </a:p>
        </p:txBody>
      </p:sp>
      <p:sp>
        <p:nvSpPr>
          <p:cNvPr id="17" name="Text 14"/>
          <p:cNvSpPr txBox="1"/>
          <p:nvPr/>
        </p:nvSpPr>
        <p:spPr>
          <a:xfrm>
            <a:off x="609539" y="2377349"/>
            <a:ext cx="109725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533"/>
              </a:lnSpc>
              <a:buNone/>
            </a:pPr>
            <a:r>
              <a:rPr lang="en-US" sz="16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interval is printed beside each value, so a patient can see</a:t>
            </a:r>
            <a:endParaRPr lang="en-US" sz="1667" dirty="0"/>
          </a:p>
          <a:p>
            <a:pPr marL="0" indent="0">
              <a:lnSpc>
                <a:spcPts val="2533"/>
              </a:lnSpc>
              <a:buNone/>
            </a:pPr>
            <a:r>
              <a:rPr lang="en-US" sz="16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falls outside it, but not what it measures or what to do next.</a:t>
            </a:r>
            <a:endParaRPr lang="en-US" sz="1667" dirty="0"/>
          </a:p>
        </p:txBody>
      </p:sp>
      <p:sp>
        <p:nvSpPr>
          <p:cNvPr id="18" name="Shape 15"/>
          <p:cNvSpPr/>
          <p:nvPr/>
        </p:nvSpPr>
        <p:spPr>
          <a:xfrm>
            <a:off x="609539" y="3352739"/>
            <a:ext cx="5303429" cy="213357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792419" y="3596518"/>
            <a:ext cx="49376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60.3%</a:t>
            </a:r>
            <a:endParaRPr lang="en-US" sz="56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608485"/>
            <a:ext cx="46937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older adults in Da Nang have inadequate</a:t>
            </a:r>
            <a:endParaRPr lang="en-US" sz="1467" dirty="0"/>
          </a:p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health literacy</a:t>
            </a:r>
            <a:endParaRPr lang="en-US" sz="1467" dirty="0"/>
          </a:p>
        </p:txBody>
      </p:sp>
      <p:sp>
        <p:nvSpPr>
          <p:cNvPr id="21" name="Shape 18"/>
          <p:cNvSpPr/>
          <p:nvPr/>
        </p:nvSpPr>
        <p:spPr>
          <a:xfrm>
            <a:off x="6278728" y="3352739"/>
            <a:ext cx="5303429" cy="213357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Text 19"/>
          <p:cNvSpPr txBox="1"/>
          <p:nvPr/>
        </p:nvSpPr>
        <p:spPr>
          <a:xfrm>
            <a:off x="6461608" y="3596518"/>
            <a:ext cx="49376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5600" dirty="0"/>
          </a:p>
        </p:txBody>
      </p:sp>
      <p:sp>
        <p:nvSpPr>
          <p:cNvPr id="23" name="Text 20"/>
          <p:cNvSpPr txBox="1"/>
          <p:nvPr/>
        </p:nvSpPr>
        <p:spPr>
          <a:xfrm>
            <a:off x="6583497" y="4608485"/>
            <a:ext cx="46937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patients search online to understand</a:t>
            </a:r>
            <a:endParaRPr lang="en-US" sz="1467" dirty="0"/>
          </a:p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test results</a:t>
            </a:r>
            <a:endParaRPr lang="en-US" sz="1467" dirty="0"/>
          </a:p>
        </p:txBody>
      </p:sp>
      <p:sp>
        <p:nvSpPr>
          <p:cNvPr id="24" name="Text 21"/>
          <p:cNvSpPr txBox="1"/>
          <p:nvPr/>
        </p:nvSpPr>
        <p:spPr>
          <a:xfrm>
            <a:off x="609539" y="5632521"/>
            <a:ext cx="109725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cross-sectional study in Da Nang (n=204); Giardina et al., JAMIA 2018 (n=93)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How patients currently close the gap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09539" y="1158179"/>
            <a:ext cx="1097252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photograph the report and ask a general-purpose language model.</a:t>
            </a:r>
            <a:endParaRPr lang="en-US" sz="1733" dirty="0"/>
          </a:p>
        </p:txBody>
      </p:sp>
      <p:sp>
        <p:nvSpPr>
          <p:cNvPr id="5" name="Shape 2"/>
          <p:cNvSpPr/>
          <p:nvPr/>
        </p:nvSpPr>
        <p:spPr>
          <a:xfrm>
            <a:off x="609539" y="1584930"/>
            <a:ext cx="10972526" cy="633954"/>
          </a:xfrm>
          <a:prstGeom prst="roundRect">
            <a:avLst>
              <a:gd name="adj" fmla="val 115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853410" y="1584930"/>
            <a:ext cx="10484876" cy="633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 </a:t>
            </a:r>
            <a:r>
              <a:rPr lang="en-US" sz="1600" i="1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"Briefly explain what white blood cells are" (in Vietnamese)</a:t>
            </a:r>
            <a:endParaRPr lang="en-US" sz="1333" dirty="0"/>
          </a:p>
        </p:txBody>
      </p:sp>
      <p:sp>
        <p:nvSpPr>
          <p:cNvPr id="7" name="Shape 4"/>
          <p:cNvSpPr/>
          <p:nvPr/>
        </p:nvSpPr>
        <p:spPr>
          <a:xfrm>
            <a:off x="609539" y="2340773"/>
            <a:ext cx="10972526" cy="1402050"/>
          </a:xfrm>
          <a:prstGeom prst="roundRect">
            <a:avLst>
              <a:gd name="adj" fmla="val 5218"/>
            </a:avLst>
          </a:prstGeom>
          <a:solidFill>
            <a:srgbClr val="FFF4F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853410" y="2426178"/>
            <a:ext cx="3657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 model response</a:t>
            </a:r>
            <a:endParaRPr lang="en-US" sz="1333" dirty="0"/>
          </a:p>
        </p:txBody>
      </p:sp>
      <p:sp>
        <p:nvSpPr>
          <p:cNvPr id="9" name="Text 6"/>
          <p:cNvSpPr txBox="1"/>
          <p:nvPr/>
        </p:nvSpPr>
        <p:spPr>
          <a:xfrm>
            <a:off x="853410" y="2730947"/>
            <a:ext cx="104848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67" i="1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"White blood cells ... are lymphocytes capable of moving through the blood ...</a:t>
            </a:r>
            <a:endParaRPr lang="en-US" sz="1467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67" i="1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help the body fight viruses, bacteria and cancer-causing cells.</a:t>
            </a:r>
            <a:endParaRPr lang="en-US" sz="1467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67" i="1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immune system is weakened, white blood cells also decrease ..."</a:t>
            </a:r>
            <a:endParaRPr lang="en-US" sz="1467" dirty="0"/>
          </a:p>
        </p:txBody>
      </p:sp>
      <p:sp>
        <p:nvSpPr>
          <p:cNvPr id="10" name="Shape 7"/>
          <p:cNvSpPr/>
          <p:nvPr/>
        </p:nvSpPr>
        <p:spPr>
          <a:xfrm>
            <a:off x="609539" y="3901379"/>
            <a:ext cx="5303429" cy="1121603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828995" y="4169573"/>
            <a:ext cx="512064" cy="512064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828995" y="416957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487363" y="4047683"/>
            <a:ext cx="4267048" cy="317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Definitional error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487363" y="4364614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 are ONE type of white blood cell, not a synonym</a:t>
            </a:r>
            <a:endParaRPr lang="en-US" sz="1333" dirty="0"/>
          </a:p>
        </p:txBody>
      </p:sp>
      <p:sp>
        <p:nvSpPr>
          <p:cNvPr id="15" name="Shape 12"/>
          <p:cNvSpPr/>
          <p:nvPr/>
        </p:nvSpPr>
        <p:spPr>
          <a:xfrm>
            <a:off x="6278728" y="3901379"/>
            <a:ext cx="5303429" cy="1121603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6498184" y="4169573"/>
            <a:ext cx="512064" cy="512064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6498184" y="416957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156552" y="4047683"/>
            <a:ext cx="4267048" cy="317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Unprompted disease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156552" y="4364614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cancer and immune deficiency without being asked</a:t>
            </a:r>
            <a:endParaRPr lang="en-US" sz="1333" dirty="0"/>
          </a:p>
        </p:txBody>
      </p:sp>
      <p:sp>
        <p:nvSpPr>
          <p:cNvPr id="20" name="Text 17"/>
          <p:cNvSpPr txBox="1"/>
          <p:nvPr/>
        </p:nvSpPr>
        <p:spPr>
          <a:xfrm>
            <a:off x="609539" y="5266853"/>
            <a:ext cx="109725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33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an entirely normal result meets one definitional error and two alarming diseases in a single short answer.</a:t>
            </a:r>
            <a:endParaRPr lang="en-US" sz="1533" dirty="0"/>
          </a:p>
        </p:txBody>
      </p:sp>
      <p:sp>
        <p:nvSpPr>
          <p:cNvPr id="21" name="Text 18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But the most dangerous failure runs the other way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219170"/>
            <a:ext cx="5303429" cy="1523939"/>
          </a:xfrm>
          <a:prstGeom prst="roundRect">
            <a:avLst>
              <a:gd name="adj" fmla="val 4800"/>
            </a:avLst>
          </a:prstGeom>
          <a:solidFill>
            <a:srgbClr val="F4F6F8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2"/>
          <p:cNvSpPr txBox="1"/>
          <p:nvPr/>
        </p:nvSpPr>
        <p:spPr>
          <a:xfrm>
            <a:off x="853410" y="1402050"/>
            <a:ext cx="4815688" cy="390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A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Terminological error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53410" y="1853123"/>
            <a:ext cx="481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the reader</a:t>
            </a:r>
            <a:endParaRPr lang="en-US" sz="1467" dirty="0"/>
          </a:p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invites verification</a:t>
            </a:r>
            <a:endParaRPr lang="en-US" sz="1467" dirty="0"/>
          </a:p>
        </p:txBody>
      </p:sp>
      <p:sp>
        <p:nvSpPr>
          <p:cNvPr id="7" name="Shape 4"/>
          <p:cNvSpPr/>
          <p:nvPr/>
        </p:nvSpPr>
        <p:spPr>
          <a:xfrm>
            <a:off x="6278728" y="1219170"/>
            <a:ext cx="5303429" cy="1523939"/>
          </a:xfrm>
          <a:prstGeom prst="roundRect">
            <a:avLst>
              <a:gd name="adj" fmla="val 4800"/>
            </a:avLst>
          </a:prstGeom>
          <a:solidFill>
            <a:srgbClr val="FFF4F4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6522598" y="1402050"/>
            <a:ext cx="4815688" cy="390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reassurance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522598" y="1853123"/>
            <a:ext cx="481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and comfortable,</a:t>
            </a:r>
            <a:endParaRPr lang="en-US" sz="1467" dirty="0"/>
          </a:p>
          <a:p>
            <a:pPr marL="0" indent="0" algn="ctr">
              <a:lnSpc>
                <a:spcPts val="2133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removes the reason to seek care</a:t>
            </a:r>
            <a:endParaRPr lang="en-US" sz="1467" dirty="0"/>
          </a:p>
        </p:txBody>
      </p:sp>
      <p:sp>
        <p:nvSpPr>
          <p:cNvPr id="10" name="Shape 7"/>
          <p:cNvSpPr/>
          <p:nvPr/>
        </p:nvSpPr>
        <p:spPr>
          <a:xfrm>
            <a:off x="609539" y="2950403"/>
            <a:ext cx="10972526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853410" y="2950403"/>
            <a:ext cx="104848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reassurance: asserting that all results are normal on a panel that is NOT.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09539" y="3681923"/>
            <a:ext cx="10972526" cy="317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actual output from our experiment, on a panel labelled "seek care":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09539" y="4047683"/>
            <a:ext cx="10972526" cy="731520"/>
          </a:xfrm>
          <a:prstGeom prst="roundRect">
            <a:avLst>
              <a:gd name="adj" fmla="val 10000"/>
            </a:avLst>
          </a:prstGeom>
          <a:solidFill>
            <a:srgbClr val="FFF4F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853410" y="4047683"/>
            <a:ext cx="10484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"All test results are within the normal range."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09539" y="5059558"/>
            <a:ext cx="10972526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this as a distinct error class and measure it separately.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Four-layer architecture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158179"/>
            <a:ext cx="10972526" cy="512064"/>
          </a:xfrm>
          <a:prstGeom prst="roundRect">
            <a:avLst>
              <a:gd name="adj" fmla="val 14286"/>
            </a:avLst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2"/>
          <p:cNvSpPr txBox="1"/>
          <p:nvPr/>
        </p:nvSpPr>
        <p:spPr>
          <a:xfrm>
            <a:off x="609539" y="1158179"/>
            <a:ext cx="109725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Principle: NO clinical judgement is delegated to the language model</a:t>
            </a:r>
            <a:endParaRPr lang="en-US" sz="1667" dirty="0"/>
          </a:p>
        </p:txBody>
      </p:sp>
      <p:sp>
        <p:nvSpPr>
          <p:cNvPr id="6" name="Shape 3"/>
          <p:cNvSpPr/>
          <p:nvPr/>
        </p:nvSpPr>
        <p:spPr>
          <a:xfrm>
            <a:off x="609539" y="1975013"/>
            <a:ext cx="2499330" cy="2621219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09539" y="1975013"/>
            <a:ext cx="2499330" cy="512064"/>
          </a:xfrm>
          <a:prstGeom prst="roundRect">
            <a:avLst>
              <a:gd name="adj" fmla="val 14286"/>
            </a:avLst>
          </a:prstGeom>
          <a:solidFill>
            <a:srgbClr val="2E7D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670530" y="1975013"/>
            <a:ext cx="23773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Normalisation</a:t>
            </a:r>
            <a:endParaRPr lang="en-US" sz="1307" dirty="0"/>
          </a:p>
        </p:txBody>
      </p:sp>
      <p:sp>
        <p:nvSpPr>
          <p:cNvPr id="9" name="Text 6"/>
          <p:cNvSpPr txBox="1"/>
          <p:nvPr/>
        </p:nvSpPr>
        <p:spPr>
          <a:xfrm>
            <a:off x="755843" y="2682210"/>
            <a:ext cx="22067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→ canonical code</a:t>
            </a:r>
            <a:endParaRPr lang="en-US" sz="1333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conversion</a:t>
            </a:r>
            <a:endParaRPr lang="en-US" sz="1333" dirty="0"/>
          </a:p>
        </p:txBody>
      </p:sp>
      <p:sp>
        <p:nvSpPr>
          <p:cNvPr id="10" name="Shape 7"/>
          <p:cNvSpPr/>
          <p:nvPr/>
        </p:nvSpPr>
        <p:spPr>
          <a:xfrm>
            <a:off x="975299" y="3925702"/>
            <a:ext cx="1767810" cy="390174"/>
          </a:xfrm>
          <a:prstGeom prst="roundRect">
            <a:avLst>
              <a:gd name="adj" fmla="val 15632"/>
            </a:avLst>
          </a:prstGeom>
          <a:solidFill>
            <a:srgbClr val="F2F6FB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975299" y="3925702"/>
            <a:ext cx="1767810" cy="390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157606" y="3108869"/>
            <a:ext cx="231618" cy="317022"/>
          </a:xfrm>
          <a:prstGeom prst="rightArrow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3438053" y="1975013"/>
            <a:ext cx="2499330" cy="2621219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3438053" y="1975013"/>
            <a:ext cx="2499330" cy="512064"/>
          </a:xfrm>
          <a:prstGeom prst="roundRect">
            <a:avLst>
              <a:gd name="adj" fmla="val 14286"/>
            </a:avLst>
          </a:prstGeom>
          <a:solidFill>
            <a:srgbClr val="2E7D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3499043" y="1975013"/>
            <a:ext cx="23773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Rule-based labelling</a:t>
            </a:r>
            <a:endParaRPr lang="en-US" sz="1307" dirty="0"/>
          </a:p>
        </p:txBody>
      </p:sp>
      <p:sp>
        <p:nvSpPr>
          <p:cNvPr id="16" name="Text 13"/>
          <p:cNvSpPr txBox="1"/>
          <p:nvPr/>
        </p:nvSpPr>
        <p:spPr>
          <a:xfrm>
            <a:off x="3584357" y="2682210"/>
            <a:ext cx="22067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interval</a:t>
            </a:r>
            <a:endParaRPr lang="en-US" sz="1333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3-level label</a:t>
            </a:r>
            <a:endParaRPr lang="en-US" sz="1333" dirty="0"/>
          </a:p>
        </p:txBody>
      </p:sp>
      <p:sp>
        <p:nvSpPr>
          <p:cNvPr id="17" name="Shape 14"/>
          <p:cNvSpPr/>
          <p:nvPr/>
        </p:nvSpPr>
        <p:spPr>
          <a:xfrm>
            <a:off x="3803813" y="3925702"/>
            <a:ext cx="1767810" cy="390174"/>
          </a:xfrm>
          <a:prstGeom prst="roundRect">
            <a:avLst>
              <a:gd name="adj" fmla="val 15632"/>
            </a:avLst>
          </a:prstGeom>
          <a:solidFill>
            <a:srgbClr val="F2F6FB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3803813" y="3925702"/>
            <a:ext cx="1767810" cy="390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986120" y="3108869"/>
            <a:ext cx="231618" cy="317022"/>
          </a:xfrm>
          <a:prstGeom prst="rightArrow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6266566" y="1975013"/>
            <a:ext cx="2499330" cy="2621219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266566" y="1975013"/>
            <a:ext cx="2499330" cy="512064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 txBox="1"/>
          <p:nvPr/>
        </p:nvSpPr>
        <p:spPr>
          <a:xfrm>
            <a:off x="6327465" y="1975013"/>
            <a:ext cx="23773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· Constrained generation</a:t>
            </a:r>
            <a:endParaRPr lang="en-US" sz="1307" dirty="0"/>
          </a:p>
        </p:txBody>
      </p:sp>
      <p:sp>
        <p:nvSpPr>
          <p:cNvPr id="23" name="Text 20"/>
          <p:cNvSpPr txBox="1"/>
          <p:nvPr/>
        </p:nvSpPr>
        <p:spPr>
          <a:xfrm>
            <a:off x="6412870" y="2682210"/>
            <a:ext cx="22067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receives labels</a:t>
            </a:r>
            <a:endParaRPr lang="en-US" sz="1333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Paraphrases only</a:t>
            </a:r>
            <a:endParaRPr lang="en-US" sz="1333" dirty="0"/>
          </a:p>
        </p:txBody>
      </p:sp>
      <p:sp>
        <p:nvSpPr>
          <p:cNvPr id="24" name="Shape 21"/>
          <p:cNvSpPr/>
          <p:nvPr/>
        </p:nvSpPr>
        <p:spPr>
          <a:xfrm>
            <a:off x="6632326" y="3925702"/>
            <a:ext cx="1767810" cy="390174"/>
          </a:xfrm>
          <a:prstGeom prst="roundRect">
            <a:avLst>
              <a:gd name="adj" fmla="val 15632"/>
            </a:avLst>
          </a:prstGeom>
          <a:solidFill>
            <a:srgbClr val="F2F6FB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6632326" y="3925702"/>
            <a:ext cx="1767810" cy="390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814633" y="3108869"/>
            <a:ext cx="231618" cy="317022"/>
          </a:xfrm>
          <a:prstGeom prst="rightArrow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9094988" y="1975013"/>
            <a:ext cx="2499330" cy="2621219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9094988" y="1975013"/>
            <a:ext cx="2499330" cy="512064"/>
          </a:xfrm>
          <a:prstGeom prst="roundRect">
            <a:avLst>
              <a:gd name="adj" fmla="val 14286"/>
            </a:avLst>
          </a:prstGeom>
          <a:solidFill>
            <a:srgbClr val="E6A7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9155979" y="1975013"/>
            <a:ext cx="23773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· Validation</a:t>
            </a:r>
            <a:endParaRPr lang="en-US" sz="1307" dirty="0"/>
          </a:p>
        </p:txBody>
      </p:sp>
      <p:sp>
        <p:nvSpPr>
          <p:cNvPr id="30" name="Text 27"/>
          <p:cNvSpPr txBox="1"/>
          <p:nvPr/>
        </p:nvSpPr>
        <p:spPr>
          <a:xfrm>
            <a:off x="9241292" y="2682210"/>
            <a:ext cx="22067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against labels</a:t>
            </a:r>
            <a:endParaRPr lang="en-US" sz="1333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 / template</a:t>
            </a:r>
            <a:endParaRPr lang="en-US" sz="1333" dirty="0"/>
          </a:p>
        </p:txBody>
      </p:sp>
      <p:sp>
        <p:nvSpPr>
          <p:cNvPr id="31" name="Shape 28"/>
          <p:cNvSpPr/>
          <p:nvPr/>
        </p:nvSpPr>
        <p:spPr>
          <a:xfrm>
            <a:off x="9460748" y="3925702"/>
            <a:ext cx="1767810" cy="390174"/>
          </a:xfrm>
          <a:prstGeom prst="roundRect">
            <a:avLst>
              <a:gd name="adj" fmla="val 15632"/>
            </a:avLst>
          </a:prstGeom>
          <a:solidFill>
            <a:srgbClr val="F2F6FB"/>
          </a:solidFill>
          <a:ln w="12700">
            <a:solidFill>
              <a:srgbClr val="E6A7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 txBox="1"/>
          <p:nvPr/>
        </p:nvSpPr>
        <p:spPr>
          <a:xfrm>
            <a:off x="9460748" y="3925702"/>
            <a:ext cx="1767810" cy="390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A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9539" y="4815688"/>
            <a:ext cx="10972526" cy="731520"/>
          </a:xfrm>
          <a:prstGeom prst="roundRect">
            <a:avLst>
              <a:gd name="adj" fmla="val 10000"/>
            </a:avLst>
          </a:prstGeom>
          <a:solidFill>
            <a:srgbClr val="FFF8E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1"/>
          <p:cNvSpPr txBox="1"/>
          <p:nvPr/>
        </p:nvSpPr>
        <p:spPr>
          <a:xfrm>
            <a:off x="853410" y="4815688"/>
            <a:ext cx="10484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output → regenerate → fixed template after the retry limit. Unverified text is never displayed.</a:t>
            </a:r>
            <a:endParaRPr lang="en-US" sz="1467" dirty="0"/>
          </a:p>
        </p:txBody>
      </p:sp>
      <p:sp>
        <p:nvSpPr>
          <p:cNvPr id="35" name="Text 32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Layer 1 — Name and unit normalisation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194755"/>
            <a:ext cx="5303429" cy="2743109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2"/>
          <p:cNvSpPr txBox="1"/>
          <p:nvPr/>
        </p:nvSpPr>
        <p:spPr>
          <a:xfrm>
            <a:off x="853410" y="1341059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33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analyte, many names</a:t>
            </a:r>
            <a:endParaRPr lang="en-US" sz="1733" dirty="0"/>
          </a:p>
        </p:txBody>
      </p:sp>
      <p:sp>
        <p:nvSpPr>
          <p:cNvPr id="6" name="Shape 3"/>
          <p:cNvSpPr/>
          <p:nvPr/>
        </p:nvSpPr>
        <p:spPr>
          <a:xfrm>
            <a:off x="877824" y="1779971"/>
            <a:ext cx="2316450" cy="414498"/>
          </a:xfrm>
          <a:prstGeom prst="roundRect">
            <a:avLst>
              <a:gd name="adj" fmla="val 11758"/>
            </a:avLst>
          </a:prstGeom>
          <a:solidFill>
            <a:srgbClr val="F2F6FB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877824" y="1779971"/>
            <a:ext cx="2316450" cy="414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3" dirty="0">
                <a:solidFill>
                  <a:srgbClr val="2038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WBC</a:t>
            </a:r>
            <a:endParaRPr lang="en-US" sz="1333" dirty="0"/>
          </a:p>
        </p:txBody>
      </p:sp>
      <p:sp>
        <p:nvSpPr>
          <p:cNvPr id="8" name="Shape 5"/>
          <p:cNvSpPr/>
          <p:nvPr/>
        </p:nvSpPr>
        <p:spPr>
          <a:xfrm>
            <a:off x="3316163" y="1779971"/>
            <a:ext cx="2316450" cy="414498"/>
          </a:xfrm>
          <a:prstGeom prst="roundRect">
            <a:avLst>
              <a:gd name="adj" fmla="val 11758"/>
            </a:avLst>
          </a:prstGeom>
          <a:solidFill>
            <a:srgbClr val="F2F6FB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3316163" y="1779971"/>
            <a:ext cx="2316450" cy="414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3" dirty="0">
                <a:solidFill>
                  <a:srgbClr val="2038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SLBC</a:t>
            </a:r>
            <a:endParaRPr lang="en-US" sz="1333" dirty="0"/>
          </a:p>
        </p:txBody>
      </p:sp>
      <p:sp>
        <p:nvSpPr>
          <p:cNvPr id="10" name="Shape 7"/>
          <p:cNvSpPr/>
          <p:nvPr/>
        </p:nvSpPr>
        <p:spPr>
          <a:xfrm>
            <a:off x="877824" y="2292035"/>
            <a:ext cx="2316450" cy="414498"/>
          </a:xfrm>
          <a:prstGeom prst="roundRect">
            <a:avLst>
              <a:gd name="adj" fmla="val 11758"/>
            </a:avLst>
          </a:prstGeom>
          <a:solidFill>
            <a:srgbClr val="F2F6FB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877824" y="2292035"/>
            <a:ext cx="2316450" cy="414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3" dirty="0">
                <a:solidFill>
                  <a:srgbClr val="2038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Số lượng bạch cầu</a:t>
            </a:r>
            <a:endParaRPr lang="en-US" sz="1333" dirty="0"/>
          </a:p>
        </p:txBody>
      </p:sp>
      <p:sp>
        <p:nvSpPr>
          <p:cNvPr id="12" name="Shape 9"/>
          <p:cNvSpPr/>
          <p:nvPr/>
        </p:nvSpPr>
        <p:spPr>
          <a:xfrm>
            <a:off x="3316163" y="2292035"/>
            <a:ext cx="2316450" cy="414498"/>
          </a:xfrm>
          <a:prstGeom prst="roundRect">
            <a:avLst>
              <a:gd name="adj" fmla="val 11758"/>
            </a:avLst>
          </a:prstGeom>
          <a:solidFill>
            <a:srgbClr val="F2F6FB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3316163" y="2292035"/>
            <a:ext cx="2316450" cy="414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3" dirty="0">
                <a:solidFill>
                  <a:srgbClr val="2038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WBC</a:t>
            </a:r>
            <a:endParaRPr lang="en-US" sz="1333" dirty="0"/>
          </a:p>
        </p:txBody>
      </p:sp>
      <p:sp>
        <p:nvSpPr>
          <p:cNvPr id="14" name="Text 11"/>
          <p:cNvSpPr txBox="1"/>
          <p:nvPr/>
        </p:nvSpPr>
        <p:spPr>
          <a:xfrm>
            <a:off x="853410" y="3047878"/>
            <a:ext cx="485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267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% and # markers distinguish percentage from absolute count, and may precede (% Neu) or follow (NEUT%) the name.</a:t>
            </a:r>
            <a:endParaRPr lang="en-US" sz="1267" dirty="0"/>
          </a:p>
        </p:txBody>
      </p:sp>
      <p:sp>
        <p:nvSpPr>
          <p:cNvPr id="15" name="Shape 12"/>
          <p:cNvSpPr/>
          <p:nvPr/>
        </p:nvSpPr>
        <p:spPr>
          <a:xfrm>
            <a:off x="6278728" y="1194755"/>
            <a:ext cx="5303429" cy="2743109"/>
          </a:xfrm>
          <a:prstGeom prst="roundRect">
            <a:avLst>
              <a:gd name="adj" fmla="val 2667"/>
            </a:avLst>
          </a:prstGeom>
          <a:solidFill>
            <a:srgbClr val="FFF4F4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6522598" y="1341059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33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are the serious problem</a:t>
            </a:r>
            <a:endParaRPr lang="en-US" sz="1733" dirty="0"/>
          </a:p>
        </p:txBody>
      </p:sp>
      <p:sp>
        <p:nvSpPr>
          <p:cNvPr id="17" name="Text 14"/>
          <p:cNvSpPr txBox="1"/>
          <p:nvPr/>
        </p:nvSpPr>
        <p:spPr>
          <a:xfrm>
            <a:off x="6522598" y="1755648"/>
            <a:ext cx="4815688" cy="633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Hb = 14.56 g/dL</a:t>
            </a:r>
            <a:endParaRPr lang="en-US" sz="1467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67" dirty="0">
                <a:solidFill>
                  <a:srgbClr val="2038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 interval: 130–175 g/L</a:t>
            </a:r>
            <a:endParaRPr lang="en-US" sz="1467" dirty="0"/>
          </a:p>
        </p:txBody>
      </p:sp>
      <p:sp>
        <p:nvSpPr>
          <p:cNvPr id="18" name="Text 15"/>
          <p:cNvSpPr txBox="1"/>
          <p:nvPr/>
        </p:nvSpPr>
        <p:spPr>
          <a:xfrm>
            <a:off x="6522598" y="2584643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Unconverted → classified as "SEEK CARE"</a:t>
            </a:r>
            <a:endParaRPr lang="en-US" sz="1333" dirty="0"/>
          </a:p>
        </p:txBody>
      </p:sp>
      <p:sp>
        <p:nvSpPr>
          <p:cNvPr id="19" name="Text 16"/>
          <p:cNvSpPr txBox="1"/>
          <p:nvPr/>
        </p:nvSpPr>
        <p:spPr>
          <a:xfrm>
            <a:off x="6522598" y="304787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Converted → 145.6 g/L → Normal</a:t>
            </a:r>
            <a:endParaRPr lang="en-US" sz="1333" dirty="0"/>
          </a:p>
        </p:txBody>
      </p:sp>
      <p:sp>
        <p:nvSpPr>
          <p:cNvPr id="20" name="Shape 17"/>
          <p:cNvSpPr/>
          <p:nvPr/>
        </p:nvSpPr>
        <p:spPr>
          <a:xfrm>
            <a:off x="609539" y="4169573"/>
            <a:ext cx="10972526" cy="755843"/>
          </a:xfrm>
          <a:prstGeom prst="roundRect">
            <a:avLst>
              <a:gd name="adj" fmla="val 9678"/>
            </a:avLst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853410" y="4169573"/>
            <a:ext cx="10484876" cy="755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unknown or missing unit → REFUSE to process. Never guess.</a:t>
            </a:r>
            <a:endParaRPr lang="en-US" sz="1667" dirty="0"/>
          </a:p>
        </p:txBody>
      </p:sp>
      <p:sp>
        <p:nvSpPr>
          <p:cNvPr id="22" name="Text 19"/>
          <p:cNvSpPr txBox="1"/>
          <p:nvPr/>
        </p:nvSpPr>
        <p:spPr>
          <a:xfrm>
            <a:off x="609539" y="5120549"/>
            <a:ext cx="10972526" cy="609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333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evidence: 6–19% of laboratory tests cannot be accurately mapped to LOINC; an analysis of 163 million results identified 2,019 distinct unit expressions.</a:t>
            </a:r>
            <a:endParaRPr lang="en-US" sz="1333" dirty="0"/>
          </a:p>
        </p:txBody>
      </p:sp>
      <p:sp>
        <p:nvSpPr>
          <p:cNvPr id="23" name="Text 20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Layers 3 &amp; 4 — Constrained generation and validation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194755"/>
            <a:ext cx="5303429" cy="3352739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609539" y="1194755"/>
            <a:ext cx="5303429" cy="487650"/>
          </a:xfrm>
          <a:prstGeom prst="roundRect">
            <a:avLst>
              <a:gd name="adj" fmla="val 15001"/>
            </a:avLst>
          </a:prstGeom>
          <a:solidFill>
            <a:srgbClr val="1565C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92419" y="1194755"/>
            <a:ext cx="4937669" cy="48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 · Three constraints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1853123"/>
            <a:ext cx="1341059" cy="317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467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2157893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GIVEN labels, never asked to derive them</a:t>
            </a:r>
            <a:endParaRPr lang="en-US" sz="1333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706533"/>
            <a:ext cx="1341059" cy="317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467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301139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disease names, causes, medications or dosages</a:t>
            </a:r>
            <a:endParaRPr lang="en-US" sz="1333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559942"/>
            <a:ext cx="1341059" cy="317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467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864803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JSON schema required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6278728" y="1194755"/>
            <a:ext cx="5303429" cy="3352739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6278728" y="1194755"/>
            <a:ext cx="5303429" cy="487650"/>
          </a:xfrm>
          <a:prstGeom prst="roundRect">
            <a:avLst>
              <a:gd name="adj" fmla="val 15001"/>
            </a:avLst>
          </a:prstGeom>
          <a:solidFill>
            <a:srgbClr val="E6A7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6461608" y="1194755"/>
            <a:ext cx="4937669" cy="48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4 · Six error classes checked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559174" y="1810512"/>
            <a:ext cx="243870" cy="243870"/>
          </a:xfrm>
          <a:prstGeom prst="ellipse">
            <a:avLst/>
          </a:prstGeom>
          <a:solidFill>
            <a:srgbClr val="E6A7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6949257" y="1755648"/>
            <a:ext cx="4449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stated direction match the Layer 2 label?</a:t>
            </a:r>
            <a:endParaRPr lang="en-US" sz="1333" dirty="0"/>
          </a:p>
        </p:txBody>
      </p:sp>
      <p:sp>
        <p:nvSpPr>
          <p:cNvPr id="18" name="Shape 15"/>
          <p:cNvSpPr/>
          <p:nvPr/>
        </p:nvSpPr>
        <p:spPr>
          <a:xfrm>
            <a:off x="6559174" y="2258568"/>
            <a:ext cx="243870" cy="243870"/>
          </a:xfrm>
          <a:prstGeom prst="ellipse">
            <a:avLst/>
          </a:prstGeom>
          <a:solidFill>
            <a:srgbClr val="E6A7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6949257" y="2203704"/>
            <a:ext cx="4449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prose contradict the assigned label?</a:t>
            </a:r>
            <a:endParaRPr lang="en-US" sz="1333" dirty="0"/>
          </a:p>
        </p:txBody>
      </p:sp>
      <p:sp>
        <p:nvSpPr>
          <p:cNvPr id="20" name="Shape 17"/>
          <p:cNvSpPr/>
          <p:nvPr/>
        </p:nvSpPr>
        <p:spPr>
          <a:xfrm>
            <a:off x="6559174" y="2706624"/>
            <a:ext cx="243870" cy="243870"/>
          </a:xfrm>
          <a:prstGeom prst="ellipse">
            <a:avLst/>
          </a:prstGeom>
          <a:solidFill>
            <a:srgbClr val="E6A7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6949257" y="2651760"/>
            <a:ext cx="4449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forbidden terms present?</a:t>
            </a:r>
            <a:endParaRPr lang="en-US" sz="1333" dirty="0"/>
          </a:p>
        </p:txBody>
      </p:sp>
      <p:sp>
        <p:nvSpPr>
          <p:cNvPr id="22" name="Shape 19"/>
          <p:cNvSpPr/>
          <p:nvPr/>
        </p:nvSpPr>
        <p:spPr>
          <a:xfrm>
            <a:off x="6559174" y="3154679"/>
            <a:ext cx="243870" cy="243870"/>
          </a:xfrm>
          <a:prstGeom prst="ellipse">
            <a:avLst/>
          </a:prstGeom>
          <a:solidFill>
            <a:srgbClr val="E6A7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6949257" y="3099815"/>
            <a:ext cx="4449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 analyte fabricated?</a:t>
            </a:r>
            <a:endParaRPr lang="en-US" sz="1333" dirty="0"/>
          </a:p>
        </p:txBody>
      </p:sp>
      <p:sp>
        <p:nvSpPr>
          <p:cNvPr id="24" name="Shape 21"/>
          <p:cNvSpPr/>
          <p:nvPr/>
        </p:nvSpPr>
        <p:spPr>
          <a:xfrm>
            <a:off x="609539" y="4754789"/>
            <a:ext cx="10972526" cy="755843"/>
          </a:xfrm>
          <a:prstGeom prst="roundRect">
            <a:avLst>
              <a:gd name="adj" fmla="val 96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853410" y="4754789"/>
            <a:ext cx="10484876" cy="755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33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Qwen2.5-3B served locally via Ollama. Data never leaves the institution, and no GPU is required.</a:t>
            </a:r>
            <a:endParaRPr lang="en-US" sz="1533" dirty="0"/>
          </a:p>
        </p:txBody>
      </p:sp>
      <p:sp>
        <p:nvSpPr>
          <p:cNvPr id="26" name="Text 23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200" dirty="0"/>
          </a:p>
        </p:txBody>
      </p:sp>
      <p:sp>
        <p:nvSpPr>
          <p:cNvPr id="2" name="Shape 19"/>
          <p:cNvSpPr/>
          <p:nvPr/>
        </p:nvSpPr>
        <p:spPr>
          <a:xfrm>
            <a:off x="6559174" y="3602736"/>
            <a:ext cx="243870" cy="243870"/>
          </a:xfrm>
          <a:prstGeom prst="ellipse">
            <a:avLst/>
          </a:prstGeom>
          <a:solidFill>
            <a:srgbClr val="E6A7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0"/>
          <p:cNvSpPr txBox="1"/>
          <p:nvPr/>
        </p:nvSpPr>
        <p:spPr>
          <a:xfrm>
            <a:off x="6949257" y="3547872"/>
            <a:ext cx="4449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 analyte omitted?</a:t>
            </a:r>
            <a:endParaRPr lang="en-US" sz="1333" dirty="0"/>
          </a:p>
        </p:txBody>
      </p:sp>
      <p:sp>
        <p:nvSpPr>
          <p:cNvPr id="28" name="Shape 19"/>
          <p:cNvSpPr/>
          <p:nvPr/>
        </p:nvSpPr>
        <p:spPr>
          <a:xfrm>
            <a:off x="6559174" y="4050791"/>
            <a:ext cx="243870" cy="243870"/>
          </a:xfrm>
          <a:prstGeom prst="ellipse">
            <a:avLst/>
          </a:prstGeom>
          <a:solidFill>
            <a:srgbClr val="E6A7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0"/>
          <p:cNvSpPr txBox="1"/>
          <p:nvPr/>
        </p:nvSpPr>
        <p:spPr>
          <a:xfrm>
            <a:off x="6949257" y="3995928"/>
            <a:ext cx="4449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closing statement falsely reassure?</a:t>
            </a:r>
            <a:endParaRPr lang="en-US" sz="1333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Evaluation design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194755"/>
            <a:ext cx="5303429" cy="195069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2"/>
          <p:cNvSpPr txBox="1"/>
          <p:nvPr/>
        </p:nvSpPr>
        <p:spPr>
          <a:xfrm>
            <a:off x="853410" y="131673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667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731234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synthetic complete blood count panels</a:t>
            </a:r>
            <a:endParaRPr lang="en-US" sz="1333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10–18 analytes per panel</a:t>
            </a:r>
            <a:endParaRPr lang="en-US" sz="1333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Equally split across 3 severity classes</a:t>
            </a:r>
            <a:endParaRPr lang="en-US" sz="1333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aliases and units per analyte</a:t>
            </a:r>
            <a:endParaRPr lang="en-US" sz="1333" dirty="0"/>
          </a:p>
        </p:txBody>
      </p:sp>
      <p:sp>
        <p:nvSpPr>
          <p:cNvPr id="7" name="Shape 4"/>
          <p:cNvSpPr/>
          <p:nvPr/>
        </p:nvSpPr>
        <p:spPr>
          <a:xfrm>
            <a:off x="6278728" y="1194755"/>
            <a:ext cx="5303429" cy="195069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6522598" y="131673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synthetic data</a:t>
            </a:r>
            <a:endParaRPr lang="en-US" sz="1667" dirty="0"/>
          </a:p>
        </p:txBody>
      </p:sp>
      <p:sp>
        <p:nvSpPr>
          <p:cNvPr id="9" name="Text 6"/>
          <p:cNvSpPr txBox="1"/>
          <p:nvPr/>
        </p:nvSpPr>
        <p:spPr>
          <a:xfrm>
            <a:off x="6583497" y="1731234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labels required; real reports carry none</a:t>
            </a:r>
            <a:endParaRPr lang="en-US" sz="1333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design required; real panels are mostly normal</a:t>
            </a:r>
            <a:endParaRPr lang="en-US" sz="1333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 data handled</a:t>
            </a:r>
            <a:endParaRPr lang="en-US" sz="1333" dirty="0"/>
          </a:p>
        </p:txBody>
      </p:sp>
      <p:sp>
        <p:nvSpPr>
          <p:cNvPr id="10" name="Text 7"/>
          <p:cNvSpPr txBox="1"/>
          <p:nvPr/>
        </p:nvSpPr>
        <p:spPr>
          <a:xfrm>
            <a:off x="609539" y="3316163"/>
            <a:ext cx="1097252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configurations</a:t>
            </a:r>
            <a:endParaRPr lang="en-US" sz="1667" dirty="0"/>
          </a:p>
        </p:txBody>
      </p:sp>
      <p:sp>
        <p:nvSpPr>
          <p:cNvPr id="11" name="Shape 8"/>
          <p:cNvSpPr/>
          <p:nvPr/>
        </p:nvSpPr>
        <p:spPr>
          <a:xfrm>
            <a:off x="609539" y="3755075"/>
            <a:ext cx="348679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609539" y="3755075"/>
            <a:ext cx="3486790" cy="438912"/>
          </a:xfrm>
          <a:prstGeom prst="roundRect">
            <a:avLst>
              <a:gd name="adj" fmla="val 16667"/>
            </a:avLst>
          </a:prstGeom>
          <a:solidFill>
            <a:srgbClr val="5A6B8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609539" y="3755075"/>
            <a:ext cx="34867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3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</a:t>
            </a:r>
            <a:endParaRPr lang="en-US" sz="1533" dirty="0"/>
          </a:p>
        </p:txBody>
      </p:sp>
      <p:sp>
        <p:nvSpPr>
          <p:cNvPr id="14" name="Text 11"/>
          <p:cNvSpPr txBox="1"/>
          <p:nvPr/>
        </p:nvSpPr>
        <p:spPr>
          <a:xfrm>
            <a:off x="792419" y="4291462"/>
            <a:ext cx="3121030" cy="97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2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values given to the model. No labels, no constraints, no validation.</a:t>
            </a:r>
            <a:endParaRPr lang="en-US" sz="1267" dirty="0"/>
          </a:p>
        </p:txBody>
      </p:sp>
      <p:sp>
        <p:nvSpPr>
          <p:cNvPr id="15" name="Shape 12"/>
          <p:cNvSpPr/>
          <p:nvPr/>
        </p:nvSpPr>
        <p:spPr>
          <a:xfrm>
            <a:off x="4352453" y="3755075"/>
            <a:ext cx="348679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4352453" y="3755075"/>
            <a:ext cx="3486790" cy="438912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4352453" y="3755075"/>
            <a:ext cx="34867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3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constrained</a:t>
            </a:r>
            <a:endParaRPr lang="en-US" sz="1533" dirty="0"/>
          </a:p>
        </p:txBody>
      </p:sp>
      <p:sp>
        <p:nvSpPr>
          <p:cNvPr id="18" name="Text 15"/>
          <p:cNvSpPr txBox="1"/>
          <p:nvPr/>
        </p:nvSpPr>
        <p:spPr>
          <a:xfrm>
            <a:off x="4535333" y="4291462"/>
            <a:ext cx="3121030" cy="97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2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1–3. Labels and constraints, but output not verified.</a:t>
            </a:r>
            <a:endParaRPr lang="en-US" sz="1267" dirty="0"/>
          </a:p>
        </p:txBody>
      </p:sp>
      <p:sp>
        <p:nvSpPr>
          <p:cNvPr id="19" name="Shape 16"/>
          <p:cNvSpPr/>
          <p:nvPr/>
        </p:nvSpPr>
        <p:spPr>
          <a:xfrm>
            <a:off x="8095275" y="3755075"/>
            <a:ext cx="348679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8095275" y="3755075"/>
            <a:ext cx="3486790" cy="438912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8095275" y="3755075"/>
            <a:ext cx="34867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3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</a:t>
            </a:r>
            <a:endParaRPr lang="en-US" sz="1533" dirty="0"/>
          </a:p>
        </p:txBody>
      </p:sp>
      <p:sp>
        <p:nvSpPr>
          <p:cNvPr id="22" name="Text 19"/>
          <p:cNvSpPr txBox="1"/>
          <p:nvPr/>
        </p:nvSpPr>
        <p:spPr>
          <a:xfrm>
            <a:off x="8278155" y="4291462"/>
            <a:ext cx="3121030" cy="97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33"/>
              </a:lnSpc>
              <a:buNone/>
            </a:pPr>
            <a:r>
              <a:rPr lang="en-US" sz="1267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1–4. Complete, with regeneration and template fallback.</a:t>
            </a:r>
            <a:endParaRPr lang="en-US" sz="1267" dirty="0"/>
          </a:p>
        </p:txBody>
      </p:sp>
      <p:sp>
        <p:nvSpPr>
          <p:cNvPr id="23" name="Text 20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Results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39" y="1280160"/>
          <a:ext cx="10972800" cy="2657705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7558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reassur.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Contradict.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Omitted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9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67" b="1" dirty="0">
                          <a:solidFill>
                            <a:srgbClr val="1F386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baseline</a:t>
                      </a:r>
                      <a:endParaRPr lang="en-US" sz="1467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67" b="1" dirty="0">
                          <a:solidFill>
                            <a:srgbClr val="1F386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constrained</a:t>
                      </a:r>
                      <a:endParaRPr lang="en-US" sz="1467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0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9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67" b="1" dirty="0">
                          <a:solidFill>
                            <a:srgbClr val="1F386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</a:t>
                      </a:r>
                      <a:endParaRPr lang="en-US" sz="1467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09539" y="4047683"/>
            <a:ext cx="10972526" cy="317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3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Values: % of panels · n = 150 · Lower is better for all error columns</a:t>
            </a:r>
            <a:endParaRPr lang="en-US" sz="1333" dirty="0"/>
          </a:p>
        </p:txBody>
      </p:sp>
      <p:sp>
        <p:nvSpPr>
          <p:cNvPr id="6" name="Shape 2"/>
          <p:cNvSpPr/>
          <p:nvPr/>
        </p:nvSpPr>
        <p:spPr>
          <a:xfrm>
            <a:off x="609539" y="4510918"/>
            <a:ext cx="10972526" cy="633954"/>
          </a:xfrm>
          <a:prstGeom prst="roundRect">
            <a:avLst>
              <a:gd name="adj" fmla="val 115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3"/>
          <p:cNvSpPr txBox="1"/>
          <p:nvPr/>
        </p:nvSpPr>
        <p:spPr>
          <a:xfrm>
            <a:off x="853410" y="4510918"/>
            <a:ext cx="10484876" cy="633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error metric decreases monotonically across the three configurations.</a:t>
            </a:r>
            <a:endParaRPr lang="en-US" sz="1667" dirty="0"/>
          </a:p>
        </p:txBody>
      </p:sp>
      <p:sp>
        <p:nvSpPr>
          <p:cNvPr id="8" name="Text 4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Three key findings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219170"/>
            <a:ext cx="3486790" cy="3169859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2"/>
          <p:cNvSpPr txBox="1"/>
          <p:nvPr/>
        </p:nvSpPr>
        <p:spPr>
          <a:xfrm>
            <a:off x="707106" y="1438626"/>
            <a:ext cx="3291749" cy="755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33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 → 0%</a:t>
            </a:r>
            <a:endParaRPr lang="en-US" sz="3333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55459"/>
            <a:ext cx="32430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reassurance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767810" y="2682210"/>
            <a:ext cx="1170432" cy="0"/>
          </a:xfrm>
          <a:prstGeom prst="line">
            <a:avLst/>
          </a:prstGeom>
          <a:noFill/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828995" y="2828514"/>
            <a:ext cx="3047878" cy="140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67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Unconstrained: roughly one patient in three with abnormal results would be told nothing needed attention.</a:t>
            </a:r>
            <a:endParaRPr lang="en-US" sz="1333" dirty="0"/>
          </a:p>
        </p:txBody>
      </p:sp>
      <p:sp>
        <p:nvSpPr>
          <p:cNvPr id="9" name="Shape 6"/>
          <p:cNvSpPr/>
          <p:nvPr/>
        </p:nvSpPr>
        <p:spPr>
          <a:xfrm>
            <a:off x="4352453" y="1219170"/>
            <a:ext cx="3486790" cy="3169859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4449928" y="1438626"/>
            <a:ext cx="3291749" cy="755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33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91.3% → 0%</a:t>
            </a:r>
            <a:endParaRPr lang="en-US" sz="3333" dirty="0"/>
          </a:p>
        </p:txBody>
      </p:sp>
      <p:sp>
        <p:nvSpPr>
          <p:cNvPr id="11" name="Text 8"/>
          <p:cNvSpPr txBox="1"/>
          <p:nvPr/>
        </p:nvSpPr>
        <p:spPr>
          <a:xfrm>
            <a:off x="4474342" y="2255459"/>
            <a:ext cx="32430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mismatch</a:t>
            </a:r>
            <a:endParaRPr lang="en-US" sz="1667" dirty="0"/>
          </a:p>
        </p:txBody>
      </p:sp>
      <p:sp>
        <p:nvSpPr>
          <p:cNvPr id="12" name="Shape 9"/>
          <p:cNvSpPr/>
          <p:nvPr/>
        </p:nvSpPr>
        <p:spPr>
          <a:xfrm>
            <a:off x="5510632" y="2682210"/>
            <a:ext cx="1170432" cy="0"/>
          </a:xfrm>
          <a:prstGeom prst="line">
            <a:avLst/>
          </a:prstGeom>
          <a:noFill/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4571909" y="2828514"/>
            <a:ext cx="3047878" cy="140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67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judging for itself fails almost always. Moved to a rule layer, classification becomes exact.</a:t>
            </a:r>
            <a:endParaRPr lang="en-US" sz="1333" dirty="0"/>
          </a:p>
        </p:txBody>
      </p:sp>
      <p:sp>
        <p:nvSpPr>
          <p:cNvPr id="14" name="Shape 11"/>
          <p:cNvSpPr/>
          <p:nvPr/>
        </p:nvSpPr>
        <p:spPr>
          <a:xfrm>
            <a:off x="8095275" y="1219170"/>
            <a:ext cx="3486790" cy="3169859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8192841" y="1438626"/>
            <a:ext cx="3291749" cy="755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33" b="1" dirty="0">
                <a:solidFill>
                  <a:srgbClr val="E6A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3333" dirty="0"/>
          </a:p>
        </p:txBody>
      </p:sp>
      <p:sp>
        <p:nvSpPr>
          <p:cNvPr id="16" name="Text 13"/>
          <p:cNvSpPr txBox="1"/>
          <p:nvPr/>
        </p:nvSpPr>
        <p:spPr>
          <a:xfrm>
            <a:off x="8217164" y="2255459"/>
            <a:ext cx="32430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insufficient</a:t>
            </a:r>
            <a:endParaRPr lang="en-US" sz="1667" dirty="0"/>
          </a:p>
        </p:txBody>
      </p:sp>
      <p:sp>
        <p:nvSpPr>
          <p:cNvPr id="17" name="Shape 14"/>
          <p:cNvSpPr/>
          <p:nvPr/>
        </p:nvSpPr>
        <p:spPr>
          <a:xfrm>
            <a:off x="9253454" y="2682210"/>
            <a:ext cx="1170432" cy="0"/>
          </a:xfrm>
          <a:prstGeom prst="line">
            <a:avLst/>
          </a:prstGeom>
          <a:noFill/>
          <a:ln w="19050">
            <a:solidFill>
              <a:srgbClr val="E6A7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8314731" y="2828514"/>
            <a:ext cx="3047878" cy="140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67"/>
              </a:lnSpc>
              <a:buNone/>
            </a:pPr>
            <a:r>
              <a:rPr lang="en-US" sz="1333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half of prompt-constrained outputs still failed validation. Instruction does not guarantee compliance.</a:t>
            </a:r>
            <a:endParaRPr lang="en-US" sz="1333" dirty="0"/>
          </a:p>
        </p:txBody>
      </p:sp>
      <p:sp>
        <p:nvSpPr>
          <p:cNvPr id="19" name="Shape 16"/>
          <p:cNvSpPr/>
          <p:nvPr/>
        </p:nvSpPr>
        <p:spPr>
          <a:xfrm>
            <a:off x="609539" y="4608485"/>
            <a:ext cx="10972526" cy="950976"/>
          </a:xfrm>
          <a:prstGeom prst="roundRect">
            <a:avLst>
              <a:gd name="adj" fmla="val 7692"/>
            </a:avLst>
          </a:prstGeom>
          <a:solidFill>
            <a:srgbClr val="FFF8E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877824" y="4608485"/>
            <a:ext cx="1043604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100% comprises 64% model-generated text and 36% fixed templates. That guarantee comes from the pipeline, and is not evidence that a 3B model performs this task reliably.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Discussion — two observations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219170"/>
            <a:ext cx="10972526" cy="1731234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914400" y="1438626"/>
            <a:ext cx="536478" cy="536478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1438626"/>
            <a:ext cx="536478" cy="536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402050"/>
            <a:ext cx="96314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reassurance deserves its own metric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1804386"/>
            <a:ext cx="9692366" cy="999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evaluations report readability and factual accuracy. A falsely reassuring sentence may still score HIGH on readability, because it is simple and calming. The harm is that it stops the reader from seeking care.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9539" y="3169859"/>
            <a:ext cx="10972526" cy="1731234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914400" y="3389315"/>
            <a:ext cx="536478" cy="536478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914400" y="3389315"/>
            <a:ext cx="536478" cy="536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3352739"/>
            <a:ext cx="96314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standardisation is a safety precondition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755075"/>
            <a:ext cx="9692366" cy="999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error occurred inside the rule layer, the layer treated as exact. No downstream validation detects it, because every later layer faithfully reproduces a confidently wrong label.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9539" y="5144872"/>
            <a:ext cx="10972526" cy="609539"/>
          </a:xfrm>
          <a:prstGeom prst="roundRect">
            <a:avLst>
              <a:gd name="adj" fmla="val 12001"/>
            </a:avLst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853410" y="5144872"/>
            <a:ext cx="10484876" cy="609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standardisation (LOINC, HL7 FHIR) is therefore a precondition for rule-based clinical logic, not only a data-reuse concern.</a:t>
            </a:r>
            <a:endParaRPr lang="en-US" sz="1467" dirty="0"/>
          </a:p>
        </p:txBody>
      </p:sp>
      <p:sp>
        <p:nvSpPr>
          <p:cNvPr id="16" name="Text 13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Limitations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280160"/>
            <a:ext cx="5303429" cy="1889699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609539" y="1280160"/>
            <a:ext cx="5303429" cy="512064"/>
          </a:xfrm>
          <a:prstGeom prst="roundRect">
            <a:avLst>
              <a:gd name="adj" fmla="val 14286"/>
            </a:avLst>
          </a:prstGeom>
          <a:solidFill>
            <a:srgbClr val="5A6B8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828995" y="1280160"/>
            <a:ext cx="4876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clinical validation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3410" y="1938437"/>
            <a:ext cx="485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evaluation is automated. No medical professional reviewed the generated explanations.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78728" y="1280160"/>
            <a:ext cx="5303429" cy="1889699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6278728" y="1280160"/>
            <a:ext cx="5303429" cy="512064"/>
          </a:xfrm>
          <a:prstGeom prst="roundRect">
            <a:avLst>
              <a:gd name="adj" fmla="val 14286"/>
            </a:avLst>
          </a:prstGeom>
          <a:solidFill>
            <a:srgbClr val="5A6B8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6498184" y="1280160"/>
            <a:ext cx="4876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not grounded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22598" y="1938437"/>
            <a:ext cx="485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factors separating "monitor" from "seek care" were set heuristically, not against a critical value list.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9539" y="3413638"/>
            <a:ext cx="5303429" cy="1889699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09539" y="3413638"/>
            <a:ext cx="5303429" cy="512064"/>
          </a:xfrm>
          <a:prstGeom prst="roundRect">
            <a:avLst>
              <a:gd name="adj" fmla="val 14286"/>
            </a:avLst>
          </a:prstGeom>
          <a:solidFill>
            <a:srgbClr val="5A6B8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828995" y="3413638"/>
            <a:ext cx="4876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3410" y="4072006"/>
            <a:ext cx="485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reports carry noise, missing fields and formatting variation this study does not capture.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78728" y="3413638"/>
            <a:ext cx="5303429" cy="1889699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278728" y="3413638"/>
            <a:ext cx="5303429" cy="512064"/>
          </a:xfrm>
          <a:prstGeom prst="roundRect">
            <a:avLst>
              <a:gd name="adj" fmla="val 14286"/>
            </a:avLst>
          </a:prstGeom>
          <a:solidFill>
            <a:srgbClr val="5A6B8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6498184" y="3413638"/>
            <a:ext cx="4876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scope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522598" y="4072006"/>
            <a:ext cx="485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67"/>
              </a:lnSpc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blood count only. No biochemistry, one-sided intervals, qualitative results, or OCR.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1346"/>
            <a:ext cx="11094415" cy="670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Conclusion and future work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09539" y="1194755"/>
            <a:ext cx="10972526" cy="975299"/>
          </a:xfrm>
          <a:prstGeom prst="roundRect">
            <a:avLst>
              <a:gd name="adj" fmla="val 7500"/>
            </a:avLst>
          </a:prstGeom>
          <a:solidFill>
            <a:srgbClr val="1F386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2"/>
          <p:cNvSpPr txBox="1"/>
          <p:nvPr/>
        </p:nvSpPr>
        <p:spPr>
          <a:xfrm>
            <a:off x="950976" y="1194755"/>
            <a:ext cx="10289835" cy="97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67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not permitted to judge whether a value is abnormal. Rules decide first, the model paraphrases, a validator checks one against the other.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09539" y="2377349"/>
            <a:ext cx="3486790" cy="12191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07106" y="2499330"/>
            <a:ext cx="3291749" cy="609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33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 → 0%</a:t>
            </a:r>
            <a:endParaRPr lang="en-US" sz="2933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21030"/>
            <a:ext cx="32430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reassurance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52453" y="2377349"/>
            <a:ext cx="3486790" cy="12191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4449928" y="2499330"/>
            <a:ext cx="3291749" cy="609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33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933" dirty="0"/>
          </a:p>
        </p:txBody>
      </p:sp>
      <p:sp>
        <p:nvSpPr>
          <p:cNvPr id="11" name="Text 8"/>
          <p:cNvSpPr txBox="1"/>
          <p:nvPr/>
        </p:nvSpPr>
        <p:spPr>
          <a:xfrm>
            <a:off x="4474342" y="3121030"/>
            <a:ext cx="32430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output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95275" y="2377349"/>
            <a:ext cx="3486790" cy="12191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8192841" y="2499330"/>
            <a:ext cx="3291749" cy="609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33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933" dirty="0"/>
          </a:p>
        </p:txBody>
      </p:sp>
      <p:sp>
        <p:nvSpPr>
          <p:cNvPr id="14" name="Text 11"/>
          <p:cNvSpPr txBox="1"/>
          <p:nvPr/>
        </p:nvSpPr>
        <p:spPr>
          <a:xfrm>
            <a:off x="8217164" y="3121030"/>
            <a:ext cx="32430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GPUs required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09539" y="3779398"/>
            <a:ext cx="1097252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work, in order of importance</a:t>
            </a:r>
            <a:endParaRPr lang="en-US" sz="1667" dirty="0"/>
          </a:p>
        </p:txBody>
      </p:sp>
      <p:sp>
        <p:nvSpPr>
          <p:cNvPr id="16" name="Shape 13"/>
          <p:cNvSpPr/>
          <p:nvPr/>
        </p:nvSpPr>
        <p:spPr>
          <a:xfrm>
            <a:off x="755843" y="4267048"/>
            <a:ext cx="207294" cy="207294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1121603" y="4193987"/>
            <a:ext cx="1024100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by medical professionals (most pressing)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55843" y="4632808"/>
            <a:ext cx="207294" cy="207294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1121603" y="4559656"/>
            <a:ext cx="1024100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heuristic thresholds with a critical value list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55843" y="4998568"/>
            <a:ext cx="207294" cy="207294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1121603" y="4925416"/>
            <a:ext cx="1024100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biochemistry and qualitative results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55843" y="5364328"/>
            <a:ext cx="207294" cy="207294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1121603" y="5291176"/>
            <a:ext cx="1024100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output layer for elderly and low-literacy patients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55843" y="5730088"/>
            <a:ext cx="207294" cy="207294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1121603" y="5656936"/>
            <a:ext cx="10241006" cy="34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real reports from multiple laboratories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850636" y="6437193"/>
            <a:ext cx="10362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9539" y="1341059"/>
            <a:ext cx="10972526" cy="365750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12700" dir="54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Text 1"/>
          <p:cNvSpPr txBox="1"/>
          <p:nvPr/>
        </p:nvSpPr>
        <p:spPr>
          <a:xfrm>
            <a:off x="975299" y="1889699"/>
            <a:ext cx="102410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67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067" dirty="0"/>
          </a:p>
        </p:txBody>
      </p:sp>
      <p:sp>
        <p:nvSpPr>
          <p:cNvPr id="5" name="Shape 2"/>
          <p:cNvSpPr/>
          <p:nvPr/>
        </p:nvSpPr>
        <p:spPr>
          <a:xfrm>
            <a:off x="4876678" y="2986979"/>
            <a:ext cx="2438339" cy="0"/>
          </a:xfrm>
          <a:prstGeom prst="line">
            <a:avLst/>
          </a:prstGeom>
          <a:noFill/>
          <a:ln w="25400">
            <a:solidFill>
              <a:srgbClr val="1565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75299" y="3194182"/>
            <a:ext cx="10241006" cy="48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33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133" dirty="0"/>
          </a:p>
        </p:txBody>
      </p:sp>
      <p:sp>
        <p:nvSpPr>
          <p:cNvPr id="7" name="Text 4"/>
          <p:cNvSpPr txBox="1"/>
          <p:nvPr/>
        </p:nvSpPr>
        <p:spPr>
          <a:xfrm>
            <a:off x="975299" y="3901379"/>
            <a:ext cx="102410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Truong Quang Dai¹ · Vo Hoang Khang¹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75299" y="4328038"/>
            <a:ext cx="102410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ID HI26-0013 · Track B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6003</Words>
  <Application>Microsoft Office PowerPoint</Application>
  <PresentationFormat>Widescreen</PresentationFormat>
  <Paragraphs>558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HEALTHINFO IV - Blood Test Interpretation</dc:title>
  <dc:subject>PptxGenJS Presentation</dc:subject>
  <dc:creator>Vo Hoang Khang</dc:creator>
  <cp:lastModifiedBy>PC</cp:lastModifiedBy>
  <cp:revision>2</cp:revision>
  <dcterms:created xsi:type="dcterms:W3CDTF">2026-09-29T10:30:20Z</dcterms:created>
  <dcterms:modified xsi:type="dcterms:W3CDTF">2026-10-01T16:29:03Z</dcterms:modified>
</cp:coreProperties>
</file>
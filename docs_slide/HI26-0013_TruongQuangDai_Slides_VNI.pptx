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4" r:id="rId25"/>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Trang tiêu đề · 45 giây Chào buổi chiều quý vị. Cảm ơn quý vị đã ở lại với báo cáo cuối cùng của phiên hôm nay. Tôi tên là Trương Quang Đại, Trường Đại học HUTECH, Thành phố Hồ Chí Minh. Đây là nghiên cứu tôi làm cùng thầy hướng dẫn, thầy Võ Hoàng Khang. Bài của chúng tôi nói về việc giúp bệnh nhân hiểu kết quả xét nghiệm máu. Ý chính rất đơn giản. Luật quyết định. AI chỉ viết lời giải thích.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Cầm kết quả mà không hiểu gì · 1,5 phút Người bệnh rời phòng xét nghiệm với một trang toàn số. Trang giấy đầy thuật ngữ lạ. PDW. MCHC. Monocyte. Và đơn vị lạ. G trên lít. Femtolit. Picogam. Khoảng tham chiếu có in bên cạnh mỗi con số. Nên người bệnh thấy được số nào nằm ngoài khoảng. Nhưng họ không biết chỉ số đó đo cái gì. Họ không biết lệch như vậy có nặng không. Và không biết giờ phải làm gì. Hiểu biết về sức khỏe ở Việt Nam còn hạn chế. Một nghiên cứu ở Đà Nẵng, trên 204 người cao tuổi, cho thấy 60,3% có hiểu biết sức khỏe chưa đủ. Một nghiên cứu khác cho thấy 46% người bệnh phải tự lên mạng tra để hiểu kết quả của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Phiếu xét nghiệm người bệnh cầm về · 40 giây Đây là phiếu mà người bệnh cầm về nhà. Các dòng màu đỏ là chỉ số nằm ngoài khoảng tham chiếu. Khoảng tham chiếu có in sẵn, nhưng không có gì cho người bệnh biết chỉ số đó là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Không hiểu thì người ta hỏi AI · 1,5 phút Vậy người bệnh làm gì? Họ chụp ảnh phiếu, rồi hỏi một chatbot. Chúng tôi thử với chính mô hình của mình. Hỏi bằng tiếng Việt: giải thích ngắn gọn bạch cầu là gì. Mô hình trả lời: bạch cầu là tế bào lympho. Đây là lỗi định nghĩa. Lympho chỉ là một loại bạch cầu. Hai từ này không đồng nghĩa. Mô hình còn nói bạch cầu chống lại tế bào ung thư. Và nhắc tới hệ miễn dịch suy yếu. Không ai hỏi về ung thư cả. Thế là người có kết quả hoàn toàn bình thường vẫn nghe thấy chữ ung thư, chỉ trong một câu trả lời ngắn.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Lỗi đáng sợ nhất · 1,1 phút Nhưng lỗi nguy hiểm nhất lại đi theo chiều ngược lại. Trên slide này tôi so sánh hai loại lỗi. Lỗi thuật ngữ thì nhìn thấy được. Người đọc nhận ra và đi hỏi lại bác sĩ. Trấn an sai thì khác. Nó trôi chảy, nghe dễ chịu, và làm mất lý do đi khám. Trấn an sai nghĩa là: phiếu có chỉ số bất thường, nhưng mô hình nói mọi thứ đều bình thường. Đây là câu thật từ thí nghiệm của chúng tôi, trên một ca được xếp mức nên đi khám. Mô hình viết: tất cả các kết quả đều nằm trong khoảng bình thường. Vì vậy chúng tôi tách trấn an sai thành một loại lỗi riêng, và đo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Lý do chọn đề tài và mục tiêu · 1 phút Vậy vì sao chúng tôi làm đề tài này? Có bốn lý do. Thứ nhất, người bệnh có kết quả nhưng không hiểu. 60,3% người cao tuổi có hiểu biết sức khỏe chưa đủ, và 46% người bệnh phải tự lên mạng tra. Thứ hai, khi hỏi chatbot, câu trả lời có thể sai định nghĩa và tự nhắc tới bệnh nặng. Thứ ba, nguy hiểm nhất là trấn an sai. Phiếu bất thường nhưng bị bảo là bình thường, nên người bệnh không đi khám. Thứ tư, dữ liệu xét nghiệm là dữ liệu nhạy cảm, không nên gửi ra ngoài. Từ đó, mục tiêu của chúng tôi là: giải thích kết quả bằng tiếng Việt dễ hiểu. Luật quyết định giá trị có bất thường hay không. Mô hình chỉ diễn đạt lại. Không có trấn an sai, và không bao giờ hiện câu chưa kiểm chứng. Hệ thống chạy tại chỗ, không cần card đồ họa. Và chúng tôi đo trấn an sai như một loại lỗi riêng. Kết quả cuối cùng: trấn an sai từ 32% về 0, và 100% đầu ra an toàn. Tôi sẽ trình bày chi tiết ở phần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Bốn bước xử lý · 2 phút Đây là kiến trúc. Mời quý vị xem nguyên tắc ở trên cùng. Không giao bất kỳ phán đoán lâm sàng nào cho mô hình ngôn ngữ. Tầng một là chuẩn hóa. Quy mọi tên về một mã chuẩn, và quy đổi đơn vị. Tầng hai là phân loại bằng luật. So giá trị với khoảng tham chiếu, rồi gán một trong ba mức. Tầng một và tầng hai hoàn toàn không có AI. Trong khoảng là bình thường. Lệch ít là nên theo dõi. Lệch nhiều là nên đi khám sớm. Nhãn của cả phiếu lấy theo chỉ số nặng nhất. Nên phân loại chính xác là nhờ thiết kế, và mô hình không thể làm sai lệch nó. Tầng ba là sinh văn bản có ràng buộc. Mô hình nhận sẵn nhãn, và chỉ viết lại cho dễ hiểu. Tầng bốn là kiểm chứng. Máy tính đối chiếu câu chữ với nhãn của tầng hai. Không đạt thì bắt mô hình viết lại. Quá số lần cho phép thì dùng câu mẫu cố định. Nhờ vậy người bệnh không bao giờ đọc phải câu chưa qua kiểm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Bước 1 — tên và đơn vị · 1,6 phút Tôi xin nói kỹ hơn về tầng một. Một chỉ số có thể có nhiều tên. Với bạch cầu, chúng tôi gặp WBC, SLBC, tên tiếng Việt đầy đủ, và cả dạng có dấu sao. Dấu phần trăm và dấu thăng cũng quan trọng. Chúng phân biệt tỷ lệ với số lượng tuyệt đối. Có phòng xét nghiệm viết trước tên, có phòng viết sau. Nhưng đơn vị mới là vấn đề nghiêm trọng. Đây là ví dụ thật. Phiếu ghi huyết sắc tố là 14,56 g/dL. Khoảng tham chiếu của chúng tôi là 130 đến 175 g/L. Không quy đổi thì hệ thống báo nên đi khám. Đó là báo động giả, ở mức nặng nhất. Quy đổi rồi thì giá trị là 145,6, và kết quả là bình thường. Nên quy tắc của chúng tôi rất chặt. Đơn vị lạ hoặc thiếu thì bỏ qua chỉ số đó. Không bao giờ đoán. Đây là vấn đề đã biết. 6 đến 19% xét nghiệm không ánh xạ chính xác được sang LOINC. Và một phân tích tìm thấy 2.019 cách viết đơn vị khác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Bước 2 — gán nhãn bằng luật · 50 giây Tiếp theo là tầng hai, gán nhãn bằng luật. Mỗi giá trị được so với khoảng tham chiếu, rồi gán một trong ba mức. Trong khoảng là bình thường. Lệch ít là nên theo dõi. Lệch nhiều là nên đi khám sớm. Ví dụ, huyết sắc tố 145,6 g/L nằm trong khoảng 130 đến 175, nên là bình thường. Nhãn của cả phiếu lấy theo chỉ số nặng nhất. Tầng này hoàn toàn không có AI. Nên phân loại chính xác là nhờ thiết kế, và mô hình không thể làm sai lệch nó. Lưu ý: ngưỡng phân biệt lệch ít và lệch nhiều hiện do chúng tôi tự đặt theo kinh nghiệm. Tôi sẽ nói lại ở phần hạn chế.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Bước 3 và 4 — AI viết, máy kiểm tra · 1,4 phút Giờ tới tầng ba và tầng bốn. Tầng ba đặt ba ràng buộc. Ràng buộc đầu vào. Mô hình được cho sẵn nhãn, không bao giờ phải tự suy ra. Ràng buộc nội dung. Không tên bệnh, không nguyên nhân, không thuốc, không liều lượng. Ràng buộc đầu ra. Mô hình phải trả về đúng khuôn JSON cố định. Tầng bốn kiểm tra sáu loại lỗi. Một. Chiều cao thấp có khớp nhãn của tầng hai không? Hai. Câu văn có nói ngược nhãn không? Ba. Có từ bị cấm không? Bốn. Có bịa thêm chỉ số nào không? Năm. Có bỏ sót chỉ số nào không? Và sáu. Câu kết có trấn an sai không? Mô hình là Qwen 2.5, ba tỷ tham số, chạy tại chỗ qua Ollama. Nhờ vậy dữ liệu không ra khỏi đơn vị, và không cần card đồ họa.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Cách thử nghiệm · 1,3 phút Giờ tới phần thử nghiệm. Chúng tôi dùng 150 phiếu công thức máu tự tạo. Mỗi phiếu có 10 đến 18 chỉ số. Các phiếu chia đều cho ba mức nặng nhẹ. Tên và đơn vị lấy ngẫu nhiên, để thử tầng một. Vì sao dùng dữ liệu tự tạo? Có ba lý do. Chúng tôi cần đáp án đúng để chấm điểm. Phiếu thật không có sẵn. Chúng tôi cần thiết kế cân bằng. Phiếu thật hầu hết bình thường, sẽ thiếu ca nặng. Và như vậy chúng tôi không phải đụng tới dữ liệu người bệnh. Chúng tôi so ba cấu hình. Cấu hình một đưa thẳng số cho mô hình. Không nhãn, không ràng buộc, không kiểm chứng. Đây chính là việc xảy ra khi người dân dán phiếu vào chatbot. Cấu hình hai dùng tầng một tới ba. Có nhãn và ràng buộc, nhưng không kiểm chứng. Cấu hình ba dùng đủ bốn tầng.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Kết quả · 1,6 phút Đây là bảng kết quả chính. Các số là phần trăm số phiếu. Mọi chỉ số lỗi đều giảm, từ cấu hình một, sang hai, sang ba. Mời quý vị xem dòng cấu hình một. Không có phiếu nào an toàn, trong cả 150 phiếu. Sai chiều cao thấp ở 91,3% số phiếu. Từ bị cấm xuất hiện ở 79,3%. Và trấn an sai ở 32%. Tức là cứ ba người thì một. Dòng cấu hình hai tốt hơn nhiều. Trấn an sai còn 8%. Sai chiều lệch còn 12,7%. Nhưng 52% số câu ở cấu hình này vẫn không qua kiểm chứng. Dòng cấu hình ba. An toàn 100%, và bằng không ở mọi cột lỗi.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Kết quả nhìn bằng biểu đồ · 40 giây Vẫn kết quả đó, nhìn bằng biểu đồ. Mọi loại lỗi đều giảm, từ cấu hình một, sang hai, sang ba. Cấu hình đầy đủ bằng không ở cả sáu loại lỗi.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Ba con số đáng nhớ · 1,5 phút Đây là ba con số tôi mong quý vị nhớ. Thứ nhất, trấn an sai, từ 32% về 0. Không có ràng buộc thì cứ ba người có kết quả bất thường, một người được bảo là không có gì đáng lo. Thứ hai, sai chiều lệch, từ 91,3% về 0. Khi mô hình tự phán đoán thì nó sai gần như luôn. Giao cho tầng luật thì chính xác tuyệt đối. Thứ ba, 48%. Dù đã dặn rất kỹ, hơn một nửa số câu vẫn không đạt. Chỉ dặn dò thôi thì không bảo đảm mô hình làm theo. Và tôi muốn nói rõ về con số 100%. 64% số phiếu dùng câu do mô hình viết. 36% dùng câu mẫu cố định. Đảm bảo an toàn đến từ quy trình. Không phải bằng chứng rằng mô hình ba tỷ tham số viết tốt. ⚑ ĐỪNG BỎ hai câu 64% và 36%. Người phản biện hay hỏi chỗ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Hai điều rút ra · 1,2 phút Hai điều rút ra từ nghiên cứu này. Thứ nhất, trấn an sai xứng đáng có chỉ số đo riêng. Các đánh giá hiện nay báo cáo độ dễ đọc và độ chính xác thông tin. Nhưng một câu trấn an sai vẫn có thể được chấm dễ đọc điểm cao, vì nó đơn giản và êm tai. Cái hại là nó khiến người đọc không đi khám. Thứ hai, chuẩn hóa đơn vị là điều kiện cần về an toàn. Lỗi đơn vị của chúng tôi xảy ra ngay trong tầng luật. Tầng mà chúng tôi coi là chính xác tuyệt đối. Các bước sau không phát hiện được, vì tầng nào cũng chép lại y nguyên một nhãn sai. Nên cần các chuẩn như LOINC và HL7 FHIR, trước khi xây dựng logic lâm sàng bằng quy tắc.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Hạn chế · 55 giây Giờ tới phần hạn chế. Tôi xin nói thẳng. Thứ nhất, chưa có kiểm chứng lâm sàng. Toàn bộ đánh giá do máy làm. Chưa có người trong ngành y đọc lại các câu giải thích. Thứ hai, ngưỡng nặng nhẹ là tự đặt. Chưa lấy từ danh mục giá trị nguy hiểm của phòng xét nghiệm. Thứ ba, dữ liệu là tự tạo. Phiếu thật có nhiễu, có ô trống, và trình bày khác nhau. Thứ tư, phạm vi còn hẹp. Chúng tôi mới làm được công thức máu. Chưa có sinh hóa, chưa có kết quả âm tính dương tính, và chưa đọc được ảnh chụp.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Kết luận và việc làm tiếp · 1 phút Tóm lại. Mô hình ngôn ngữ không được quyết định một giá trị có bất thường hay không. Luật quyết định trước. Mô hình viết lại. Rồi bộ kiểm chứng đối chiếu hai bên. Trấn an sai từ 32% về 0. Kết quả an toàn đạt 100%. Và hệ thống không cần card đồ họa. Việc làm tiếp, theo thứ tự quan trọng. Nhờ người trong ngành y kiểm tra lại. Đây là việc cấp thiết nhất. Sau đó, thay ngưỡng tự đặt bằng danh mục giá trị nguy hiểm thật. Rồi tới sinh hóa và kết quả âm tính dương tính. Thêm phần đọc thành tiếng, cho người già và người đọc kém. Và thử nghiệm trên phiếu thật, từ nhiều phòng xét nghiệm.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Cảm ơn và hỏi đáp · còn lại Cảm ơn quý vị đã lắng nghe, và đã ở lại tới cuối phiên. Tôi sẵn sàng nhận câu hỏi của quý vị.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1"/>
              <a:t>SLIDE 11 · Căn cứ của các quyết định · 50 giây</a:t>
            </a:r>
          </a:p>
          <a:p>
            <a:r>
              <a:rPr sz="1600" b="0"/>
              <a:t>Có một câu hỏi chúng tôi hay gặp: dựa vào đâu để quyết định.</a:t>
            </a:r>
          </a:p>
          <a:p>
            <a:r>
              <a:rPr sz="1600" b="0"/>
              <a:t>Khoảng tham chiếu không phải của chúng tôi. Đó là khoảng do phòng xét nghiệm in trên phiếu.</a:t>
            </a:r>
          </a:p>
          <a:p>
            <a:r>
              <a:rPr sz="1600" b="0"/>
              <a:t>Hệ số phân biệt theo dõi với đi khám là do chúng tôi tự đặt. Chỗ này chưa có căn cứ y văn, và bài báo ghi thẳng như vậy.</a:t>
            </a:r>
          </a:p>
          <a:p>
            <a:r>
              <a:rPr sz="1600" b="0"/>
              <a:t>Danh mục từ cấm đi theo ranh giới hành nghề: chẩn đoán và kê đơn phải do người có giấy phép làm.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6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711200"/>
            <a:ext cx="10566400" cy="379710"/>
          </a:xfrm>
          <a:prstGeom prst="rect">
            <a:avLst/>
          </a:prstGeom>
          <a:noFill/>
          <a:ln/>
        </p:spPr>
        <p:txBody>
          <a:bodyPr wrap="square" lIns="0" tIns="0" rIns="0" bIns="0" rtlCol="0" anchor="t"/>
          <a:lstStyle>
            <a:lvl1pPr algn="l" indent="0" marL="0">
              <a:lnSpc>
                <a:spcPct val="115000"/>
              </a:lnSpc>
              <a:buNone/>
              <a:defRPr lang="en-US" sz="2600" dirty="0">
                <a:solidFill>
                  <a:srgbClr val="0B2545"/>
                </a:solidFill>
                <a:latin typeface="Arial" pitchFamily="34" charset="0"/>
                <a:ea typeface="Arial" pitchFamily="34" charset="-122"/>
                <a:cs typeface="Arial"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1395710"/>
            <a:ext cx="10566400" cy="4649490"/>
          </a:xfrm>
          <a:prstGeom prst="rect">
            <a:avLst/>
          </a:prstGeom>
          <a:noFill/>
          <a:ln/>
        </p:spPr>
        <p:txBody>
          <a:bodyPr wrap="square" lIns="0" tIns="0" rIns="0" bIns="0" rtlCol="0" anchor="t"/>
          <a:lstStyle>
            <a:lvl1pPr algn="l" indent="0" marL="0">
              <a:lnSpc>
                <a:spcPct val="140000"/>
              </a:lnSpc>
              <a:buNone/>
              <a:defRPr lang="en-US" sz="1600" dirty="0">
                <a:solidFill>
                  <a:srgbClr val="0B2545"/>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6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711200"/>
            <a:ext cx="10566400" cy="379710"/>
          </a:xfrm>
          <a:prstGeom prst="rect">
            <a:avLst/>
          </a:prstGeom>
          <a:noFill/>
          <a:ln/>
        </p:spPr>
        <p:txBody>
          <a:bodyPr wrap="square" lIns="0" tIns="0" rIns="0" bIns="0" rtlCol="0" anchor="t"/>
          <a:lstStyle>
            <a:lvl1pPr algn="l" indent="0" marL="0">
              <a:lnSpc>
                <a:spcPct val="115000"/>
              </a:lnSpc>
              <a:buNone/>
              <a:defRPr lang="en-US" sz="2600" dirty="0">
                <a:solidFill>
                  <a:srgbClr val="0B2545"/>
                </a:solidFill>
                <a:latin typeface="Arial" pitchFamily="34" charset="0"/>
                <a:ea typeface="Arial" pitchFamily="34" charset="-122"/>
                <a:cs typeface="Arial"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1395710"/>
            <a:ext cx="10566400" cy="4649490"/>
          </a:xfrm>
          <a:prstGeom prst="rect">
            <a:avLst/>
          </a:prstGeom>
          <a:noFill/>
          <a:ln/>
        </p:spPr>
        <p:txBody>
          <a:bodyPr wrap="square" lIns="0" tIns="0" rIns="0" bIns="0" rtlCol="0" anchor="t"/>
          <a:lstStyle>
            <a:lvl1pPr algn="l" indent="0" marL="0">
              <a:lnSpc>
                <a:spcPct val="140000"/>
              </a:lnSpc>
              <a:buNone/>
              <a:defRPr lang="en-US" sz="1600" dirty="0">
                <a:solidFill>
                  <a:srgbClr val="0B2545"/>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pic>
        <p:nvPicPr>
          <p:cNvPr id="2" name="Image 0" descr="Khuôn viên UIT, ĐHQG-HCM">    </p:cNvPr>
          <p:cNvPicPr>
            <a:picLocks noChangeAspect="1"/>
          </p:cNvPicPr>
          <p:nvPr/>
        </p:nvPicPr>
        <p:blipFill>
          <a:blip r:embed="rId1"/>
          <a:srcRect l="0" r="0" t="5736" b="5736"/>
          <a:stretch/>
        </p:blipFill>
        <p:spPr>
          <a:xfrm>
            <a:off x="0" y="0"/>
            <a:ext cx="12192000" cy="2413000"/>
          </a:xfrm>
          <a:prstGeom prst="rect">
            <a:avLst/>
          </a:prstGeom>
        </p:spPr>
      </p:pic>
      <p:sp>
        <p:nvSpPr>
          <p:cNvPr id="3" name="Shape 0"/>
          <p:cNvSpPr/>
          <p:nvPr/>
        </p:nvSpPr>
        <p:spPr>
          <a:xfrm>
            <a:off x="0" y="2413000"/>
            <a:ext cx="12192000" cy="50800"/>
          </a:xfrm>
          <a:prstGeom prst="rect">
            <a:avLst/>
          </a:prstGeom>
          <a:solidFill>
            <a:srgbClr val="2DD4BF"/>
          </a:solidFill>
          <a:ln/>
        </p:spPr>
        <p:txBody>
          <a:bodyPr/>
          <a:p/>
        </p:txBody>
      </p:sp>
      <p:sp>
        <p:nvSpPr>
          <p:cNvPr id="4" name="Shape 1"/>
          <p:cNvSpPr/>
          <p:nvPr/>
        </p:nvSpPr>
        <p:spPr>
          <a:xfrm>
            <a:off x="812800" y="457200"/>
            <a:ext cx="2794000" cy="1371600"/>
          </a:xfrm>
          <a:prstGeom prst="roundRect">
            <a:avLst>
              <a:gd name="adj" fmla="val 9259"/>
            </a:avLst>
          </a:prstGeom>
          <a:solidFill>
            <a:srgbClr val="FFFFFF"/>
          </a:solidFill>
          <a:ln/>
        </p:spPr>
        <p:txBody>
          <a:bodyPr/>
          <a:p/>
        </p:txBody>
      </p:sp>
      <p:pic>
        <p:nvPicPr>
          <p:cNvPr id="5" name="Image 1" descr="Logo HEALTHINFO IV">    </p:cNvPr>
          <p:cNvPicPr>
            <a:picLocks noChangeAspect="1"/>
          </p:cNvPicPr>
          <p:nvPr/>
        </p:nvPicPr>
        <p:blipFill>
          <a:blip r:embed="rId2"/>
          <a:srcRect l="0" r="0" t="-130" b="-130"/>
          <a:stretch/>
        </p:blipFill>
        <p:spPr>
          <a:xfrm>
            <a:off x="939800" y="561975"/>
            <a:ext cx="2540000" cy="1162050"/>
          </a:xfrm>
          <a:prstGeom prst="rect">
            <a:avLst/>
          </a:prstGeom>
        </p:spPr>
      </p:pic>
      <p:sp>
        <p:nvSpPr>
          <p:cNvPr id="6" name="Text 2"/>
          <p:cNvSpPr/>
          <p:nvPr/>
        </p:nvSpPr>
        <p:spPr>
          <a:xfrm>
            <a:off x="812800" y="27940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50" kern="0" dirty="0">
                <a:solidFill>
                  <a:srgbClr val="5EEAD4"/>
                </a:solidFill>
                <a:latin typeface="Arial" pitchFamily="34" charset="0"/>
                <a:ea typeface="Arial" pitchFamily="34" charset="-122"/>
                <a:cs typeface="Arial" pitchFamily="34" charset="-120"/>
              </a:rPr>
              <a:t>NHÁNH B · MÃ BÀI HI26-0013 · BÁO CÁO MIỆNG</a:t>
            </a:r>
            <a:endParaRPr lang="en-US" sz="1400" dirty="0"/>
          </a:p>
        </p:txBody>
      </p:sp>
      <p:sp>
        <p:nvSpPr>
          <p:cNvPr id="7" name="Text 3"/>
          <p:cNvSpPr/>
          <p:nvPr>
            <p:ph type="title"/>
          </p:nvPr>
        </p:nvSpPr>
        <p:spPr>
          <a:xfrm>
            <a:off x="812800" y="3182541"/>
            <a:ext cx="10883392" cy="1329134"/>
          </a:xfrm>
          <a:prstGeom prst="rect">
            <a:avLst/>
          </a:prstGeom>
          <a:noFill/>
          <a:ln/>
        </p:spPr>
        <p:txBody>
          <a:bodyPr wrap="square" lIns="0" tIns="0" rIns="0" bIns="0" rtlCol="0" anchor="t">
            <a:normAutofit/>
          </a:bodyPr>
          <a:lstStyle/>
          <a:p>
            <a:pPr algn="l" indent="0" marL="0">
              <a:lnSpc>
                <a:spcPts val="3422"/>
              </a:lnSpc>
              <a:buNone/>
            </a:pPr>
            <a:r>
              <a:rPr lang="en-US" sz="2900" b="1" i="0" dirty="0">
                <a:solidFill>
                  <a:srgbClr val="FFFFFF"/>
                </a:solidFill>
                <a:latin typeface="Arial" pitchFamily="34" charset="0"/>
                <a:ea typeface="Arial" pitchFamily="34" charset="-122"/>
                <a:cs typeface="Arial" pitchFamily="34" charset="-120"/>
              </a:rPr>
              <a:t>A Rule-Constrained Large Language Model Pipeline for Patient-Friendly Interpretation of Vietnamese Blood Test Results</a:t>
            </a:r>
            <a:endParaRPr lang="en-US" sz="2900" dirty="0"/>
          </a:p>
        </p:txBody>
      </p:sp>
      <p:sp>
        <p:nvSpPr>
          <p:cNvPr id="8" name="Text 4"/>
          <p:cNvSpPr/>
          <p:nvPr/>
        </p:nvSpPr>
        <p:spPr>
          <a:xfrm>
            <a:off x="812800" y="4676775"/>
            <a:ext cx="1088339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Arial" pitchFamily="34" charset="0"/>
                <a:ea typeface="Arial" pitchFamily="34" charset="-122"/>
                <a:cs typeface="Arial" pitchFamily="34" charset="-120"/>
              </a:rPr>
              <a:t>Trương Quang Đại¹ · Võ Hoàng Khang¹</a:t>
            </a:r>
            <a:endParaRPr lang="en-US" sz="1700" dirty="0"/>
          </a:p>
        </p:txBody>
      </p:sp>
      <p:sp>
        <p:nvSpPr>
          <p:cNvPr id="9" name="Text 5"/>
          <p:cNvSpPr/>
          <p:nvPr/>
        </p:nvSpPr>
        <p:spPr>
          <a:xfrm>
            <a:off x="812800" y="5029795"/>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7DA"/>
                </a:solidFill>
                <a:latin typeface="Arial" pitchFamily="34" charset="0"/>
                <a:ea typeface="Arial" pitchFamily="34" charset="-122"/>
                <a:cs typeface="Arial" pitchFamily="34" charset="-120"/>
              </a:rPr>
              <a:t>¹ Trường Đại học HUTECH, Thành phố Hồ Chí Minh</a:t>
            </a:r>
            <a:endParaRPr lang="en-US" sz="1400" dirty="0"/>
          </a:p>
        </p:txBody>
      </p:sp>
      <p:sp>
        <p:nvSpPr>
          <p:cNvPr id="10" name="Text 6"/>
          <p:cNvSpPr/>
          <p:nvPr/>
        </p:nvSpPr>
        <p:spPr>
          <a:xfrm>
            <a:off x="812800" y="62027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7DA"/>
                </a:solidFill>
                <a:latin typeface="Arial" pitchFamily="34" charset="0"/>
                <a:ea typeface="Arial" pitchFamily="34" charset="-122"/>
                <a:cs typeface="Arial" pitchFamily="34" charset="-120"/>
              </a:rPr>
              <a:t>HEALTHINFO IV — Hội nghị Tin học Y tế Quốc tế lần thứ 4 · 02–03/10/2026 · Trường ĐH Công nghệ Thông tin, ĐHQG-HCM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A"/>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0B7A6E"/>
          </a:solidFill>
          <a:ln/>
        </p:spPr>
        <p:txBody>
          <a:bodyPr/>
          <a:p/>
        </p:txBody>
      </p:sp>
      <p:sp>
        <p:nvSpPr>
          <p:cNvPr id="3" name="Text 1"/>
          <p:cNvSpPr/>
          <p:nvPr>
            <p:ph type="title"/>
          </p:nvPr>
        </p:nvSpPr>
        <p:spPr>
          <a:xfrm>
            <a:off x="812800" y="71120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B7A6E"/>
                </a:solidFill>
                <a:latin typeface="Arial" pitchFamily="34" charset="0"/>
                <a:ea typeface="Arial" pitchFamily="34" charset="-122"/>
                <a:cs typeface="Arial" pitchFamily="34" charset="-120"/>
              </a:rPr>
              <a:t>01</a:t>
            </a:r>
            <a:r>
              <a:rPr lang="en-US" sz="2600" b="1" i="0" dirty="0">
                <a:solidFill>
                  <a:srgbClr val="0B2545"/>
                </a:solidFill>
                <a:latin typeface="Arial" pitchFamily="34" charset="0"/>
                <a:ea typeface="Arial" pitchFamily="34" charset="-122"/>
                <a:cs typeface="Arial" pitchFamily="34" charset="-120"/>
              </a:rPr>
              <a:t> Vấn đề: có kết quả nhưng không hiểu</a:t>
            </a:r>
            <a:endParaRPr lang="en-US" sz="2600" dirty="0"/>
          </a:p>
        </p:txBody>
      </p:sp>
      <p:sp>
        <p:nvSpPr>
          <p:cNvPr id="4" name="Text 2"/>
          <p:cNvSpPr/>
          <p:nvPr/>
        </p:nvSpPr>
        <p:spPr>
          <a:xfrm>
            <a:off x="812800" y="1217910"/>
            <a:ext cx="1088339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A4A5E"/>
                </a:solidFill>
                <a:latin typeface="Arial" pitchFamily="34" charset="0"/>
                <a:ea typeface="Arial" pitchFamily="34" charset="-122"/>
                <a:cs typeface="Arial" pitchFamily="34" charset="-120"/>
              </a:rPr>
              <a:t>Người bệnh rời phòng xét nghiệm với một phiếu đầy thuật ngữ và đơn vị lạ:</a:t>
            </a:r>
            <a:endParaRPr lang="en-US" sz="1400" dirty="0"/>
          </a:p>
        </p:txBody>
      </p:sp>
      <p:sp>
        <p:nvSpPr>
          <p:cNvPr id="5" name="Shape 3"/>
          <p:cNvSpPr/>
          <p:nvPr/>
        </p:nvSpPr>
        <p:spPr>
          <a:xfrm>
            <a:off x="815975" y="1579166"/>
            <a:ext cx="1670050" cy="1332012"/>
          </a:xfrm>
          <a:prstGeom prst="roundRect">
            <a:avLst>
              <a:gd name="adj" fmla="val 7389"/>
            </a:avLst>
          </a:prstGeom>
          <a:solidFill>
            <a:srgbClr val="FFFFFF"/>
          </a:solidFill>
          <a:ln w="6350">
            <a:solidFill>
              <a:srgbClr val="D9E2EC"/>
            </a:solidFill>
            <a:prstDash val="solid"/>
          </a:ln>
        </p:spPr>
        <p:txBody>
          <a:bodyPr/>
          <a:p/>
        </p:txBody>
      </p:sp>
      <p:sp>
        <p:nvSpPr>
          <p:cNvPr id="6" name="Text 4"/>
          <p:cNvSpPr/>
          <p:nvPr/>
        </p:nvSpPr>
        <p:spPr>
          <a:xfrm>
            <a:off x="958850" y="1722041"/>
            <a:ext cx="14351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C2570C"/>
                </a:solidFill>
                <a:latin typeface="Arial" pitchFamily="34" charset="0"/>
                <a:ea typeface="Arial" pitchFamily="34" charset="-122"/>
                <a:cs typeface="Arial" pitchFamily="34" charset="-120"/>
              </a:rPr>
              <a:t>PDW</a:t>
            </a:r>
            <a:endParaRPr lang="en-US" sz="1700" dirty="0"/>
          </a:p>
        </p:txBody>
      </p:sp>
      <p:sp>
        <p:nvSpPr>
          <p:cNvPr id="7" name="Text 5"/>
          <p:cNvSpPr/>
          <p:nvPr/>
        </p:nvSpPr>
        <p:spPr>
          <a:xfrm>
            <a:off x="958850" y="2075061"/>
            <a:ext cx="1435100"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A4A5E"/>
                </a:solidFill>
                <a:latin typeface="Arial" pitchFamily="34" charset="0"/>
                <a:ea typeface="Arial" pitchFamily="34" charset="-122"/>
                <a:cs typeface="Arial" pitchFamily="34" charset="-120"/>
              </a:rPr>
              <a:t>Độ phân bố kích thước tiểu cầu</a:t>
            </a:r>
            <a:endParaRPr lang="en-US" sz="1400" dirty="0"/>
          </a:p>
        </p:txBody>
      </p:sp>
      <p:sp>
        <p:nvSpPr>
          <p:cNvPr id="8" name="Shape 6"/>
          <p:cNvSpPr/>
          <p:nvPr/>
        </p:nvSpPr>
        <p:spPr>
          <a:xfrm>
            <a:off x="2593975" y="1579166"/>
            <a:ext cx="1670050" cy="1332012"/>
          </a:xfrm>
          <a:prstGeom prst="roundRect">
            <a:avLst>
              <a:gd name="adj" fmla="val 7389"/>
            </a:avLst>
          </a:prstGeom>
          <a:solidFill>
            <a:srgbClr val="FFFFFF"/>
          </a:solidFill>
          <a:ln w="6350">
            <a:solidFill>
              <a:srgbClr val="D9E2EC"/>
            </a:solidFill>
            <a:prstDash val="solid"/>
          </a:ln>
        </p:spPr>
        <p:txBody>
          <a:bodyPr/>
          <a:p/>
        </p:txBody>
      </p:sp>
      <p:sp>
        <p:nvSpPr>
          <p:cNvPr id="9" name="Text 7"/>
          <p:cNvSpPr/>
          <p:nvPr/>
        </p:nvSpPr>
        <p:spPr>
          <a:xfrm>
            <a:off x="2736850" y="1722041"/>
            <a:ext cx="14351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C2570C"/>
                </a:solidFill>
                <a:latin typeface="Arial" pitchFamily="34" charset="0"/>
                <a:ea typeface="Arial" pitchFamily="34" charset="-122"/>
                <a:cs typeface="Arial" pitchFamily="34" charset="-120"/>
              </a:rPr>
              <a:t>MCHC</a:t>
            </a:r>
            <a:endParaRPr lang="en-US" sz="1700" dirty="0"/>
          </a:p>
        </p:txBody>
      </p:sp>
      <p:sp>
        <p:nvSpPr>
          <p:cNvPr id="10" name="Text 8"/>
          <p:cNvSpPr/>
          <p:nvPr/>
        </p:nvSpPr>
        <p:spPr>
          <a:xfrm>
            <a:off x="2736850" y="2075061"/>
            <a:ext cx="1435100" cy="71864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A4A5E"/>
                </a:solidFill>
                <a:latin typeface="Arial" pitchFamily="34" charset="0"/>
                <a:ea typeface="Arial" pitchFamily="34" charset="-122"/>
                <a:cs typeface="Arial" pitchFamily="34" charset="-120"/>
              </a:rPr>
              <a:t>Nồng độ huyết sắc tố trung bình hồng cầu</a:t>
            </a:r>
            <a:endParaRPr lang="en-US" sz="1400" dirty="0"/>
          </a:p>
        </p:txBody>
      </p:sp>
      <p:sp>
        <p:nvSpPr>
          <p:cNvPr id="11" name="Shape 9"/>
          <p:cNvSpPr/>
          <p:nvPr/>
        </p:nvSpPr>
        <p:spPr>
          <a:xfrm>
            <a:off x="4371975" y="1579166"/>
            <a:ext cx="1670050" cy="1332012"/>
          </a:xfrm>
          <a:prstGeom prst="roundRect">
            <a:avLst>
              <a:gd name="adj" fmla="val 7389"/>
            </a:avLst>
          </a:prstGeom>
          <a:solidFill>
            <a:srgbClr val="FFFFFF"/>
          </a:solidFill>
          <a:ln w="6350">
            <a:solidFill>
              <a:srgbClr val="D9E2EC"/>
            </a:solidFill>
            <a:prstDash val="solid"/>
          </a:ln>
        </p:spPr>
        <p:txBody>
          <a:bodyPr/>
          <a:p/>
        </p:txBody>
      </p:sp>
      <p:sp>
        <p:nvSpPr>
          <p:cNvPr id="12" name="Text 10"/>
          <p:cNvSpPr/>
          <p:nvPr/>
        </p:nvSpPr>
        <p:spPr>
          <a:xfrm>
            <a:off x="4514850" y="1722041"/>
            <a:ext cx="14351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C2570C"/>
                </a:solidFill>
                <a:latin typeface="Arial" pitchFamily="34" charset="0"/>
                <a:ea typeface="Arial" pitchFamily="34" charset="-122"/>
                <a:cs typeface="Arial" pitchFamily="34" charset="-120"/>
              </a:rPr>
              <a:t>Monocyte</a:t>
            </a:r>
            <a:endParaRPr lang="en-US" sz="1700" dirty="0"/>
          </a:p>
        </p:txBody>
      </p:sp>
      <p:sp>
        <p:nvSpPr>
          <p:cNvPr id="13" name="Text 11"/>
          <p:cNvSpPr/>
          <p:nvPr/>
        </p:nvSpPr>
        <p:spPr>
          <a:xfrm>
            <a:off x="4514850" y="2075061"/>
            <a:ext cx="1435100" cy="71864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A4A5E"/>
                </a:solidFill>
                <a:latin typeface="Arial" pitchFamily="34" charset="0"/>
                <a:ea typeface="Arial" pitchFamily="34" charset="-122"/>
                <a:cs typeface="Arial" pitchFamily="34" charset="-120"/>
              </a:rPr>
              <a:t>Bạch cầu mono, một loại bạch cầu</a:t>
            </a:r>
            <a:endParaRPr lang="en-US" sz="1400" dirty="0"/>
          </a:p>
        </p:txBody>
      </p:sp>
      <p:sp>
        <p:nvSpPr>
          <p:cNvPr id="14" name="Shape 12"/>
          <p:cNvSpPr/>
          <p:nvPr/>
        </p:nvSpPr>
        <p:spPr>
          <a:xfrm>
            <a:off x="6149975" y="1579166"/>
            <a:ext cx="1670050" cy="1332012"/>
          </a:xfrm>
          <a:prstGeom prst="roundRect">
            <a:avLst>
              <a:gd name="adj" fmla="val 7389"/>
            </a:avLst>
          </a:prstGeom>
          <a:solidFill>
            <a:srgbClr val="FFFFFF"/>
          </a:solidFill>
          <a:ln w="6350">
            <a:solidFill>
              <a:srgbClr val="D9E2EC"/>
            </a:solidFill>
            <a:prstDash val="solid"/>
          </a:ln>
        </p:spPr>
        <p:txBody>
          <a:bodyPr/>
          <a:p/>
        </p:txBody>
      </p:sp>
      <p:sp>
        <p:nvSpPr>
          <p:cNvPr id="15" name="Text 13"/>
          <p:cNvSpPr/>
          <p:nvPr/>
        </p:nvSpPr>
        <p:spPr>
          <a:xfrm>
            <a:off x="6292850" y="1722041"/>
            <a:ext cx="14351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E5FB4"/>
                </a:solidFill>
                <a:latin typeface="Arial" pitchFamily="34" charset="0"/>
                <a:ea typeface="Arial" pitchFamily="34" charset="-122"/>
                <a:cs typeface="Arial" pitchFamily="34" charset="-120"/>
              </a:rPr>
              <a:t>G/L</a:t>
            </a:r>
            <a:endParaRPr lang="en-US" sz="1700" dirty="0"/>
          </a:p>
        </p:txBody>
      </p:sp>
      <p:sp>
        <p:nvSpPr>
          <p:cNvPr id="16" name="Text 14"/>
          <p:cNvSpPr/>
          <p:nvPr/>
        </p:nvSpPr>
        <p:spPr>
          <a:xfrm>
            <a:off x="6292850" y="2075061"/>
            <a:ext cx="1435100"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A4A5E"/>
                </a:solidFill>
                <a:latin typeface="Arial" pitchFamily="34" charset="0"/>
                <a:ea typeface="Arial" pitchFamily="34" charset="-122"/>
                <a:cs typeface="Arial" pitchFamily="34" charset="-120"/>
              </a:rPr>
              <a:t>Tỷ (10⁹) tế bào trên một lít</a:t>
            </a:r>
            <a:endParaRPr lang="en-US" sz="1400" dirty="0"/>
          </a:p>
        </p:txBody>
      </p:sp>
      <p:sp>
        <p:nvSpPr>
          <p:cNvPr id="17" name="Shape 15"/>
          <p:cNvSpPr/>
          <p:nvPr/>
        </p:nvSpPr>
        <p:spPr>
          <a:xfrm>
            <a:off x="7927975" y="1579166"/>
            <a:ext cx="1670050" cy="1332012"/>
          </a:xfrm>
          <a:prstGeom prst="roundRect">
            <a:avLst>
              <a:gd name="adj" fmla="val 7389"/>
            </a:avLst>
          </a:prstGeom>
          <a:solidFill>
            <a:srgbClr val="FFFFFF"/>
          </a:solidFill>
          <a:ln w="6350">
            <a:solidFill>
              <a:srgbClr val="D9E2EC"/>
            </a:solidFill>
            <a:prstDash val="solid"/>
          </a:ln>
        </p:spPr>
        <p:txBody>
          <a:bodyPr/>
          <a:p/>
        </p:txBody>
      </p:sp>
      <p:sp>
        <p:nvSpPr>
          <p:cNvPr id="18" name="Text 16"/>
          <p:cNvSpPr/>
          <p:nvPr/>
        </p:nvSpPr>
        <p:spPr>
          <a:xfrm>
            <a:off x="8070850" y="1722041"/>
            <a:ext cx="14351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E5FB4"/>
                </a:solidFill>
                <a:latin typeface="Arial" pitchFamily="34" charset="0"/>
                <a:ea typeface="Arial" pitchFamily="34" charset="-122"/>
                <a:cs typeface="Arial" pitchFamily="34" charset="-120"/>
              </a:rPr>
              <a:t>fL</a:t>
            </a:r>
            <a:endParaRPr lang="en-US" sz="1700" dirty="0"/>
          </a:p>
        </p:txBody>
      </p:sp>
      <p:sp>
        <p:nvSpPr>
          <p:cNvPr id="19" name="Text 17"/>
          <p:cNvSpPr/>
          <p:nvPr/>
        </p:nvSpPr>
        <p:spPr>
          <a:xfrm>
            <a:off x="8070850" y="2075061"/>
            <a:ext cx="1435100"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A4A5E"/>
                </a:solidFill>
                <a:latin typeface="Arial" pitchFamily="34" charset="0"/>
                <a:ea typeface="Arial" pitchFamily="34" charset="-122"/>
                <a:cs typeface="Arial" pitchFamily="34" charset="-120"/>
              </a:rPr>
              <a:t>Femtolit, đơn vị thể tích tế bào</a:t>
            </a:r>
            <a:endParaRPr lang="en-US" sz="1400" dirty="0"/>
          </a:p>
        </p:txBody>
      </p:sp>
      <p:sp>
        <p:nvSpPr>
          <p:cNvPr id="20" name="Shape 18"/>
          <p:cNvSpPr/>
          <p:nvPr/>
        </p:nvSpPr>
        <p:spPr>
          <a:xfrm>
            <a:off x="9705975" y="1579166"/>
            <a:ext cx="1670050" cy="1332012"/>
          </a:xfrm>
          <a:prstGeom prst="roundRect">
            <a:avLst>
              <a:gd name="adj" fmla="val 7389"/>
            </a:avLst>
          </a:prstGeom>
          <a:solidFill>
            <a:srgbClr val="FFFFFF"/>
          </a:solidFill>
          <a:ln w="6350">
            <a:solidFill>
              <a:srgbClr val="D9E2EC"/>
            </a:solidFill>
            <a:prstDash val="solid"/>
          </a:ln>
        </p:spPr>
        <p:txBody>
          <a:bodyPr/>
          <a:p/>
        </p:txBody>
      </p:sp>
      <p:sp>
        <p:nvSpPr>
          <p:cNvPr id="21" name="Text 19"/>
          <p:cNvSpPr/>
          <p:nvPr/>
        </p:nvSpPr>
        <p:spPr>
          <a:xfrm>
            <a:off x="9848850" y="1722041"/>
            <a:ext cx="14351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E5FB4"/>
                </a:solidFill>
                <a:latin typeface="Arial" pitchFamily="34" charset="0"/>
                <a:ea typeface="Arial" pitchFamily="34" charset="-122"/>
                <a:cs typeface="Arial" pitchFamily="34" charset="-120"/>
              </a:rPr>
              <a:t>pg</a:t>
            </a:r>
            <a:endParaRPr lang="en-US" sz="1700" dirty="0"/>
          </a:p>
        </p:txBody>
      </p:sp>
      <p:sp>
        <p:nvSpPr>
          <p:cNvPr id="22" name="Text 20"/>
          <p:cNvSpPr/>
          <p:nvPr/>
        </p:nvSpPr>
        <p:spPr>
          <a:xfrm>
            <a:off x="9848850" y="2075061"/>
            <a:ext cx="1435100"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A4A5E"/>
                </a:solidFill>
                <a:latin typeface="Arial" pitchFamily="34" charset="0"/>
                <a:ea typeface="Arial" pitchFamily="34" charset="-122"/>
                <a:cs typeface="Arial" pitchFamily="34" charset="-120"/>
              </a:rPr>
              <a:t>Picogam, đơn vị khối lượng</a:t>
            </a:r>
            <a:endParaRPr lang="en-US" sz="1400" dirty="0"/>
          </a:p>
        </p:txBody>
      </p:sp>
      <p:sp>
        <p:nvSpPr>
          <p:cNvPr id="23" name="Text 21"/>
          <p:cNvSpPr/>
          <p:nvPr/>
        </p:nvSpPr>
        <p:spPr>
          <a:xfrm>
            <a:off x="812800" y="3041352"/>
            <a:ext cx="1088339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33A"/>
                </a:solidFill>
                <a:latin typeface="Arial" pitchFamily="34" charset="0"/>
                <a:ea typeface="Arial" pitchFamily="34" charset="-122"/>
                <a:cs typeface="Arial" pitchFamily="34" charset="-120"/>
              </a:rPr>
              <a:t>Khoảng tham chiếu in cạnh mỗi giá trị, nên người bệnh thấy số nào nằm ngoài khoảng, </a:t>
            </a:r>
            <a:r>
              <a:rPr lang="en-US" sz="1400" b="1" dirty="0">
                <a:solidFill>
                  <a:srgbClr val="13233A"/>
                </a:solidFill>
                <a:latin typeface="Arial" pitchFamily="34" charset="0"/>
                <a:ea typeface="Arial" pitchFamily="34" charset="-122"/>
                <a:cs typeface="Arial" pitchFamily="34" charset="-120"/>
              </a:rPr>
              <a:t>nhưng không biết nó đo gì và phải làm gì tiếp theo.</a:t>
            </a:r>
            <a:endParaRPr lang="en-US" sz="1400" dirty="0"/>
          </a:p>
        </p:txBody>
      </p:sp>
      <p:sp>
        <p:nvSpPr>
          <p:cNvPr id="24" name="Shape 22"/>
          <p:cNvSpPr/>
          <p:nvPr/>
        </p:nvSpPr>
        <p:spPr>
          <a:xfrm>
            <a:off x="812800" y="3648373"/>
            <a:ext cx="5194300" cy="914400"/>
          </a:xfrm>
          <a:prstGeom prst="roundRect">
            <a:avLst>
              <a:gd name="adj" fmla="val 11111"/>
            </a:avLst>
          </a:prstGeom>
          <a:solidFill>
            <a:srgbClr val="0B2545"/>
          </a:solidFill>
          <a:ln/>
        </p:spPr>
        <p:txBody>
          <a:bodyPr/>
          <a:p/>
        </p:txBody>
      </p:sp>
      <p:sp>
        <p:nvSpPr>
          <p:cNvPr id="25" name="Text 23"/>
          <p:cNvSpPr/>
          <p:nvPr/>
        </p:nvSpPr>
        <p:spPr>
          <a:xfrm>
            <a:off x="1066800" y="3851573"/>
            <a:ext cx="1491258" cy="533400"/>
          </a:xfrm>
          <a:prstGeom prst="rect">
            <a:avLst/>
          </a:prstGeom>
          <a:noFill/>
          <a:ln/>
        </p:spPr>
        <p:txBody>
          <a:bodyPr wrap="none" lIns="0" tIns="0" rIns="0" bIns="0" rtlCol="0" anchor="t">
            <a:normAutofit/>
          </a:bodyPr>
          <a:lstStyle/>
          <a:p>
            <a:pPr algn="l" indent="0" marL="0">
              <a:lnSpc>
                <a:spcPts val="4000"/>
              </a:lnSpc>
              <a:buNone/>
            </a:pPr>
            <a:r>
              <a:rPr lang="en-US" sz="4000" b="1" dirty="0">
                <a:solidFill>
                  <a:srgbClr val="5EEAD4"/>
                </a:solidFill>
                <a:latin typeface="Arial" pitchFamily="34" charset="0"/>
                <a:ea typeface="Arial" pitchFamily="34" charset="-122"/>
                <a:cs typeface="Arial" pitchFamily="34" charset="-120"/>
              </a:rPr>
              <a:t>60,3%</a:t>
            </a:r>
            <a:endParaRPr lang="en-US" sz="4000" dirty="0"/>
          </a:p>
        </p:txBody>
      </p:sp>
      <p:sp>
        <p:nvSpPr>
          <p:cNvPr id="26" name="Text 24"/>
          <p:cNvSpPr/>
          <p:nvPr/>
        </p:nvSpPr>
        <p:spPr>
          <a:xfrm>
            <a:off x="2710458" y="3865563"/>
            <a:ext cx="313392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6EDF5"/>
                </a:solidFill>
                <a:latin typeface="Arial" pitchFamily="34" charset="0"/>
                <a:ea typeface="Arial" pitchFamily="34" charset="-122"/>
                <a:cs typeface="Arial" pitchFamily="34" charset="-120"/>
              </a:rPr>
              <a:t>người cao tuổi ở Đà Nẵng có hiểu biết sức khỏe </a:t>
            </a:r>
            <a:r>
              <a:rPr lang="en-US" sz="1400" b="1" dirty="0">
                <a:solidFill>
                  <a:srgbClr val="E6EDF5"/>
                </a:solidFill>
                <a:latin typeface="Arial" pitchFamily="34" charset="0"/>
                <a:ea typeface="Arial" pitchFamily="34" charset="-122"/>
                <a:cs typeface="Arial" pitchFamily="34" charset="-120"/>
              </a:rPr>
              <a:t>chưa đầy đủ</a:t>
            </a:r>
            <a:endParaRPr lang="en-US" sz="1400" dirty="0"/>
          </a:p>
        </p:txBody>
      </p:sp>
      <p:sp>
        <p:nvSpPr>
          <p:cNvPr id="27" name="Shape 25"/>
          <p:cNvSpPr/>
          <p:nvPr/>
        </p:nvSpPr>
        <p:spPr>
          <a:xfrm>
            <a:off x="6184900" y="3648373"/>
            <a:ext cx="5194300" cy="914400"/>
          </a:xfrm>
          <a:prstGeom prst="roundRect">
            <a:avLst>
              <a:gd name="adj" fmla="val 11111"/>
            </a:avLst>
          </a:prstGeom>
          <a:solidFill>
            <a:srgbClr val="0B2545"/>
          </a:solidFill>
          <a:ln/>
        </p:spPr>
        <p:txBody>
          <a:bodyPr/>
          <a:p/>
        </p:txBody>
      </p:sp>
      <p:sp>
        <p:nvSpPr>
          <p:cNvPr id="28" name="Text 26"/>
          <p:cNvSpPr/>
          <p:nvPr/>
        </p:nvSpPr>
        <p:spPr>
          <a:xfrm>
            <a:off x="6438900" y="3851573"/>
            <a:ext cx="1067594" cy="533400"/>
          </a:xfrm>
          <a:prstGeom prst="rect">
            <a:avLst/>
          </a:prstGeom>
          <a:noFill/>
          <a:ln/>
        </p:spPr>
        <p:txBody>
          <a:bodyPr wrap="none" lIns="0" tIns="0" rIns="0" bIns="0" rtlCol="0" anchor="t">
            <a:normAutofit/>
          </a:bodyPr>
          <a:lstStyle/>
          <a:p>
            <a:pPr algn="l" indent="0" marL="0">
              <a:lnSpc>
                <a:spcPts val="4000"/>
              </a:lnSpc>
              <a:buNone/>
            </a:pPr>
            <a:r>
              <a:rPr lang="en-US" sz="4000" b="1" dirty="0">
                <a:solidFill>
                  <a:srgbClr val="5EEAD4"/>
                </a:solidFill>
                <a:latin typeface="Arial" pitchFamily="34" charset="0"/>
                <a:ea typeface="Arial" pitchFamily="34" charset="-122"/>
                <a:cs typeface="Arial" pitchFamily="34" charset="-120"/>
              </a:rPr>
              <a:t>46%</a:t>
            </a:r>
            <a:endParaRPr lang="en-US" sz="4000" dirty="0"/>
          </a:p>
        </p:txBody>
      </p:sp>
      <p:sp>
        <p:nvSpPr>
          <p:cNvPr id="29" name="Text 27"/>
          <p:cNvSpPr/>
          <p:nvPr/>
        </p:nvSpPr>
        <p:spPr>
          <a:xfrm>
            <a:off x="7658894" y="3865563"/>
            <a:ext cx="3570295"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6EDF5"/>
                </a:solidFill>
                <a:latin typeface="Arial" pitchFamily="34" charset="0"/>
                <a:ea typeface="Arial" pitchFamily="34" charset="-122"/>
                <a:cs typeface="Arial" pitchFamily="34" charset="-120"/>
              </a:rPr>
              <a:t>người bệnh </a:t>
            </a:r>
            <a:r>
              <a:rPr lang="en-US" sz="1400" b="1" dirty="0">
                <a:solidFill>
                  <a:srgbClr val="E6EDF5"/>
                </a:solidFill>
                <a:latin typeface="Arial" pitchFamily="34" charset="0"/>
                <a:ea typeface="Arial" pitchFamily="34" charset="-122"/>
                <a:cs typeface="Arial" pitchFamily="34" charset="-120"/>
              </a:rPr>
              <a:t>tự tra trên mạng</a:t>
            </a:r>
            <a:r>
              <a:rPr lang="en-US" sz="1400" dirty="0">
                <a:solidFill>
                  <a:srgbClr val="E6EDF5"/>
                </a:solidFill>
                <a:latin typeface="Arial" pitchFamily="34" charset="0"/>
                <a:ea typeface="Arial" pitchFamily="34" charset="-122"/>
                <a:cs typeface="Arial" pitchFamily="34" charset="-120"/>
              </a:rPr>
              <a:t> để hiểu kết quả xét nghiệm của mình</a:t>
            </a:r>
            <a:endParaRPr lang="en-US" sz="1400" dirty="0"/>
          </a:p>
        </p:txBody>
      </p:sp>
      <p:sp>
        <p:nvSpPr>
          <p:cNvPr id="30" name="Text 28"/>
          <p:cNvSpPr/>
          <p:nvPr/>
        </p:nvSpPr>
        <p:spPr>
          <a:xfrm>
            <a:off x="812800" y="468977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Nguồn: nghiên cứu cắt ngang tại Đà Nẵng (n = 204 người cao tuổi); Giardina và cs., JAMIA 2018 (n = 93)</a:t>
            </a:r>
            <a:endParaRPr lang="en-US" sz="1400" dirty="0"/>
          </a:p>
        </p:txBody>
      </p:sp>
      <p:sp>
        <p:nvSpPr>
          <p:cNvPr id="31" name="Text 29"/>
          <p:cNvSpPr/>
          <p:nvPr/>
        </p:nvSpPr>
        <p:spPr>
          <a:xfrm>
            <a:off x="812800" y="6202759"/>
            <a:ext cx="784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HEALTHINFO IV · Trương Quang Đại, HUTECH · Bài HI26-0013</a:t>
            </a:r>
            <a:endParaRPr lang="en-US" sz="1400" dirty="0"/>
          </a:p>
        </p:txBody>
      </p:sp>
      <p:sp>
        <p:nvSpPr>
          <p:cNvPr id="32" name="Text 30"/>
          <p:cNvSpPr/>
          <p:nvPr/>
        </p:nvSpPr>
        <p:spPr>
          <a:xfrm>
            <a:off x="10058400" y="6202759"/>
            <a:ext cx="132080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B6B80"/>
                </a:solidFill>
                <a:latin typeface="Arial" pitchFamily="34" charset="0"/>
                <a:ea typeface="Arial" pitchFamily="34" charset="-122"/>
                <a:cs typeface="Arial" pitchFamily="34" charset="-120"/>
              </a:rPr>
              <a:t>2 / 19</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A"/>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0B7A6E"/>
          </a:solidFill>
          <a:ln/>
        </p:spPr>
        <p:txBody>
          <a:bodyPr/>
          <a:p/>
        </p:txBody>
      </p:sp>
      <p:sp>
        <p:nvSpPr>
          <p:cNvPr id="3" name="Text 1"/>
          <p:cNvSpPr/>
          <p:nvPr>
            <p:ph type="title"/>
          </p:nvPr>
        </p:nvSpPr>
        <p:spPr>
          <a:xfrm>
            <a:off x="812800" y="711200"/>
            <a:ext cx="10883392" cy="401538"/>
          </a:xfrm>
          <a:prstGeom prst="rect">
            <a:avLst/>
          </a:prstGeom>
          <a:noFill/>
          <a:ln/>
        </p:spPr>
        <p:txBody>
          <a:bodyPr wrap="square" lIns="0" tIns="0" rIns="0" bIns="0" rtlCol="0" anchor="t">
            <a:normAutofit/>
          </a:bodyPr>
          <a:lstStyle/>
          <a:p>
            <a:pPr algn="l" indent="0" marL="0">
              <a:lnSpc>
                <a:spcPts val="2971"/>
              </a:lnSpc>
              <a:buNone/>
            </a:pPr>
            <a:r>
              <a:rPr lang="en-US" sz="2584" b="1" i="0" dirty="0">
                <a:solidFill>
                  <a:srgbClr val="0B7A6E"/>
                </a:solidFill>
                <a:latin typeface="Arial" pitchFamily="34" charset="0"/>
                <a:ea typeface="Arial" pitchFamily="34" charset="-122"/>
                <a:cs typeface="Arial" pitchFamily="34" charset="-120"/>
              </a:rPr>
              <a:t>02</a:t>
            </a:r>
            <a:r>
              <a:rPr lang="en-US" sz="2584" b="1" i="0" dirty="0">
                <a:solidFill>
                  <a:srgbClr val="0B2545"/>
                </a:solidFill>
                <a:latin typeface="Arial" pitchFamily="34" charset="0"/>
                <a:ea typeface="Arial" pitchFamily="34" charset="-122"/>
                <a:cs typeface="Arial" pitchFamily="34" charset="-120"/>
              </a:rPr>
              <a:t> Phiếu kết quả người bệnh thực sự cầm về</a:t>
            </a:r>
            <a:endParaRPr lang="en-US" sz="2584" dirty="0"/>
          </a:p>
        </p:txBody>
      </p:sp>
      <p:sp>
        <p:nvSpPr>
          <p:cNvPr id="4" name="Shape 2"/>
          <p:cNvSpPr/>
          <p:nvPr/>
        </p:nvSpPr>
        <p:spPr>
          <a:xfrm>
            <a:off x="819150" y="1246088"/>
            <a:ext cx="10553700" cy="3961705"/>
          </a:xfrm>
          <a:prstGeom prst="roundRect">
            <a:avLst>
              <a:gd name="adj" fmla="val 2404"/>
            </a:avLst>
          </a:prstGeom>
          <a:solidFill>
            <a:srgbClr val="FFFFFF"/>
          </a:solidFill>
          <a:ln w="12700">
            <a:solidFill>
              <a:srgbClr val="C9D6E5"/>
            </a:solidFill>
            <a:prstDash val="solid"/>
          </a:ln>
        </p:spPr>
        <p:txBody>
          <a:bodyPr/>
          <a:p/>
        </p:txBody>
      </p:sp>
      <p:sp>
        <p:nvSpPr>
          <p:cNvPr id="5" name="Shape 3"/>
          <p:cNvSpPr/>
          <p:nvPr/>
        </p:nvSpPr>
        <p:spPr>
          <a:xfrm>
            <a:off x="1054100" y="1810246"/>
            <a:ext cx="10083800" cy="0"/>
          </a:xfrm>
          <a:prstGeom prst="line">
            <a:avLst/>
          </a:prstGeom>
          <a:noFill/>
          <a:ln w="19050">
            <a:solidFill>
              <a:srgbClr val="0B2545"/>
            </a:solidFill>
            <a:prstDash val="solid"/>
          </a:ln>
        </p:spPr>
        <p:txBody>
          <a:bodyPr/>
          <a:p/>
        </p:txBody>
      </p:sp>
      <p:sp>
        <p:nvSpPr>
          <p:cNvPr id="6" name="Text 4"/>
          <p:cNvSpPr/>
          <p:nvPr/>
        </p:nvSpPr>
        <p:spPr>
          <a:xfrm>
            <a:off x="1054100" y="1427361"/>
            <a:ext cx="647918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2545"/>
                </a:solidFill>
                <a:latin typeface="Arial" pitchFamily="34" charset="0"/>
                <a:ea typeface="Arial" pitchFamily="34" charset="-122"/>
                <a:cs typeface="Arial" pitchFamily="34" charset="-120"/>
              </a:rPr>
              <a:t>PHIẾU KẾT QUẢ XÉT NGHIỆM · TỔNG PHÂN TÍCH TẾ BÀO MÁU</a:t>
            </a:r>
            <a:endParaRPr lang="en-US" sz="1600" dirty="0"/>
          </a:p>
        </p:txBody>
      </p:sp>
      <p:sp>
        <p:nvSpPr>
          <p:cNvPr id="7" name="Text 5"/>
          <p:cNvSpPr/>
          <p:nvPr/>
        </p:nvSpPr>
        <p:spPr>
          <a:xfrm>
            <a:off x="7533283" y="1462980"/>
            <a:ext cx="3604617"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B6B80"/>
                </a:solidFill>
                <a:latin typeface="Arial" pitchFamily="34" charset="0"/>
                <a:ea typeface="Arial" pitchFamily="34" charset="-122"/>
                <a:cs typeface="Arial" pitchFamily="34" charset="-120"/>
              </a:rPr>
              <a:t>Số phiếu 2026-000123 · Dữ liệu minh họa</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066800" y="1946771"/>
          <a:ext cx="5016500" cy="3108325"/>
        </p:xfrm>
        <a:graphic>
          <a:graphicData uri="http://schemas.openxmlformats.org/drawingml/2006/table">
            <a:tbl>
              <a:tblPr/>
              <a:tblGrid>
                <a:gridCol w="1504950"/>
                <a:gridCol w="1103630"/>
                <a:gridCol w="902970"/>
                <a:gridCol w="1504950"/>
              </a:tblGrid>
              <a:tr h="388541">
                <a:tc>
                  <a:txBody>
                    <a:bodyPr/>
                    <a:lstStyle/>
                    <a:p>
                      <a:pPr indent="0" marL="0">
                        <a:lnSpc>
                          <a:spcPts val="1960"/>
                        </a:lnSpc>
                        <a:buNone/>
                      </a:pPr>
                      <a:r>
                        <a:rPr lang="en-US" sz="1400" b="1" dirty="0">
                          <a:solidFill>
                            <a:srgbClr val="0B2545"/>
                          </a:solidFill>
                          <a:latin typeface="Arial" pitchFamily="34" charset="0"/>
                          <a:ea typeface="Arial" pitchFamily="34" charset="-122"/>
                          <a:cs typeface="Arial" pitchFamily="34" charset="-120"/>
                        </a:rPr>
                        <a:t>Xét nghiệm</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b="1" dirty="0">
                          <a:solidFill>
                            <a:srgbClr val="0B2545"/>
                          </a:solidFill>
                          <a:latin typeface="Arial" pitchFamily="34" charset="0"/>
                          <a:ea typeface="Arial" pitchFamily="34" charset="-122"/>
                          <a:cs typeface="Arial" pitchFamily="34" charset="-120"/>
                        </a:rPr>
                        <a:t>Kết quả</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b="1" dirty="0">
                          <a:solidFill>
                            <a:srgbClr val="0B2545"/>
                          </a:solidFill>
                          <a:latin typeface="Arial" pitchFamily="34" charset="0"/>
                          <a:ea typeface="Arial" pitchFamily="34" charset="-122"/>
                          <a:cs typeface="Arial" pitchFamily="34" charset="-120"/>
                        </a:rPr>
                        <a:t>Đơn vị</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b="1" dirty="0">
                          <a:solidFill>
                            <a:srgbClr val="0B2545"/>
                          </a:solidFill>
                          <a:latin typeface="Arial" pitchFamily="34" charset="0"/>
                          <a:ea typeface="Arial" pitchFamily="34" charset="-122"/>
                          <a:cs typeface="Arial" pitchFamily="34" charset="-120"/>
                        </a:rPr>
                        <a:t>Tham chiếu</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8541">
                <a:tc>
                  <a:txBody>
                    <a:bodyPr/>
                    <a:lstStyle/>
                    <a:p>
                      <a:pPr indent="0" marL="0">
                        <a:lnSpc>
                          <a:spcPts val="1960"/>
                        </a:lnSpc>
                        <a:buNone/>
                      </a:pPr>
                      <a:r>
                        <a:rPr lang="en-US" sz="1400" dirty="0">
                          <a:solidFill>
                            <a:srgbClr val="B42318"/>
                          </a:solidFill>
                          <a:latin typeface="Arial" pitchFamily="34" charset="0"/>
                          <a:ea typeface="Arial" pitchFamily="34" charset="-122"/>
                          <a:cs typeface="Arial" pitchFamily="34" charset="-120"/>
                        </a:rPr>
                        <a:t>WBC</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8BB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BBB"/>
                      </a:solidFill>
                      <a:prstDash val="solid"/>
                      <a:round/>
                      <a:headEnd type="none" w="med" len="med"/>
                      <a:tailEnd type="none" w="med" len="med"/>
                    </a:lnB>
                    <a:solidFill>
                      <a:srgbClr val="FBEAEA"/>
                    </a:solidFill>
                  </a:tcPr>
                </a:tc>
                <a:tc>
                  <a:txBody>
                    <a:bodyPr/>
                    <a:lstStyle/>
                    <a:p>
                      <a:pPr indent="0" marL="0">
                        <a:lnSpc>
                          <a:spcPts val="1960"/>
                        </a:lnSpc>
                        <a:buNone/>
                      </a:pPr>
                      <a:r>
                        <a:rPr lang="en-US" sz="1400" dirty="0">
                          <a:solidFill>
                            <a:srgbClr val="B42318"/>
                          </a:solidFill>
                          <a:latin typeface="Arial" pitchFamily="34" charset="0"/>
                          <a:ea typeface="Arial" pitchFamily="34" charset="-122"/>
                          <a:cs typeface="Arial" pitchFamily="34" charset="-120"/>
                        </a:rPr>
                        <a:t>11,8 ↑</a:t>
                      </a:r>
                      <a:endParaRPr lang="en-US" sz="1400" dirty="0">
                        <a:latin typeface="Arial" charset="0"/>
                        <a:ea typeface="Arial" charset="0"/>
                        <a:cs typeface="Arial" charset="0"/>
                      </a:endParaRPr>
                    </a:p>
                  </a:txBody>
                  <a:tcPr marL="76200" marR="76200" marT="63500" marB="63500" anchor="t">
                    <a:lnL w="12700" cap="flat" cmpd="sng" algn="ctr">
                      <a:solidFill>
                        <a:srgbClr val="C8BBBB"/>
                      </a:solidFill>
                      <a:prstDash val="solid"/>
                      <a:round/>
                      <a:headEnd type="none" w="med" len="med"/>
                      <a:tailEnd type="none" w="med" len="med"/>
                    </a:lnL>
                    <a:lnR w="12700" cap="flat" cmpd="sng" algn="ctr">
                      <a:solidFill>
                        <a:srgbClr val="C8BB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BBB"/>
                      </a:solidFill>
                      <a:prstDash val="solid"/>
                      <a:round/>
                      <a:headEnd type="none" w="med" len="med"/>
                      <a:tailEnd type="none" w="med" len="med"/>
                    </a:lnB>
                    <a:solidFill>
                      <a:srgbClr val="FBEAEA"/>
                    </a:solidFill>
                  </a:tcPr>
                </a:tc>
                <a:tc>
                  <a:txBody>
                    <a:bodyPr/>
                    <a:lstStyle/>
                    <a:p>
                      <a:pPr indent="0" marL="0">
                        <a:lnSpc>
                          <a:spcPts val="1960"/>
                        </a:lnSpc>
                        <a:buNone/>
                      </a:pPr>
                      <a:r>
                        <a:rPr lang="en-US" sz="1400" dirty="0">
                          <a:solidFill>
                            <a:srgbClr val="B42318"/>
                          </a:solidFill>
                          <a:latin typeface="Arial" pitchFamily="34" charset="0"/>
                          <a:ea typeface="Arial" pitchFamily="34" charset="-122"/>
                          <a:cs typeface="Arial" pitchFamily="34" charset="-120"/>
                        </a:rPr>
                        <a:t>G/L</a:t>
                      </a:r>
                      <a:endParaRPr lang="en-US" sz="1400" dirty="0">
                        <a:latin typeface="Arial" charset="0"/>
                        <a:ea typeface="Arial" charset="0"/>
                        <a:cs typeface="Arial" charset="0"/>
                      </a:endParaRPr>
                    </a:p>
                  </a:txBody>
                  <a:tcPr marL="76200" marR="76200" marT="63500" marB="63500" anchor="t">
                    <a:lnL w="12700" cap="flat" cmpd="sng" algn="ctr">
                      <a:solidFill>
                        <a:srgbClr val="C8BBBB"/>
                      </a:solidFill>
                      <a:prstDash val="solid"/>
                      <a:round/>
                      <a:headEnd type="none" w="med" len="med"/>
                      <a:tailEnd type="none" w="med" len="med"/>
                    </a:lnL>
                    <a:lnR w="12700" cap="flat" cmpd="sng" algn="ctr">
                      <a:solidFill>
                        <a:srgbClr val="C8BB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BBB"/>
                      </a:solidFill>
                      <a:prstDash val="solid"/>
                      <a:round/>
                      <a:headEnd type="none" w="med" len="med"/>
                      <a:tailEnd type="none" w="med" len="med"/>
                    </a:lnB>
                    <a:solidFill>
                      <a:srgbClr val="FBEAEA"/>
                    </a:solidFill>
                  </a:tcPr>
                </a:tc>
                <a:tc>
                  <a:txBody>
                    <a:bodyPr/>
                    <a:lstStyle/>
                    <a:p>
                      <a:pPr indent="0" marL="0">
                        <a:lnSpc>
                          <a:spcPts val="1960"/>
                        </a:lnSpc>
                        <a:buNone/>
                      </a:pPr>
                      <a:r>
                        <a:rPr lang="en-US" sz="1400" dirty="0">
                          <a:solidFill>
                            <a:srgbClr val="5B6B80"/>
                          </a:solidFill>
                          <a:latin typeface="Arial" pitchFamily="34" charset="0"/>
                          <a:ea typeface="Arial" pitchFamily="34" charset="-122"/>
                          <a:cs typeface="Arial" pitchFamily="34" charset="-120"/>
                        </a:rPr>
                        <a:t>3,4 – 9,4</a:t>
                      </a:r>
                      <a:endParaRPr lang="en-US" sz="1400" dirty="0">
                        <a:latin typeface="Arial" charset="0"/>
                        <a:ea typeface="Arial" charset="0"/>
                        <a:cs typeface="Arial" charset="0"/>
                      </a:endParaRPr>
                    </a:p>
                  </a:txBody>
                  <a:tcPr marL="76200" marR="76200" marT="63500" marB="63500" anchor="t">
                    <a:lnL w="12700" cap="flat" cmpd="sng" algn="ctr">
                      <a:solidFill>
                        <a:srgbClr val="C8BBBB"/>
                      </a:solidFill>
                      <a:prstDash val="solid"/>
                      <a:round/>
                      <a:headEnd type="none" w="med" len="med"/>
                      <a:tailEnd type="none" w="med" len="med"/>
                    </a:lnL>
                    <a:lnR w="12700" cap="flat" cmpd="sng" algn="ctr">
                      <a:solidFill>
                        <a:srgbClr val="C8BB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BBB"/>
                      </a:solidFill>
                      <a:prstDash val="solid"/>
                      <a:round/>
                      <a:headEnd type="none" w="med" len="med"/>
                      <a:tailEnd type="none" w="med" len="med"/>
                    </a:lnB>
                    <a:solidFill>
                      <a:srgbClr val="FBEAEA"/>
                    </a:solidFill>
                  </a:tcPr>
                </a:tc>
              </a:tr>
              <a:tr h="388541">
                <a:tc>
                  <a:txBody>
                    <a:bodyPr/>
                    <a:lstStyle/>
                    <a:p>
                      <a:pPr indent="0" marL="0">
                        <a:lnSpc>
                          <a:spcPts val="1960"/>
                        </a:lnSpc>
                        <a:buNone/>
                      </a:pPr>
                      <a:r>
                        <a:rPr lang="en-US" sz="1400" dirty="0">
                          <a:solidFill>
                            <a:srgbClr val="B42318"/>
                          </a:solidFill>
                          <a:latin typeface="Arial" pitchFamily="34" charset="0"/>
                          <a:ea typeface="Arial" pitchFamily="34" charset="-122"/>
                          <a:cs typeface="Arial" pitchFamily="34" charset="-120"/>
                        </a:rPr>
                        <a:t>NEUT%</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8BBBB"/>
                      </a:solidFill>
                      <a:prstDash val="solid"/>
                      <a:round/>
                      <a:headEnd type="none" w="med" len="med"/>
                      <a:tailEnd type="none" w="med" len="med"/>
                    </a:lnR>
                    <a:lnT w="12700" cap="flat" cmpd="sng" algn="ctr">
                      <a:solidFill>
                        <a:srgbClr val="C8BBBB"/>
                      </a:solidFill>
                      <a:prstDash val="solid"/>
                      <a:round/>
                      <a:headEnd type="none" w="med" len="med"/>
                      <a:tailEnd type="none" w="med" len="med"/>
                    </a:lnT>
                    <a:lnB w="12700" cap="flat" cmpd="sng" algn="ctr">
                      <a:solidFill>
                        <a:srgbClr val="C8BBBB"/>
                      </a:solidFill>
                      <a:prstDash val="solid"/>
                      <a:round/>
                      <a:headEnd type="none" w="med" len="med"/>
                      <a:tailEnd type="none" w="med" len="med"/>
                    </a:lnB>
                    <a:solidFill>
                      <a:srgbClr val="FBEAEA"/>
                    </a:solidFill>
                  </a:tcPr>
                </a:tc>
                <a:tc>
                  <a:txBody>
                    <a:bodyPr/>
                    <a:lstStyle/>
                    <a:p>
                      <a:pPr indent="0" marL="0">
                        <a:lnSpc>
                          <a:spcPts val="1960"/>
                        </a:lnSpc>
                        <a:buNone/>
                      </a:pPr>
                      <a:r>
                        <a:rPr lang="en-US" sz="1400" dirty="0">
                          <a:solidFill>
                            <a:srgbClr val="B42318"/>
                          </a:solidFill>
                          <a:latin typeface="Arial" pitchFamily="34" charset="0"/>
                          <a:ea typeface="Arial" pitchFamily="34" charset="-122"/>
                          <a:cs typeface="Arial" pitchFamily="34" charset="-120"/>
                        </a:rPr>
                        <a:t>78,5 ↑</a:t>
                      </a:r>
                      <a:endParaRPr lang="en-US" sz="1400" dirty="0">
                        <a:latin typeface="Arial" charset="0"/>
                        <a:ea typeface="Arial" charset="0"/>
                        <a:cs typeface="Arial" charset="0"/>
                      </a:endParaRPr>
                    </a:p>
                  </a:txBody>
                  <a:tcPr marL="76200" marR="76200" marT="63500" marB="63500" anchor="t">
                    <a:lnL w="12700" cap="flat" cmpd="sng" algn="ctr">
                      <a:solidFill>
                        <a:srgbClr val="C8BBBB"/>
                      </a:solidFill>
                      <a:prstDash val="solid"/>
                      <a:round/>
                      <a:headEnd type="none" w="med" len="med"/>
                      <a:tailEnd type="none" w="med" len="med"/>
                    </a:lnL>
                    <a:lnR w="12700" cap="flat" cmpd="sng" algn="ctr">
                      <a:solidFill>
                        <a:srgbClr val="C8BBBB"/>
                      </a:solidFill>
                      <a:prstDash val="solid"/>
                      <a:round/>
                      <a:headEnd type="none" w="med" len="med"/>
                      <a:tailEnd type="none" w="med" len="med"/>
                    </a:lnR>
                    <a:lnT w="12700" cap="flat" cmpd="sng" algn="ctr">
                      <a:solidFill>
                        <a:srgbClr val="C8BBBB"/>
                      </a:solidFill>
                      <a:prstDash val="solid"/>
                      <a:round/>
                      <a:headEnd type="none" w="med" len="med"/>
                      <a:tailEnd type="none" w="med" len="med"/>
                    </a:lnT>
                    <a:lnB w="12700" cap="flat" cmpd="sng" algn="ctr">
                      <a:solidFill>
                        <a:srgbClr val="C8BBBB"/>
                      </a:solidFill>
                      <a:prstDash val="solid"/>
                      <a:round/>
                      <a:headEnd type="none" w="med" len="med"/>
                      <a:tailEnd type="none" w="med" len="med"/>
                    </a:lnB>
                    <a:solidFill>
                      <a:srgbClr val="FBEAEA"/>
                    </a:solidFill>
                  </a:tcPr>
                </a:tc>
                <a:tc>
                  <a:txBody>
                    <a:bodyPr/>
                    <a:lstStyle/>
                    <a:p>
                      <a:pPr indent="0" marL="0">
                        <a:lnSpc>
                          <a:spcPts val="1960"/>
                        </a:lnSpc>
                        <a:buNone/>
                      </a:pPr>
                      <a:r>
                        <a:rPr lang="en-US" sz="1400" dirty="0">
                          <a:solidFill>
                            <a:srgbClr val="B42318"/>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63500" marB="63500" anchor="t">
                    <a:lnL w="12700" cap="flat" cmpd="sng" algn="ctr">
                      <a:solidFill>
                        <a:srgbClr val="C8BBBB"/>
                      </a:solidFill>
                      <a:prstDash val="solid"/>
                      <a:round/>
                      <a:headEnd type="none" w="med" len="med"/>
                      <a:tailEnd type="none" w="med" len="med"/>
                    </a:lnL>
                    <a:lnR w="12700" cap="flat" cmpd="sng" algn="ctr">
                      <a:solidFill>
                        <a:srgbClr val="C8BBBB"/>
                      </a:solidFill>
                      <a:prstDash val="solid"/>
                      <a:round/>
                      <a:headEnd type="none" w="med" len="med"/>
                      <a:tailEnd type="none" w="med" len="med"/>
                    </a:lnR>
                    <a:lnT w="12700" cap="flat" cmpd="sng" algn="ctr">
                      <a:solidFill>
                        <a:srgbClr val="C8BBBB"/>
                      </a:solidFill>
                      <a:prstDash val="solid"/>
                      <a:round/>
                      <a:headEnd type="none" w="med" len="med"/>
                      <a:tailEnd type="none" w="med" len="med"/>
                    </a:lnT>
                    <a:lnB w="12700" cap="flat" cmpd="sng" algn="ctr">
                      <a:solidFill>
                        <a:srgbClr val="C8BBBB"/>
                      </a:solidFill>
                      <a:prstDash val="solid"/>
                      <a:round/>
                      <a:headEnd type="none" w="med" len="med"/>
                      <a:tailEnd type="none" w="med" len="med"/>
                    </a:lnB>
                    <a:solidFill>
                      <a:srgbClr val="FBEAEA"/>
                    </a:solidFill>
                  </a:tcPr>
                </a:tc>
                <a:tc>
                  <a:txBody>
                    <a:bodyPr/>
                    <a:lstStyle/>
                    <a:p>
                      <a:pPr indent="0" marL="0">
                        <a:lnSpc>
                          <a:spcPts val="1960"/>
                        </a:lnSpc>
                        <a:buNone/>
                      </a:pPr>
                      <a:r>
                        <a:rPr lang="en-US" sz="1400" dirty="0">
                          <a:solidFill>
                            <a:srgbClr val="5B6B80"/>
                          </a:solidFill>
                          <a:latin typeface="Arial" pitchFamily="34" charset="0"/>
                          <a:ea typeface="Arial" pitchFamily="34" charset="-122"/>
                          <a:cs typeface="Arial" pitchFamily="34" charset="-120"/>
                        </a:rPr>
                        <a:t>40,9 – 73,7</a:t>
                      </a:r>
                      <a:endParaRPr lang="en-US" sz="1400" dirty="0">
                        <a:latin typeface="Arial" charset="0"/>
                        <a:ea typeface="Arial" charset="0"/>
                        <a:cs typeface="Arial" charset="0"/>
                      </a:endParaRPr>
                    </a:p>
                  </a:txBody>
                  <a:tcPr marL="76200" marR="76200" marT="63500" marB="63500" anchor="t">
                    <a:lnL w="12700" cap="flat" cmpd="sng" algn="ctr">
                      <a:solidFill>
                        <a:srgbClr val="C8BBBB"/>
                      </a:solidFill>
                      <a:prstDash val="solid"/>
                      <a:round/>
                      <a:headEnd type="none" w="med" len="med"/>
                      <a:tailEnd type="none" w="med" len="med"/>
                    </a:lnL>
                    <a:lnR w="12700" cap="flat" cmpd="sng" algn="ctr">
                      <a:solidFill>
                        <a:srgbClr val="C8BBBB"/>
                      </a:solidFill>
                      <a:prstDash val="solid"/>
                      <a:round/>
                      <a:headEnd type="none" w="med" len="med"/>
                      <a:tailEnd type="none" w="med" len="med"/>
                    </a:lnR>
                    <a:lnT w="12700" cap="flat" cmpd="sng" algn="ctr">
                      <a:solidFill>
                        <a:srgbClr val="C8BBBB"/>
                      </a:solidFill>
                      <a:prstDash val="solid"/>
                      <a:round/>
                      <a:headEnd type="none" w="med" len="med"/>
                      <a:tailEnd type="none" w="med" len="med"/>
                    </a:lnT>
                    <a:lnB w="12700" cap="flat" cmpd="sng" algn="ctr">
                      <a:solidFill>
                        <a:srgbClr val="C8BBBB"/>
                      </a:solidFill>
                      <a:prstDash val="solid"/>
                      <a:round/>
                      <a:headEnd type="none" w="med" len="med"/>
                      <a:tailEnd type="none" w="med" len="med"/>
                    </a:lnB>
                    <a:solidFill>
                      <a:srgbClr val="FBEAEA"/>
                    </a:solidFill>
                  </a:tcPr>
                </a:tc>
              </a:tr>
              <a:tr h="388541">
                <a:tc>
                  <a:txBody>
                    <a:bodyPr/>
                    <a:lstStyle/>
                    <a:p>
                      <a:pPr indent="0" marL="0">
                        <a:lnSpc>
                          <a:spcPts val="1960"/>
                        </a:lnSpc>
                        <a:buNone/>
                      </a:pPr>
                      <a:r>
                        <a:rPr lang="en-US" sz="1400" dirty="0">
                          <a:solidFill>
                            <a:srgbClr val="B42318"/>
                          </a:solidFill>
                          <a:latin typeface="Arial" pitchFamily="34" charset="0"/>
                          <a:ea typeface="Arial" pitchFamily="34" charset="-122"/>
                          <a:cs typeface="Arial" pitchFamily="34" charset="-120"/>
                        </a:rPr>
                        <a:t>LYMPH%</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8BBBB"/>
                      </a:solidFill>
                      <a:prstDash val="solid"/>
                      <a:round/>
                      <a:headEnd type="none" w="med" len="med"/>
                      <a:tailEnd type="none" w="med" len="med"/>
                    </a:lnR>
                    <a:lnT w="12700" cap="flat" cmpd="sng" algn="ctr">
                      <a:solidFill>
                        <a:srgbClr val="C8BBBB"/>
                      </a:solidFill>
                      <a:prstDash val="solid"/>
                      <a:round/>
                      <a:headEnd type="none" w="med" len="med"/>
                      <a:tailEnd type="none" w="med" len="med"/>
                    </a:lnT>
                    <a:lnB w="12700" cap="flat" cmpd="sng" algn="ctr">
                      <a:solidFill>
                        <a:srgbClr val="C8BBBB"/>
                      </a:solidFill>
                      <a:prstDash val="solid"/>
                      <a:round/>
                      <a:headEnd type="none" w="med" len="med"/>
                      <a:tailEnd type="none" w="med" len="med"/>
                    </a:lnB>
                    <a:solidFill>
                      <a:srgbClr val="FBEAEA"/>
                    </a:solidFill>
                  </a:tcPr>
                </a:tc>
                <a:tc>
                  <a:txBody>
                    <a:bodyPr/>
                    <a:lstStyle/>
                    <a:p>
                      <a:pPr indent="0" marL="0">
                        <a:lnSpc>
                          <a:spcPts val="1960"/>
                        </a:lnSpc>
                        <a:buNone/>
                      </a:pPr>
                      <a:r>
                        <a:rPr lang="en-US" sz="1400" dirty="0">
                          <a:solidFill>
                            <a:srgbClr val="B42318"/>
                          </a:solidFill>
                          <a:latin typeface="Arial" pitchFamily="34" charset="0"/>
                          <a:ea typeface="Arial" pitchFamily="34" charset="-122"/>
                          <a:cs typeface="Arial" pitchFamily="34" charset="-120"/>
                        </a:rPr>
                        <a:t>14,2 ↓</a:t>
                      </a:r>
                      <a:endParaRPr lang="en-US" sz="1400" dirty="0">
                        <a:latin typeface="Arial" charset="0"/>
                        <a:ea typeface="Arial" charset="0"/>
                        <a:cs typeface="Arial" charset="0"/>
                      </a:endParaRPr>
                    </a:p>
                  </a:txBody>
                  <a:tcPr marL="76200" marR="76200" marT="63500" marB="63500" anchor="t">
                    <a:lnL w="12700" cap="flat" cmpd="sng" algn="ctr">
                      <a:solidFill>
                        <a:srgbClr val="C8BBBB"/>
                      </a:solidFill>
                      <a:prstDash val="solid"/>
                      <a:round/>
                      <a:headEnd type="none" w="med" len="med"/>
                      <a:tailEnd type="none" w="med" len="med"/>
                    </a:lnL>
                    <a:lnR w="12700" cap="flat" cmpd="sng" algn="ctr">
                      <a:solidFill>
                        <a:srgbClr val="C8BBBB"/>
                      </a:solidFill>
                      <a:prstDash val="solid"/>
                      <a:round/>
                      <a:headEnd type="none" w="med" len="med"/>
                      <a:tailEnd type="none" w="med" len="med"/>
                    </a:lnR>
                    <a:lnT w="12700" cap="flat" cmpd="sng" algn="ctr">
                      <a:solidFill>
                        <a:srgbClr val="C8BBBB"/>
                      </a:solidFill>
                      <a:prstDash val="solid"/>
                      <a:round/>
                      <a:headEnd type="none" w="med" len="med"/>
                      <a:tailEnd type="none" w="med" len="med"/>
                    </a:lnT>
                    <a:lnB w="12700" cap="flat" cmpd="sng" algn="ctr">
                      <a:solidFill>
                        <a:srgbClr val="C8BBBB"/>
                      </a:solidFill>
                      <a:prstDash val="solid"/>
                      <a:round/>
                      <a:headEnd type="none" w="med" len="med"/>
                      <a:tailEnd type="none" w="med" len="med"/>
                    </a:lnB>
                    <a:solidFill>
                      <a:srgbClr val="FBEAEA"/>
                    </a:solidFill>
                  </a:tcPr>
                </a:tc>
                <a:tc>
                  <a:txBody>
                    <a:bodyPr/>
                    <a:lstStyle/>
                    <a:p>
                      <a:pPr indent="0" marL="0">
                        <a:lnSpc>
                          <a:spcPts val="1960"/>
                        </a:lnSpc>
                        <a:buNone/>
                      </a:pPr>
                      <a:r>
                        <a:rPr lang="en-US" sz="1400" dirty="0">
                          <a:solidFill>
                            <a:srgbClr val="B42318"/>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63500" marB="63500" anchor="t">
                    <a:lnL w="12700" cap="flat" cmpd="sng" algn="ctr">
                      <a:solidFill>
                        <a:srgbClr val="C8BBBB"/>
                      </a:solidFill>
                      <a:prstDash val="solid"/>
                      <a:round/>
                      <a:headEnd type="none" w="med" len="med"/>
                      <a:tailEnd type="none" w="med" len="med"/>
                    </a:lnL>
                    <a:lnR w="12700" cap="flat" cmpd="sng" algn="ctr">
                      <a:solidFill>
                        <a:srgbClr val="C8BBBB"/>
                      </a:solidFill>
                      <a:prstDash val="solid"/>
                      <a:round/>
                      <a:headEnd type="none" w="med" len="med"/>
                      <a:tailEnd type="none" w="med" len="med"/>
                    </a:lnR>
                    <a:lnT w="12700" cap="flat" cmpd="sng" algn="ctr">
                      <a:solidFill>
                        <a:srgbClr val="C8BBBB"/>
                      </a:solidFill>
                      <a:prstDash val="solid"/>
                      <a:round/>
                      <a:headEnd type="none" w="med" len="med"/>
                      <a:tailEnd type="none" w="med" len="med"/>
                    </a:lnT>
                    <a:lnB w="12700" cap="flat" cmpd="sng" algn="ctr">
                      <a:solidFill>
                        <a:srgbClr val="C8BBBB"/>
                      </a:solidFill>
                      <a:prstDash val="solid"/>
                      <a:round/>
                      <a:headEnd type="none" w="med" len="med"/>
                      <a:tailEnd type="none" w="med" len="med"/>
                    </a:lnB>
                    <a:solidFill>
                      <a:srgbClr val="FBEAEA"/>
                    </a:solidFill>
                  </a:tcPr>
                </a:tc>
                <a:tc>
                  <a:txBody>
                    <a:bodyPr/>
                    <a:lstStyle/>
                    <a:p>
                      <a:pPr indent="0" marL="0">
                        <a:lnSpc>
                          <a:spcPts val="1960"/>
                        </a:lnSpc>
                        <a:buNone/>
                      </a:pPr>
                      <a:r>
                        <a:rPr lang="en-US" sz="1400" dirty="0">
                          <a:solidFill>
                            <a:srgbClr val="5B6B80"/>
                          </a:solidFill>
                          <a:latin typeface="Arial" pitchFamily="34" charset="0"/>
                          <a:ea typeface="Arial" pitchFamily="34" charset="-122"/>
                          <a:cs typeface="Arial" pitchFamily="34" charset="-120"/>
                        </a:rPr>
                        <a:t>17,2 – 46,1</a:t>
                      </a:r>
                      <a:endParaRPr lang="en-US" sz="1400" dirty="0">
                        <a:latin typeface="Arial" charset="0"/>
                        <a:ea typeface="Arial" charset="0"/>
                        <a:cs typeface="Arial" charset="0"/>
                      </a:endParaRPr>
                    </a:p>
                  </a:txBody>
                  <a:tcPr marL="76200" marR="76200" marT="63500" marB="63500" anchor="t">
                    <a:lnL w="12700" cap="flat" cmpd="sng" algn="ctr">
                      <a:solidFill>
                        <a:srgbClr val="C8BBBB"/>
                      </a:solidFill>
                      <a:prstDash val="solid"/>
                      <a:round/>
                      <a:headEnd type="none" w="med" len="med"/>
                      <a:tailEnd type="none" w="med" len="med"/>
                    </a:lnL>
                    <a:lnR w="12700" cap="flat" cmpd="sng" algn="ctr">
                      <a:solidFill>
                        <a:srgbClr val="C8BBBB"/>
                      </a:solidFill>
                      <a:prstDash val="solid"/>
                      <a:round/>
                      <a:headEnd type="none" w="med" len="med"/>
                      <a:tailEnd type="none" w="med" len="med"/>
                    </a:lnR>
                    <a:lnT w="12700" cap="flat" cmpd="sng" algn="ctr">
                      <a:solidFill>
                        <a:srgbClr val="C8BBBB"/>
                      </a:solidFill>
                      <a:prstDash val="solid"/>
                      <a:round/>
                      <a:headEnd type="none" w="med" len="med"/>
                      <a:tailEnd type="none" w="med" len="med"/>
                    </a:lnT>
                    <a:lnB w="12700" cap="flat" cmpd="sng" algn="ctr">
                      <a:solidFill>
                        <a:srgbClr val="C8BBBB"/>
                      </a:solidFill>
                      <a:prstDash val="solid"/>
                      <a:round/>
                      <a:headEnd type="none" w="med" len="med"/>
                      <a:tailEnd type="none" w="med" len="med"/>
                    </a:lnB>
                    <a:solidFill>
                      <a:srgbClr val="FBEAEA"/>
                    </a:solidFill>
                  </a:tcPr>
                </a:tc>
              </a:tr>
              <a:tr h="388541">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MONO%</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8BBB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6,1</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8BBB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8BBB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5B6B80"/>
                          </a:solidFill>
                          <a:latin typeface="Arial" pitchFamily="34" charset="0"/>
                          <a:ea typeface="Arial" pitchFamily="34" charset="-122"/>
                          <a:cs typeface="Arial" pitchFamily="34" charset="-120"/>
                        </a:rPr>
                        <a:t>3,7 – 10,9</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8BBB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8541">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RBC</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4,92</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T/L</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5B6B80"/>
                          </a:solidFill>
                          <a:latin typeface="Arial" pitchFamily="34" charset="0"/>
                          <a:ea typeface="Arial" pitchFamily="34" charset="-122"/>
                          <a:cs typeface="Arial" pitchFamily="34" charset="-120"/>
                        </a:rPr>
                        <a:t>4,37 – 5,69</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8541">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HGB</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145,6</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g/L</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5B6B80"/>
                          </a:solidFill>
                          <a:latin typeface="Arial" pitchFamily="34" charset="0"/>
                          <a:ea typeface="Arial" pitchFamily="34" charset="-122"/>
                          <a:cs typeface="Arial" pitchFamily="34" charset="-120"/>
                        </a:rPr>
                        <a:t>130 – 175</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8541">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HCT</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44,1</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5B6B80"/>
                          </a:solidFill>
                          <a:latin typeface="Arial" pitchFamily="34" charset="0"/>
                          <a:ea typeface="Arial" pitchFamily="34" charset="-122"/>
                          <a:cs typeface="Arial" pitchFamily="34" charset="-120"/>
                        </a:rPr>
                        <a:t>38,8 – 50,0</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350000" y="1946771"/>
          <a:ext cx="5016500" cy="2719784"/>
        </p:xfrm>
        <a:graphic>
          <a:graphicData uri="http://schemas.openxmlformats.org/drawingml/2006/table">
            <a:tbl>
              <a:tblPr/>
              <a:tblGrid>
                <a:gridCol w="1504950"/>
                <a:gridCol w="1103630"/>
                <a:gridCol w="902970"/>
                <a:gridCol w="1504950"/>
              </a:tblGrid>
              <a:tr h="388541">
                <a:tc>
                  <a:txBody>
                    <a:bodyPr/>
                    <a:lstStyle/>
                    <a:p>
                      <a:pPr indent="0" marL="0">
                        <a:lnSpc>
                          <a:spcPts val="1960"/>
                        </a:lnSpc>
                        <a:buNone/>
                      </a:pPr>
                      <a:r>
                        <a:rPr lang="en-US" sz="1400" b="1" dirty="0">
                          <a:solidFill>
                            <a:srgbClr val="0B2545"/>
                          </a:solidFill>
                          <a:latin typeface="Arial" pitchFamily="34" charset="0"/>
                          <a:ea typeface="Arial" pitchFamily="34" charset="-122"/>
                          <a:cs typeface="Arial" pitchFamily="34" charset="-120"/>
                        </a:rPr>
                        <a:t>Xét nghiệm</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b="1" dirty="0">
                          <a:solidFill>
                            <a:srgbClr val="0B2545"/>
                          </a:solidFill>
                          <a:latin typeface="Arial" pitchFamily="34" charset="0"/>
                          <a:ea typeface="Arial" pitchFamily="34" charset="-122"/>
                          <a:cs typeface="Arial" pitchFamily="34" charset="-120"/>
                        </a:rPr>
                        <a:t>Kết quả</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b="1" dirty="0">
                          <a:solidFill>
                            <a:srgbClr val="0B2545"/>
                          </a:solidFill>
                          <a:latin typeface="Arial" pitchFamily="34" charset="0"/>
                          <a:ea typeface="Arial" pitchFamily="34" charset="-122"/>
                          <a:cs typeface="Arial" pitchFamily="34" charset="-120"/>
                        </a:rPr>
                        <a:t>Đơn vị</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b="1" dirty="0">
                          <a:solidFill>
                            <a:srgbClr val="0B2545"/>
                          </a:solidFill>
                          <a:latin typeface="Arial" pitchFamily="34" charset="0"/>
                          <a:ea typeface="Arial" pitchFamily="34" charset="-122"/>
                          <a:cs typeface="Arial" pitchFamily="34" charset="-120"/>
                        </a:rPr>
                        <a:t>Tham chiếu</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8541">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MCV</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89,6</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fL</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5B6B80"/>
                          </a:solidFill>
                          <a:latin typeface="Arial" pitchFamily="34" charset="0"/>
                          <a:ea typeface="Arial" pitchFamily="34" charset="-122"/>
                          <a:cs typeface="Arial" pitchFamily="34" charset="-120"/>
                        </a:rPr>
                        <a:t>80 – 100</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8541">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MCHC</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330</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g/L</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5B6B80"/>
                          </a:solidFill>
                          <a:latin typeface="Arial" pitchFamily="34" charset="0"/>
                          <a:ea typeface="Arial" pitchFamily="34" charset="-122"/>
                          <a:cs typeface="Arial" pitchFamily="34" charset="-120"/>
                        </a:rPr>
                        <a:t>320 – 360</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8541">
                <a:tc>
                  <a:txBody>
                    <a:bodyPr/>
                    <a:lstStyle/>
                    <a:p>
                      <a:pPr indent="0" marL="0">
                        <a:lnSpc>
                          <a:spcPts val="1960"/>
                        </a:lnSpc>
                        <a:buNone/>
                      </a:pPr>
                      <a:r>
                        <a:rPr lang="en-US" sz="1400" dirty="0">
                          <a:solidFill>
                            <a:srgbClr val="B42318"/>
                          </a:solidFill>
                          <a:latin typeface="Arial" pitchFamily="34" charset="0"/>
                          <a:ea typeface="Arial" pitchFamily="34" charset="-122"/>
                          <a:cs typeface="Arial" pitchFamily="34" charset="-120"/>
                        </a:rPr>
                        <a:t>RDW</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8BB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BBB"/>
                      </a:solidFill>
                      <a:prstDash val="solid"/>
                      <a:round/>
                      <a:headEnd type="none" w="med" len="med"/>
                      <a:tailEnd type="none" w="med" len="med"/>
                    </a:lnB>
                    <a:solidFill>
                      <a:srgbClr val="FBEAEA"/>
                    </a:solidFill>
                  </a:tcPr>
                </a:tc>
                <a:tc>
                  <a:txBody>
                    <a:bodyPr/>
                    <a:lstStyle/>
                    <a:p>
                      <a:pPr indent="0" marL="0">
                        <a:lnSpc>
                          <a:spcPts val="1960"/>
                        </a:lnSpc>
                        <a:buNone/>
                      </a:pPr>
                      <a:r>
                        <a:rPr lang="en-US" sz="1400" dirty="0">
                          <a:solidFill>
                            <a:srgbClr val="B42318"/>
                          </a:solidFill>
                          <a:latin typeface="Arial" pitchFamily="34" charset="0"/>
                          <a:ea typeface="Arial" pitchFamily="34" charset="-122"/>
                          <a:cs typeface="Arial" pitchFamily="34" charset="-120"/>
                        </a:rPr>
                        <a:t>15,8 ↑</a:t>
                      </a:r>
                      <a:endParaRPr lang="en-US" sz="1400" dirty="0">
                        <a:latin typeface="Arial" charset="0"/>
                        <a:ea typeface="Arial" charset="0"/>
                        <a:cs typeface="Arial" charset="0"/>
                      </a:endParaRPr>
                    </a:p>
                  </a:txBody>
                  <a:tcPr marL="76200" marR="76200" marT="63500" marB="63500" anchor="t">
                    <a:lnL w="12700" cap="flat" cmpd="sng" algn="ctr">
                      <a:solidFill>
                        <a:srgbClr val="C8BBBB"/>
                      </a:solidFill>
                      <a:prstDash val="solid"/>
                      <a:round/>
                      <a:headEnd type="none" w="med" len="med"/>
                      <a:tailEnd type="none" w="med" len="med"/>
                    </a:lnL>
                    <a:lnR w="12700" cap="flat" cmpd="sng" algn="ctr">
                      <a:solidFill>
                        <a:srgbClr val="C8BB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BBB"/>
                      </a:solidFill>
                      <a:prstDash val="solid"/>
                      <a:round/>
                      <a:headEnd type="none" w="med" len="med"/>
                      <a:tailEnd type="none" w="med" len="med"/>
                    </a:lnB>
                    <a:solidFill>
                      <a:srgbClr val="FBEAEA"/>
                    </a:solidFill>
                  </a:tcPr>
                </a:tc>
                <a:tc>
                  <a:txBody>
                    <a:bodyPr/>
                    <a:lstStyle/>
                    <a:p>
                      <a:pPr indent="0" marL="0">
                        <a:lnSpc>
                          <a:spcPts val="1960"/>
                        </a:lnSpc>
                        <a:buNone/>
                      </a:pPr>
                      <a:r>
                        <a:rPr lang="en-US" sz="1400" dirty="0">
                          <a:solidFill>
                            <a:srgbClr val="B42318"/>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63500" marB="63500" anchor="t">
                    <a:lnL w="12700" cap="flat" cmpd="sng" algn="ctr">
                      <a:solidFill>
                        <a:srgbClr val="C8BBBB"/>
                      </a:solidFill>
                      <a:prstDash val="solid"/>
                      <a:round/>
                      <a:headEnd type="none" w="med" len="med"/>
                      <a:tailEnd type="none" w="med" len="med"/>
                    </a:lnL>
                    <a:lnR w="12700" cap="flat" cmpd="sng" algn="ctr">
                      <a:solidFill>
                        <a:srgbClr val="C8BB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BBB"/>
                      </a:solidFill>
                      <a:prstDash val="solid"/>
                      <a:round/>
                      <a:headEnd type="none" w="med" len="med"/>
                      <a:tailEnd type="none" w="med" len="med"/>
                    </a:lnB>
                    <a:solidFill>
                      <a:srgbClr val="FBEAEA"/>
                    </a:solidFill>
                  </a:tcPr>
                </a:tc>
                <a:tc>
                  <a:txBody>
                    <a:bodyPr/>
                    <a:lstStyle/>
                    <a:p>
                      <a:pPr indent="0" marL="0">
                        <a:lnSpc>
                          <a:spcPts val="1960"/>
                        </a:lnSpc>
                        <a:buNone/>
                      </a:pPr>
                      <a:r>
                        <a:rPr lang="en-US" sz="1400" dirty="0">
                          <a:solidFill>
                            <a:srgbClr val="5B6B80"/>
                          </a:solidFill>
                          <a:latin typeface="Arial" pitchFamily="34" charset="0"/>
                          <a:ea typeface="Arial" pitchFamily="34" charset="-122"/>
                          <a:cs typeface="Arial" pitchFamily="34" charset="-120"/>
                        </a:rPr>
                        <a:t>11,5 – 14,5</a:t>
                      </a:r>
                      <a:endParaRPr lang="en-US" sz="1400" dirty="0">
                        <a:latin typeface="Arial" charset="0"/>
                        <a:ea typeface="Arial" charset="0"/>
                        <a:cs typeface="Arial" charset="0"/>
                      </a:endParaRPr>
                    </a:p>
                  </a:txBody>
                  <a:tcPr marL="76200" marR="76200" marT="63500" marB="63500" anchor="t">
                    <a:lnL w="12700" cap="flat" cmpd="sng" algn="ctr">
                      <a:solidFill>
                        <a:srgbClr val="C8BBBB"/>
                      </a:solidFill>
                      <a:prstDash val="solid"/>
                      <a:round/>
                      <a:headEnd type="none" w="med" len="med"/>
                      <a:tailEnd type="none" w="med" len="med"/>
                    </a:lnL>
                    <a:lnR w="12700" cap="flat" cmpd="sng" algn="ctr">
                      <a:solidFill>
                        <a:srgbClr val="C8BB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8BBBB"/>
                      </a:solidFill>
                      <a:prstDash val="solid"/>
                      <a:round/>
                      <a:headEnd type="none" w="med" len="med"/>
                      <a:tailEnd type="none" w="med" len="med"/>
                    </a:lnB>
                    <a:solidFill>
                      <a:srgbClr val="FBEAEA"/>
                    </a:solidFill>
                  </a:tcPr>
                </a:tc>
              </a:tr>
              <a:tr h="388541">
                <a:tc>
                  <a:txBody>
                    <a:bodyPr/>
                    <a:lstStyle/>
                    <a:p>
                      <a:pPr indent="0" marL="0">
                        <a:lnSpc>
                          <a:spcPts val="1960"/>
                        </a:lnSpc>
                        <a:buNone/>
                      </a:pPr>
                      <a:r>
                        <a:rPr lang="en-US" sz="1400" dirty="0">
                          <a:solidFill>
                            <a:srgbClr val="B42318"/>
                          </a:solidFill>
                          <a:latin typeface="Arial" pitchFamily="34" charset="0"/>
                          <a:ea typeface="Arial" pitchFamily="34" charset="-122"/>
                          <a:cs typeface="Arial" pitchFamily="34" charset="-120"/>
                        </a:rPr>
                        <a:t>PLT</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8BBBB"/>
                      </a:solidFill>
                      <a:prstDash val="solid"/>
                      <a:round/>
                      <a:headEnd type="none" w="med" len="med"/>
                      <a:tailEnd type="none" w="med" len="med"/>
                    </a:lnR>
                    <a:lnT w="12700" cap="flat" cmpd="sng" algn="ctr">
                      <a:solidFill>
                        <a:srgbClr val="C8BBBB"/>
                      </a:solidFill>
                      <a:prstDash val="solid"/>
                      <a:round/>
                      <a:headEnd type="none" w="med" len="med"/>
                      <a:tailEnd type="none" w="med" len="med"/>
                    </a:lnT>
                    <a:lnB w="12700" cap="flat" cmpd="sng" algn="ctr">
                      <a:solidFill>
                        <a:srgbClr val="C8BBBB"/>
                      </a:solidFill>
                      <a:prstDash val="solid"/>
                      <a:round/>
                      <a:headEnd type="none" w="med" len="med"/>
                      <a:tailEnd type="none" w="med" len="med"/>
                    </a:lnB>
                    <a:solidFill>
                      <a:srgbClr val="FBEAEA"/>
                    </a:solidFill>
                  </a:tcPr>
                </a:tc>
                <a:tc>
                  <a:txBody>
                    <a:bodyPr/>
                    <a:lstStyle/>
                    <a:p>
                      <a:pPr indent="0" marL="0">
                        <a:lnSpc>
                          <a:spcPts val="1960"/>
                        </a:lnSpc>
                        <a:buNone/>
                      </a:pPr>
                      <a:r>
                        <a:rPr lang="en-US" sz="1400" dirty="0">
                          <a:solidFill>
                            <a:srgbClr val="B42318"/>
                          </a:solidFill>
                          <a:latin typeface="Arial" pitchFamily="34" charset="0"/>
                          <a:ea typeface="Arial" pitchFamily="34" charset="-122"/>
                          <a:cs typeface="Arial" pitchFamily="34" charset="-120"/>
                        </a:rPr>
                        <a:t>118 ↓</a:t>
                      </a:r>
                      <a:endParaRPr lang="en-US" sz="1400" dirty="0">
                        <a:latin typeface="Arial" charset="0"/>
                        <a:ea typeface="Arial" charset="0"/>
                        <a:cs typeface="Arial" charset="0"/>
                      </a:endParaRPr>
                    </a:p>
                  </a:txBody>
                  <a:tcPr marL="76200" marR="76200" marT="63500" marB="63500" anchor="t">
                    <a:lnL w="12700" cap="flat" cmpd="sng" algn="ctr">
                      <a:solidFill>
                        <a:srgbClr val="C8BBBB"/>
                      </a:solidFill>
                      <a:prstDash val="solid"/>
                      <a:round/>
                      <a:headEnd type="none" w="med" len="med"/>
                      <a:tailEnd type="none" w="med" len="med"/>
                    </a:lnL>
                    <a:lnR w="12700" cap="flat" cmpd="sng" algn="ctr">
                      <a:solidFill>
                        <a:srgbClr val="C8BBBB"/>
                      </a:solidFill>
                      <a:prstDash val="solid"/>
                      <a:round/>
                      <a:headEnd type="none" w="med" len="med"/>
                      <a:tailEnd type="none" w="med" len="med"/>
                    </a:lnR>
                    <a:lnT w="12700" cap="flat" cmpd="sng" algn="ctr">
                      <a:solidFill>
                        <a:srgbClr val="C8BBBB"/>
                      </a:solidFill>
                      <a:prstDash val="solid"/>
                      <a:round/>
                      <a:headEnd type="none" w="med" len="med"/>
                      <a:tailEnd type="none" w="med" len="med"/>
                    </a:lnT>
                    <a:lnB w="12700" cap="flat" cmpd="sng" algn="ctr">
                      <a:solidFill>
                        <a:srgbClr val="C8BBBB"/>
                      </a:solidFill>
                      <a:prstDash val="solid"/>
                      <a:round/>
                      <a:headEnd type="none" w="med" len="med"/>
                      <a:tailEnd type="none" w="med" len="med"/>
                    </a:lnB>
                    <a:solidFill>
                      <a:srgbClr val="FBEAEA"/>
                    </a:solidFill>
                  </a:tcPr>
                </a:tc>
                <a:tc>
                  <a:txBody>
                    <a:bodyPr/>
                    <a:lstStyle/>
                    <a:p>
                      <a:pPr indent="0" marL="0">
                        <a:lnSpc>
                          <a:spcPts val="1960"/>
                        </a:lnSpc>
                        <a:buNone/>
                      </a:pPr>
                      <a:r>
                        <a:rPr lang="en-US" sz="1400" dirty="0">
                          <a:solidFill>
                            <a:srgbClr val="B42318"/>
                          </a:solidFill>
                          <a:latin typeface="Arial" pitchFamily="34" charset="0"/>
                          <a:ea typeface="Arial" pitchFamily="34" charset="-122"/>
                          <a:cs typeface="Arial" pitchFamily="34" charset="-120"/>
                        </a:rPr>
                        <a:t>G/L</a:t>
                      </a:r>
                      <a:endParaRPr lang="en-US" sz="1400" dirty="0">
                        <a:latin typeface="Arial" charset="0"/>
                        <a:ea typeface="Arial" charset="0"/>
                        <a:cs typeface="Arial" charset="0"/>
                      </a:endParaRPr>
                    </a:p>
                  </a:txBody>
                  <a:tcPr marL="76200" marR="76200" marT="63500" marB="63500" anchor="t">
                    <a:lnL w="12700" cap="flat" cmpd="sng" algn="ctr">
                      <a:solidFill>
                        <a:srgbClr val="C8BBBB"/>
                      </a:solidFill>
                      <a:prstDash val="solid"/>
                      <a:round/>
                      <a:headEnd type="none" w="med" len="med"/>
                      <a:tailEnd type="none" w="med" len="med"/>
                    </a:lnL>
                    <a:lnR w="12700" cap="flat" cmpd="sng" algn="ctr">
                      <a:solidFill>
                        <a:srgbClr val="C8BBBB"/>
                      </a:solidFill>
                      <a:prstDash val="solid"/>
                      <a:round/>
                      <a:headEnd type="none" w="med" len="med"/>
                      <a:tailEnd type="none" w="med" len="med"/>
                    </a:lnR>
                    <a:lnT w="12700" cap="flat" cmpd="sng" algn="ctr">
                      <a:solidFill>
                        <a:srgbClr val="C8BBBB"/>
                      </a:solidFill>
                      <a:prstDash val="solid"/>
                      <a:round/>
                      <a:headEnd type="none" w="med" len="med"/>
                      <a:tailEnd type="none" w="med" len="med"/>
                    </a:lnT>
                    <a:lnB w="12700" cap="flat" cmpd="sng" algn="ctr">
                      <a:solidFill>
                        <a:srgbClr val="C8BBBB"/>
                      </a:solidFill>
                      <a:prstDash val="solid"/>
                      <a:round/>
                      <a:headEnd type="none" w="med" len="med"/>
                      <a:tailEnd type="none" w="med" len="med"/>
                    </a:lnB>
                    <a:solidFill>
                      <a:srgbClr val="FBEAEA"/>
                    </a:solidFill>
                  </a:tcPr>
                </a:tc>
                <a:tc>
                  <a:txBody>
                    <a:bodyPr/>
                    <a:lstStyle/>
                    <a:p>
                      <a:pPr indent="0" marL="0">
                        <a:lnSpc>
                          <a:spcPts val="1960"/>
                        </a:lnSpc>
                        <a:buNone/>
                      </a:pPr>
                      <a:r>
                        <a:rPr lang="en-US" sz="1400" dirty="0">
                          <a:solidFill>
                            <a:srgbClr val="5B6B80"/>
                          </a:solidFill>
                          <a:latin typeface="Arial" pitchFamily="34" charset="0"/>
                          <a:ea typeface="Arial" pitchFamily="34" charset="-122"/>
                          <a:cs typeface="Arial" pitchFamily="34" charset="-120"/>
                        </a:rPr>
                        <a:t>150 – 450</a:t>
                      </a:r>
                      <a:endParaRPr lang="en-US" sz="1400" dirty="0">
                        <a:latin typeface="Arial" charset="0"/>
                        <a:ea typeface="Arial" charset="0"/>
                        <a:cs typeface="Arial" charset="0"/>
                      </a:endParaRPr>
                    </a:p>
                  </a:txBody>
                  <a:tcPr marL="76200" marR="76200" marT="63500" marB="63500" anchor="t">
                    <a:lnL w="12700" cap="flat" cmpd="sng" algn="ctr">
                      <a:solidFill>
                        <a:srgbClr val="C8BBBB"/>
                      </a:solidFill>
                      <a:prstDash val="solid"/>
                      <a:round/>
                      <a:headEnd type="none" w="med" len="med"/>
                      <a:tailEnd type="none" w="med" len="med"/>
                    </a:lnL>
                    <a:lnR w="12700" cap="flat" cmpd="sng" algn="ctr">
                      <a:solidFill>
                        <a:srgbClr val="C8BBBB"/>
                      </a:solidFill>
                      <a:prstDash val="solid"/>
                      <a:round/>
                      <a:headEnd type="none" w="med" len="med"/>
                      <a:tailEnd type="none" w="med" len="med"/>
                    </a:lnR>
                    <a:lnT w="12700" cap="flat" cmpd="sng" algn="ctr">
                      <a:solidFill>
                        <a:srgbClr val="C8BBBB"/>
                      </a:solidFill>
                      <a:prstDash val="solid"/>
                      <a:round/>
                      <a:headEnd type="none" w="med" len="med"/>
                      <a:tailEnd type="none" w="med" len="med"/>
                    </a:lnT>
                    <a:lnB w="12700" cap="flat" cmpd="sng" algn="ctr">
                      <a:solidFill>
                        <a:srgbClr val="C8BBBB"/>
                      </a:solidFill>
                      <a:prstDash val="solid"/>
                      <a:round/>
                      <a:headEnd type="none" w="med" len="med"/>
                      <a:tailEnd type="none" w="med" len="med"/>
                    </a:lnB>
                    <a:solidFill>
                      <a:srgbClr val="FBEAEA"/>
                    </a:solidFill>
                  </a:tcPr>
                </a:tc>
              </a:tr>
              <a:tr h="388541">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PDW</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8BBB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17,2</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8BBB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fL</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8BBB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5B6B80"/>
                          </a:solidFill>
                          <a:latin typeface="Arial" pitchFamily="34" charset="0"/>
                          <a:ea typeface="Arial" pitchFamily="34" charset="-122"/>
                          <a:cs typeface="Arial" pitchFamily="34" charset="-120"/>
                        </a:rPr>
                        <a:t>10 – 18</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8BBB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8541">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MPV</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9,4</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3233A"/>
                          </a:solidFill>
                          <a:latin typeface="Arial" pitchFamily="34" charset="0"/>
                          <a:ea typeface="Arial" pitchFamily="34" charset="-122"/>
                          <a:cs typeface="Arial" pitchFamily="34" charset="-120"/>
                        </a:rPr>
                        <a:t>fL</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5B6B80"/>
                          </a:solidFill>
                          <a:latin typeface="Arial" pitchFamily="34" charset="0"/>
                          <a:ea typeface="Arial" pitchFamily="34" charset="-122"/>
                          <a:cs typeface="Arial" pitchFamily="34" charset="-120"/>
                        </a:rPr>
                        <a:t>6,5 – 12,0</a:t>
                      </a:r>
                      <a:endParaRPr lang="en-US" sz="1400" dirty="0">
                        <a:latin typeface="Arial" charset="0"/>
                        <a:ea typeface="Arial" charset="0"/>
                        <a:cs typeface="Arial" charset="0"/>
                      </a:endParaRPr>
                    </a:p>
                  </a:txBody>
                  <a:tcPr marL="76200" marR="762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10" name="Text 6"/>
          <p:cNvSpPr/>
          <p:nvPr/>
        </p:nvSpPr>
        <p:spPr>
          <a:xfrm>
            <a:off x="812800" y="5366544"/>
            <a:ext cx="10883392" cy="500856"/>
          </a:xfrm>
          <a:prstGeom prst="rect">
            <a:avLst/>
          </a:prstGeom>
          <a:noFill/>
          <a:ln/>
        </p:spPr>
        <p:txBody>
          <a:bodyPr wrap="square" lIns="0" tIns="0" rIns="0" bIns="0" rtlCol="0" anchor="t">
            <a:normAutofit/>
          </a:bodyPr>
          <a:lstStyle/>
          <a:p>
            <a:pPr algn="l" indent="0" marL="0">
              <a:lnSpc>
                <a:spcPts val="1884"/>
              </a:lnSpc>
              <a:buNone/>
            </a:pPr>
            <a:r>
              <a:rPr lang="en-US" sz="1396" dirty="0">
                <a:solidFill>
                  <a:srgbClr val="3A4A5E"/>
                </a:solidFill>
                <a:latin typeface="Arial" pitchFamily="34" charset="0"/>
                <a:ea typeface="Arial" pitchFamily="34" charset="-122"/>
                <a:cs typeface="Arial" pitchFamily="34" charset="-120"/>
              </a:rPr>
              <a:t>Phiếu minh họa. </a:t>
            </a:r>
            <a:r>
              <a:rPr lang="en-US" sz="1396" b="1" dirty="0">
                <a:solidFill>
                  <a:srgbClr val="B42318"/>
                </a:solidFill>
                <a:latin typeface="Arial" pitchFamily="34" charset="0"/>
                <a:ea typeface="Arial" pitchFamily="34" charset="-122"/>
                <a:cs typeface="Arial" pitchFamily="34" charset="-120"/>
              </a:rPr>
              <a:t>Dòng đỏ (↑ cao, ↓ thấp)</a:t>
            </a:r>
            <a:r>
              <a:rPr lang="en-US" sz="1396" dirty="0">
                <a:solidFill>
                  <a:srgbClr val="3A4A5E"/>
                </a:solidFill>
                <a:latin typeface="Arial" pitchFamily="34" charset="0"/>
                <a:ea typeface="Arial" pitchFamily="34" charset="-122"/>
                <a:cs typeface="Arial" pitchFamily="34" charset="-120"/>
              </a:rPr>
              <a:t> nằm ngoài khoảng tham chiếu in cạnh mỗi giá trị — nhưng phiếu không cho biết chỉ số đó là gì, hay phải làm gì tiếp theo.</a:t>
            </a:r>
            <a:endParaRPr lang="en-US" sz="1396" dirty="0"/>
          </a:p>
        </p:txBody>
      </p:sp>
      <p:sp>
        <p:nvSpPr>
          <p:cNvPr id="11" name="Text 7"/>
          <p:cNvSpPr/>
          <p:nvPr/>
        </p:nvSpPr>
        <p:spPr>
          <a:xfrm>
            <a:off x="812800" y="6202759"/>
            <a:ext cx="784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HEALTHINFO IV · Trương Quang Đại, HUTECH · Bài HI26-0013</a:t>
            </a:r>
            <a:endParaRPr lang="en-US" sz="1400" dirty="0"/>
          </a:p>
        </p:txBody>
      </p:sp>
      <p:sp>
        <p:nvSpPr>
          <p:cNvPr id="12" name="Text 8"/>
          <p:cNvSpPr/>
          <p:nvPr/>
        </p:nvSpPr>
        <p:spPr>
          <a:xfrm>
            <a:off x="10058400" y="6202759"/>
            <a:ext cx="132080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B6B80"/>
                </a:solidFill>
                <a:latin typeface="Arial" pitchFamily="34" charset="0"/>
                <a:ea typeface="Arial" pitchFamily="34" charset="-122"/>
                <a:cs typeface="Arial" pitchFamily="34" charset="-120"/>
              </a:rPr>
              <a:t>3 / 19</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A"/>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0B7A6E"/>
          </a:solidFill>
          <a:ln/>
        </p:spPr>
        <p:txBody>
          <a:bodyPr/>
          <a:p/>
        </p:txBody>
      </p:sp>
      <p:sp>
        <p:nvSpPr>
          <p:cNvPr id="3" name="Text 1"/>
          <p:cNvSpPr/>
          <p:nvPr>
            <p:ph type="title"/>
          </p:nvPr>
        </p:nvSpPr>
        <p:spPr>
          <a:xfrm>
            <a:off x="812800" y="71120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B7A6E"/>
                </a:solidFill>
                <a:latin typeface="Arial" pitchFamily="34" charset="0"/>
                <a:ea typeface="Arial" pitchFamily="34" charset="-122"/>
                <a:cs typeface="Arial" pitchFamily="34" charset="-120"/>
              </a:rPr>
              <a:t>03</a:t>
            </a:r>
            <a:r>
              <a:rPr lang="en-US" sz="2600" b="1" i="0" dirty="0">
                <a:solidFill>
                  <a:srgbClr val="0B2545"/>
                </a:solidFill>
                <a:latin typeface="Arial" pitchFamily="34" charset="0"/>
                <a:ea typeface="Arial" pitchFamily="34" charset="-122"/>
                <a:cs typeface="Arial" pitchFamily="34" charset="-120"/>
              </a:rPr>
              <a:t> Người bệnh hiện đang tự xoay xở thế nào</a:t>
            </a:r>
            <a:endParaRPr lang="en-US" sz="2600" dirty="0"/>
          </a:p>
        </p:txBody>
      </p:sp>
      <p:sp>
        <p:nvSpPr>
          <p:cNvPr id="4" name="Text 2"/>
          <p:cNvSpPr/>
          <p:nvPr/>
        </p:nvSpPr>
        <p:spPr>
          <a:xfrm>
            <a:off x="812800" y="1243310"/>
            <a:ext cx="1088339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A4A5E"/>
                </a:solidFill>
                <a:latin typeface="Arial" pitchFamily="34" charset="0"/>
                <a:ea typeface="Arial" pitchFamily="34" charset="-122"/>
                <a:cs typeface="Arial" pitchFamily="34" charset="-120"/>
              </a:rPr>
              <a:t>Họ chụp ảnh phiếu kết quả rồi hỏi một mô hình ngôn ngữ đa dụng (chatbot).</a:t>
            </a:r>
            <a:endParaRPr lang="en-US" sz="1400" dirty="0"/>
          </a:p>
        </p:txBody>
      </p:sp>
      <p:sp>
        <p:nvSpPr>
          <p:cNvPr id="5" name="Shape 3"/>
          <p:cNvSpPr/>
          <p:nvPr/>
        </p:nvSpPr>
        <p:spPr>
          <a:xfrm>
            <a:off x="815975" y="1629966"/>
            <a:ext cx="10560050" cy="509191"/>
          </a:xfrm>
          <a:prstGeom prst="roundRect">
            <a:avLst>
              <a:gd name="adj" fmla="val 19330"/>
            </a:avLst>
          </a:prstGeom>
          <a:solidFill>
            <a:srgbClr val="FFFFFF"/>
          </a:solidFill>
          <a:ln w="6350">
            <a:solidFill>
              <a:srgbClr val="D9E2EC"/>
            </a:solidFill>
            <a:prstDash val="solid"/>
          </a:ln>
        </p:spPr>
        <p:txBody>
          <a:bodyPr/>
          <a:p/>
        </p:txBody>
      </p:sp>
      <p:sp>
        <p:nvSpPr>
          <p:cNvPr id="6" name="Text 4"/>
          <p:cNvSpPr/>
          <p:nvPr/>
        </p:nvSpPr>
        <p:spPr>
          <a:xfrm>
            <a:off x="1022350" y="1760141"/>
            <a:ext cx="846038" cy="274241"/>
          </a:xfrm>
          <a:prstGeom prst="rect">
            <a:avLst/>
          </a:prstGeom>
          <a:noFill/>
          <a:ln/>
        </p:spPr>
        <p:txBody>
          <a:bodyPr wrap="none" lIns="0" tIns="0" rIns="0" bIns="0" rtlCol="0" anchor="t">
            <a:normAutofit/>
          </a:bodyPr>
          <a:lstStyle/>
          <a:p>
            <a:pPr algn="l" indent="0" marL="0">
              <a:lnSpc>
                <a:spcPts val="1960"/>
              </a:lnSpc>
              <a:buNone/>
            </a:pPr>
            <a:r>
              <a:rPr lang="en-US" sz="1400" b="1" spc="50" kern="0" dirty="0">
                <a:solidFill>
                  <a:srgbClr val="1E5FB4"/>
                </a:solidFill>
                <a:latin typeface="Arial" pitchFamily="34" charset="0"/>
                <a:ea typeface="Arial" pitchFamily="34" charset="-122"/>
                <a:cs typeface="Arial" pitchFamily="34" charset="-120"/>
              </a:rPr>
              <a:t>CÂU HỎI</a:t>
            </a:r>
            <a:endParaRPr lang="en-US" sz="1400" dirty="0"/>
          </a:p>
        </p:txBody>
      </p:sp>
      <p:sp>
        <p:nvSpPr>
          <p:cNvPr id="7" name="Text 5"/>
          <p:cNvSpPr/>
          <p:nvPr/>
        </p:nvSpPr>
        <p:spPr>
          <a:xfrm>
            <a:off x="1969988" y="1760141"/>
            <a:ext cx="3380423" cy="274241"/>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13233A"/>
                </a:solidFill>
                <a:latin typeface="Arial" pitchFamily="34" charset="0"/>
                <a:ea typeface="Arial" pitchFamily="34" charset="-122"/>
                <a:cs typeface="Arial" pitchFamily="34" charset="-120"/>
              </a:rPr>
              <a:t>“Giải thích ngắn gọn bạch cầu là gì”</a:t>
            </a:r>
            <a:endParaRPr lang="en-US" sz="1400" dirty="0"/>
          </a:p>
        </p:txBody>
      </p:sp>
      <p:sp>
        <p:nvSpPr>
          <p:cNvPr id="8" name="Shape 6"/>
          <p:cNvSpPr/>
          <p:nvPr/>
        </p:nvSpPr>
        <p:spPr>
          <a:xfrm>
            <a:off x="815975" y="2297906"/>
            <a:ext cx="10560050" cy="1139031"/>
          </a:xfrm>
          <a:prstGeom prst="roundRect">
            <a:avLst>
              <a:gd name="adj" fmla="val 8641"/>
            </a:avLst>
          </a:prstGeom>
          <a:solidFill>
            <a:srgbClr val="FFF6EF"/>
          </a:solidFill>
          <a:ln w="6350">
            <a:solidFill>
              <a:srgbClr val="F3CBAA"/>
            </a:solidFill>
            <a:prstDash val="solid"/>
          </a:ln>
        </p:spPr>
        <p:txBody>
          <a:bodyPr/>
          <a:p/>
        </p:txBody>
      </p:sp>
      <p:sp>
        <p:nvSpPr>
          <p:cNvPr id="9" name="Text 7"/>
          <p:cNvSpPr/>
          <p:nvPr/>
        </p:nvSpPr>
        <p:spPr>
          <a:xfrm>
            <a:off x="1022350" y="2453481"/>
            <a:ext cx="10451719" cy="274241"/>
          </a:xfrm>
          <a:prstGeom prst="rect">
            <a:avLst/>
          </a:prstGeom>
          <a:noFill/>
          <a:ln/>
        </p:spPr>
        <p:txBody>
          <a:bodyPr wrap="square" lIns="0" tIns="0" rIns="0" bIns="0" rtlCol="0" anchor="t">
            <a:normAutofit/>
          </a:bodyPr>
          <a:lstStyle/>
          <a:p>
            <a:pPr algn="l" indent="0" marL="0">
              <a:lnSpc>
                <a:spcPts val="1960"/>
              </a:lnSpc>
              <a:buNone/>
            </a:pPr>
            <a:r>
              <a:rPr lang="en-US" sz="1400" b="1" spc="50" kern="0" dirty="0">
                <a:solidFill>
                  <a:srgbClr val="C2570C"/>
                </a:solidFill>
                <a:latin typeface="Arial" pitchFamily="34" charset="0"/>
                <a:ea typeface="Arial" pitchFamily="34" charset="-122"/>
                <a:cs typeface="Arial" pitchFamily="34" charset="-120"/>
              </a:rPr>
              <a:t>TRẢ LỜI CỦA MÔ HÌNH 3 TỶ THAM SỐ </a:t>
            </a:r>
            <a:r>
              <a:rPr lang="en-US" sz="1400" b="1" spc="50" kern="0" dirty="0">
                <a:solidFill>
                  <a:srgbClr val="7A5A44"/>
                </a:solidFill>
                <a:latin typeface="Arial" pitchFamily="34" charset="0"/>
                <a:ea typeface="Arial" pitchFamily="34" charset="-122"/>
                <a:cs typeface="Arial" pitchFamily="34" charset="-120"/>
              </a:rPr>
              <a:t>(chỗ sai được gạch chân)</a:t>
            </a:r>
            <a:endParaRPr lang="en-US" sz="1400" dirty="0"/>
          </a:p>
        </p:txBody>
      </p:sp>
      <p:sp>
        <p:nvSpPr>
          <p:cNvPr id="10" name="Text 8"/>
          <p:cNvSpPr/>
          <p:nvPr/>
        </p:nvSpPr>
        <p:spPr>
          <a:xfrm>
            <a:off x="1022350" y="2765822"/>
            <a:ext cx="10451719" cy="540941"/>
          </a:xfrm>
          <a:prstGeom prst="rect">
            <a:avLst/>
          </a:prstGeom>
          <a:noFill/>
          <a:ln/>
        </p:spPr>
        <p:txBody>
          <a:bodyPr wrap="square" lIns="0" tIns="0" rIns="0" bIns="0" rtlCol="0" anchor="t">
            <a:normAutofit/>
          </a:bodyPr>
          <a:lstStyle/>
          <a:p>
            <a:pPr algn="l" indent="0" marL="0">
              <a:lnSpc>
                <a:spcPts val="2030"/>
              </a:lnSpc>
              <a:buNone/>
            </a:pPr>
            <a:r>
              <a:rPr lang="en-US" sz="1400" i="1" dirty="0">
                <a:solidFill>
                  <a:srgbClr val="13233A"/>
                </a:solidFill>
                <a:latin typeface="Arial" pitchFamily="34" charset="0"/>
                <a:ea typeface="Arial" pitchFamily="34" charset="-122"/>
                <a:cs typeface="Arial" pitchFamily="34" charset="-120"/>
              </a:rPr>
              <a:t>“Bạch cầu … </a:t>
            </a:r>
            <a:r>
              <a:rPr lang="en-US" sz="1400" i="1" u="sng" dirty="0">
                <a:solidFill>
                  <a:srgbClr val="C2570C"/>
                </a:solidFill>
                <a:latin typeface="Arial" pitchFamily="34" charset="0"/>
                <a:ea typeface="Arial" pitchFamily="34" charset="-122"/>
                <a:cs typeface="Arial" pitchFamily="34" charset="-120"/>
              </a:rPr>
              <a:t>là tế bào lympho</a:t>
            </a:r>
            <a:r>
              <a:rPr lang="en-US" sz="1400" i="1" dirty="0">
                <a:solidFill>
                  <a:srgbClr val="13233A"/>
                </a:solidFill>
                <a:latin typeface="Arial" pitchFamily="34" charset="0"/>
                <a:ea typeface="Arial" pitchFamily="34" charset="-122"/>
                <a:cs typeface="Arial" pitchFamily="34" charset="-120"/>
              </a:rPr>
              <a:t> có khả năng di chuyển trong máu … Chúng giúp cơ thể chống lại virus, vi khuẩn và </a:t>
            </a:r>
            <a:r>
              <a:rPr lang="en-US" sz="1400" i="1" u="sng" dirty="0">
                <a:solidFill>
                  <a:srgbClr val="C2570C"/>
                </a:solidFill>
                <a:latin typeface="Arial" pitchFamily="34" charset="0"/>
                <a:ea typeface="Arial" pitchFamily="34" charset="-122"/>
                <a:cs typeface="Arial" pitchFamily="34" charset="-120"/>
              </a:rPr>
              <a:t>tế bào gây ung thư</a:t>
            </a:r>
            <a:r>
              <a:rPr lang="en-US" sz="1400" i="1" dirty="0">
                <a:solidFill>
                  <a:srgbClr val="13233A"/>
                </a:solidFill>
                <a:latin typeface="Arial" pitchFamily="34" charset="0"/>
                <a:ea typeface="Arial" pitchFamily="34" charset="-122"/>
                <a:cs typeface="Arial" pitchFamily="34" charset="-120"/>
              </a:rPr>
              <a:t>. Khi </a:t>
            </a:r>
            <a:r>
              <a:rPr lang="en-US" sz="1400" i="1" u="sng" dirty="0">
                <a:solidFill>
                  <a:srgbClr val="C2570C"/>
                </a:solidFill>
                <a:latin typeface="Arial" pitchFamily="34" charset="0"/>
                <a:ea typeface="Arial" pitchFamily="34" charset="-122"/>
                <a:cs typeface="Arial" pitchFamily="34" charset="-120"/>
              </a:rPr>
              <a:t>hệ miễn dịch suy yếu</a:t>
            </a:r>
            <a:r>
              <a:rPr lang="en-US" sz="1400" i="1" dirty="0">
                <a:solidFill>
                  <a:srgbClr val="13233A"/>
                </a:solidFill>
                <a:latin typeface="Arial" pitchFamily="34" charset="0"/>
                <a:ea typeface="Arial" pitchFamily="34" charset="-122"/>
                <a:cs typeface="Arial" pitchFamily="34" charset="-120"/>
              </a:rPr>
              <a:t>, bạch cầu cũng giảm …”</a:t>
            </a:r>
            <a:endParaRPr lang="en-US" sz="1400" dirty="0"/>
          </a:p>
        </p:txBody>
      </p:sp>
      <p:sp>
        <p:nvSpPr>
          <p:cNvPr id="11" name="Shape 9"/>
          <p:cNvSpPr/>
          <p:nvPr/>
        </p:nvSpPr>
        <p:spPr>
          <a:xfrm>
            <a:off x="815975" y="3595688"/>
            <a:ext cx="5200650" cy="820341"/>
          </a:xfrm>
          <a:prstGeom prst="roundRect">
            <a:avLst>
              <a:gd name="adj" fmla="val 11998"/>
            </a:avLst>
          </a:prstGeom>
          <a:solidFill>
            <a:srgbClr val="FFFFFF"/>
          </a:solidFill>
          <a:ln w="6350">
            <a:solidFill>
              <a:srgbClr val="D9E2EC"/>
            </a:solidFill>
            <a:prstDash val="solid"/>
          </a:ln>
        </p:spPr>
        <p:txBody>
          <a:bodyPr/>
          <a:p/>
        </p:txBody>
      </p:sp>
      <p:sp>
        <p:nvSpPr>
          <p:cNvPr id="12" name="Text 10"/>
          <p:cNvSpPr/>
          <p:nvPr/>
        </p:nvSpPr>
        <p:spPr>
          <a:xfrm>
            <a:off x="996950" y="3738563"/>
            <a:ext cx="498386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2570C"/>
                </a:solidFill>
                <a:latin typeface="Arial" pitchFamily="34" charset="0"/>
                <a:ea typeface="Arial" pitchFamily="34" charset="-122"/>
                <a:cs typeface="Arial" pitchFamily="34" charset="-120"/>
              </a:rPr>
              <a:t>① Lỗi định nghĩa</a:t>
            </a:r>
            <a:endParaRPr lang="en-US" sz="1600" dirty="0"/>
          </a:p>
        </p:txBody>
      </p:sp>
      <p:sp>
        <p:nvSpPr>
          <p:cNvPr id="13" name="Text 11"/>
          <p:cNvSpPr/>
          <p:nvPr/>
        </p:nvSpPr>
        <p:spPr>
          <a:xfrm>
            <a:off x="996950" y="4033143"/>
            <a:ext cx="501650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A5E"/>
                </a:solidFill>
                <a:latin typeface="Arial" pitchFamily="34" charset="0"/>
                <a:ea typeface="Arial" pitchFamily="34" charset="-122"/>
                <a:cs typeface="Arial" pitchFamily="34" charset="-120"/>
              </a:rPr>
              <a:t>Lympho chỉ là </a:t>
            </a:r>
            <a:r>
              <a:rPr lang="en-US" sz="1400" b="1" dirty="0">
                <a:solidFill>
                  <a:srgbClr val="3A4A5E"/>
                </a:solidFill>
                <a:latin typeface="Arial" pitchFamily="34" charset="0"/>
                <a:ea typeface="Arial" pitchFamily="34" charset="-122"/>
                <a:cs typeface="Arial" pitchFamily="34" charset="-120"/>
              </a:rPr>
              <a:t>một loại</a:t>
            </a:r>
            <a:r>
              <a:rPr lang="en-US" sz="1400" dirty="0">
                <a:solidFill>
                  <a:srgbClr val="3A4A5E"/>
                </a:solidFill>
                <a:latin typeface="Arial" pitchFamily="34" charset="0"/>
                <a:ea typeface="Arial" pitchFamily="34" charset="-122"/>
                <a:cs typeface="Arial" pitchFamily="34" charset="-120"/>
              </a:rPr>
              <a:t> bạch cầu, không phải từ đồng nghĩa.</a:t>
            </a:r>
            <a:endParaRPr lang="en-US" sz="1400" dirty="0"/>
          </a:p>
        </p:txBody>
      </p:sp>
      <p:sp>
        <p:nvSpPr>
          <p:cNvPr id="14" name="Shape 12"/>
          <p:cNvSpPr/>
          <p:nvPr/>
        </p:nvSpPr>
        <p:spPr>
          <a:xfrm>
            <a:off x="6175375" y="3595688"/>
            <a:ext cx="5200650" cy="820341"/>
          </a:xfrm>
          <a:prstGeom prst="roundRect">
            <a:avLst>
              <a:gd name="adj" fmla="val 11998"/>
            </a:avLst>
          </a:prstGeom>
          <a:solidFill>
            <a:srgbClr val="FFFFFF"/>
          </a:solidFill>
          <a:ln w="6350">
            <a:solidFill>
              <a:srgbClr val="D9E2EC"/>
            </a:solidFill>
            <a:prstDash val="solid"/>
          </a:ln>
        </p:spPr>
        <p:txBody>
          <a:bodyPr/>
          <a:p/>
        </p:txBody>
      </p:sp>
      <p:sp>
        <p:nvSpPr>
          <p:cNvPr id="15" name="Text 13"/>
          <p:cNvSpPr/>
          <p:nvPr/>
        </p:nvSpPr>
        <p:spPr>
          <a:xfrm>
            <a:off x="6356350" y="3738563"/>
            <a:ext cx="498386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2570C"/>
                </a:solidFill>
                <a:latin typeface="Arial" pitchFamily="34" charset="0"/>
                <a:ea typeface="Arial" pitchFamily="34" charset="-122"/>
                <a:cs typeface="Arial" pitchFamily="34" charset="-120"/>
              </a:rPr>
              <a:t>② Tự nhắc tới bệnh</a:t>
            </a:r>
            <a:endParaRPr lang="en-US" sz="1600" dirty="0"/>
          </a:p>
        </p:txBody>
      </p:sp>
      <p:sp>
        <p:nvSpPr>
          <p:cNvPr id="16" name="Text 14"/>
          <p:cNvSpPr/>
          <p:nvPr/>
        </p:nvSpPr>
        <p:spPr>
          <a:xfrm>
            <a:off x="6356350" y="4033143"/>
            <a:ext cx="4983861"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A5E"/>
                </a:solidFill>
                <a:latin typeface="Arial" pitchFamily="34" charset="0"/>
                <a:ea typeface="Arial" pitchFamily="34" charset="-122"/>
                <a:cs typeface="Arial" pitchFamily="34" charset="-120"/>
              </a:rPr>
              <a:t>Nói tới ung thư và suy giảm miễn dịch </a:t>
            </a:r>
            <a:r>
              <a:rPr lang="en-US" sz="1400" b="1" dirty="0">
                <a:solidFill>
                  <a:srgbClr val="3A4A5E"/>
                </a:solidFill>
                <a:latin typeface="Arial" pitchFamily="34" charset="0"/>
                <a:ea typeface="Arial" pitchFamily="34" charset="-122"/>
                <a:cs typeface="Arial" pitchFamily="34" charset="-120"/>
              </a:rPr>
              <a:t>dù không ai hỏi</a:t>
            </a:r>
            <a:r>
              <a:rPr lang="en-US" sz="1400" dirty="0">
                <a:solidFill>
                  <a:srgbClr val="3A4A5E"/>
                </a:solidFill>
                <a:latin typeface="Arial" pitchFamily="34" charset="0"/>
                <a:ea typeface="Arial" pitchFamily="34" charset="-122"/>
                <a:cs typeface="Arial" pitchFamily="34" charset="-120"/>
              </a:rPr>
              <a:t>.</a:t>
            </a:r>
            <a:endParaRPr lang="en-US" sz="1400" dirty="0"/>
          </a:p>
        </p:txBody>
      </p:sp>
      <p:sp>
        <p:nvSpPr>
          <p:cNvPr id="17" name="Text 15"/>
          <p:cNvSpPr/>
          <p:nvPr/>
        </p:nvSpPr>
        <p:spPr>
          <a:xfrm>
            <a:off x="812800" y="4571603"/>
            <a:ext cx="10566400" cy="519410"/>
          </a:xfrm>
          <a:prstGeom prst="roundRect">
            <a:avLst>
              <a:gd name="adj" fmla="val 19561"/>
            </a:avLst>
          </a:prstGeom>
          <a:solidFill>
            <a:srgbClr val="0B2545"/>
          </a:solidFill>
          <a:ln/>
        </p:spPr>
        <p:txBody>
          <a:bodyPr wrap="square" lIns="173442" tIns="109942" rIns="0" bIns="84542" rtlCol="0" anchor="t">
            <a:normAutofit/>
          </a:bodyPr>
          <a:lstStyle/>
          <a:p>
            <a:pPr algn="l" indent="0" marL="0">
              <a:lnSpc>
                <a:spcPts val="1890"/>
              </a:lnSpc>
              <a:buNone/>
            </a:pPr>
            <a:r>
              <a:rPr lang="en-US" sz="1400" dirty="0">
                <a:solidFill>
                  <a:srgbClr val="FFFFFF"/>
                </a:solidFill>
                <a:latin typeface="Arial" pitchFamily="34" charset="0"/>
                <a:ea typeface="Arial" pitchFamily="34" charset="-122"/>
                <a:cs typeface="Arial" pitchFamily="34" charset="-120"/>
              </a:rPr>
              <a:t>Người có kết quả </a:t>
            </a:r>
            <a:r>
              <a:rPr lang="en-US" sz="1400" b="1" dirty="0">
                <a:solidFill>
                  <a:srgbClr val="5EEAD4"/>
                </a:solidFill>
                <a:latin typeface="Arial" pitchFamily="34" charset="0"/>
                <a:ea typeface="Arial" pitchFamily="34" charset="-122"/>
                <a:cs typeface="Arial" pitchFamily="34" charset="-120"/>
              </a:rPr>
              <a:t>hoàn toàn bình thường</a:t>
            </a:r>
            <a:r>
              <a:rPr lang="en-US" sz="1400" dirty="0">
                <a:solidFill>
                  <a:srgbClr val="FFFFFF"/>
                </a:solidFill>
                <a:latin typeface="Arial" pitchFamily="34" charset="0"/>
                <a:ea typeface="Arial" pitchFamily="34" charset="-122"/>
                <a:cs typeface="Arial" pitchFamily="34" charset="-120"/>
              </a:rPr>
              <a:t> gặp một lỗi định nghĩa và hai căn bệnh đáng sợ chỉ trong một câu trả lời ngắn.</a:t>
            </a:r>
            <a:endParaRPr lang="en-US" sz="1400" dirty="0"/>
          </a:p>
        </p:txBody>
      </p:sp>
      <p:sp>
        <p:nvSpPr>
          <p:cNvPr id="18" name="Text 16"/>
          <p:cNvSpPr/>
          <p:nvPr/>
        </p:nvSpPr>
        <p:spPr>
          <a:xfrm>
            <a:off x="812800" y="6202759"/>
            <a:ext cx="784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HEALTHINFO IV · Trương Quang Đại, HUTECH · Bài HI26-0013</a:t>
            </a:r>
            <a:endParaRPr lang="en-US" sz="1400" dirty="0"/>
          </a:p>
        </p:txBody>
      </p:sp>
      <p:sp>
        <p:nvSpPr>
          <p:cNvPr id="19" name="Text 17"/>
          <p:cNvSpPr/>
          <p:nvPr/>
        </p:nvSpPr>
        <p:spPr>
          <a:xfrm>
            <a:off x="10058400" y="6202759"/>
            <a:ext cx="132080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B6B80"/>
                </a:solidFill>
                <a:latin typeface="Arial" pitchFamily="34" charset="0"/>
                <a:ea typeface="Arial" pitchFamily="34" charset="-122"/>
                <a:cs typeface="Arial" pitchFamily="34" charset="-120"/>
              </a:rPr>
              <a:t>4 / 19</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A"/>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0B7A6E"/>
          </a:solidFill>
          <a:ln/>
        </p:spPr>
        <p:txBody>
          <a:bodyPr/>
          <a:p/>
        </p:txBody>
      </p:sp>
      <p:sp>
        <p:nvSpPr>
          <p:cNvPr id="3" name="Text 1"/>
          <p:cNvSpPr/>
          <p:nvPr>
            <p:ph type="title"/>
          </p:nvPr>
        </p:nvSpPr>
        <p:spPr>
          <a:xfrm>
            <a:off x="812800" y="71120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B7A6E"/>
                </a:solidFill>
                <a:latin typeface="Arial" pitchFamily="34" charset="0"/>
                <a:ea typeface="Arial" pitchFamily="34" charset="-122"/>
                <a:cs typeface="Arial" pitchFamily="34" charset="-120"/>
              </a:rPr>
              <a:t>04</a:t>
            </a:r>
            <a:r>
              <a:rPr lang="en-US" sz="2600" b="1" i="0" dirty="0">
                <a:solidFill>
                  <a:srgbClr val="0B2545"/>
                </a:solidFill>
                <a:latin typeface="Arial" pitchFamily="34" charset="0"/>
                <a:ea typeface="Arial" pitchFamily="34" charset="-122"/>
                <a:cs typeface="Arial" pitchFamily="34" charset="-120"/>
              </a:rPr>
              <a:t> Nhưng lỗi nguy hiểm nhất lại theo chiều ngược lại</a:t>
            </a:r>
            <a:endParaRPr lang="en-US" sz="2600" dirty="0"/>
          </a:p>
        </p:txBody>
      </p:sp>
      <p:sp>
        <p:nvSpPr>
          <p:cNvPr id="4" name="Shape 2"/>
          <p:cNvSpPr/>
          <p:nvPr/>
        </p:nvSpPr>
        <p:spPr>
          <a:xfrm>
            <a:off x="815975" y="1297285"/>
            <a:ext cx="5187950" cy="1286272"/>
          </a:xfrm>
          <a:prstGeom prst="roundRect">
            <a:avLst>
              <a:gd name="adj" fmla="val 7652"/>
            </a:avLst>
          </a:prstGeom>
          <a:solidFill>
            <a:srgbClr val="FFFFFF"/>
          </a:solidFill>
          <a:ln w="6350">
            <a:solidFill>
              <a:srgbClr val="D9E2EC"/>
            </a:solidFill>
            <a:prstDash val="solid"/>
          </a:ln>
        </p:spPr>
        <p:txBody>
          <a:bodyPr/>
          <a:p/>
        </p:txBody>
      </p:sp>
      <p:sp>
        <p:nvSpPr>
          <p:cNvPr id="5" name="Text 3"/>
          <p:cNvSpPr/>
          <p:nvPr/>
        </p:nvSpPr>
        <p:spPr>
          <a:xfrm>
            <a:off x="1047750" y="1478260"/>
            <a:ext cx="486613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A4A5E"/>
                </a:solidFill>
                <a:latin typeface="Arial" pitchFamily="34" charset="0"/>
                <a:ea typeface="Arial" pitchFamily="34" charset="-122"/>
                <a:cs typeface="Arial" pitchFamily="34" charset="-120"/>
              </a:rPr>
              <a:t>Lỗi thuật ngữ</a:t>
            </a:r>
            <a:endParaRPr lang="en-US" sz="1800" dirty="0"/>
          </a:p>
        </p:txBody>
      </p:sp>
      <p:sp>
        <p:nvSpPr>
          <p:cNvPr id="6" name="Text 4"/>
          <p:cNvSpPr/>
          <p:nvPr/>
        </p:nvSpPr>
        <p:spPr>
          <a:xfrm>
            <a:off x="1047750" y="1828701"/>
            <a:ext cx="486613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5E"/>
                </a:solidFill>
                <a:latin typeface="Arial" pitchFamily="34" charset="0"/>
                <a:ea typeface="Arial" pitchFamily="34" charset="-122"/>
                <a:cs typeface="Arial" pitchFamily="34" charset="-120"/>
              </a:rPr>
              <a:t>Người đọc </a:t>
            </a:r>
            <a:r>
              <a:rPr lang="en-US" sz="1400" b="1" dirty="0">
                <a:solidFill>
                  <a:srgbClr val="3A4A5E"/>
                </a:solidFill>
                <a:latin typeface="Arial" pitchFamily="34" charset="0"/>
                <a:ea typeface="Arial" pitchFamily="34" charset="-122"/>
                <a:cs typeface="Arial" pitchFamily="34" charset="-120"/>
              </a:rPr>
              <a:t>nhìn thấy được</a:t>
            </a:r>
            <a:r>
              <a:rPr lang="en-US" sz="1400" dirty="0">
                <a:solidFill>
                  <a:srgbClr val="3A4A5E"/>
                </a:solidFill>
                <a:latin typeface="Arial" pitchFamily="34" charset="0"/>
                <a:ea typeface="Arial" pitchFamily="34" charset="-122"/>
                <a:cs typeface="Arial" pitchFamily="34" charset="-120"/>
              </a:rPr>
              <a:t>, và sẽ đi hỏi lại bác sĩ.</a:t>
            </a:r>
            <a:endParaRPr lang="en-US" sz="1400" dirty="0"/>
          </a:p>
        </p:txBody>
      </p:sp>
      <p:sp>
        <p:nvSpPr>
          <p:cNvPr id="7" name="Text 5"/>
          <p:cNvSpPr/>
          <p:nvPr/>
        </p:nvSpPr>
        <p:spPr>
          <a:xfrm>
            <a:off x="1047750" y="2153741"/>
            <a:ext cx="486613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Rủi ro: thấp hơn — người đọc nhận ra</a:t>
            </a:r>
            <a:endParaRPr lang="en-US" sz="1400" dirty="0"/>
          </a:p>
        </p:txBody>
      </p:sp>
      <p:sp>
        <p:nvSpPr>
          <p:cNvPr id="8" name="Shape 6"/>
          <p:cNvSpPr/>
          <p:nvPr/>
        </p:nvSpPr>
        <p:spPr>
          <a:xfrm>
            <a:off x="6188075" y="1297285"/>
            <a:ext cx="5187950" cy="1286272"/>
          </a:xfrm>
          <a:prstGeom prst="roundRect">
            <a:avLst>
              <a:gd name="adj" fmla="val 7652"/>
            </a:avLst>
          </a:prstGeom>
          <a:solidFill>
            <a:srgbClr val="FFF6EF"/>
          </a:solidFill>
          <a:ln w="6350">
            <a:solidFill>
              <a:srgbClr val="F3CBAA"/>
            </a:solidFill>
            <a:prstDash val="solid"/>
          </a:ln>
        </p:spPr>
        <p:txBody>
          <a:bodyPr/>
          <a:p/>
        </p:txBody>
      </p:sp>
      <p:sp>
        <p:nvSpPr>
          <p:cNvPr id="9" name="Text 7"/>
          <p:cNvSpPr/>
          <p:nvPr/>
        </p:nvSpPr>
        <p:spPr>
          <a:xfrm>
            <a:off x="6419850" y="1478260"/>
            <a:ext cx="486613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C2570C"/>
                </a:solidFill>
                <a:latin typeface="Arial" pitchFamily="34" charset="0"/>
                <a:ea typeface="Arial" pitchFamily="34" charset="-122"/>
                <a:cs typeface="Arial" pitchFamily="34" charset="-120"/>
              </a:rPr>
              <a:t>Trấn an sai</a:t>
            </a:r>
            <a:endParaRPr lang="en-US" sz="1800" dirty="0"/>
          </a:p>
        </p:txBody>
      </p:sp>
      <p:sp>
        <p:nvSpPr>
          <p:cNvPr id="10" name="Text 8"/>
          <p:cNvSpPr/>
          <p:nvPr/>
        </p:nvSpPr>
        <p:spPr>
          <a:xfrm>
            <a:off x="6419850" y="1828701"/>
            <a:ext cx="486613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Arial" pitchFamily="34" charset="0"/>
                <a:ea typeface="Arial" pitchFamily="34" charset="-122"/>
                <a:cs typeface="Arial" pitchFamily="34" charset="-120"/>
              </a:rPr>
              <a:t>Trôi chảy, nghe dễ chịu</a:t>
            </a:r>
            <a:r>
              <a:rPr lang="en-US" sz="1400" dirty="0">
                <a:solidFill>
                  <a:srgbClr val="13233A"/>
                </a:solidFill>
                <a:latin typeface="Arial" pitchFamily="34" charset="0"/>
                <a:ea typeface="Arial" pitchFamily="34" charset="-122"/>
                <a:cs typeface="Arial" pitchFamily="34" charset="-120"/>
              </a:rPr>
              <a:t>, và làm mất lý do để đi khám.</a:t>
            </a:r>
            <a:endParaRPr lang="en-US" sz="1400" dirty="0"/>
          </a:p>
        </p:txBody>
      </p:sp>
      <p:sp>
        <p:nvSpPr>
          <p:cNvPr id="11" name="Text 9"/>
          <p:cNvSpPr/>
          <p:nvPr/>
        </p:nvSpPr>
        <p:spPr>
          <a:xfrm>
            <a:off x="6419850" y="2153741"/>
            <a:ext cx="486613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4A12"/>
                </a:solidFill>
                <a:latin typeface="Arial" pitchFamily="34" charset="0"/>
                <a:ea typeface="Arial" pitchFamily="34" charset="-122"/>
                <a:cs typeface="Arial" pitchFamily="34" charset="-120"/>
              </a:rPr>
              <a:t>Rủi ro: cao hơn — người đọc tin theo</a:t>
            </a:r>
            <a:endParaRPr lang="en-US" sz="1400" dirty="0"/>
          </a:p>
        </p:txBody>
      </p:sp>
      <p:sp>
        <p:nvSpPr>
          <p:cNvPr id="12" name="Text 10"/>
          <p:cNvSpPr/>
          <p:nvPr/>
        </p:nvSpPr>
        <p:spPr>
          <a:xfrm>
            <a:off x="815975" y="2793107"/>
            <a:ext cx="10560050" cy="525760"/>
          </a:xfrm>
          <a:prstGeom prst="roundRect">
            <a:avLst>
              <a:gd name="adj" fmla="val 18721"/>
            </a:avLst>
          </a:prstGeom>
          <a:solidFill>
            <a:srgbClr val="FFFFFF"/>
          </a:solidFill>
          <a:ln w="6350">
            <a:solidFill>
              <a:srgbClr val="D9E2EC"/>
            </a:solidFill>
            <a:prstDash val="solid"/>
          </a:ln>
        </p:spPr>
        <p:txBody>
          <a:bodyPr wrap="square" lIns="177547" tIns="114047" rIns="0" bIns="88647" rtlCol="0" anchor="t">
            <a:normAutofit/>
          </a:bodyPr>
          <a:lstStyle/>
          <a:p>
            <a:pPr algn="l" indent="0" marL="0">
              <a:lnSpc>
                <a:spcPts val="1890"/>
              </a:lnSpc>
              <a:buNone/>
            </a:pPr>
            <a:r>
              <a:rPr lang="en-US" sz="1400" b="1" dirty="0">
                <a:solidFill>
                  <a:srgbClr val="13233A"/>
                </a:solidFill>
                <a:latin typeface="Arial" pitchFamily="34" charset="0"/>
                <a:ea typeface="Arial" pitchFamily="34" charset="-122"/>
                <a:cs typeface="Arial" pitchFamily="34" charset="-120"/>
              </a:rPr>
              <a:t>Định nghĩa trấn an sai:</a:t>
            </a:r>
            <a:r>
              <a:rPr lang="en-US" sz="1400" dirty="0">
                <a:solidFill>
                  <a:srgbClr val="13233A"/>
                </a:solidFill>
                <a:latin typeface="Arial" pitchFamily="34" charset="0"/>
                <a:ea typeface="Arial" pitchFamily="34" charset="-122"/>
                <a:cs typeface="Arial" pitchFamily="34" charset="-120"/>
              </a:rPr>
              <a:t> khẳng định mọi kết quả đều bình thường trên một phiếu </a:t>
            </a:r>
            <a:r>
              <a:rPr lang="en-US" sz="1400" b="1" dirty="0">
                <a:solidFill>
                  <a:srgbClr val="C2570C"/>
                </a:solidFill>
                <a:latin typeface="Arial" pitchFamily="34" charset="0"/>
                <a:ea typeface="Arial" pitchFamily="34" charset="-122"/>
                <a:cs typeface="Arial" pitchFamily="34" charset="-120"/>
              </a:rPr>
              <a:t>KHÔNG</a:t>
            </a:r>
            <a:r>
              <a:rPr lang="en-US" sz="1400" dirty="0">
                <a:solidFill>
                  <a:srgbClr val="13233A"/>
                </a:solidFill>
                <a:latin typeface="Arial" pitchFamily="34" charset="0"/>
                <a:ea typeface="Arial" pitchFamily="34" charset="-122"/>
                <a:cs typeface="Arial" pitchFamily="34" charset="-120"/>
              </a:rPr>
              <a:t> bình thường.</a:t>
            </a:r>
            <a:endParaRPr lang="en-US" sz="1400" dirty="0"/>
          </a:p>
        </p:txBody>
      </p:sp>
      <p:sp>
        <p:nvSpPr>
          <p:cNvPr id="13" name="Shape 11"/>
          <p:cNvSpPr/>
          <p:nvPr/>
        </p:nvSpPr>
        <p:spPr>
          <a:xfrm>
            <a:off x="812800" y="3525242"/>
            <a:ext cx="10566400" cy="1109266"/>
          </a:xfrm>
          <a:prstGeom prst="roundRect">
            <a:avLst>
              <a:gd name="adj" fmla="val 9159"/>
            </a:avLst>
          </a:prstGeom>
          <a:solidFill>
            <a:srgbClr val="0B2545"/>
          </a:solidFill>
          <a:ln/>
        </p:spPr>
        <p:txBody>
          <a:bodyPr/>
          <a:p/>
        </p:txBody>
      </p:sp>
      <p:sp>
        <p:nvSpPr>
          <p:cNvPr id="14" name="Text 12"/>
          <p:cNvSpPr/>
          <p:nvPr/>
        </p:nvSpPr>
        <p:spPr>
          <a:xfrm>
            <a:off x="1066800" y="3728442"/>
            <a:ext cx="10360152" cy="274241"/>
          </a:xfrm>
          <a:prstGeom prst="rect">
            <a:avLst/>
          </a:prstGeom>
          <a:noFill/>
          <a:ln/>
        </p:spPr>
        <p:txBody>
          <a:bodyPr wrap="square" lIns="0" tIns="0" rIns="0" bIns="0" rtlCol="0" anchor="t">
            <a:normAutofit/>
          </a:bodyPr>
          <a:lstStyle/>
          <a:p>
            <a:pPr algn="l" indent="0" marL="0">
              <a:lnSpc>
                <a:spcPts val="1960"/>
              </a:lnSpc>
              <a:buNone/>
            </a:pPr>
            <a:r>
              <a:rPr lang="en-US" sz="1400" b="1" spc="50" kern="0" dirty="0">
                <a:solidFill>
                  <a:srgbClr val="B8C7DA"/>
                </a:solidFill>
                <a:latin typeface="Arial" pitchFamily="34" charset="0"/>
                <a:ea typeface="Arial" pitchFamily="34" charset="-122"/>
                <a:cs typeface="Arial" pitchFamily="34" charset="-120"/>
              </a:rPr>
              <a:t>CÂU THẬT TỪ THÍ NGHIỆM · PHIẾU ĐƯỢC XẾP MỨC “NÊN ĐI KHÁM”</a:t>
            </a:r>
            <a:endParaRPr lang="en-US" sz="1400" dirty="0"/>
          </a:p>
        </p:txBody>
      </p:sp>
      <p:sp>
        <p:nvSpPr>
          <p:cNvPr id="15" name="Text 13"/>
          <p:cNvSpPr/>
          <p:nvPr/>
        </p:nvSpPr>
        <p:spPr>
          <a:xfrm>
            <a:off x="1066800" y="4066183"/>
            <a:ext cx="10360152" cy="390525"/>
          </a:xfrm>
          <a:prstGeom prst="rect">
            <a:avLst/>
          </a:prstGeom>
          <a:noFill/>
          <a:ln/>
        </p:spPr>
        <p:txBody>
          <a:bodyPr wrap="square" lIns="0" tIns="0" rIns="0" bIns="0" rtlCol="0" anchor="t">
            <a:normAutofit/>
          </a:bodyPr>
          <a:lstStyle/>
          <a:p>
            <a:pPr algn="l" indent="0" marL="0">
              <a:lnSpc>
                <a:spcPts val="2875"/>
              </a:lnSpc>
              <a:buNone/>
            </a:pPr>
            <a:r>
              <a:rPr lang="en-US" sz="2300" i="1" dirty="0">
                <a:solidFill>
                  <a:srgbClr val="FDBA74"/>
                </a:solidFill>
                <a:latin typeface="Arial" pitchFamily="34" charset="0"/>
                <a:ea typeface="Arial" pitchFamily="34" charset="-122"/>
                <a:cs typeface="Arial" pitchFamily="34" charset="-120"/>
              </a:rPr>
              <a:t>“Tất cả các kết quả đều nằm trong khoảng bình thường.”</a:t>
            </a:r>
            <a:endParaRPr lang="en-US" sz="2300" dirty="0"/>
          </a:p>
        </p:txBody>
      </p:sp>
      <p:sp>
        <p:nvSpPr>
          <p:cNvPr id="16" name="Text 14"/>
          <p:cNvSpPr/>
          <p:nvPr/>
        </p:nvSpPr>
        <p:spPr>
          <a:xfrm>
            <a:off x="812800" y="4837708"/>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7A6E"/>
                </a:solidFill>
                <a:latin typeface="Arial" pitchFamily="34" charset="0"/>
                <a:ea typeface="Arial" pitchFamily="34" charset="-122"/>
                <a:cs typeface="Arial" pitchFamily="34" charset="-120"/>
              </a:rPr>
              <a:t>→ Chúng tôi tách đây thành một loại lỗi riêng và đo riêng.</a:t>
            </a:r>
            <a:endParaRPr lang="en-US" sz="1400" dirty="0"/>
          </a:p>
        </p:txBody>
      </p:sp>
      <p:sp>
        <p:nvSpPr>
          <p:cNvPr id="17" name="Text 15"/>
          <p:cNvSpPr/>
          <p:nvPr/>
        </p:nvSpPr>
        <p:spPr>
          <a:xfrm>
            <a:off x="812800" y="6202759"/>
            <a:ext cx="784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HEALTHINFO IV · Trương Quang Đại, HUTECH · Bài HI26-0013</a:t>
            </a:r>
            <a:endParaRPr lang="en-US" sz="1400" dirty="0"/>
          </a:p>
        </p:txBody>
      </p:sp>
      <p:sp>
        <p:nvSpPr>
          <p:cNvPr id="18" name="Text 16"/>
          <p:cNvSpPr/>
          <p:nvPr/>
        </p:nvSpPr>
        <p:spPr>
          <a:xfrm>
            <a:off x="10058400" y="6202759"/>
            <a:ext cx="132080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B6B80"/>
                </a:solidFill>
                <a:latin typeface="Arial" pitchFamily="34" charset="0"/>
                <a:ea typeface="Arial" pitchFamily="34" charset="-122"/>
                <a:cs typeface="Arial" pitchFamily="34" charset="-120"/>
              </a:rPr>
              <a:t>5 / 19</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A"/>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0B7A6E"/>
          </a:solidFill>
          <a:ln/>
        </p:spPr>
        <p:txBody>
          <a:bodyPr/>
          <a:p/>
        </p:txBody>
      </p:sp>
      <p:sp>
        <p:nvSpPr>
          <p:cNvPr id="3" name="Text 1"/>
          <p:cNvSpPr/>
          <p:nvPr>
            <p:ph type="title"/>
          </p:nvPr>
        </p:nvSpPr>
        <p:spPr>
          <a:xfrm>
            <a:off x="812800" y="71120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B7A6E"/>
                </a:solidFill>
                <a:latin typeface="Arial" pitchFamily="34" charset="0"/>
                <a:ea typeface="Arial" pitchFamily="34" charset="-122"/>
                <a:cs typeface="Arial" pitchFamily="34" charset="-120"/>
              </a:rPr>
              <a:t>05</a:t>
            </a:r>
            <a:r>
              <a:rPr lang="en-US" sz="2600" b="1" i="0" dirty="0">
                <a:solidFill>
                  <a:srgbClr val="0B2545"/>
                </a:solidFill>
                <a:latin typeface="Arial" pitchFamily="34" charset="0"/>
                <a:ea typeface="Arial" pitchFamily="34" charset="-122"/>
                <a:cs typeface="Arial" pitchFamily="34" charset="-120"/>
              </a:rPr>
              <a:t> Lý do chọn đề tài và mục tiêu</a:t>
            </a:r>
            <a:endParaRPr lang="en-US" sz="2600" dirty="0"/>
          </a:p>
        </p:txBody>
      </p:sp>
      <p:sp>
        <p:nvSpPr>
          <p:cNvPr id="4" name="Shape 2"/>
          <p:cNvSpPr/>
          <p:nvPr/>
        </p:nvSpPr>
        <p:spPr>
          <a:xfrm>
            <a:off x="815975" y="1271885"/>
            <a:ext cx="5187950" cy="3375422"/>
          </a:xfrm>
          <a:prstGeom prst="roundRect">
            <a:avLst>
              <a:gd name="adj" fmla="val 2916"/>
            </a:avLst>
          </a:prstGeom>
          <a:solidFill>
            <a:srgbClr val="FFFFFF"/>
          </a:solidFill>
          <a:ln w="6350">
            <a:solidFill>
              <a:srgbClr val="D9E2EC"/>
            </a:solidFill>
            <a:prstDash val="solid"/>
          </a:ln>
        </p:spPr>
        <p:txBody>
          <a:bodyPr/>
          <a:p/>
        </p:txBody>
      </p:sp>
      <p:sp>
        <p:nvSpPr>
          <p:cNvPr id="5" name="Text 3"/>
          <p:cNvSpPr/>
          <p:nvPr/>
        </p:nvSpPr>
        <p:spPr>
          <a:xfrm>
            <a:off x="819150" y="1275060"/>
            <a:ext cx="5181600" cy="446980"/>
          </a:xfrm>
          <a:custGeom>
            <a:avLst/>
            <a:gdLst/>
            <a:ahLst/>
            <a:cxnLst/>
            <a:rect l="l" t="t" r="r" b="b"/>
            <a:pathLst>
              <a:path w="5181600" h="446980">
                <a:moveTo>
                  <a:pt x="0" y="95250"/>
                </a:moveTo>
                <a:arcTo hR="95250" wR="95250" stAng="10800000" swAng="5400000"/>
                <a:lnTo>
                  <a:pt x="5086350" y="0"/>
                </a:lnTo>
                <a:arcTo hR="95250" wR="95250" stAng="16200000" swAng="5400000"/>
                <a:lnTo>
                  <a:pt x="5181600" y="446980"/>
                </a:lnTo>
                <a:lnTo>
                  <a:pt x="0" y="446980"/>
                </a:lnTo>
                <a:close/>
              </a:path>
            </a:pathLst>
          </a:custGeom>
          <a:solidFill>
            <a:srgbClr val="C2570C"/>
          </a:solidFill>
          <a:ln/>
        </p:spPr>
        <p:txBody>
          <a:bodyPr wrap="square" lIns="177800" tIns="101600" rIns="33020" bIns="76200" rtlCol="0" anchor="t">
            <a:normAutofit/>
          </a:bodyPr>
          <a:lstStyle/>
          <a:p>
            <a:pPr algn="l" indent="0" marL="0">
              <a:lnSpc>
                <a:spcPts val="1920"/>
              </a:lnSpc>
              <a:buNone/>
            </a:pPr>
            <a:r>
              <a:rPr lang="en-US" sz="1600" b="1" dirty="0">
                <a:solidFill>
                  <a:srgbClr val="FFFFFF"/>
                </a:solidFill>
                <a:latin typeface="Arial" pitchFamily="34" charset="0"/>
                <a:ea typeface="Arial" pitchFamily="34" charset="-122"/>
                <a:cs typeface="Arial" pitchFamily="34" charset="-120"/>
              </a:rPr>
              <a:t>Vì sao làm đề tài này</a:t>
            </a:r>
            <a:endParaRPr lang="en-US" sz="1600" dirty="0"/>
          </a:p>
        </p:txBody>
      </p:sp>
      <p:sp>
        <p:nvSpPr>
          <p:cNvPr id="6" name="Text 4"/>
          <p:cNvSpPr/>
          <p:nvPr/>
        </p:nvSpPr>
        <p:spPr>
          <a:xfrm>
            <a:off x="996950" y="1874441"/>
            <a:ext cx="4970780"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9A4A12"/>
                </a:solidFill>
                <a:latin typeface="Arial" pitchFamily="34" charset="0"/>
                <a:ea typeface="Arial" pitchFamily="34" charset="-122"/>
                <a:cs typeface="Arial" pitchFamily="34" charset="-120"/>
              </a:rPr>
              <a:t>1 Không hiểu kết quả</a:t>
            </a:r>
            <a:r>
              <a:rPr lang="en-US" sz="1400" dirty="0">
                <a:solidFill>
                  <a:srgbClr val="13233A"/>
                </a:solidFill>
                <a:latin typeface="Arial" pitchFamily="34" charset="0"/>
                <a:ea typeface="Arial" pitchFamily="34" charset="-122"/>
                <a:cs typeface="Arial" pitchFamily="34" charset="-120"/>
              </a:rPr>
              <a:t> — 60,3% người cao tuổi có hiểu biết sức khỏe chưa đủ; 46% người bệnh phải tự tra mạng.</a:t>
            </a:r>
            <a:endParaRPr lang="en-US" sz="1400" dirty="0"/>
          </a:p>
        </p:txBody>
      </p:sp>
      <p:sp>
        <p:nvSpPr>
          <p:cNvPr id="7" name="Text 5"/>
          <p:cNvSpPr/>
          <p:nvPr/>
        </p:nvSpPr>
        <p:spPr>
          <a:xfrm>
            <a:off x="996950" y="2468761"/>
            <a:ext cx="4970780"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9A4A12"/>
                </a:solidFill>
                <a:latin typeface="Arial" pitchFamily="34" charset="0"/>
                <a:ea typeface="Arial" pitchFamily="34" charset="-122"/>
                <a:cs typeface="Arial" pitchFamily="34" charset="-120"/>
              </a:rPr>
              <a:t>2 Chatbot giải thích sai</a:t>
            </a:r>
            <a:r>
              <a:rPr lang="en-US" sz="1400" dirty="0">
                <a:solidFill>
                  <a:srgbClr val="13233A"/>
                </a:solidFill>
                <a:latin typeface="Arial" pitchFamily="34" charset="0"/>
                <a:ea typeface="Arial" pitchFamily="34" charset="-122"/>
                <a:cs typeface="Arial" pitchFamily="34" charset="-120"/>
              </a:rPr>
              <a:t> — sai định nghĩa và tự nhắc tới bệnh nặng, gây hoang mang.</a:t>
            </a:r>
            <a:endParaRPr lang="en-US" sz="1400" dirty="0"/>
          </a:p>
        </p:txBody>
      </p:sp>
      <p:sp>
        <p:nvSpPr>
          <p:cNvPr id="8" name="Text 6"/>
          <p:cNvSpPr/>
          <p:nvPr/>
        </p:nvSpPr>
        <p:spPr>
          <a:xfrm>
            <a:off x="996950" y="3063081"/>
            <a:ext cx="4970780"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9A4A12"/>
                </a:solidFill>
                <a:latin typeface="Arial" pitchFamily="34" charset="0"/>
                <a:ea typeface="Arial" pitchFamily="34" charset="-122"/>
                <a:cs typeface="Arial" pitchFamily="34" charset="-120"/>
              </a:rPr>
              <a:t>3 Trấn an sai</a:t>
            </a:r>
            <a:r>
              <a:rPr lang="en-US" sz="1400" dirty="0">
                <a:solidFill>
                  <a:srgbClr val="13233A"/>
                </a:solidFill>
                <a:latin typeface="Arial" pitchFamily="34" charset="0"/>
                <a:ea typeface="Arial" pitchFamily="34" charset="-122"/>
                <a:cs typeface="Arial" pitchFamily="34" charset="-120"/>
              </a:rPr>
              <a:t> — phiếu bất thường nhưng bị bảo “bình thường”, người bệnh không đi khám.</a:t>
            </a:r>
            <a:endParaRPr lang="en-US" sz="1400" dirty="0"/>
          </a:p>
        </p:txBody>
      </p:sp>
      <p:sp>
        <p:nvSpPr>
          <p:cNvPr id="9" name="Text 7"/>
          <p:cNvSpPr/>
          <p:nvPr/>
        </p:nvSpPr>
        <p:spPr>
          <a:xfrm>
            <a:off x="996950" y="3657402"/>
            <a:ext cx="4970780"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9A4A12"/>
                </a:solidFill>
                <a:latin typeface="Arial" pitchFamily="34" charset="0"/>
                <a:ea typeface="Arial" pitchFamily="34" charset="-122"/>
                <a:cs typeface="Arial" pitchFamily="34" charset="-120"/>
              </a:rPr>
              <a:t>4 Dữ liệu nhạy cảm</a:t>
            </a:r>
            <a:r>
              <a:rPr lang="en-US" sz="1400" dirty="0">
                <a:solidFill>
                  <a:srgbClr val="13233A"/>
                </a:solidFill>
                <a:latin typeface="Arial" pitchFamily="34" charset="0"/>
                <a:ea typeface="Arial" pitchFamily="34" charset="-122"/>
                <a:cs typeface="Arial" pitchFamily="34" charset="-120"/>
              </a:rPr>
              <a:t> — kết quả xét nghiệm không nên gửi ra dịch vụ bên ngoài.</a:t>
            </a:r>
            <a:endParaRPr lang="en-US" sz="1400" dirty="0"/>
          </a:p>
        </p:txBody>
      </p:sp>
      <p:sp>
        <p:nvSpPr>
          <p:cNvPr id="10" name="Shape 8"/>
          <p:cNvSpPr/>
          <p:nvPr/>
        </p:nvSpPr>
        <p:spPr>
          <a:xfrm>
            <a:off x="6188075" y="1271885"/>
            <a:ext cx="5187950" cy="3375422"/>
          </a:xfrm>
          <a:prstGeom prst="roundRect">
            <a:avLst>
              <a:gd name="adj" fmla="val 2916"/>
            </a:avLst>
          </a:prstGeom>
          <a:solidFill>
            <a:srgbClr val="FFFFFF"/>
          </a:solidFill>
          <a:ln w="6350">
            <a:solidFill>
              <a:srgbClr val="D9E2EC"/>
            </a:solidFill>
            <a:prstDash val="solid"/>
          </a:ln>
        </p:spPr>
        <p:txBody>
          <a:bodyPr/>
          <a:p/>
        </p:txBody>
      </p:sp>
      <p:sp>
        <p:nvSpPr>
          <p:cNvPr id="11" name="Text 9"/>
          <p:cNvSpPr/>
          <p:nvPr/>
        </p:nvSpPr>
        <p:spPr>
          <a:xfrm>
            <a:off x="6191250" y="1275060"/>
            <a:ext cx="5181600" cy="446980"/>
          </a:xfrm>
          <a:custGeom>
            <a:avLst/>
            <a:gdLst/>
            <a:ahLst/>
            <a:cxnLst/>
            <a:rect l="l" t="t" r="r" b="b"/>
            <a:pathLst>
              <a:path w="5181600" h="446980">
                <a:moveTo>
                  <a:pt x="0" y="95250"/>
                </a:moveTo>
                <a:arcTo hR="95250" wR="95250" stAng="10800000" swAng="5400000"/>
                <a:lnTo>
                  <a:pt x="5086350" y="0"/>
                </a:lnTo>
                <a:arcTo hR="95250" wR="95250" stAng="16200000" swAng="5400000"/>
                <a:lnTo>
                  <a:pt x="5181600" y="446980"/>
                </a:lnTo>
                <a:lnTo>
                  <a:pt x="0" y="446980"/>
                </a:lnTo>
                <a:close/>
              </a:path>
            </a:pathLst>
          </a:custGeom>
          <a:solidFill>
            <a:srgbClr val="0B7A6E"/>
          </a:solidFill>
          <a:ln/>
        </p:spPr>
        <p:txBody>
          <a:bodyPr wrap="square" lIns="177800" tIns="101600" rIns="33020" bIns="76200" rtlCol="0" anchor="t">
            <a:normAutofit/>
          </a:bodyPr>
          <a:lstStyle/>
          <a:p>
            <a:pPr algn="l" indent="0" marL="0">
              <a:lnSpc>
                <a:spcPts val="1920"/>
              </a:lnSpc>
              <a:buNone/>
            </a:pPr>
            <a:r>
              <a:rPr lang="en-US" sz="1600" b="1" dirty="0">
                <a:solidFill>
                  <a:srgbClr val="FFFFFF"/>
                </a:solidFill>
                <a:latin typeface="Arial" pitchFamily="34" charset="0"/>
                <a:ea typeface="Arial" pitchFamily="34" charset="-122"/>
                <a:cs typeface="Arial" pitchFamily="34" charset="-120"/>
              </a:rPr>
              <a:t>Mục tiêu và kết quả mong muốn</a:t>
            </a:r>
            <a:endParaRPr lang="en-US" sz="1600" dirty="0"/>
          </a:p>
        </p:txBody>
      </p:sp>
      <p:sp>
        <p:nvSpPr>
          <p:cNvPr id="12" name="Text 10"/>
          <p:cNvSpPr/>
          <p:nvPr/>
        </p:nvSpPr>
        <p:spPr>
          <a:xfrm>
            <a:off x="6369050" y="1874441"/>
            <a:ext cx="4970780"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B7A6E"/>
                </a:solidFill>
                <a:latin typeface="Arial" pitchFamily="34" charset="0"/>
                <a:ea typeface="Arial" pitchFamily="34" charset="-122"/>
                <a:cs typeface="Arial" pitchFamily="34" charset="-120"/>
              </a:rPr>
              <a:t>✓</a:t>
            </a:r>
            <a:r>
              <a:rPr lang="en-US" sz="1400" dirty="0">
                <a:solidFill>
                  <a:srgbClr val="13233A"/>
                </a:solidFill>
                <a:latin typeface="Arial" pitchFamily="34" charset="0"/>
                <a:ea typeface="Arial" pitchFamily="34" charset="-122"/>
                <a:cs typeface="Arial" pitchFamily="34" charset="-120"/>
              </a:rPr>
              <a:t> Giải thích kết quả xét nghiệm máu bằng </a:t>
            </a:r>
            <a:r>
              <a:rPr lang="en-US" sz="1400" b="1" dirty="0">
                <a:solidFill>
                  <a:srgbClr val="13233A"/>
                </a:solidFill>
                <a:latin typeface="Arial" pitchFamily="34" charset="0"/>
                <a:ea typeface="Arial" pitchFamily="34" charset="-122"/>
                <a:cs typeface="Arial" pitchFamily="34" charset="-120"/>
              </a:rPr>
              <a:t>tiếng Việt dễ hiểu</a:t>
            </a:r>
            <a:r>
              <a:rPr lang="en-US" sz="1400" dirty="0">
                <a:solidFill>
                  <a:srgbClr val="13233A"/>
                </a:solidFill>
                <a:latin typeface="Arial" pitchFamily="34" charset="0"/>
                <a:ea typeface="Arial" pitchFamily="34" charset="-122"/>
                <a:cs typeface="Arial" pitchFamily="34" charset="-120"/>
              </a:rPr>
              <a:t> cho người bệnh</a:t>
            </a:r>
            <a:endParaRPr lang="en-US" sz="1400" dirty="0"/>
          </a:p>
        </p:txBody>
      </p:sp>
      <p:sp>
        <p:nvSpPr>
          <p:cNvPr id="13" name="Text 11"/>
          <p:cNvSpPr/>
          <p:nvPr/>
        </p:nvSpPr>
        <p:spPr>
          <a:xfrm>
            <a:off x="6369050" y="2468761"/>
            <a:ext cx="4970780"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B7A6E"/>
                </a:solidFill>
                <a:latin typeface="Arial" pitchFamily="34" charset="0"/>
                <a:ea typeface="Arial" pitchFamily="34" charset="-122"/>
                <a:cs typeface="Arial" pitchFamily="34" charset="-120"/>
              </a:rPr>
              <a:t>✓</a:t>
            </a:r>
            <a:r>
              <a:rPr lang="en-US" sz="1400" dirty="0">
                <a:solidFill>
                  <a:srgbClr val="13233A"/>
                </a:solidFill>
                <a:latin typeface="Arial" pitchFamily="34" charset="0"/>
                <a:ea typeface="Arial" pitchFamily="34" charset="-122"/>
                <a:cs typeface="Arial" pitchFamily="34" charset="-120"/>
              </a:rPr>
              <a:t> </a:t>
            </a:r>
            <a:r>
              <a:rPr lang="en-US" sz="1400" b="1" dirty="0">
                <a:solidFill>
                  <a:srgbClr val="13233A"/>
                </a:solidFill>
                <a:latin typeface="Arial" pitchFamily="34" charset="0"/>
                <a:ea typeface="Arial" pitchFamily="34" charset="-122"/>
                <a:cs typeface="Arial" pitchFamily="34" charset="-120"/>
              </a:rPr>
              <a:t>Luật quyết định</a:t>
            </a:r>
            <a:r>
              <a:rPr lang="en-US" sz="1400" dirty="0">
                <a:solidFill>
                  <a:srgbClr val="13233A"/>
                </a:solidFill>
                <a:latin typeface="Arial" pitchFamily="34" charset="0"/>
                <a:ea typeface="Arial" pitchFamily="34" charset="-122"/>
                <a:cs typeface="Arial" pitchFamily="34" charset="-120"/>
              </a:rPr>
              <a:t> giá trị có bất thường hay không; mô hình chỉ diễn đạt lại</a:t>
            </a:r>
            <a:endParaRPr lang="en-US" sz="1400" dirty="0"/>
          </a:p>
        </p:txBody>
      </p:sp>
      <p:sp>
        <p:nvSpPr>
          <p:cNvPr id="14" name="Text 12"/>
          <p:cNvSpPr/>
          <p:nvPr/>
        </p:nvSpPr>
        <p:spPr>
          <a:xfrm>
            <a:off x="6369050" y="3063081"/>
            <a:ext cx="4970780"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B7A6E"/>
                </a:solidFill>
                <a:latin typeface="Arial" pitchFamily="34" charset="0"/>
                <a:ea typeface="Arial" pitchFamily="34" charset="-122"/>
                <a:cs typeface="Arial" pitchFamily="34" charset="-120"/>
              </a:rPr>
              <a:t>✓</a:t>
            </a:r>
            <a:r>
              <a:rPr lang="en-US" sz="1400" dirty="0">
                <a:solidFill>
                  <a:srgbClr val="13233A"/>
                </a:solidFill>
                <a:latin typeface="Arial" pitchFamily="34" charset="0"/>
                <a:ea typeface="Arial" pitchFamily="34" charset="-122"/>
                <a:cs typeface="Arial" pitchFamily="34" charset="-120"/>
              </a:rPr>
              <a:t> </a:t>
            </a:r>
            <a:r>
              <a:rPr lang="en-US" sz="1400" b="1" dirty="0">
                <a:solidFill>
                  <a:srgbClr val="13233A"/>
                </a:solidFill>
                <a:latin typeface="Arial" pitchFamily="34" charset="0"/>
                <a:ea typeface="Arial" pitchFamily="34" charset="-122"/>
                <a:cs typeface="Arial" pitchFamily="34" charset="-120"/>
              </a:rPr>
              <a:t>Không trấn an sai</a:t>
            </a:r>
            <a:r>
              <a:rPr lang="en-US" sz="1400" dirty="0">
                <a:solidFill>
                  <a:srgbClr val="13233A"/>
                </a:solidFill>
                <a:latin typeface="Arial" pitchFamily="34" charset="0"/>
                <a:ea typeface="Arial" pitchFamily="34" charset="-122"/>
                <a:cs typeface="Arial" pitchFamily="34" charset="-120"/>
              </a:rPr>
              <a:t>, không bao giờ hiển thị câu chưa kiểm chứng</a:t>
            </a:r>
            <a:endParaRPr lang="en-US" sz="1400" dirty="0"/>
          </a:p>
        </p:txBody>
      </p:sp>
      <p:sp>
        <p:nvSpPr>
          <p:cNvPr id="15" name="Text 13"/>
          <p:cNvSpPr/>
          <p:nvPr/>
        </p:nvSpPr>
        <p:spPr>
          <a:xfrm>
            <a:off x="6369050" y="3657402"/>
            <a:ext cx="4970780"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B7A6E"/>
                </a:solidFill>
                <a:latin typeface="Arial" pitchFamily="34" charset="0"/>
                <a:ea typeface="Arial" pitchFamily="34" charset="-122"/>
                <a:cs typeface="Arial" pitchFamily="34" charset="-120"/>
              </a:rPr>
              <a:t>✓</a:t>
            </a:r>
            <a:r>
              <a:rPr lang="en-US" sz="1400" dirty="0">
                <a:solidFill>
                  <a:srgbClr val="13233A"/>
                </a:solidFill>
                <a:latin typeface="Arial" pitchFamily="34" charset="0"/>
                <a:ea typeface="Arial" pitchFamily="34" charset="-122"/>
                <a:cs typeface="Arial" pitchFamily="34" charset="-120"/>
              </a:rPr>
              <a:t> </a:t>
            </a:r>
            <a:r>
              <a:rPr lang="en-US" sz="1400" b="1" dirty="0">
                <a:solidFill>
                  <a:srgbClr val="13233A"/>
                </a:solidFill>
                <a:latin typeface="Arial" pitchFamily="34" charset="0"/>
                <a:ea typeface="Arial" pitchFamily="34" charset="-122"/>
                <a:cs typeface="Arial" pitchFamily="34" charset="-120"/>
              </a:rPr>
              <a:t>Chạy tại chỗ</a:t>
            </a:r>
            <a:r>
              <a:rPr lang="en-US" sz="1400" dirty="0">
                <a:solidFill>
                  <a:srgbClr val="13233A"/>
                </a:solidFill>
                <a:latin typeface="Arial" pitchFamily="34" charset="0"/>
                <a:ea typeface="Arial" pitchFamily="34" charset="-122"/>
                <a:cs typeface="Arial" pitchFamily="34" charset="-120"/>
              </a:rPr>
              <a:t>, không cần GPU, dữ liệu không rời khỏi đơn vị</a:t>
            </a:r>
            <a:endParaRPr lang="en-US" sz="1400" dirty="0"/>
          </a:p>
        </p:txBody>
      </p:sp>
      <p:sp>
        <p:nvSpPr>
          <p:cNvPr id="16" name="Text 14"/>
          <p:cNvSpPr/>
          <p:nvPr/>
        </p:nvSpPr>
        <p:spPr>
          <a:xfrm>
            <a:off x="6369050" y="4251722"/>
            <a:ext cx="4970780"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B7A6E"/>
                </a:solidFill>
                <a:latin typeface="Arial" pitchFamily="34" charset="0"/>
                <a:ea typeface="Arial" pitchFamily="34" charset="-122"/>
                <a:cs typeface="Arial" pitchFamily="34" charset="-120"/>
              </a:rPr>
              <a:t>✓</a:t>
            </a:r>
            <a:r>
              <a:rPr lang="en-US" sz="1400" dirty="0">
                <a:solidFill>
                  <a:srgbClr val="13233A"/>
                </a:solidFill>
                <a:latin typeface="Arial" pitchFamily="34" charset="0"/>
                <a:ea typeface="Arial" pitchFamily="34" charset="-122"/>
                <a:cs typeface="Arial" pitchFamily="34" charset="-120"/>
              </a:rPr>
              <a:t> Đo </a:t>
            </a:r>
            <a:r>
              <a:rPr lang="en-US" sz="1400" b="1" dirty="0">
                <a:solidFill>
                  <a:srgbClr val="13233A"/>
                </a:solidFill>
                <a:latin typeface="Arial" pitchFamily="34" charset="0"/>
                <a:ea typeface="Arial" pitchFamily="34" charset="-122"/>
                <a:cs typeface="Arial" pitchFamily="34" charset="-120"/>
              </a:rPr>
              <a:t>trấn an sai</a:t>
            </a:r>
            <a:r>
              <a:rPr lang="en-US" sz="1400" dirty="0">
                <a:solidFill>
                  <a:srgbClr val="13233A"/>
                </a:solidFill>
                <a:latin typeface="Arial" pitchFamily="34" charset="0"/>
                <a:ea typeface="Arial" pitchFamily="34" charset="-122"/>
                <a:cs typeface="Arial" pitchFamily="34" charset="-120"/>
              </a:rPr>
              <a:t> như một loại lỗi riêng khi đánh giá</a:t>
            </a:r>
            <a:endParaRPr lang="en-US" sz="1400" dirty="0"/>
          </a:p>
        </p:txBody>
      </p:sp>
      <p:sp>
        <p:nvSpPr>
          <p:cNvPr id="17" name="Text 15"/>
          <p:cNvSpPr/>
          <p:nvPr/>
        </p:nvSpPr>
        <p:spPr>
          <a:xfrm>
            <a:off x="812800" y="4828282"/>
            <a:ext cx="10566400" cy="494010"/>
          </a:xfrm>
          <a:prstGeom prst="roundRect">
            <a:avLst>
              <a:gd name="adj" fmla="val 20566"/>
            </a:avLst>
          </a:prstGeom>
          <a:solidFill>
            <a:srgbClr val="0B2545"/>
          </a:solidFill>
          <a:ln/>
        </p:spPr>
        <p:txBody>
          <a:bodyPr wrap="square" lIns="173442" tIns="97242" rIns="0" bIns="71842" rtlCol="0" anchor="t">
            <a:normAutofit/>
          </a:bodyPr>
          <a:lstStyle/>
          <a:p>
            <a:pPr algn="l" indent="0" marL="0">
              <a:lnSpc>
                <a:spcPts val="1890"/>
              </a:lnSpc>
              <a:buNone/>
            </a:pPr>
            <a:r>
              <a:rPr lang="en-US" sz="1400" dirty="0">
                <a:solidFill>
                  <a:srgbClr val="FFFFFF"/>
                </a:solidFill>
                <a:latin typeface="Arial" pitchFamily="34" charset="0"/>
                <a:ea typeface="Arial" pitchFamily="34" charset="-122"/>
                <a:cs typeface="Arial" pitchFamily="34" charset="-120"/>
              </a:rPr>
              <a:t>Kết quả đạt được (xem slide 14): trấn an sai </a:t>
            </a:r>
            <a:r>
              <a:rPr lang="en-US" sz="1400" b="1" dirty="0">
                <a:solidFill>
                  <a:srgbClr val="5EEAD4"/>
                </a:solidFill>
                <a:latin typeface="Arial" pitchFamily="34" charset="0"/>
                <a:ea typeface="Arial" pitchFamily="34" charset="-122"/>
                <a:cs typeface="Arial" pitchFamily="34" charset="-120"/>
              </a:rPr>
              <a:t>32% → 0%</a:t>
            </a:r>
            <a:r>
              <a:rPr lang="en-US" sz="1400" dirty="0">
                <a:solidFill>
                  <a:srgbClr val="FFFFFF"/>
                </a:solidFill>
                <a:latin typeface="Arial" pitchFamily="34" charset="0"/>
                <a:ea typeface="Arial" pitchFamily="34" charset="-122"/>
                <a:cs typeface="Arial" pitchFamily="34" charset="-120"/>
              </a:rPr>
              <a:t> · </a:t>
            </a:r>
            <a:r>
              <a:rPr lang="en-US" sz="1400" b="1" dirty="0">
                <a:solidFill>
                  <a:srgbClr val="5EEAD4"/>
                </a:solidFill>
                <a:latin typeface="Arial" pitchFamily="34" charset="0"/>
                <a:ea typeface="Arial" pitchFamily="34" charset="-122"/>
                <a:cs typeface="Arial" pitchFamily="34" charset="-120"/>
              </a:rPr>
              <a:t>100%</a:t>
            </a:r>
            <a:r>
              <a:rPr lang="en-US" sz="1400" dirty="0">
                <a:solidFill>
                  <a:srgbClr val="FFFFFF"/>
                </a:solidFill>
                <a:latin typeface="Arial" pitchFamily="34" charset="0"/>
                <a:ea typeface="Arial" pitchFamily="34" charset="-122"/>
                <a:cs typeface="Arial" pitchFamily="34" charset="-120"/>
              </a:rPr>
              <a:t> đầu ra an toàn · </a:t>
            </a:r>
            <a:r>
              <a:rPr lang="en-US" sz="1400" b="1" dirty="0">
                <a:solidFill>
                  <a:srgbClr val="5EEAD4"/>
                </a:solidFill>
                <a:latin typeface="Arial" pitchFamily="34" charset="0"/>
                <a:ea typeface="Arial" pitchFamily="34" charset="-122"/>
                <a:cs typeface="Arial" pitchFamily="34" charset="-120"/>
              </a:rPr>
              <a:t>0</a:t>
            </a:r>
            <a:r>
              <a:rPr lang="en-US" sz="1400" dirty="0">
                <a:solidFill>
                  <a:srgbClr val="FFFFFF"/>
                </a:solidFill>
                <a:latin typeface="Arial" pitchFamily="34" charset="0"/>
                <a:ea typeface="Arial" pitchFamily="34" charset="-122"/>
                <a:cs typeface="Arial" pitchFamily="34" charset="-120"/>
              </a:rPr>
              <a:t> GPU</a:t>
            </a:r>
            <a:endParaRPr lang="en-US" sz="1400" dirty="0"/>
          </a:p>
        </p:txBody>
      </p:sp>
      <p:sp>
        <p:nvSpPr>
          <p:cNvPr id="18" name="Text 16"/>
          <p:cNvSpPr/>
          <p:nvPr/>
        </p:nvSpPr>
        <p:spPr>
          <a:xfrm>
            <a:off x="812800" y="6202759"/>
            <a:ext cx="784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HEALTHINFO IV · Trương Quang Đại, HUTECH · Bài HI26-0013</a:t>
            </a:r>
            <a:endParaRPr lang="en-US" sz="1400" dirty="0"/>
          </a:p>
        </p:txBody>
      </p:sp>
      <p:sp>
        <p:nvSpPr>
          <p:cNvPr id="19" name="Text 17"/>
          <p:cNvSpPr/>
          <p:nvPr/>
        </p:nvSpPr>
        <p:spPr>
          <a:xfrm>
            <a:off x="10058400" y="6202759"/>
            <a:ext cx="132080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B6B80"/>
                </a:solidFill>
                <a:latin typeface="Arial" pitchFamily="34" charset="0"/>
                <a:ea typeface="Arial" pitchFamily="34" charset="-122"/>
                <a:cs typeface="Arial" pitchFamily="34" charset="-120"/>
              </a:rPr>
              <a:t>6 / 19</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A"/>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0B7A6E"/>
          </a:solidFill>
          <a:ln/>
        </p:spPr>
        <p:txBody>
          <a:bodyPr/>
          <a:p/>
        </p:txBody>
      </p:sp>
      <p:sp>
        <p:nvSpPr>
          <p:cNvPr id="3" name="Text 1"/>
          <p:cNvSpPr/>
          <p:nvPr>
            <p:ph type="title"/>
          </p:nvPr>
        </p:nvSpPr>
        <p:spPr>
          <a:xfrm>
            <a:off x="812800" y="71120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B7A6E"/>
                </a:solidFill>
                <a:latin typeface="Arial" pitchFamily="34" charset="0"/>
                <a:ea typeface="Arial" pitchFamily="34" charset="-122"/>
                <a:cs typeface="Arial" pitchFamily="34" charset="-120"/>
              </a:rPr>
              <a:t>06</a:t>
            </a:r>
            <a:r>
              <a:rPr lang="en-US" sz="2600" b="1" i="0" dirty="0">
                <a:solidFill>
                  <a:srgbClr val="0B2545"/>
                </a:solidFill>
                <a:latin typeface="Arial" pitchFamily="34" charset="0"/>
                <a:ea typeface="Arial" pitchFamily="34" charset="-122"/>
                <a:cs typeface="Arial" pitchFamily="34" charset="-120"/>
              </a:rPr>
              <a:t> Kiến trúc bốn tầng</a:t>
            </a:r>
            <a:endParaRPr lang="en-US" sz="2600" dirty="0"/>
          </a:p>
        </p:txBody>
      </p:sp>
      <p:sp>
        <p:nvSpPr>
          <p:cNvPr id="4" name="Text 2"/>
          <p:cNvSpPr/>
          <p:nvPr/>
        </p:nvSpPr>
        <p:spPr>
          <a:xfrm>
            <a:off x="812800" y="1243310"/>
            <a:ext cx="10566400" cy="502841"/>
          </a:xfrm>
          <a:prstGeom prst="roundRect">
            <a:avLst>
              <a:gd name="adj" fmla="val 20205"/>
            </a:avLst>
          </a:prstGeom>
          <a:solidFill>
            <a:srgbClr val="0B2545"/>
          </a:solidFill>
          <a:ln/>
        </p:spPr>
        <p:txBody>
          <a:bodyPr wrap="square" lIns="173442" tIns="97242" rIns="0" bIns="71842" rtlCol="0" anchor="t">
            <a:normAutofit/>
          </a:bodyPr>
          <a:lstStyle/>
          <a:p>
            <a:pPr algn="l" indent="0" marL="0">
              <a:lnSpc>
                <a:spcPts val="1960"/>
              </a:lnSpc>
              <a:buNone/>
            </a:pPr>
            <a:r>
              <a:rPr lang="en-US" sz="1400" b="1" dirty="0">
                <a:solidFill>
                  <a:srgbClr val="FFFFFF"/>
                </a:solidFill>
                <a:latin typeface="Arial" pitchFamily="34" charset="0"/>
                <a:ea typeface="Arial" pitchFamily="34" charset="-122"/>
                <a:cs typeface="Arial" pitchFamily="34" charset="-120"/>
              </a:rPr>
              <a:t>Nguyên tắc: </a:t>
            </a:r>
            <a:r>
              <a:rPr lang="en-US" sz="1400" b="1" dirty="0">
                <a:solidFill>
                  <a:srgbClr val="5EEAD4"/>
                </a:solidFill>
                <a:latin typeface="Arial" pitchFamily="34" charset="0"/>
                <a:ea typeface="Arial" pitchFamily="34" charset="-122"/>
                <a:cs typeface="Arial" pitchFamily="34" charset="-120"/>
              </a:rPr>
              <a:t>KHÔNG giao phán đoán lâm sàng</a:t>
            </a:r>
            <a:r>
              <a:rPr lang="en-US" sz="1400" b="1" dirty="0">
                <a:solidFill>
                  <a:srgbClr val="FFFFFF"/>
                </a:solidFill>
                <a:latin typeface="Arial" pitchFamily="34" charset="0"/>
                <a:ea typeface="Arial" pitchFamily="34" charset="-122"/>
                <a:cs typeface="Arial" pitchFamily="34" charset="-120"/>
              </a:rPr>
              <a:t> nào cho mô hình ngôn ngữ.</a:t>
            </a:r>
            <a:endParaRPr lang="en-US" sz="1400" dirty="0"/>
          </a:p>
        </p:txBody>
      </p:sp>
      <p:sp>
        <p:nvSpPr>
          <p:cNvPr id="5" name="Shape 3"/>
          <p:cNvSpPr/>
          <p:nvPr/>
        </p:nvSpPr>
        <p:spPr>
          <a:xfrm>
            <a:off x="815975" y="1901726"/>
            <a:ext cx="2327275" cy="2192933"/>
          </a:xfrm>
          <a:prstGeom prst="roundRect">
            <a:avLst>
              <a:gd name="adj" fmla="val 4488"/>
            </a:avLst>
          </a:prstGeom>
          <a:solidFill>
            <a:srgbClr val="FFFFFF"/>
          </a:solidFill>
          <a:ln w="6350">
            <a:solidFill>
              <a:srgbClr val="D9E2EC"/>
            </a:solidFill>
            <a:prstDash val="solid"/>
          </a:ln>
        </p:spPr>
        <p:txBody>
          <a:bodyPr/>
          <a:p/>
        </p:txBody>
      </p:sp>
      <p:sp>
        <p:nvSpPr>
          <p:cNvPr id="6" name="Shape 4"/>
          <p:cNvSpPr/>
          <p:nvPr/>
        </p:nvSpPr>
        <p:spPr>
          <a:xfrm>
            <a:off x="819150" y="1904901"/>
            <a:ext cx="2320925" cy="751681"/>
          </a:xfrm>
          <a:custGeom>
            <a:avLst/>
            <a:gdLst/>
            <a:ahLst/>
            <a:cxnLst/>
            <a:rect l="l" t="t" r="r" b="b"/>
            <a:pathLst>
              <a:path w="2320925" h="751681">
                <a:moveTo>
                  <a:pt x="0" y="95250"/>
                </a:moveTo>
                <a:arcTo hR="95250" wR="95250" stAng="10800000" swAng="5400000"/>
                <a:lnTo>
                  <a:pt x="2225675" y="0"/>
                </a:lnTo>
                <a:arcTo hR="95250" wR="95250" stAng="16200000" swAng="5400000"/>
                <a:lnTo>
                  <a:pt x="2320925" y="751681"/>
                </a:lnTo>
                <a:lnTo>
                  <a:pt x="0" y="751681"/>
                </a:lnTo>
                <a:close/>
              </a:path>
            </a:pathLst>
          </a:custGeom>
          <a:solidFill>
            <a:srgbClr val="1E5FB4"/>
          </a:solidFill>
          <a:ln/>
        </p:spPr>
        <p:txBody>
          <a:bodyPr/>
          <a:p/>
        </p:txBody>
      </p:sp>
      <p:sp>
        <p:nvSpPr>
          <p:cNvPr id="7" name="Text 5"/>
          <p:cNvSpPr/>
          <p:nvPr/>
        </p:nvSpPr>
        <p:spPr>
          <a:xfrm>
            <a:off x="971550" y="2019201"/>
            <a:ext cx="20766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6E4F7"/>
                </a:solidFill>
                <a:latin typeface="Arial" pitchFamily="34" charset="0"/>
                <a:ea typeface="Arial" pitchFamily="34" charset="-122"/>
                <a:cs typeface="Arial" pitchFamily="34" charset="-120"/>
              </a:rPr>
              <a:t>TẦNG 1</a:t>
            </a:r>
            <a:endParaRPr lang="en-US" sz="1400" dirty="0"/>
          </a:p>
        </p:txBody>
      </p:sp>
      <p:sp>
        <p:nvSpPr>
          <p:cNvPr id="8" name="Text 6"/>
          <p:cNvSpPr/>
          <p:nvPr/>
        </p:nvSpPr>
        <p:spPr>
          <a:xfrm>
            <a:off x="971550" y="2293441"/>
            <a:ext cx="20766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Arial" pitchFamily="34" charset="0"/>
                <a:ea typeface="Arial" pitchFamily="34" charset="-122"/>
                <a:cs typeface="Arial" pitchFamily="34" charset="-120"/>
              </a:rPr>
              <a:t>Chuẩn hóa</a:t>
            </a:r>
            <a:endParaRPr lang="en-US" sz="1400" dirty="0"/>
          </a:p>
        </p:txBody>
      </p:sp>
      <p:sp>
        <p:nvSpPr>
          <p:cNvPr id="9" name="Text 7"/>
          <p:cNvSpPr/>
          <p:nvPr/>
        </p:nvSpPr>
        <p:spPr>
          <a:xfrm>
            <a:off x="971550" y="2783582"/>
            <a:ext cx="2076609"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33A"/>
                </a:solidFill>
                <a:latin typeface="Arial" pitchFamily="34" charset="0"/>
                <a:ea typeface="Arial" pitchFamily="34" charset="-122"/>
                <a:cs typeface="Arial" pitchFamily="34" charset="-120"/>
              </a:rPr>
              <a:t>Tên → mã chuẩn</a:t>
            </a:r>
            <a:endParaRPr lang="en-US" sz="1400" dirty="0"/>
          </a:p>
        </p:txBody>
      </p:sp>
      <p:sp>
        <p:nvSpPr>
          <p:cNvPr id="10" name="Text 8"/>
          <p:cNvSpPr/>
          <p:nvPr/>
        </p:nvSpPr>
        <p:spPr>
          <a:xfrm>
            <a:off x="971550" y="3087092"/>
            <a:ext cx="2076609"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33A"/>
                </a:solidFill>
                <a:latin typeface="Arial" pitchFamily="34" charset="0"/>
                <a:ea typeface="Arial" pitchFamily="34" charset="-122"/>
                <a:cs typeface="Arial" pitchFamily="34" charset="-120"/>
              </a:rPr>
              <a:t>Quy đổi đơn vị</a:t>
            </a:r>
            <a:endParaRPr lang="en-US" sz="1400" dirty="0"/>
          </a:p>
        </p:txBody>
      </p:sp>
      <p:sp>
        <p:nvSpPr>
          <p:cNvPr id="11" name="Text 9"/>
          <p:cNvSpPr/>
          <p:nvPr/>
        </p:nvSpPr>
        <p:spPr>
          <a:xfrm>
            <a:off x="971550" y="3715643"/>
            <a:ext cx="20766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5FB4"/>
                </a:solidFill>
                <a:latin typeface="Arial" pitchFamily="34" charset="0"/>
                <a:ea typeface="Arial" pitchFamily="34" charset="-122"/>
                <a:cs typeface="Arial" pitchFamily="34" charset="-120"/>
              </a:rPr>
              <a:t>■ Không dùng LLM</a:t>
            </a:r>
            <a:endParaRPr lang="en-US" sz="1400" dirty="0"/>
          </a:p>
        </p:txBody>
      </p:sp>
      <p:pic>
        <p:nvPicPr>
          <p:cNvPr id="12" name="Image 0" descr="arrow-right">    </p:cNvPr>
          <p:cNvPicPr>
            <a:picLocks noChangeAspect="1"/>
          </p:cNvPicPr>
          <p:nvPr/>
        </p:nvPicPr>
        <p:blipFill>
          <a:blip r:embed="rId1"/>
          <a:srcRect l="0" r="0" t="0" b="0"/>
          <a:stretch/>
        </p:blipFill>
        <p:spPr>
          <a:xfrm>
            <a:off x="3222625" y="2921992"/>
            <a:ext cx="254000" cy="152400"/>
          </a:xfrm>
          <a:prstGeom prst="rect">
            <a:avLst/>
          </a:prstGeom>
        </p:spPr>
      </p:pic>
      <p:sp>
        <p:nvSpPr>
          <p:cNvPr id="13" name="Shape 10"/>
          <p:cNvSpPr/>
          <p:nvPr/>
        </p:nvSpPr>
        <p:spPr>
          <a:xfrm>
            <a:off x="3556000" y="1901726"/>
            <a:ext cx="2327275" cy="2192933"/>
          </a:xfrm>
          <a:prstGeom prst="roundRect">
            <a:avLst>
              <a:gd name="adj" fmla="val 4488"/>
            </a:avLst>
          </a:prstGeom>
          <a:solidFill>
            <a:srgbClr val="FFFFFF"/>
          </a:solidFill>
          <a:ln w="6350">
            <a:solidFill>
              <a:srgbClr val="D9E2EC"/>
            </a:solidFill>
            <a:prstDash val="solid"/>
          </a:ln>
        </p:spPr>
        <p:txBody>
          <a:bodyPr/>
          <a:p/>
        </p:txBody>
      </p:sp>
      <p:sp>
        <p:nvSpPr>
          <p:cNvPr id="14" name="Shape 11"/>
          <p:cNvSpPr/>
          <p:nvPr/>
        </p:nvSpPr>
        <p:spPr>
          <a:xfrm>
            <a:off x="3559175" y="1904901"/>
            <a:ext cx="2320925" cy="751681"/>
          </a:xfrm>
          <a:custGeom>
            <a:avLst/>
            <a:gdLst/>
            <a:ahLst/>
            <a:cxnLst/>
            <a:rect l="l" t="t" r="r" b="b"/>
            <a:pathLst>
              <a:path w="2320925" h="751681">
                <a:moveTo>
                  <a:pt x="0" y="95250"/>
                </a:moveTo>
                <a:arcTo hR="95250" wR="95250" stAng="10800000" swAng="5400000"/>
                <a:lnTo>
                  <a:pt x="2225675" y="0"/>
                </a:lnTo>
                <a:arcTo hR="95250" wR="95250" stAng="16200000" swAng="5400000"/>
                <a:lnTo>
                  <a:pt x="2320925" y="751681"/>
                </a:lnTo>
                <a:lnTo>
                  <a:pt x="0" y="751681"/>
                </a:lnTo>
                <a:close/>
              </a:path>
            </a:pathLst>
          </a:custGeom>
          <a:solidFill>
            <a:srgbClr val="1E5FB4"/>
          </a:solidFill>
          <a:ln/>
        </p:spPr>
        <p:txBody>
          <a:bodyPr/>
          <a:p/>
        </p:txBody>
      </p:sp>
      <p:sp>
        <p:nvSpPr>
          <p:cNvPr id="15" name="Text 12"/>
          <p:cNvSpPr/>
          <p:nvPr/>
        </p:nvSpPr>
        <p:spPr>
          <a:xfrm>
            <a:off x="3711575" y="2019201"/>
            <a:ext cx="20766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6E4F7"/>
                </a:solidFill>
                <a:latin typeface="Arial" pitchFamily="34" charset="0"/>
                <a:ea typeface="Arial" pitchFamily="34" charset="-122"/>
                <a:cs typeface="Arial" pitchFamily="34" charset="-120"/>
              </a:rPr>
              <a:t>TẦNG 2</a:t>
            </a:r>
            <a:endParaRPr lang="en-US" sz="1400" dirty="0"/>
          </a:p>
        </p:txBody>
      </p:sp>
      <p:sp>
        <p:nvSpPr>
          <p:cNvPr id="16" name="Text 13"/>
          <p:cNvSpPr/>
          <p:nvPr/>
        </p:nvSpPr>
        <p:spPr>
          <a:xfrm>
            <a:off x="3711575" y="2293441"/>
            <a:ext cx="20766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Arial" pitchFamily="34" charset="0"/>
                <a:ea typeface="Arial" pitchFamily="34" charset="-122"/>
                <a:cs typeface="Arial" pitchFamily="34" charset="-120"/>
              </a:rPr>
              <a:t>Gán nhãn bằng luật</a:t>
            </a:r>
            <a:endParaRPr lang="en-US" sz="1400" dirty="0"/>
          </a:p>
        </p:txBody>
      </p:sp>
      <p:sp>
        <p:nvSpPr>
          <p:cNvPr id="17" name="Text 14"/>
          <p:cNvSpPr/>
          <p:nvPr/>
        </p:nvSpPr>
        <p:spPr>
          <a:xfrm>
            <a:off x="3711575" y="2783582"/>
            <a:ext cx="2076609"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33A"/>
                </a:solidFill>
                <a:latin typeface="Arial" pitchFamily="34" charset="0"/>
                <a:ea typeface="Arial" pitchFamily="34" charset="-122"/>
                <a:cs typeface="Arial" pitchFamily="34" charset="-120"/>
              </a:rPr>
              <a:t>So với khoảng tham chiếu</a:t>
            </a:r>
            <a:endParaRPr lang="en-US" sz="1400" dirty="0"/>
          </a:p>
        </p:txBody>
      </p:sp>
      <p:sp>
        <p:nvSpPr>
          <p:cNvPr id="18" name="Text 15"/>
          <p:cNvSpPr/>
          <p:nvPr/>
        </p:nvSpPr>
        <p:spPr>
          <a:xfrm>
            <a:off x="3711575" y="3327102"/>
            <a:ext cx="2076609"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33A"/>
                </a:solidFill>
                <a:latin typeface="Arial" pitchFamily="34" charset="0"/>
                <a:ea typeface="Arial" pitchFamily="34" charset="-122"/>
                <a:cs typeface="Arial" pitchFamily="34" charset="-120"/>
              </a:rPr>
              <a:t>Gán nhãn 3 mức</a:t>
            </a:r>
            <a:endParaRPr lang="en-US" sz="1400" dirty="0"/>
          </a:p>
        </p:txBody>
      </p:sp>
      <p:sp>
        <p:nvSpPr>
          <p:cNvPr id="19" name="Text 16"/>
          <p:cNvSpPr/>
          <p:nvPr/>
        </p:nvSpPr>
        <p:spPr>
          <a:xfrm>
            <a:off x="3711575" y="3715643"/>
            <a:ext cx="20766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5FB4"/>
                </a:solidFill>
                <a:latin typeface="Arial" pitchFamily="34" charset="0"/>
                <a:ea typeface="Arial" pitchFamily="34" charset="-122"/>
                <a:cs typeface="Arial" pitchFamily="34" charset="-120"/>
              </a:rPr>
              <a:t>■ Không dùng LLM</a:t>
            </a:r>
            <a:endParaRPr lang="en-US" sz="1400" dirty="0"/>
          </a:p>
        </p:txBody>
      </p:sp>
      <p:pic>
        <p:nvPicPr>
          <p:cNvPr id="20" name="Image 1" descr="arrow-right">    </p:cNvPr>
          <p:cNvPicPr>
            <a:picLocks noChangeAspect="1"/>
          </p:cNvPicPr>
          <p:nvPr/>
        </p:nvPicPr>
        <p:blipFill>
          <a:blip r:embed="rId2"/>
          <a:srcRect l="0" r="0" t="0" b="0"/>
          <a:stretch/>
        </p:blipFill>
        <p:spPr>
          <a:xfrm>
            <a:off x="5962650" y="2921992"/>
            <a:ext cx="254000" cy="152400"/>
          </a:xfrm>
          <a:prstGeom prst="rect">
            <a:avLst/>
          </a:prstGeom>
        </p:spPr>
      </p:pic>
      <p:sp>
        <p:nvSpPr>
          <p:cNvPr id="21" name="Shape 17"/>
          <p:cNvSpPr/>
          <p:nvPr/>
        </p:nvSpPr>
        <p:spPr>
          <a:xfrm>
            <a:off x="6299200" y="1904901"/>
            <a:ext cx="2333625" cy="2186583"/>
          </a:xfrm>
          <a:prstGeom prst="roundRect">
            <a:avLst>
              <a:gd name="adj" fmla="val 4356"/>
            </a:avLst>
          </a:prstGeom>
          <a:solidFill>
            <a:srgbClr val="FFF6EF"/>
          </a:solidFill>
          <a:ln w="12700">
            <a:solidFill>
              <a:srgbClr val="C2570C"/>
            </a:solidFill>
            <a:prstDash val="solid"/>
          </a:ln>
        </p:spPr>
        <p:txBody>
          <a:bodyPr/>
          <a:p/>
        </p:txBody>
      </p:sp>
      <p:sp>
        <p:nvSpPr>
          <p:cNvPr id="22" name="Shape 18"/>
          <p:cNvSpPr/>
          <p:nvPr/>
        </p:nvSpPr>
        <p:spPr>
          <a:xfrm>
            <a:off x="6305550" y="1911251"/>
            <a:ext cx="2320925" cy="1000522"/>
          </a:xfrm>
          <a:custGeom>
            <a:avLst/>
            <a:gdLst/>
            <a:ahLst/>
            <a:cxnLst/>
            <a:rect l="l" t="t" r="r" b="b"/>
            <a:pathLst>
              <a:path w="2320925" h="1000522">
                <a:moveTo>
                  <a:pt x="0" y="88900"/>
                </a:moveTo>
                <a:arcTo hR="88900" wR="88900" stAng="10800000" swAng="5400000"/>
                <a:lnTo>
                  <a:pt x="2232025" y="0"/>
                </a:lnTo>
                <a:arcTo hR="88900" wR="88900" stAng="16200000" swAng="5400000"/>
                <a:lnTo>
                  <a:pt x="2320925" y="1000522"/>
                </a:lnTo>
                <a:lnTo>
                  <a:pt x="0" y="1000522"/>
                </a:lnTo>
                <a:close/>
              </a:path>
            </a:pathLst>
          </a:custGeom>
          <a:solidFill>
            <a:srgbClr val="C2570C"/>
          </a:solidFill>
          <a:ln/>
        </p:spPr>
        <p:txBody>
          <a:bodyPr/>
          <a:p/>
        </p:txBody>
      </p:sp>
      <p:sp>
        <p:nvSpPr>
          <p:cNvPr id="23" name="Text 19"/>
          <p:cNvSpPr/>
          <p:nvPr/>
        </p:nvSpPr>
        <p:spPr>
          <a:xfrm>
            <a:off x="6457950" y="2025551"/>
            <a:ext cx="20766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DE3CF"/>
                </a:solidFill>
                <a:latin typeface="Arial" pitchFamily="34" charset="0"/>
                <a:ea typeface="Arial" pitchFamily="34" charset="-122"/>
                <a:cs typeface="Arial" pitchFamily="34" charset="-120"/>
              </a:rPr>
              <a:t>TẦNG 3</a:t>
            </a:r>
            <a:endParaRPr lang="en-US" sz="1400" dirty="0"/>
          </a:p>
        </p:txBody>
      </p:sp>
      <p:sp>
        <p:nvSpPr>
          <p:cNvPr id="24" name="Text 20"/>
          <p:cNvSpPr/>
          <p:nvPr/>
        </p:nvSpPr>
        <p:spPr>
          <a:xfrm>
            <a:off x="6457950" y="2299791"/>
            <a:ext cx="2076609"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Arial" pitchFamily="34" charset="0"/>
                <a:ea typeface="Arial" pitchFamily="34" charset="-122"/>
                <a:cs typeface="Arial" pitchFamily="34" charset="-120"/>
              </a:rPr>
              <a:t>Sinh văn bản có ràng buộc</a:t>
            </a:r>
            <a:endParaRPr lang="en-US" sz="1400" dirty="0"/>
          </a:p>
        </p:txBody>
      </p:sp>
      <p:sp>
        <p:nvSpPr>
          <p:cNvPr id="25" name="Text 21"/>
          <p:cNvSpPr/>
          <p:nvPr/>
        </p:nvSpPr>
        <p:spPr>
          <a:xfrm>
            <a:off x="6457950" y="3038773"/>
            <a:ext cx="2076609"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33A"/>
                </a:solidFill>
                <a:latin typeface="Arial" pitchFamily="34" charset="0"/>
                <a:ea typeface="Arial" pitchFamily="34" charset="-122"/>
                <a:cs typeface="Arial" pitchFamily="34" charset="-120"/>
              </a:rPr>
              <a:t>Mô hình nhận sẵn nhãn</a:t>
            </a:r>
            <a:endParaRPr lang="en-US" sz="1400" dirty="0"/>
          </a:p>
        </p:txBody>
      </p:sp>
      <p:sp>
        <p:nvSpPr>
          <p:cNvPr id="26" name="Text 22"/>
          <p:cNvSpPr/>
          <p:nvPr/>
        </p:nvSpPr>
        <p:spPr>
          <a:xfrm>
            <a:off x="6457950" y="3342283"/>
            <a:ext cx="2076609"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33A"/>
                </a:solidFill>
                <a:latin typeface="Arial" pitchFamily="34" charset="0"/>
                <a:ea typeface="Arial" pitchFamily="34" charset="-122"/>
                <a:cs typeface="Arial" pitchFamily="34" charset="-120"/>
              </a:rPr>
              <a:t>Chỉ diễn đạt lại</a:t>
            </a:r>
            <a:endParaRPr lang="en-US" sz="1400" dirty="0"/>
          </a:p>
        </p:txBody>
      </p:sp>
      <p:sp>
        <p:nvSpPr>
          <p:cNvPr id="27" name="Text 23"/>
          <p:cNvSpPr/>
          <p:nvPr/>
        </p:nvSpPr>
        <p:spPr>
          <a:xfrm>
            <a:off x="6457950" y="3709293"/>
            <a:ext cx="20766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2570C"/>
                </a:solidFill>
                <a:latin typeface="Arial" pitchFamily="34" charset="0"/>
                <a:ea typeface="Arial" pitchFamily="34" charset="-122"/>
                <a:cs typeface="Arial" pitchFamily="34" charset="-120"/>
              </a:rPr>
              <a:t>● Có dùng LLM</a:t>
            </a:r>
            <a:endParaRPr lang="en-US" sz="1400" dirty="0"/>
          </a:p>
        </p:txBody>
      </p:sp>
      <p:pic>
        <p:nvPicPr>
          <p:cNvPr id="28" name="Image 2" descr="arrow-right">    </p:cNvPr>
          <p:cNvPicPr>
            <a:picLocks noChangeAspect="1"/>
          </p:cNvPicPr>
          <p:nvPr/>
        </p:nvPicPr>
        <p:blipFill>
          <a:blip r:embed="rId3"/>
          <a:srcRect l="0" r="0" t="0" b="0"/>
          <a:stretch/>
        </p:blipFill>
        <p:spPr>
          <a:xfrm>
            <a:off x="8715375" y="2921992"/>
            <a:ext cx="254000" cy="152400"/>
          </a:xfrm>
          <a:prstGeom prst="rect">
            <a:avLst/>
          </a:prstGeom>
        </p:spPr>
      </p:pic>
      <p:sp>
        <p:nvSpPr>
          <p:cNvPr id="29" name="Shape 24"/>
          <p:cNvSpPr/>
          <p:nvPr/>
        </p:nvSpPr>
        <p:spPr>
          <a:xfrm>
            <a:off x="9048750" y="1901726"/>
            <a:ext cx="2327275" cy="2192933"/>
          </a:xfrm>
          <a:prstGeom prst="roundRect">
            <a:avLst>
              <a:gd name="adj" fmla="val 4488"/>
            </a:avLst>
          </a:prstGeom>
          <a:solidFill>
            <a:srgbClr val="FFFFFF"/>
          </a:solidFill>
          <a:ln w="6350">
            <a:solidFill>
              <a:srgbClr val="D9E2EC"/>
            </a:solidFill>
            <a:prstDash val="solid"/>
          </a:ln>
        </p:spPr>
        <p:txBody>
          <a:bodyPr/>
          <a:p/>
        </p:txBody>
      </p:sp>
      <p:sp>
        <p:nvSpPr>
          <p:cNvPr id="30" name="Shape 25"/>
          <p:cNvSpPr/>
          <p:nvPr/>
        </p:nvSpPr>
        <p:spPr>
          <a:xfrm>
            <a:off x="9051925" y="1904901"/>
            <a:ext cx="2320925" cy="751681"/>
          </a:xfrm>
          <a:custGeom>
            <a:avLst/>
            <a:gdLst/>
            <a:ahLst/>
            <a:cxnLst/>
            <a:rect l="l" t="t" r="r" b="b"/>
            <a:pathLst>
              <a:path w="2320925" h="751681">
                <a:moveTo>
                  <a:pt x="0" y="95250"/>
                </a:moveTo>
                <a:arcTo hR="95250" wR="95250" stAng="10800000" swAng="5400000"/>
                <a:lnTo>
                  <a:pt x="2225675" y="0"/>
                </a:lnTo>
                <a:arcTo hR="95250" wR="95250" stAng="16200000" swAng="5400000"/>
                <a:lnTo>
                  <a:pt x="2320925" y="751681"/>
                </a:lnTo>
                <a:lnTo>
                  <a:pt x="0" y="751681"/>
                </a:lnTo>
                <a:close/>
              </a:path>
            </a:pathLst>
          </a:custGeom>
          <a:solidFill>
            <a:srgbClr val="1E5FB4"/>
          </a:solidFill>
          <a:ln/>
        </p:spPr>
        <p:txBody>
          <a:bodyPr/>
          <a:p/>
        </p:txBody>
      </p:sp>
      <p:sp>
        <p:nvSpPr>
          <p:cNvPr id="31" name="Text 26"/>
          <p:cNvSpPr/>
          <p:nvPr/>
        </p:nvSpPr>
        <p:spPr>
          <a:xfrm>
            <a:off x="9204325" y="2019201"/>
            <a:ext cx="20766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6E4F7"/>
                </a:solidFill>
                <a:latin typeface="Arial" pitchFamily="34" charset="0"/>
                <a:ea typeface="Arial" pitchFamily="34" charset="-122"/>
                <a:cs typeface="Arial" pitchFamily="34" charset="-120"/>
              </a:rPr>
              <a:t>TẦNG 4</a:t>
            </a:r>
            <a:endParaRPr lang="en-US" sz="1400" dirty="0"/>
          </a:p>
        </p:txBody>
      </p:sp>
      <p:sp>
        <p:nvSpPr>
          <p:cNvPr id="32" name="Text 27"/>
          <p:cNvSpPr/>
          <p:nvPr/>
        </p:nvSpPr>
        <p:spPr>
          <a:xfrm>
            <a:off x="9204325" y="2293441"/>
            <a:ext cx="20766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Arial" pitchFamily="34" charset="0"/>
                <a:ea typeface="Arial" pitchFamily="34" charset="-122"/>
                <a:cs typeface="Arial" pitchFamily="34" charset="-120"/>
              </a:rPr>
              <a:t>Kiểm chứng</a:t>
            </a:r>
            <a:endParaRPr lang="en-US" sz="1400" dirty="0"/>
          </a:p>
        </p:txBody>
      </p:sp>
      <p:sp>
        <p:nvSpPr>
          <p:cNvPr id="33" name="Text 28"/>
          <p:cNvSpPr/>
          <p:nvPr/>
        </p:nvSpPr>
        <p:spPr>
          <a:xfrm>
            <a:off x="9204325" y="2783582"/>
            <a:ext cx="2076609"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33A"/>
                </a:solidFill>
                <a:latin typeface="Arial" pitchFamily="34" charset="0"/>
                <a:ea typeface="Arial" pitchFamily="34" charset="-122"/>
                <a:cs typeface="Arial" pitchFamily="34" charset="-120"/>
              </a:rPr>
              <a:t>Đối chiếu câu chữ với nhãn</a:t>
            </a:r>
            <a:endParaRPr lang="en-US" sz="1400" dirty="0"/>
          </a:p>
        </p:txBody>
      </p:sp>
      <p:sp>
        <p:nvSpPr>
          <p:cNvPr id="34" name="Text 29"/>
          <p:cNvSpPr/>
          <p:nvPr/>
        </p:nvSpPr>
        <p:spPr>
          <a:xfrm>
            <a:off x="9204325" y="3327102"/>
            <a:ext cx="2076609"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33A"/>
                </a:solidFill>
                <a:latin typeface="Arial" pitchFamily="34" charset="0"/>
                <a:ea typeface="Arial" pitchFamily="34" charset="-122"/>
                <a:cs typeface="Arial" pitchFamily="34" charset="-120"/>
              </a:rPr>
              <a:t>Viết lại / câu mẫu</a:t>
            </a:r>
            <a:endParaRPr lang="en-US" sz="1400" dirty="0"/>
          </a:p>
        </p:txBody>
      </p:sp>
      <p:sp>
        <p:nvSpPr>
          <p:cNvPr id="35" name="Text 30"/>
          <p:cNvSpPr/>
          <p:nvPr/>
        </p:nvSpPr>
        <p:spPr>
          <a:xfrm>
            <a:off x="9204325" y="3715643"/>
            <a:ext cx="20766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5FB4"/>
                </a:solidFill>
                <a:latin typeface="Arial" pitchFamily="34" charset="0"/>
                <a:ea typeface="Arial" pitchFamily="34" charset="-122"/>
                <a:cs typeface="Arial" pitchFamily="34" charset="-120"/>
              </a:rPr>
              <a:t>■ Không dùng LLM</a:t>
            </a:r>
            <a:endParaRPr lang="en-US" sz="1400" dirty="0"/>
          </a:p>
        </p:txBody>
      </p:sp>
      <p:sp>
        <p:nvSpPr>
          <p:cNvPr id="36" name="Text 31"/>
          <p:cNvSpPr/>
          <p:nvPr/>
        </p:nvSpPr>
        <p:spPr>
          <a:xfrm>
            <a:off x="812800" y="4301034"/>
            <a:ext cx="186749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4A5E"/>
                </a:solidFill>
                <a:latin typeface="Arial" pitchFamily="34" charset="0"/>
                <a:ea typeface="Arial" pitchFamily="34" charset="-122"/>
                <a:cs typeface="Arial" pitchFamily="34" charset="-120"/>
              </a:rPr>
              <a:t>Nhãn 3 mức (tầng 2):</a:t>
            </a:r>
            <a:endParaRPr lang="en-US" sz="1400" dirty="0"/>
          </a:p>
        </p:txBody>
      </p:sp>
      <p:sp>
        <p:nvSpPr>
          <p:cNvPr id="37" name="Text 32"/>
          <p:cNvSpPr/>
          <p:nvPr/>
        </p:nvSpPr>
        <p:spPr>
          <a:xfrm>
            <a:off x="2680295" y="4250234"/>
            <a:ext cx="2607072" cy="350441"/>
          </a:xfrm>
          <a:prstGeom prst="roundRect">
            <a:avLst>
              <a:gd name="adj" fmla="val 50000"/>
            </a:avLst>
          </a:prstGeom>
          <a:solidFill>
            <a:srgbClr val="E5F4EA"/>
          </a:solidFill>
          <a:ln/>
        </p:spPr>
        <p:txBody>
          <a:bodyPr wrap="none" lIns="0" tIns="0" rIns="0" bIns="0" rtlCol="0" anchor="ctr">
            <a:normAutofit/>
          </a:bodyPr>
          <a:lstStyle/>
          <a:p>
            <a:pPr algn="ctr" indent="0" marL="0">
              <a:lnSpc>
                <a:spcPts val="1960"/>
              </a:lnSpc>
              <a:buNone/>
            </a:pPr>
            <a:r>
              <a:rPr lang="en-US" sz="1400" b="1" dirty="0">
                <a:solidFill>
                  <a:srgbClr val="15803D"/>
                </a:solidFill>
                <a:latin typeface="Arial" pitchFamily="34" charset="0"/>
                <a:ea typeface="Arial" pitchFamily="34" charset="-122"/>
                <a:cs typeface="Arial" pitchFamily="34" charset="-120"/>
              </a:rPr>
              <a:t>Bình thường · trong khoảng</a:t>
            </a:r>
            <a:endParaRPr lang="en-US" sz="1400" dirty="0"/>
          </a:p>
        </p:txBody>
      </p:sp>
      <p:sp>
        <p:nvSpPr>
          <p:cNvPr id="38" name="Text 33"/>
          <p:cNvSpPr/>
          <p:nvPr/>
        </p:nvSpPr>
        <p:spPr>
          <a:xfrm>
            <a:off x="5376267" y="4250234"/>
            <a:ext cx="1641177" cy="350441"/>
          </a:xfrm>
          <a:prstGeom prst="roundRect">
            <a:avLst>
              <a:gd name="adj" fmla="val 50000"/>
            </a:avLst>
          </a:prstGeom>
          <a:solidFill>
            <a:srgbClr val="E3EDFA"/>
          </a:solidFill>
          <a:ln/>
        </p:spPr>
        <p:txBody>
          <a:bodyPr wrap="none" lIns="0" tIns="0" rIns="0" bIns="0" rtlCol="0" anchor="ctr">
            <a:normAutofit/>
          </a:bodyPr>
          <a:lstStyle/>
          <a:p>
            <a:pPr algn="ctr" indent="0" marL="0">
              <a:lnSpc>
                <a:spcPts val="1960"/>
              </a:lnSpc>
              <a:buNone/>
            </a:pPr>
            <a:r>
              <a:rPr lang="en-US" sz="1400" b="1" dirty="0">
                <a:solidFill>
                  <a:srgbClr val="1E5FB4"/>
                </a:solidFill>
                <a:latin typeface="Arial" pitchFamily="34" charset="0"/>
                <a:ea typeface="Arial" pitchFamily="34" charset="-122"/>
                <a:cs typeface="Arial" pitchFamily="34" charset="-120"/>
              </a:rPr>
              <a:t>Theo dõi · lệch ít</a:t>
            </a:r>
            <a:endParaRPr lang="en-US" sz="1400" dirty="0"/>
          </a:p>
        </p:txBody>
      </p:sp>
      <p:sp>
        <p:nvSpPr>
          <p:cNvPr id="39" name="Text 34"/>
          <p:cNvSpPr/>
          <p:nvPr/>
        </p:nvSpPr>
        <p:spPr>
          <a:xfrm>
            <a:off x="7106345" y="4250234"/>
            <a:ext cx="2323108" cy="350441"/>
          </a:xfrm>
          <a:prstGeom prst="roundRect">
            <a:avLst>
              <a:gd name="adj" fmla="val 50000"/>
            </a:avLst>
          </a:prstGeom>
          <a:solidFill>
            <a:srgbClr val="FDE8D8"/>
          </a:solidFill>
          <a:ln/>
        </p:spPr>
        <p:txBody>
          <a:bodyPr wrap="none" lIns="0" tIns="0" rIns="0" bIns="0" rtlCol="0" anchor="ctr">
            <a:normAutofit/>
          </a:bodyPr>
          <a:lstStyle/>
          <a:p>
            <a:pPr algn="ctr" indent="0" marL="0">
              <a:lnSpc>
                <a:spcPts val="1960"/>
              </a:lnSpc>
              <a:buNone/>
            </a:pPr>
            <a:r>
              <a:rPr lang="en-US" sz="1400" b="1" dirty="0">
                <a:solidFill>
                  <a:srgbClr val="9A4A12"/>
                </a:solidFill>
                <a:latin typeface="Arial" pitchFamily="34" charset="0"/>
                <a:ea typeface="Arial" pitchFamily="34" charset="-122"/>
                <a:cs typeface="Arial" pitchFamily="34" charset="-120"/>
              </a:rPr>
              <a:t>Nên đi khám · lệch nhiều</a:t>
            </a:r>
            <a:endParaRPr lang="en-US" sz="1400" dirty="0"/>
          </a:p>
        </p:txBody>
      </p:sp>
      <p:sp>
        <p:nvSpPr>
          <p:cNvPr id="40" name="Text 35"/>
          <p:cNvSpPr/>
          <p:nvPr/>
        </p:nvSpPr>
        <p:spPr>
          <a:xfrm>
            <a:off x="812800" y="4689574"/>
            <a:ext cx="318504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Nhãn cả phiếu = chỉ số nặng nhất</a:t>
            </a:r>
            <a:endParaRPr lang="en-US" sz="1400" dirty="0"/>
          </a:p>
        </p:txBody>
      </p:sp>
      <p:sp>
        <p:nvSpPr>
          <p:cNvPr id="41" name="Text 36"/>
          <p:cNvSpPr/>
          <p:nvPr/>
        </p:nvSpPr>
        <p:spPr>
          <a:xfrm>
            <a:off x="815975" y="5093990"/>
            <a:ext cx="10560050" cy="474960"/>
          </a:xfrm>
          <a:prstGeom prst="roundRect">
            <a:avLst>
              <a:gd name="adj" fmla="val 20723"/>
            </a:avLst>
          </a:prstGeom>
          <a:solidFill>
            <a:srgbClr val="FFF8E6"/>
          </a:solidFill>
          <a:ln w="6350">
            <a:solidFill>
              <a:srgbClr val="F1D9A0"/>
            </a:solidFill>
            <a:prstDash val="solid"/>
          </a:ln>
        </p:spPr>
        <p:txBody>
          <a:bodyPr wrap="square" lIns="177547" tIns="88647" rIns="0" bIns="63247" rtlCol="0" anchor="t">
            <a:normAutofit/>
          </a:bodyPr>
          <a:lstStyle/>
          <a:p>
            <a:pPr algn="l" indent="0" marL="0">
              <a:lnSpc>
                <a:spcPts val="1890"/>
              </a:lnSpc>
              <a:buNone/>
            </a:pPr>
            <a:r>
              <a:rPr lang="en-US" sz="1400" dirty="0">
                <a:solidFill>
                  <a:srgbClr val="13233A"/>
                </a:solidFill>
                <a:latin typeface="Arial" pitchFamily="34" charset="0"/>
                <a:ea typeface="Arial" pitchFamily="34" charset="-122"/>
                <a:cs typeface="Arial" pitchFamily="34" charset="-120"/>
              </a:rPr>
              <a:t>Không đạt → viết lại → quá số lần thử thì dùng câu mẫu cố định. </a:t>
            </a:r>
            <a:r>
              <a:rPr lang="en-US" sz="1400" b="1" dirty="0">
                <a:solidFill>
                  <a:srgbClr val="13233A"/>
                </a:solidFill>
                <a:latin typeface="Arial" pitchFamily="34" charset="0"/>
                <a:ea typeface="Arial" pitchFamily="34" charset="-122"/>
                <a:cs typeface="Arial" pitchFamily="34" charset="-120"/>
              </a:rPr>
              <a:t>Không bao giờ hiển thị câu chưa kiểm chứng.</a:t>
            </a:r>
            <a:endParaRPr lang="en-US" sz="1400" dirty="0"/>
          </a:p>
        </p:txBody>
      </p:sp>
      <p:sp>
        <p:nvSpPr>
          <p:cNvPr id="42" name="Text 37"/>
          <p:cNvSpPr/>
          <p:nvPr/>
        </p:nvSpPr>
        <p:spPr>
          <a:xfrm>
            <a:off x="812800" y="6202759"/>
            <a:ext cx="784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HEALTHINFO IV · Trương Quang Đại, HUTECH · Bài HI26-0013</a:t>
            </a:r>
            <a:endParaRPr lang="en-US" sz="1400" dirty="0"/>
          </a:p>
        </p:txBody>
      </p:sp>
      <p:sp>
        <p:nvSpPr>
          <p:cNvPr id="43" name="Text 38"/>
          <p:cNvSpPr/>
          <p:nvPr/>
        </p:nvSpPr>
        <p:spPr>
          <a:xfrm>
            <a:off x="10058400" y="6202759"/>
            <a:ext cx="132080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B6B80"/>
                </a:solidFill>
                <a:latin typeface="Arial" pitchFamily="34" charset="0"/>
                <a:ea typeface="Arial" pitchFamily="34" charset="-122"/>
                <a:cs typeface="Arial" pitchFamily="34" charset="-120"/>
              </a:rPr>
              <a:t>7 / 19</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A"/>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0B7A6E"/>
          </a:solidFill>
          <a:ln/>
        </p:spPr>
        <p:txBody>
          <a:bodyPr/>
          <a:p/>
        </p:txBody>
      </p:sp>
      <p:sp>
        <p:nvSpPr>
          <p:cNvPr id="3" name="Text 1"/>
          <p:cNvSpPr/>
          <p:nvPr>
            <p:ph type="title"/>
          </p:nvPr>
        </p:nvSpPr>
        <p:spPr>
          <a:xfrm>
            <a:off x="812800" y="71120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B7A6E"/>
                </a:solidFill>
                <a:latin typeface="Arial" pitchFamily="34" charset="0"/>
                <a:ea typeface="Arial" pitchFamily="34" charset="-122"/>
                <a:cs typeface="Arial" pitchFamily="34" charset="-120"/>
              </a:rPr>
              <a:t>07</a:t>
            </a:r>
            <a:r>
              <a:rPr lang="en-US" sz="2600" b="1" i="0" dirty="0">
                <a:solidFill>
                  <a:srgbClr val="0B2545"/>
                </a:solidFill>
                <a:latin typeface="Arial" pitchFamily="34" charset="0"/>
                <a:ea typeface="Arial" pitchFamily="34" charset="-122"/>
                <a:cs typeface="Arial" pitchFamily="34" charset="-120"/>
              </a:rPr>
              <a:t> Tầng 1 — Chuẩn hóa tên và đơn vị</a:t>
            </a:r>
            <a:endParaRPr lang="en-US" sz="2600" dirty="0"/>
          </a:p>
        </p:txBody>
      </p:sp>
      <p:sp>
        <p:nvSpPr>
          <p:cNvPr id="4" name="Shape 2"/>
          <p:cNvSpPr/>
          <p:nvPr/>
        </p:nvSpPr>
        <p:spPr>
          <a:xfrm>
            <a:off x="815975" y="1271885"/>
            <a:ext cx="5187950" cy="2538313"/>
          </a:xfrm>
          <a:prstGeom prst="roundRect">
            <a:avLst>
              <a:gd name="adj" fmla="val 3878"/>
            </a:avLst>
          </a:prstGeom>
          <a:solidFill>
            <a:srgbClr val="FFFFFF"/>
          </a:solidFill>
          <a:ln w="6350">
            <a:solidFill>
              <a:srgbClr val="D9E2EC"/>
            </a:solidFill>
            <a:prstDash val="solid"/>
          </a:ln>
        </p:spPr>
        <p:txBody>
          <a:bodyPr/>
          <a:p/>
        </p:txBody>
      </p:sp>
      <p:sp>
        <p:nvSpPr>
          <p:cNvPr id="5" name="Text 3"/>
          <p:cNvSpPr/>
          <p:nvPr/>
        </p:nvSpPr>
        <p:spPr>
          <a:xfrm>
            <a:off x="1022350" y="1452860"/>
            <a:ext cx="491845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5FB4"/>
                </a:solidFill>
                <a:latin typeface="Arial" pitchFamily="34" charset="0"/>
                <a:ea typeface="Arial" pitchFamily="34" charset="-122"/>
                <a:cs typeface="Arial" pitchFamily="34" charset="-120"/>
              </a:rPr>
              <a:t>Một chỉ số, nhiều tên gọi</a:t>
            </a:r>
            <a:endParaRPr lang="en-US" sz="1700" dirty="0"/>
          </a:p>
        </p:txBody>
      </p:sp>
      <p:sp>
        <p:nvSpPr>
          <p:cNvPr id="6" name="Text 4"/>
          <p:cNvSpPr/>
          <p:nvPr/>
        </p:nvSpPr>
        <p:spPr>
          <a:xfrm>
            <a:off x="1022350" y="1826220"/>
            <a:ext cx="2349500" cy="375841"/>
          </a:xfrm>
          <a:custGeom>
            <a:avLst/>
            <a:gdLst/>
            <a:ahLst/>
            <a:cxnLst/>
            <a:rect l="l" t="t" r="r" b="b"/>
            <a:pathLst>
              <a:path w="2349500" h="375841">
                <a:moveTo>
                  <a:pt x="63500" y="0"/>
                </a:moveTo>
                <a:lnTo>
                  <a:pt x="2286000" y="0"/>
                </a:lnTo>
                <a:arcTo hR="63500" wR="63500" stAng="16200000" swAng="5400000"/>
                <a:lnTo>
                  <a:pt x="2349500" y="312341"/>
                </a:lnTo>
                <a:arcTo hR="63500" wR="63500" stAng="0" swAng="5400000"/>
                <a:lnTo>
                  <a:pt x="63500" y="375841"/>
                </a:lnTo>
                <a:arcTo hR="63500" wR="63500" stAng="5400000" swAng="5400000"/>
                <a:lnTo>
                  <a:pt x="0" y="63500"/>
                </a:lnTo>
                <a:arcTo hR="63500" wR="63500" stAng="10800000" swAng="5400000"/>
                <a:close/>
              </a:path>
            </a:pathLst>
          </a:custGeom>
          <a:solidFill>
            <a:srgbClr val="E3EDFA"/>
          </a:solidFill>
          <a:ln/>
        </p:spPr>
        <p:txBody>
          <a:bodyPr wrap="square" lIns="30163" tIns="63500" rIns="30163" bIns="38100" rtlCol="0" anchor="t">
            <a:normAutofit/>
          </a:bodyPr>
          <a:lstStyle/>
          <a:p>
            <a:pPr algn="ctr" indent="0" marL="0">
              <a:lnSpc>
                <a:spcPts val="1960"/>
              </a:lnSpc>
              <a:buNone/>
            </a:pPr>
            <a:r>
              <a:rPr lang="en-US" sz="1400" dirty="0">
                <a:solidFill>
                  <a:srgbClr val="0B2545"/>
                </a:solidFill>
                <a:latin typeface="Arial" pitchFamily="34" charset="0"/>
                <a:ea typeface="Arial" pitchFamily="34" charset="-122"/>
                <a:cs typeface="Arial" pitchFamily="34" charset="-120"/>
              </a:rPr>
              <a:t>WBC</a:t>
            </a:r>
            <a:endParaRPr lang="en-US" sz="1400" dirty="0"/>
          </a:p>
        </p:txBody>
      </p:sp>
      <p:sp>
        <p:nvSpPr>
          <p:cNvPr id="7" name="Text 5"/>
          <p:cNvSpPr/>
          <p:nvPr/>
        </p:nvSpPr>
        <p:spPr>
          <a:xfrm>
            <a:off x="3448050" y="1826220"/>
            <a:ext cx="2349500" cy="375841"/>
          </a:xfrm>
          <a:custGeom>
            <a:avLst/>
            <a:gdLst/>
            <a:ahLst/>
            <a:cxnLst/>
            <a:rect l="l" t="t" r="r" b="b"/>
            <a:pathLst>
              <a:path w="2349500" h="375841">
                <a:moveTo>
                  <a:pt x="63500" y="0"/>
                </a:moveTo>
                <a:lnTo>
                  <a:pt x="2286000" y="0"/>
                </a:lnTo>
                <a:arcTo hR="63500" wR="63500" stAng="16200000" swAng="5400000"/>
                <a:lnTo>
                  <a:pt x="2349500" y="312341"/>
                </a:lnTo>
                <a:arcTo hR="63500" wR="63500" stAng="0" swAng="5400000"/>
                <a:lnTo>
                  <a:pt x="63500" y="375841"/>
                </a:lnTo>
                <a:arcTo hR="63500" wR="63500" stAng="5400000" swAng="5400000"/>
                <a:lnTo>
                  <a:pt x="0" y="63500"/>
                </a:lnTo>
                <a:arcTo hR="63500" wR="63500" stAng="10800000" swAng="5400000"/>
                <a:close/>
              </a:path>
            </a:pathLst>
          </a:custGeom>
          <a:solidFill>
            <a:srgbClr val="E3EDFA"/>
          </a:solidFill>
          <a:ln/>
        </p:spPr>
        <p:txBody>
          <a:bodyPr wrap="square" lIns="30163" tIns="63500" rIns="30163" bIns="38100" rtlCol="0" anchor="t">
            <a:normAutofit/>
          </a:bodyPr>
          <a:lstStyle/>
          <a:p>
            <a:pPr algn="ctr" indent="0" marL="0">
              <a:lnSpc>
                <a:spcPts val="1960"/>
              </a:lnSpc>
              <a:buNone/>
            </a:pPr>
            <a:r>
              <a:rPr lang="en-US" sz="1400" dirty="0">
                <a:solidFill>
                  <a:srgbClr val="0B2545"/>
                </a:solidFill>
                <a:latin typeface="Arial" pitchFamily="34" charset="0"/>
                <a:ea typeface="Arial" pitchFamily="34" charset="-122"/>
                <a:cs typeface="Arial" pitchFamily="34" charset="-120"/>
              </a:rPr>
              <a:t>SLBC</a:t>
            </a:r>
            <a:endParaRPr lang="en-US" sz="1400" dirty="0"/>
          </a:p>
        </p:txBody>
      </p:sp>
      <p:sp>
        <p:nvSpPr>
          <p:cNvPr id="8" name="Text 6"/>
          <p:cNvSpPr/>
          <p:nvPr/>
        </p:nvSpPr>
        <p:spPr>
          <a:xfrm>
            <a:off x="1022350" y="2278261"/>
            <a:ext cx="2349500" cy="375841"/>
          </a:xfrm>
          <a:custGeom>
            <a:avLst/>
            <a:gdLst/>
            <a:ahLst/>
            <a:cxnLst/>
            <a:rect l="l" t="t" r="r" b="b"/>
            <a:pathLst>
              <a:path w="2349500" h="375841">
                <a:moveTo>
                  <a:pt x="63500" y="0"/>
                </a:moveTo>
                <a:lnTo>
                  <a:pt x="2286000" y="0"/>
                </a:lnTo>
                <a:arcTo hR="63500" wR="63500" stAng="16200000" swAng="5400000"/>
                <a:lnTo>
                  <a:pt x="2349500" y="312341"/>
                </a:lnTo>
                <a:arcTo hR="63500" wR="63500" stAng="0" swAng="5400000"/>
                <a:lnTo>
                  <a:pt x="63500" y="375841"/>
                </a:lnTo>
                <a:arcTo hR="63500" wR="63500" stAng="5400000" swAng="5400000"/>
                <a:lnTo>
                  <a:pt x="0" y="63500"/>
                </a:lnTo>
                <a:arcTo hR="63500" wR="63500" stAng="10800000" swAng="5400000"/>
                <a:close/>
              </a:path>
            </a:pathLst>
          </a:custGeom>
          <a:solidFill>
            <a:srgbClr val="E3EDFA"/>
          </a:solidFill>
          <a:ln/>
        </p:spPr>
        <p:txBody>
          <a:bodyPr wrap="square" lIns="30163" tIns="63500" rIns="30163" bIns="38100" rtlCol="0" anchor="t">
            <a:normAutofit/>
          </a:bodyPr>
          <a:lstStyle/>
          <a:p>
            <a:pPr algn="ctr" indent="0" marL="0">
              <a:lnSpc>
                <a:spcPts val="1960"/>
              </a:lnSpc>
              <a:buNone/>
            </a:pPr>
            <a:r>
              <a:rPr lang="en-US" sz="1400" dirty="0">
                <a:solidFill>
                  <a:srgbClr val="0B2545"/>
                </a:solidFill>
                <a:latin typeface="Arial" pitchFamily="34" charset="0"/>
                <a:ea typeface="Arial" pitchFamily="34" charset="-122"/>
                <a:cs typeface="Arial" pitchFamily="34" charset="-120"/>
              </a:rPr>
              <a:t>Số lượng bạch cầu</a:t>
            </a:r>
            <a:endParaRPr lang="en-US" sz="1400" dirty="0"/>
          </a:p>
        </p:txBody>
      </p:sp>
      <p:sp>
        <p:nvSpPr>
          <p:cNvPr id="9" name="Text 7"/>
          <p:cNvSpPr/>
          <p:nvPr/>
        </p:nvSpPr>
        <p:spPr>
          <a:xfrm>
            <a:off x="3448050" y="2278261"/>
            <a:ext cx="2349500" cy="375841"/>
          </a:xfrm>
          <a:custGeom>
            <a:avLst/>
            <a:gdLst/>
            <a:ahLst/>
            <a:cxnLst/>
            <a:rect l="l" t="t" r="r" b="b"/>
            <a:pathLst>
              <a:path w="2349500" h="375841">
                <a:moveTo>
                  <a:pt x="63500" y="0"/>
                </a:moveTo>
                <a:lnTo>
                  <a:pt x="2286000" y="0"/>
                </a:lnTo>
                <a:arcTo hR="63500" wR="63500" stAng="16200000" swAng="5400000"/>
                <a:lnTo>
                  <a:pt x="2349500" y="312341"/>
                </a:lnTo>
                <a:arcTo hR="63500" wR="63500" stAng="0" swAng="5400000"/>
                <a:lnTo>
                  <a:pt x="63500" y="375841"/>
                </a:lnTo>
                <a:arcTo hR="63500" wR="63500" stAng="5400000" swAng="5400000"/>
                <a:lnTo>
                  <a:pt x="0" y="63500"/>
                </a:lnTo>
                <a:arcTo hR="63500" wR="63500" stAng="10800000" swAng="5400000"/>
                <a:close/>
              </a:path>
            </a:pathLst>
          </a:custGeom>
          <a:solidFill>
            <a:srgbClr val="E3EDFA"/>
          </a:solidFill>
          <a:ln/>
        </p:spPr>
        <p:txBody>
          <a:bodyPr wrap="square" lIns="30163" tIns="63500" rIns="30163" bIns="38100" rtlCol="0" anchor="t">
            <a:normAutofit/>
          </a:bodyPr>
          <a:lstStyle/>
          <a:p>
            <a:pPr algn="ctr" indent="0" marL="0">
              <a:lnSpc>
                <a:spcPts val="1960"/>
              </a:lnSpc>
              <a:buNone/>
            </a:pPr>
            <a:r>
              <a:rPr lang="en-US" sz="1400" dirty="0">
                <a:solidFill>
                  <a:srgbClr val="0B2545"/>
                </a:solidFill>
                <a:latin typeface="Arial" pitchFamily="34" charset="0"/>
                <a:ea typeface="Arial" pitchFamily="34" charset="-122"/>
                <a:cs typeface="Arial" pitchFamily="34" charset="-120"/>
              </a:rPr>
              <a:t>* WBC</a:t>
            </a:r>
            <a:endParaRPr lang="en-US" sz="1400" dirty="0"/>
          </a:p>
        </p:txBody>
      </p:sp>
      <p:sp>
        <p:nvSpPr>
          <p:cNvPr id="10" name="Text 8"/>
          <p:cNvSpPr/>
          <p:nvPr/>
        </p:nvSpPr>
        <p:spPr>
          <a:xfrm>
            <a:off x="1022350" y="2768402"/>
            <a:ext cx="491845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7A6E"/>
                </a:solidFill>
                <a:latin typeface="Arial" pitchFamily="34" charset="0"/>
                <a:ea typeface="Arial" pitchFamily="34" charset="-122"/>
                <a:cs typeface="Arial" pitchFamily="34" charset="-120"/>
              </a:rPr>
              <a:t>↓ tất cả quy về một mã chuẩn: số lượng bạch cầu</a:t>
            </a:r>
            <a:endParaRPr lang="en-US" sz="1400" dirty="0"/>
          </a:p>
        </p:txBody>
      </p:sp>
      <p:sp>
        <p:nvSpPr>
          <p:cNvPr id="11" name="Text 9"/>
          <p:cNvSpPr/>
          <p:nvPr/>
        </p:nvSpPr>
        <p:spPr>
          <a:xfrm>
            <a:off x="1022350" y="3131542"/>
            <a:ext cx="491845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5E"/>
                </a:solidFill>
                <a:latin typeface="Arial" pitchFamily="34" charset="0"/>
                <a:ea typeface="Arial" pitchFamily="34" charset="-122"/>
                <a:cs typeface="Arial" pitchFamily="34" charset="-120"/>
              </a:rPr>
              <a:t>Dấu </a:t>
            </a:r>
            <a:r>
              <a:rPr lang="en-US" sz="1400" b="1" dirty="0">
                <a:solidFill>
                  <a:srgbClr val="3A4A5E"/>
                </a:solidFill>
                <a:latin typeface="Arial" pitchFamily="34" charset="0"/>
                <a:ea typeface="Arial" pitchFamily="34" charset="-122"/>
                <a:cs typeface="Arial" pitchFamily="34" charset="-120"/>
              </a:rPr>
              <a:t>%</a:t>
            </a:r>
            <a:r>
              <a:rPr lang="en-US" sz="1400" dirty="0">
                <a:solidFill>
                  <a:srgbClr val="3A4A5E"/>
                </a:solidFill>
                <a:latin typeface="Arial" pitchFamily="34" charset="0"/>
                <a:ea typeface="Arial" pitchFamily="34" charset="-122"/>
                <a:cs typeface="Arial" pitchFamily="34" charset="-120"/>
              </a:rPr>
              <a:t> và </a:t>
            </a:r>
            <a:r>
              <a:rPr lang="en-US" sz="1400" b="1" dirty="0">
                <a:solidFill>
                  <a:srgbClr val="3A4A5E"/>
                </a:solidFill>
                <a:latin typeface="Arial" pitchFamily="34" charset="0"/>
                <a:ea typeface="Arial" pitchFamily="34" charset="-122"/>
                <a:cs typeface="Arial" pitchFamily="34" charset="-120"/>
              </a:rPr>
              <a:t>#</a:t>
            </a:r>
            <a:r>
              <a:rPr lang="en-US" sz="1400" dirty="0">
                <a:solidFill>
                  <a:srgbClr val="3A4A5E"/>
                </a:solidFill>
                <a:latin typeface="Arial" pitchFamily="34" charset="0"/>
                <a:ea typeface="Arial" pitchFamily="34" charset="-122"/>
                <a:cs typeface="Arial" pitchFamily="34" charset="-120"/>
              </a:rPr>
              <a:t> phân biệt tỷ lệ phần trăm với số lượng tuyệt đối; có thể đứng trước (% Neu) hoặc sau tên (NEUT%).</a:t>
            </a:r>
            <a:endParaRPr lang="en-US" sz="1400" dirty="0"/>
          </a:p>
        </p:txBody>
      </p:sp>
      <p:sp>
        <p:nvSpPr>
          <p:cNvPr id="12" name="Shape 10"/>
          <p:cNvSpPr/>
          <p:nvPr/>
        </p:nvSpPr>
        <p:spPr>
          <a:xfrm>
            <a:off x="6188075" y="1271885"/>
            <a:ext cx="5187950" cy="2538313"/>
          </a:xfrm>
          <a:prstGeom prst="roundRect">
            <a:avLst>
              <a:gd name="adj" fmla="val 3878"/>
            </a:avLst>
          </a:prstGeom>
          <a:solidFill>
            <a:srgbClr val="FFF6EF"/>
          </a:solidFill>
          <a:ln w="6350">
            <a:solidFill>
              <a:srgbClr val="F3CBAA"/>
            </a:solidFill>
            <a:prstDash val="solid"/>
          </a:ln>
        </p:spPr>
        <p:txBody>
          <a:bodyPr/>
          <a:p/>
        </p:txBody>
      </p:sp>
      <p:sp>
        <p:nvSpPr>
          <p:cNvPr id="13" name="Text 11"/>
          <p:cNvSpPr/>
          <p:nvPr/>
        </p:nvSpPr>
        <p:spPr>
          <a:xfrm>
            <a:off x="6394450" y="1452860"/>
            <a:ext cx="491845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C2570C"/>
                </a:solidFill>
                <a:latin typeface="Arial" pitchFamily="34" charset="0"/>
                <a:ea typeface="Arial" pitchFamily="34" charset="-122"/>
                <a:cs typeface="Arial" pitchFamily="34" charset="-120"/>
              </a:rPr>
              <a:t>Đơn vị mới là vấn đề nghiêm trọng</a:t>
            </a:r>
            <a:endParaRPr lang="en-US" sz="1700" dirty="0"/>
          </a:p>
        </p:txBody>
      </p:sp>
      <p:sp>
        <p:nvSpPr>
          <p:cNvPr id="14" name="Shape 12"/>
          <p:cNvSpPr/>
          <p:nvPr/>
        </p:nvSpPr>
        <p:spPr>
          <a:xfrm>
            <a:off x="6394450" y="1826220"/>
            <a:ext cx="4775200" cy="713581"/>
          </a:xfrm>
          <a:prstGeom prst="roundRect">
            <a:avLst>
              <a:gd name="adj" fmla="val 8899"/>
            </a:avLst>
          </a:prstGeom>
          <a:solidFill>
            <a:srgbClr val="FFFFFF"/>
          </a:solidFill>
          <a:ln/>
        </p:spPr>
        <p:txBody>
          <a:bodyPr/>
          <a:p/>
        </p:txBody>
      </p:sp>
      <p:sp>
        <p:nvSpPr>
          <p:cNvPr id="15" name="Text 13"/>
          <p:cNvSpPr/>
          <p:nvPr/>
        </p:nvSpPr>
        <p:spPr>
          <a:xfrm>
            <a:off x="6521450" y="1915120"/>
            <a:ext cx="465683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2545"/>
                </a:solidFill>
                <a:latin typeface="Arial" pitchFamily="34" charset="0"/>
                <a:ea typeface="Arial" pitchFamily="34" charset="-122"/>
                <a:cs typeface="Arial" pitchFamily="34" charset="-120"/>
              </a:rPr>
              <a:t>Phiếu: Hb = 14,56 g/dL</a:t>
            </a:r>
            <a:endParaRPr lang="en-US" sz="1400" dirty="0"/>
          </a:p>
        </p:txBody>
      </p:sp>
      <p:sp>
        <p:nvSpPr>
          <p:cNvPr id="16" name="Text 14"/>
          <p:cNvSpPr/>
          <p:nvPr/>
        </p:nvSpPr>
        <p:spPr>
          <a:xfrm>
            <a:off x="6521450" y="2202061"/>
            <a:ext cx="465683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2545"/>
                </a:solidFill>
                <a:latin typeface="Arial" pitchFamily="34" charset="0"/>
                <a:ea typeface="Arial" pitchFamily="34" charset="-122"/>
                <a:cs typeface="Arial" pitchFamily="34" charset="-120"/>
              </a:rPr>
              <a:t>Khoảng: 130–175 g/L</a:t>
            </a:r>
            <a:endParaRPr lang="en-US" sz="1400" dirty="0"/>
          </a:p>
        </p:txBody>
      </p:sp>
      <p:sp>
        <p:nvSpPr>
          <p:cNvPr id="17" name="Text 15"/>
          <p:cNvSpPr/>
          <p:nvPr/>
        </p:nvSpPr>
        <p:spPr>
          <a:xfrm>
            <a:off x="6394450" y="2654102"/>
            <a:ext cx="497840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9A4A12"/>
                </a:solidFill>
                <a:latin typeface="Arial" pitchFamily="34" charset="0"/>
                <a:ea typeface="Arial" pitchFamily="34" charset="-122"/>
                <a:cs typeface="Arial" pitchFamily="34" charset="-120"/>
              </a:rPr>
              <a:t>✗ </a:t>
            </a:r>
            <a:r>
              <a:rPr lang="en-US" sz="1400" b="1" dirty="0">
                <a:solidFill>
                  <a:srgbClr val="9A4A12"/>
                </a:solidFill>
                <a:latin typeface="Arial" pitchFamily="34" charset="0"/>
                <a:ea typeface="Arial" pitchFamily="34" charset="-122"/>
                <a:cs typeface="Arial" pitchFamily="34" charset="-120"/>
              </a:rPr>
              <a:t>Không quy đổi</a:t>
            </a:r>
            <a:r>
              <a:rPr lang="en-US" sz="1400" dirty="0">
                <a:solidFill>
                  <a:srgbClr val="9A4A12"/>
                </a:solidFill>
                <a:latin typeface="Arial" pitchFamily="34" charset="0"/>
                <a:ea typeface="Arial" pitchFamily="34" charset="-122"/>
                <a:cs typeface="Arial" pitchFamily="34" charset="-120"/>
              </a:rPr>
              <a:t> → bị xếp “NÊN ĐI KHÁM” </a:t>
            </a:r>
            <a:r>
              <a:rPr lang="en-US" sz="1400" dirty="0">
                <a:solidFill>
                  <a:srgbClr val="5B6B80"/>
                </a:solidFill>
                <a:latin typeface="Arial" pitchFamily="34" charset="0"/>
                <a:ea typeface="Arial" pitchFamily="34" charset="-122"/>
                <a:cs typeface="Arial" pitchFamily="34" charset="-120"/>
              </a:rPr>
              <a:t>(báo động giả)</a:t>
            </a:r>
            <a:endParaRPr lang="en-US" sz="1400" dirty="0"/>
          </a:p>
        </p:txBody>
      </p:sp>
      <p:sp>
        <p:nvSpPr>
          <p:cNvPr id="18" name="Text 16"/>
          <p:cNvSpPr/>
          <p:nvPr/>
        </p:nvSpPr>
        <p:spPr>
          <a:xfrm>
            <a:off x="6394450" y="3008412"/>
            <a:ext cx="491845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5803D"/>
                </a:solidFill>
                <a:latin typeface="Arial" pitchFamily="34" charset="0"/>
                <a:ea typeface="Arial" pitchFamily="34" charset="-122"/>
                <a:cs typeface="Arial" pitchFamily="34" charset="-120"/>
              </a:rPr>
              <a:t>✓ </a:t>
            </a:r>
            <a:r>
              <a:rPr lang="en-US" sz="1400" b="1" dirty="0">
                <a:solidFill>
                  <a:srgbClr val="15803D"/>
                </a:solidFill>
                <a:latin typeface="Arial" pitchFamily="34" charset="0"/>
                <a:ea typeface="Arial" pitchFamily="34" charset="-122"/>
                <a:cs typeface="Arial" pitchFamily="34" charset="-120"/>
              </a:rPr>
              <a:t>Có quy đổi</a:t>
            </a:r>
            <a:r>
              <a:rPr lang="en-US" sz="1400" dirty="0">
                <a:solidFill>
                  <a:srgbClr val="15803D"/>
                </a:solidFill>
                <a:latin typeface="Arial" pitchFamily="34" charset="0"/>
                <a:ea typeface="Arial" pitchFamily="34" charset="-122"/>
                <a:cs typeface="Arial" pitchFamily="34" charset="-120"/>
              </a:rPr>
              <a:t> → 145,6 g/L → Bình thường</a:t>
            </a:r>
            <a:endParaRPr lang="en-US" sz="1400" dirty="0"/>
          </a:p>
        </p:txBody>
      </p:sp>
      <p:sp>
        <p:nvSpPr>
          <p:cNvPr id="19" name="Text 17"/>
          <p:cNvSpPr/>
          <p:nvPr/>
        </p:nvSpPr>
        <p:spPr>
          <a:xfrm>
            <a:off x="6394450" y="3362722"/>
            <a:ext cx="491845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Hb = huyết sắc tố · 1 g/dL = 10 g/L</a:t>
            </a:r>
            <a:endParaRPr lang="en-US" sz="1400" dirty="0"/>
          </a:p>
        </p:txBody>
      </p:sp>
      <p:sp>
        <p:nvSpPr>
          <p:cNvPr id="20" name="Text 18"/>
          <p:cNvSpPr/>
          <p:nvPr/>
        </p:nvSpPr>
        <p:spPr>
          <a:xfrm>
            <a:off x="812800" y="3991173"/>
            <a:ext cx="10566400" cy="502841"/>
          </a:xfrm>
          <a:prstGeom prst="roundRect">
            <a:avLst>
              <a:gd name="adj" fmla="val 20205"/>
            </a:avLst>
          </a:prstGeom>
          <a:solidFill>
            <a:srgbClr val="0B2545"/>
          </a:solidFill>
          <a:ln/>
        </p:spPr>
        <p:txBody>
          <a:bodyPr wrap="square" lIns="173442" tIns="97242" rIns="0" bIns="71842" rtlCol="0" anchor="t">
            <a:normAutofit/>
          </a:bodyPr>
          <a:lstStyle/>
          <a:p>
            <a:pPr algn="l" indent="0" marL="0">
              <a:lnSpc>
                <a:spcPts val="1960"/>
              </a:lnSpc>
              <a:buNone/>
            </a:pPr>
            <a:r>
              <a:rPr lang="en-US" sz="1400" b="1" dirty="0">
                <a:solidFill>
                  <a:srgbClr val="FFFFFF"/>
                </a:solidFill>
                <a:latin typeface="Arial" pitchFamily="34" charset="0"/>
                <a:ea typeface="Arial" pitchFamily="34" charset="-122"/>
                <a:cs typeface="Arial" pitchFamily="34" charset="-120"/>
              </a:rPr>
              <a:t>Quy tắc: đơn vị lạ hoặc thiếu → </a:t>
            </a:r>
            <a:r>
              <a:rPr lang="en-US" sz="1400" b="1" dirty="0">
                <a:solidFill>
                  <a:srgbClr val="5EEAD4"/>
                </a:solidFill>
                <a:latin typeface="Arial" pitchFamily="34" charset="0"/>
                <a:ea typeface="Arial" pitchFamily="34" charset="-122"/>
                <a:cs typeface="Arial" pitchFamily="34" charset="-120"/>
              </a:rPr>
              <a:t>TỪ CHỐI xử lý.</a:t>
            </a:r>
            <a:r>
              <a:rPr lang="en-US" sz="1400" b="1" dirty="0">
                <a:solidFill>
                  <a:srgbClr val="FFFFFF"/>
                </a:solidFill>
                <a:latin typeface="Arial" pitchFamily="34" charset="0"/>
                <a:ea typeface="Arial" pitchFamily="34" charset="-122"/>
                <a:cs typeface="Arial" pitchFamily="34" charset="-120"/>
              </a:rPr>
              <a:t> Không bao giờ đoán.</a:t>
            </a:r>
            <a:endParaRPr lang="en-US" sz="1400" dirty="0"/>
          </a:p>
        </p:txBody>
      </p:sp>
      <p:sp>
        <p:nvSpPr>
          <p:cNvPr id="21" name="Text 19"/>
          <p:cNvSpPr/>
          <p:nvPr/>
        </p:nvSpPr>
        <p:spPr>
          <a:xfrm>
            <a:off x="812800" y="4671814"/>
            <a:ext cx="108833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Bằng chứng bên ngoài: 6–19% xét nghiệm không ánh xạ chính xác được sang LOINC (bộ mã chuẩn quốc tế cho xét nghiệm); một phân tích 163 triệu kết quả ghi nhận 2.019 cách viết đơn vị khác nhau.</a:t>
            </a:r>
            <a:endParaRPr lang="en-US" sz="1400" dirty="0"/>
          </a:p>
        </p:txBody>
      </p:sp>
      <p:sp>
        <p:nvSpPr>
          <p:cNvPr id="22" name="Text 20"/>
          <p:cNvSpPr/>
          <p:nvPr/>
        </p:nvSpPr>
        <p:spPr>
          <a:xfrm>
            <a:off x="812800" y="6202759"/>
            <a:ext cx="784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HEALTHINFO IV · Trương Quang Đại, HUTECH · Bài HI26-0013</a:t>
            </a:r>
            <a:endParaRPr lang="en-US" sz="1400" dirty="0"/>
          </a:p>
        </p:txBody>
      </p:sp>
      <p:sp>
        <p:nvSpPr>
          <p:cNvPr id="23" name="Text 21"/>
          <p:cNvSpPr/>
          <p:nvPr/>
        </p:nvSpPr>
        <p:spPr>
          <a:xfrm>
            <a:off x="10058400" y="6202759"/>
            <a:ext cx="132080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B6B80"/>
                </a:solidFill>
                <a:latin typeface="Arial" pitchFamily="34" charset="0"/>
                <a:ea typeface="Arial" pitchFamily="34" charset="-122"/>
                <a:cs typeface="Arial" pitchFamily="34" charset="-120"/>
              </a:rPr>
              <a:t>8 / 19</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A"/>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0B7A6E"/>
          </a:solidFill>
          <a:ln/>
        </p:spPr>
        <p:txBody>
          <a:bodyPr/>
          <a:p/>
        </p:txBody>
      </p:sp>
      <p:sp>
        <p:nvSpPr>
          <p:cNvPr id="3" name="Text 1"/>
          <p:cNvSpPr/>
          <p:nvPr>
            <p:ph type="title"/>
          </p:nvPr>
        </p:nvSpPr>
        <p:spPr>
          <a:xfrm>
            <a:off x="812800" y="71120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B7A6E"/>
                </a:solidFill>
                <a:latin typeface="Arial" pitchFamily="34" charset="0"/>
                <a:ea typeface="Arial" pitchFamily="34" charset="-122"/>
                <a:cs typeface="Arial" pitchFamily="34" charset="-120"/>
              </a:rPr>
              <a:t>08</a:t>
            </a:r>
            <a:r>
              <a:rPr lang="en-US" sz="2600" b="1" i="0" dirty="0">
                <a:solidFill>
                  <a:srgbClr val="0B2545"/>
                </a:solidFill>
                <a:latin typeface="Arial" pitchFamily="34" charset="0"/>
                <a:ea typeface="Arial" pitchFamily="34" charset="-122"/>
                <a:cs typeface="Arial" pitchFamily="34" charset="-120"/>
              </a:rPr>
              <a:t> Tầng 2 — Gán nhãn bằng luật</a:t>
            </a:r>
            <a:endParaRPr lang="en-US" sz="2600" dirty="0"/>
          </a:p>
        </p:txBody>
      </p:sp>
      <p:sp>
        <p:nvSpPr>
          <p:cNvPr id="4" name="Text 2"/>
          <p:cNvSpPr/>
          <p:nvPr/>
        </p:nvSpPr>
        <p:spPr>
          <a:xfrm>
            <a:off x="812800" y="1268710"/>
            <a:ext cx="1088339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A5E"/>
                </a:solidFill>
                <a:latin typeface="Arial" pitchFamily="34" charset="0"/>
                <a:ea typeface="Arial" pitchFamily="34" charset="-122"/>
                <a:cs typeface="Arial" pitchFamily="34" charset="-120"/>
              </a:rPr>
              <a:t>So từng giá trị với khoảng tham chiếu, rồi gán </a:t>
            </a:r>
            <a:r>
              <a:rPr lang="en-US" sz="1400" b="1" dirty="0">
                <a:solidFill>
                  <a:srgbClr val="3A4A5E"/>
                </a:solidFill>
                <a:latin typeface="Arial" pitchFamily="34" charset="0"/>
                <a:ea typeface="Arial" pitchFamily="34" charset="-122"/>
                <a:cs typeface="Arial" pitchFamily="34" charset="-120"/>
              </a:rPr>
              <a:t>một trong ba mức</a:t>
            </a:r>
            <a:r>
              <a:rPr lang="en-US" sz="1400" dirty="0">
                <a:solidFill>
                  <a:srgbClr val="3A4A5E"/>
                </a:solidFill>
                <a:latin typeface="Arial" pitchFamily="34" charset="0"/>
                <a:ea typeface="Arial" pitchFamily="34" charset="-122"/>
                <a:cs typeface="Arial" pitchFamily="34" charset="-120"/>
              </a:rPr>
              <a:t>. Tầng này </a:t>
            </a:r>
            <a:r>
              <a:rPr lang="en-US" sz="1400" b="1" dirty="0">
                <a:solidFill>
                  <a:srgbClr val="3A4A5E"/>
                </a:solidFill>
                <a:latin typeface="Arial" pitchFamily="34" charset="0"/>
                <a:ea typeface="Arial" pitchFamily="34" charset="-122"/>
                <a:cs typeface="Arial" pitchFamily="34" charset="-120"/>
              </a:rPr>
              <a:t>hoàn toàn không dùng AI</a:t>
            </a:r>
            <a:r>
              <a:rPr lang="en-US" sz="1400" dirty="0">
                <a:solidFill>
                  <a:srgbClr val="3A4A5E"/>
                </a:solidFill>
                <a:latin typeface="Arial" pitchFamily="34" charset="0"/>
                <a:ea typeface="Arial" pitchFamily="34" charset="-122"/>
                <a:cs typeface="Arial" pitchFamily="34" charset="-120"/>
              </a:rPr>
              <a:t>.</a:t>
            </a:r>
            <a:endParaRPr lang="en-US" sz="1400" dirty="0"/>
          </a:p>
        </p:txBody>
      </p:sp>
      <p:sp>
        <p:nvSpPr>
          <p:cNvPr id="5" name="Shape 3"/>
          <p:cNvSpPr/>
          <p:nvPr/>
        </p:nvSpPr>
        <p:spPr>
          <a:xfrm>
            <a:off x="815975" y="1689695"/>
            <a:ext cx="10560050" cy="1852612"/>
          </a:xfrm>
          <a:prstGeom prst="roundRect">
            <a:avLst>
              <a:gd name="adj" fmla="val 5313"/>
            </a:avLst>
          </a:prstGeom>
          <a:solidFill>
            <a:srgbClr val="FFFFFF"/>
          </a:solidFill>
          <a:ln w="6350">
            <a:solidFill>
              <a:srgbClr val="D9E2EC"/>
            </a:solidFill>
            <a:prstDash val="solid"/>
          </a:ln>
        </p:spPr>
        <p:txBody>
          <a:bodyPr/>
          <a:p/>
        </p:txBody>
      </p:sp>
      <p:sp>
        <p:nvSpPr>
          <p:cNvPr id="6" name="Shape 4"/>
          <p:cNvSpPr/>
          <p:nvPr/>
        </p:nvSpPr>
        <p:spPr>
          <a:xfrm>
            <a:off x="1022350" y="1870670"/>
            <a:ext cx="1791990" cy="815181"/>
          </a:xfrm>
          <a:custGeom>
            <a:avLst/>
            <a:gdLst/>
            <a:ahLst/>
            <a:cxnLst/>
            <a:rect l="l" t="t" r="r" b="b"/>
            <a:pathLst>
              <a:path w="1791990" h="815181">
                <a:moveTo>
                  <a:pt x="76200" y="0"/>
                </a:moveTo>
                <a:lnTo>
                  <a:pt x="1791990" y="0"/>
                </a:lnTo>
                <a:lnTo>
                  <a:pt x="1791990" y="815181"/>
                </a:lnTo>
                <a:lnTo>
                  <a:pt x="76200" y="815181"/>
                </a:lnTo>
                <a:arcTo hR="76200" wR="76200" stAng="5400000" swAng="5400000"/>
                <a:lnTo>
                  <a:pt x="0" y="76200"/>
                </a:lnTo>
                <a:arcTo hR="76200" wR="76200" stAng="10800000" swAng="5400000"/>
                <a:close/>
              </a:path>
            </a:pathLst>
          </a:custGeom>
          <a:solidFill>
            <a:srgbClr val="FDE8D8"/>
          </a:solidFill>
          <a:ln/>
        </p:spPr>
        <p:txBody>
          <a:bodyPr/>
          <a:p/>
        </p:txBody>
      </p:sp>
      <p:sp>
        <p:nvSpPr>
          <p:cNvPr id="7" name="Text 5"/>
          <p:cNvSpPr/>
          <p:nvPr/>
        </p:nvSpPr>
        <p:spPr>
          <a:xfrm>
            <a:off x="1284039" y="2010370"/>
            <a:ext cx="1268611"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9A4A12"/>
                </a:solidFill>
                <a:latin typeface="Arial" pitchFamily="34" charset="0"/>
                <a:ea typeface="Arial" pitchFamily="34" charset="-122"/>
                <a:cs typeface="Arial" pitchFamily="34" charset="-120"/>
              </a:rPr>
              <a:t>Nên đi khám</a:t>
            </a:r>
            <a:endParaRPr lang="en-US" sz="1400" dirty="0"/>
          </a:p>
        </p:txBody>
      </p:sp>
      <p:sp>
        <p:nvSpPr>
          <p:cNvPr id="8" name="Text 6"/>
          <p:cNvSpPr/>
          <p:nvPr/>
        </p:nvSpPr>
        <p:spPr>
          <a:xfrm>
            <a:off x="1420009" y="2297311"/>
            <a:ext cx="996672"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9A4A12"/>
                </a:solidFill>
                <a:latin typeface="Arial" pitchFamily="34" charset="0"/>
                <a:ea typeface="Arial" pitchFamily="34" charset="-122"/>
                <a:cs typeface="Arial" pitchFamily="34" charset="-120"/>
              </a:rPr>
              <a:t>thấp nhiều</a:t>
            </a:r>
            <a:endParaRPr lang="en-US" sz="1400" dirty="0"/>
          </a:p>
        </p:txBody>
      </p:sp>
      <p:sp>
        <p:nvSpPr>
          <p:cNvPr id="9" name="Shape 7"/>
          <p:cNvSpPr/>
          <p:nvPr/>
        </p:nvSpPr>
        <p:spPr>
          <a:xfrm>
            <a:off x="2852440" y="1870670"/>
            <a:ext cx="1792089" cy="815181"/>
          </a:xfrm>
          <a:prstGeom prst="rect">
            <a:avLst/>
          </a:prstGeom>
          <a:solidFill>
            <a:srgbClr val="E3EDFA"/>
          </a:solidFill>
          <a:ln/>
        </p:spPr>
        <p:txBody>
          <a:bodyPr/>
          <a:p/>
        </p:txBody>
      </p:sp>
      <p:sp>
        <p:nvSpPr>
          <p:cNvPr id="10" name="Text 8"/>
          <p:cNvSpPr/>
          <p:nvPr/>
        </p:nvSpPr>
        <p:spPr>
          <a:xfrm>
            <a:off x="3304024" y="2010370"/>
            <a:ext cx="888921"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E5FB4"/>
                </a:solidFill>
                <a:latin typeface="Arial" pitchFamily="34" charset="0"/>
                <a:ea typeface="Arial" pitchFamily="34" charset="-122"/>
                <a:cs typeface="Arial" pitchFamily="34" charset="-120"/>
              </a:rPr>
              <a:t>Theo dõi</a:t>
            </a:r>
            <a:endParaRPr lang="en-US" sz="1400" dirty="0"/>
          </a:p>
        </p:txBody>
      </p:sp>
      <p:sp>
        <p:nvSpPr>
          <p:cNvPr id="11" name="Text 9"/>
          <p:cNvSpPr/>
          <p:nvPr/>
        </p:nvSpPr>
        <p:spPr>
          <a:xfrm>
            <a:off x="3451900" y="2297311"/>
            <a:ext cx="593169"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1E5FB4"/>
                </a:solidFill>
                <a:latin typeface="Arial" pitchFamily="34" charset="0"/>
                <a:ea typeface="Arial" pitchFamily="34" charset="-122"/>
                <a:cs typeface="Arial" pitchFamily="34" charset="-120"/>
              </a:rPr>
              <a:t>thấp ít</a:t>
            </a:r>
            <a:endParaRPr lang="en-US" sz="1400" dirty="0"/>
          </a:p>
        </p:txBody>
      </p:sp>
      <p:sp>
        <p:nvSpPr>
          <p:cNvPr id="12" name="Shape 10"/>
          <p:cNvSpPr/>
          <p:nvPr/>
        </p:nvSpPr>
        <p:spPr>
          <a:xfrm>
            <a:off x="4682629" y="1870670"/>
            <a:ext cx="2826643" cy="815181"/>
          </a:xfrm>
          <a:prstGeom prst="rect">
            <a:avLst/>
          </a:prstGeom>
          <a:solidFill>
            <a:srgbClr val="E5F4EA"/>
          </a:solidFill>
          <a:ln/>
        </p:spPr>
        <p:txBody>
          <a:bodyPr/>
          <a:p/>
        </p:txBody>
      </p:sp>
      <p:sp>
        <p:nvSpPr>
          <p:cNvPr id="13" name="Shape 11"/>
          <p:cNvSpPr/>
          <p:nvPr/>
        </p:nvSpPr>
        <p:spPr>
          <a:xfrm>
            <a:off x="7496572" y="1870670"/>
            <a:ext cx="0" cy="815181"/>
          </a:xfrm>
          <a:prstGeom prst="line">
            <a:avLst/>
          </a:prstGeom>
          <a:noFill/>
          <a:ln w="25400">
            <a:solidFill>
              <a:srgbClr val="0B2545"/>
            </a:solidFill>
            <a:prstDash val="solid"/>
          </a:ln>
        </p:spPr>
        <p:txBody>
          <a:bodyPr/>
          <a:p/>
        </p:txBody>
      </p:sp>
      <p:sp>
        <p:nvSpPr>
          <p:cNvPr id="14" name="Shape 12"/>
          <p:cNvSpPr/>
          <p:nvPr/>
        </p:nvSpPr>
        <p:spPr>
          <a:xfrm>
            <a:off x="4695329" y="1870670"/>
            <a:ext cx="0" cy="815181"/>
          </a:xfrm>
          <a:prstGeom prst="line">
            <a:avLst/>
          </a:prstGeom>
          <a:noFill/>
          <a:ln w="25400">
            <a:solidFill>
              <a:srgbClr val="0B2545"/>
            </a:solidFill>
            <a:prstDash val="solid"/>
          </a:ln>
        </p:spPr>
        <p:txBody>
          <a:bodyPr/>
          <a:p/>
        </p:txBody>
      </p:sp>
      <p:sp>
        <p:nvSpPr>
          <p:cNvPr id="15" name="Text 13"/>
          <p:cNvSpPr/>
          <p:nvPr/>
        </p:nvSpPr>
        <p:spPr>
          <a:xfrm>
            <a:off x="5445105" y="2010370"/>
            <a:ext cx="1301591"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5803D"/>
                </a:solidFill>
                <a:latin typeface="Arial" pitchFamily="34" charset="0"/>
                <a:ea typeface="Arial" pitchFamily="34" charset="-122"/>
                <a:cs typeface="Arial" pitchFamily="34" charset="-120"/>
              </a:rPr>
              <a:t>Bình thường</a:t>
            </a:r>
            <a:endParaRPr lang="en-US" sz="1400" dirty="0"/>
          </a:p>
        </p:txBody>
      </p:sp>
      <p:sp>
        <p:nvSpPr>
          <p:cNvPr id="16" name="Text 14"/>
          <p:cNvSpPr/>
          <p:nvPr/>
        </p:nvSpPr>
        <p:spPr>
          <a:xfrm>
            <a:off x="4921587" y="2297311"/>
            <a:ext cx="2348627"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15803D"/>
                </a:solidFill>
                <a:latin typeface="Arial" pitchFamily="34" charset="0"/>
                <a:ea typeface="Arial" pitchFamily="34" charset="-122"/>
                <a:cs typeface="Arial" pitchFamily="34" charset="-120"/>
              </a:rPr>
              <a:t>trong khoảng tham chiếu</a:t>
            </a:r>
            <a:endParaRPr lang="en-US" sz="1400" dirty="0"/>
          </a:p>
        </p:txBody>
      </p:sp>
      <p:sp>
        <p:nvSpPr>
          <p:cNvPr id="17" name="Shape 15"/>
          <p:cNvSpPr/>
          <p:nvPr/>
        </p:nvSpPr>
        <p:spPr>
          <a:xfrm>
            <a:off x="7547372" y="1870670"/>
            <a:ext cx="1792089" cy="815181"/>
          </a:xfrm>
          <a:prstGeom prst="rect">
            <a:avLst/>
          </a:prstGeom>
          <a:solidFill>
            <a:srgbClr val="E3EDFA"/>
          </a:solidFill>
          <a:ln/>
        </p:spPr>
        <p:txBody>
          <a:bodyPr/>
          <a:p/>
        </p:txBody>
      </p:sp>
      <p:sp>
        <p:nvSpPr>
          <p:cNvPr id="18" name="Text 16"/>
          <p:cNvSpPr/>
          <p:nvPr/>
        </p:nvSpPr>
        <p:spPr>
          <a:xfrm>
            <a:off x="7998956" y="2010370"/>
            <a:ext cx="888921"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E5FB4"/>
                </a:solidFill>
                <a:latin typeface="Arial" pitchFamily="34" charset="0"/>
                <a:ea typeface="Arial" pitchFamily="34" charset="-122"/>
                <a:cs typeface="Arial" pitchFamily="34" charset="-120"/>
              </a:rPr>
              <a:t>Theo dõi</a:t>
            </a:r>
            <a:endParaRPr lang="en-US" sz="1400" dirty="0"/>
          </a:p>
        </p:txBody>
      </p:sp>
      <p:sp>
        <p:nvSpPr>
          <p:cNvPr id="19" name="Text 17"/>
          <p:cNvSpPr/>
          <p:nvPr/>
        </p:nvSpPr>
        <p:spPr>
          <a:xfrm>
            <a:off x="8182441" y="2297311"/>
            <a:ext cx="521851"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1E5FB4"/>
                </a:solidFill>
                <a:latin typeface="Arial" pitchFamily="34" charset="0"/>
                <a:ea typeface="Arial" pitchFamily="34" charset="-122"/>
                <a:cs typeface="Arial" pitchFamily="34" charset="-120"/>
              </a:rPr>
              <a:t>cao ít</a:t>
            </a:r>
            <a:endParaRPr lang="en-US" sz="1400" dirty="0"/>
          </a:p>
        </p:txBody>
      </p:sp>
      <p:sp>
        <p:nvSpPr>
          <p:cNvPr id="20" name="Shape 18"/>
          <p:cNvSpPr/>
          <p:nvPr/>
        </p:nvSpPr>
        <p:spPr>
          <a:xfrm>
            <a:off x="9377561" y="1870670"/>
            <a:ext cx="1792089" cy="815181"/>
          </a:xfrm>
          <a:custGeom>
            <a:avLst/>
            <a:gdLst/>
            <a:ahLst/>
            <a:cxnLst/>
            <a:rect l="l" t="t" r="r" b="b"/>
            <a:pathLst>
              <a:path w="1792089" h="815181">
                <a:moveTo>
                  <a:pt x="0" y="0"/>
                </a:moveTo>
                <a:lnTo>
                  <a:pt x="1715889" y="0"/>
                </a:lnTo>
                <a:arcTo hR="76200" wR="76200" stAng="16200000" swAng="5400000"/>
                <a:lnTo>
                  <a:pt x="1792089" y="738981"/>
                </a:lnTo>
                <a:arcTo hR="76200" wR="76200" stAng="0" swAng="5400000"/>
                <a:lnTo>
                  <a:pt x="0" y="815181"/>
                </a:lnTo>
                <a:lnTo>
                  <a:pt x="0" y="0"/>
                </a:lnTo>
                <a:close/>
              </a:path>
            </a:pathLst>
          </a:custGeom>
          <a:solidFill>
            <a:srgbClr val="FDE8D8"/>
          </a:solidFill>
          <a:ln/>
        </p:spPr>
        <p:txBody>
          <a:bodyPr/>
          <a:p/>
        </p:txBody>
      </p:sp>
      <p:sp>
        <p:nvSpPr>
          <p:cNvPr id="21" name="Text 19"/>
          <p:cNvSpPr/>
          <p:nvPr/>
        </p:nvSpPr>
        <p:spPr>
          <a:xfrm>
            <a:off x="9639250" y="2010370"/>
            <a:ext cx="1268611"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9A4A12"/>
                </a:solidFill>
                <a:latin typeface="Arial" pitchFamily="34" charset="0"/>
                <a:ea typeface="Arial" pitchFamily="34" charset="-122"/>
                <a:cs typeface="Arial" pitchFamily="34" charset="-120"/>
              </a:rPr>
              <a:t>Nên đi khám</a:t>
            </a:r>
            <a:endParaRPr lang="en-US" sz="1400" dirty="0"/>
          </a:p>
        </p:txBody>
      </p:sp>
      <p:sp>
        <p:nvSpPr>
          <p:cNvPr id="22" name="Text 20"/>
          <p:cNvSpPr/>
          <p:nvPr/>
        </p:nvSpPr>
        <p:spPr>
          <a:xfrm>
            <a:off x="9810929" y="2297311"/>
            <a:ext cx="925354"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9A4A12"/>
                </a:solidFill>
                <a:latin typeface="Arial" pitchFamily="34" charset="0"/>
                <a:ea typeface="Arial" pitchFamily="34" charset="-122"/>
                <a:cs typeface="Arial" pitchFamily="34" charset="-120"/>
              </a:rPr>
              <a:t>cao nhiều</a:t>
            </a:r>
            <a:endParaRPr lang="en-US" sz="1400" dirty="0"/>
          </a:p>
        </p:txBody>
      </p:sp>
      <p:sp>
        <p:nvSpPr>
          <p:cNvPr id="23" name="Text 21"/>
          <p:cNvSpPr/>
          <p:nvPr/>
        </p:nvSpPr>
        <p:spPr>
          <a:xfrm>
            <a:off x="4657328" y="2774752"/>
            <a:ext cx="147736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2545"/>
                </a:solidFill>
                <a:latin typeface="Arial" pitchFamily="34" charset="0"/>
                <a:ea typeface="Arial" pitchFamily="34" charset="-122"/>
                <a:cs typeface="Arial" pitchFamily="34" charset="-120"/>
              </a:rPr>
              <a:t>▲ giới hạn dưới</a:t>
            </a:r>
            <a:endParaRPr lang="en-US" sz="1400" dirty="0"/>
          </a:p>
        </p:txBody>
      </p:sp>
      <p:sp>
        <p:nvSpPr>
          <p:cNvPr id="24" name="Text 22"/>
          <p:cNvSpPr/>
          <p:nvPr/>
        </p:nvSpPr>
        <p:spPr>
          <a:xfrm>
            <a:off x="6134695" y="2774752"/>
            <a:ext cx="1400076"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0B2545"/>
                </a:solidFill>
                <a:latin typeface="Arial" pitchFamily="34" charset="0"/>
                <a:ea typeface="Arial" pitchFamily="34" charset="-122"/>
                <a:cs typeface="Arial" pitchFamily="34" charset="-120"/>
              </a:rPr>
              <a:t>giới hạn trên ▲</a:t>
            </a:r>
            <a:endParaRPr lang="en-US" sz="1400" dirty="0"/>
          </a:p>
        </p:txBody>
      </p:sp>
      <p:sp>
        <p:nvSpPr>
          <p:cNvPr id="25" name="Text 23"/>
          <p:cNvSpPr/>
          <p:nvPr/>
        </p:nvSpPr>
        <p:spPr>
          <a:xfrm>
            <a:off x="1022350" y="3112492"/>
            <a:ext cx="1045171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5E"/>
                </a:solidFill>
                <a:latin typeface="Arial" pitchFamily="34" charset="0"/>
                <a:ea typeface="Arial" pitchFamily="34" charset="-122"/>
                <a:cs typeface="Arial" pitchFamily="34" charset="-120"/>
              </a:rPr>
              <a:t>Ví dụ: Hb = 145,6 g/L, khoảng 130–175 g/L → </a:t>
            </a:r>
            <a:r>
              <a:rPr lang="en-US" sz="1400" b="1" dirty="0">
                <a:solidFill>
                  <a:srgbClr val="15803D"/>
                </a:solidFill>
                <a:latin typeface="Arial" pitchFamily="34" charset="0"/>
                <a:ea typeface="Arial" pitchFamily="34" charset="-122"/>
                <a:cs typeface="Arial" pitchFamily="34" charset="-120"/>
              </a:rPr>
              <a:t>Bình thường</a:t>
            </a:r>
            <a:endParaRPr lang="en-US" sz="1400" dirty="0"/>
          </a:p>
        </p:txBody>
      </p:sp>
      <p:sp>
        <p:nvSpPr>
          <p:cNvPr id="26" name="Shape 24"/>
          <p:cNvSpPr/>
          <p:nvPr/>
        </p:nvSpPr>
        <p:spPr>
          <a:xfrm>
            <a:off x="815975" y="3726458"/>
            <a:ext cx="3414117" cy="1060351"/>
          </a:xfrm>
          <a:prstGeom prst="roundRect">
            <a:avLst>
              <a:gd name="adj" fmla="val 9282"/>
            </a:avLst>
          </a:prstGeom>
          <a:solidFill>
            <a:srgbClr val="FFFFFF"/>
          </a:solidFill>
          <a:ln w="6350">
            <a:solidFill>
              <a:srgbClr val="D9E2EC"/>
            </a:solidFill>
            <a:prstDash val="solid"/>
          </a:ln>
        </p:spPr>
        <p:txBody>
          <a:bodyPr/>
          <a:p/>
        </p:txBody>
      </p:sp>
      <p:sp>
        <p:nvSpPr>
          <p:cNvPr id="27" name="Text 25"/>
          <p:cNvSpPr/>
          <p:nvPr/>
        </p:nvSpPr>
        <p:spPr>
          <a:xfrm>
            <a:off x="996950" y="3869333"/>
            <a:ext cx="314373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Arial" pitchFamily="34" charset="0"/>
                <a:ea typeface="Arial" pitchFamily="34" charset="-122"/>
                <a:cs typeface="Arial" pitchFamily="34" charset="-120"/>
              </a:rPr>
              <a:t>Nhãn cả phiếu</a:t>
            </a:r>
            <a:endParaRPr lang="en-US" sz="1600" dirty="0"/>
          </a:p>
        </p:txBody>
      </p:sp>
      <p:sp>
        <p:nvSpPr>
          <p:cNvPr id="28" name="Text 26"/>
          <p:cNvSpPr/>
          <p:nvPr/>
        </p:nvSpPr>
        <p:spPr>
          <a:xfrm>
            <a:off x="996950" y="4163913"/>
            <a:ext cx="314373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A5E"/>
                </a:solidFill>
                <a:latin typeface="Arial" pitchFamily="34" charset="0"/>
                <a:ea typeface="Arial" pitchFamily="34" charset="-122"/>
                <a:cs typeface="Arial" pitchFamily="34" charset="-120"/>
              </a:rPr>
              <a:t>= nhãn của chỉ số </a:t>
            </a:r>
            <a:r>
              <a:rPr lang="en-US" sz="1400" b="1" dirty="0">
                <a:solidFill>
                  <a:srgbClr val="3A4A5E"/>
                </a:solidFill>
                <a:latin typeface="Arial" pitchFamily="34" charset="0"/>
                <a:ea typeface="Arial" pitchFamily="34" charset="-122"/>
                <a:cs typeface="Arial" pitchFamily="34" charset="-120"/>
              </a:rPr>
              <a:t>nặng nhất</a:t>
            </a:r>
            <a:r>
              <a:rPr lang="en-US" sz="1400" dirty="0">
                <a:solidFill>
                  <a:srgbClr val="3A4A5E"/>
                </a:solidFill>
                <a:latin typeface="Arial" pitchFamily="34" charset="0"/>
                <a:ea typeface="Arial" pitchFamily="34" charset="-122"/>
                <a:cs typeface="Arial" pitchFamily="34" charset="-120"/>
              </a:rPr>
              <a:t> trong phiếu.</a:t>
            </a:r>
            <a:endParaRPr lang="en-US" sz="1400" dirty="0"/>
          </a:p>
        </p:txBody>
      </p:sp>
      <p:sp>
        <p:nvSpPr>
          <p:cNvPr id="29" name="Shape 27"/>
          <p:cNvSpPr/>
          <p:nvPr/>
        </p:nvSpPr>
        <p:spPr>
          <a:xfrm>
            <a:off x="4388842" y="3726458"/>
            <a:ext cx="3414216" cy="1060351"/>
          </a:xfrm>
          <a:prstGeom prst="roundRect">
            <a:avLst>
              <a:gd name="adj" fmla="val 9282"/>
            </a:avLst>
          </a:prstGeom>
          <a:solidFill>
            <a:srgbClr val="FFFFFF"/>
          </a:solidFill>
          <a:ln w="6350">
            <a:solidFill>
              <a:srgbClr val="D9E2EC"/>
            </a:solidFill>
            <a:prstDash val="solid"/>
          </a:ln>
        </p:spPr>
        <p:txBody>
          <a:bodyPr/>
          <a:p/>
        </p:txBody>
      </p:sp>
      <p:sp>
        <p:nvSpPr>
          <p:cNvPr id="30" name="Text 28"/>
          <p:cNvSpPr/>
          <p:nvPr/>
        </p:nvSpPr>
        <p:spPr>
          <a:xfrm>
            <a:off x="4569817" y="3869333"/>
            <a:ext cx="314383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7A6E"/>
                </a:solidFill>
                <a:latin typeface="Arial" pitchFamily="34" charset="0"/>
                <a:ea typeface="Arial" pitchFamily="34" charset="-122"/>
                <a:cs typeface="Arial" pitchFamily="34" charset="-120"/>
              </a:rPr>
              <a:t>Chính xác theo thiết kế</a:t>
            </a:r>
            <a:endParaRPr lang="en-US" sz="1600" dirty="0"/>
          </a:p>
        </p:txBody>
      </p:sp>
      <p:sp>
        <p:nvSpPr>
          <p:cNvPr id="31" name="Text 29"/>
          <p:cNvSpPr/>
          <p:nvPr/>
        </p:nvSpPr>
        <p:spPr>
          <a:xfrm>
            <a:off x="4569817" y="4163913"/>
            <a:ext cx="314383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A5E"/>
                </a:solidFill>
                <a:latin typeface="Arial" pitchFamily="34" charset="0"/>
                <a:ea typeface="Arial" pitchFamily="34" charset="-122"/>
                <a:cs typeface="Arial" pitchFamily="34" charset="-120"/>
              </a:rPr>
              <a:t>Luật quyết định; mô hình ở tầng 3 </a:t>
            </a:r>
            <a:r>
              <a:rPr lang="en-US" sz="1400" b="1" dirty="0">
                <a:solidFill>
                  <a:srgbClr val="3A4A5E"/>
                </a:solidFill>
                <a:latin typeface="Arial" pitchFamily="34" charset="0"/>
                <a:ea typeface="Arial" pitchFamily="34" charset="-122"/>
                <a:cs typeface="Arial" pitchFamily="34" charset="-120"/>
              </a:rPr>
              <a:t>không thể đổi nhãn</a:t>
            </a:r>
            <a:r>
              <a:rPr lang="en-US" sz="1400" dirty="0">
                <a:solidFill>
                  <a:srgbClr val="3A4A5E"/>
                </a:solidFill>
                <a:latin typeface="Arial" pitchFamily="34" charset="0"/>
                <a:ea typeface="Arial" pitchFamily="34" charset="-122"/>
                <a:cs typeface="Arial" pitchFamily="34" charset="-120"/>
              </a:rPr>
              <a:t>.</a:t>
            </a:r>
            <a:endParaRPr lang="en-US" sz="1400" dirty="0"/>
          </a:p>
        </p:txBody>
      </p:sp>
      <p:sp>
        <p:nvSpPr>
          <p:cNvPr id="32" name="Shape 30"/>
          <p:cNvSpPr/>
          <p:nvPr/>
        </p:nvSpPr>
        <p:spPr>
          <a:xfrm>
            <a:off x="7961809" y="3726458"/>
            <a:ext cx="3414216" cy="1060351"/>
          </a:xfrm>
          <a:prstGeom prst="roundRect">
            <a:avLst>
              <a:gd name="adj" fmla="val 9282"/>
            </a:avLst>
          </a:prstGeom>
          <a:solidFill>
            <a:srgbClr val="FFFFFF"/>
          </a:solidFill>
          <a:ln w="6350">
            <a:solidFill>
              <a:srgbClr val="D9E2EC"/>
            </a:solidFill>
            <a:prstDash val="solid"/>
          </a:ln>
        </p:spPr>
        <p:txBody>
          <a:bodyPr/>
          <a:p/>
        </p:txBody>
      </p:sp>
      <p:sp>
        <p:nvSpPr>
          <p:cNvPr id="33" name="Text 31"/>
          <p:cNvSpPr/>
          <p:nvPr/>
        </p:nvSpPr>
        <p:spPr>
          <a:xfrm>
            <a:off x="8142784" y="3869333"/>
            <a:ext cx="314383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8A5A12"/>
                </a:solidFill>
                <a:latin typeface="Arial" pitchFamily="34" charset="0"/>
                <a:ea typeface="Arial" pitchFamily="34" charset="-122"/>
                <a:cs typeface="Arial" pitchFamily="34" charset="-120"/>
              </a:rPr>
              <a:t>Lưu ý</a:t>
            </a:r>
            <a:endParaRPr lang="en-US" sz="1600" dirty="0"/>
          </a:p>
        </p:txBody>
      </p:sp>
      <p:sp>
        <p:nvSpPr>
          <p:cNvPr id="34" name="Text 32"/>
          <p:cNvSpPr/>
          <p:nvPr/>
        </p:nvSpPr>
        <p:spPr>
          <a:xfrm>
            <a:off x="8142784" y="4163913"/>
            <a:ext cx="314383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A5E"/>
                </a:solidFill>
                <a:latin typeface="Arial" pitchFamily="34" charset="0"/>
                <a:ea typeface="Arial" pitchFamily="34" charset="-122"/>
                <a:cs typeface="Arial" pitchFamily="34" charset="-120"/>
              </a:rPr>
              <a:t>Ngưỡng “ít / nhiều” đặt theo kinh nghiệm (xem phần Hạn chế).</a:t>
            </a:r>
            <a:endParaRPr lang="en-US" sz="1400" dirty="0"/>
          </a:p>
        </p:txBody>
      </p:sp>
      <p:sp>
        <p:nvSpPr>
          <p:cNvPr id="35" name="Text 33"/>
          <p:cNvSpPr/>
          <p:nvPr/>
        </p:nvSpPr>
        <p:spPr>
          <a:xfrm>
            <a:off x="812800" y="6202759"/>
            <a:ext cx="784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HEALTHINFO IV · Trương Quang Đại, HUTECH · Bài HI26-0013</a:t>
            </a:r>
            <a:endParaRPr lang="en-US" sz="1400" dirty="0"/>
          </a:p>
        </p:txBody>
      </p:sp>
      <p:sp>
        <p:nvSpPr>
          <p:cNvPr id="36" name="Text 34"/>
          <p:cNvSpPr/>
          <p:nvPr/>
        </p:nvSpPr>
        <p:spPr>
          <a:xfrm>
            <a:off x="10058400" y="6202759"/>
            <a:ext cx="132080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B6B80"/>
                </a:solidFill>
                <a:latin typeface="Arial" pitchFamily="34" charset="0"/>
                <a:ea typeface="Arial" pitchFamily="34" charset="-122"/>
                <a:cs typeface="Arial" pitchFamily="34" charset="-120"/>
              </a:rPr>
              <a:t>9 / 19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A"/>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0B7A6E"/>
          </a:solidFill>
          <a:ln/>
        </p:spPr>
        <p:txBody>
          <a:bodyPr/>
          <a:p/>
        </p:txBody>
      </p:sp>
      <p:sp>
        <p:nvSpPr>
          <p:cNvPr id="3" name="Text 1"/>
          <p:cNvSpPr/>
          <p:nvPr>
            <p:ph type="title"/>
          </p:nvPr>
        </p:nvSpPr>
        <p:spPr>
          <a:xfrm>
            <a:off x="812800" y="71120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B7A6E"/>
                </a:solidFill>
                <a:latin typeface="Arial" pitchFamily="34" charset="0"/>
                <a:ea typeface="Arial" pitchFamily="34" charset="-122"/>
                <a:cs typeface="Arial" pitchFamily="34" charset="-120"/>
              </a:rPr>
              <a:t>09</a:t>
            </a:r>
            <a:r>
              <a:rPr lang="en-US" sz="2600" b="1" i="0" dirty="0">
                <a:solidFill>
                  <a:srgbClr val="0B2545"/>
                </a:solidFill>
                <a:latin typeface="Arial" pitchFamily="34" charset="0"/>
                <a:ea typeface="Arial" pitchFamily="34" charset="-122"/>
                <a:cs typeface="Arial" pitchFamily="34" charset="-120"/>
              </a:rPr>
              <a:t> Tầng 3 và 4 — Sinh văn bản có ràng buộc và kiểm chứng</a:t>
            </a:r>
            <a:endParaRPr lang="en-US" sz="2600" dirty="0"/>
          </a:p>
        </p:txBody>
      </p:sp>
      <p:sp>
        <p:nvSpPr>
          <p:cNvPr id="4" name="Shape 2"/>
          <p:cNvSpPr/>
          <p:nvPr/>
        </p:nvSpPr>
        <p:spPr>
          <a:xfrm>
            <a:off x="815975" y="1271885"/>
            <a:ext cx="4612184" cy="3029843"/>
          </a:xfrm>
          <a:prstGeom prst="roundRect">
            <a:avLst>
              <a:gd name="adj" fmla="val 3249"/>
            </a:avLst>
          </a:prstGeom>
          <a:solidFill>
            <a:srgbClr val="FFFFFF"/>
          </a:solidFill>
          <a:ln w="6350">
            <a:solidFill>
              <a:srgbClr val="D9E2EC"/>
            </a:solidFill>
            <a:prstDash val="solid"/>
          </a:ln>
        </p:spPr>
        <p:txBody>
          <a:bodyPr/>
          <a:p/>
        </p:txBody>
      </p:sp>
      <p:sp>
        <p:nvSpPr>
          <p:cNvPr id="5" name="Text 3"/>
          <p:cNvSpPr/>
          <p:nvPr/>
        </p:nvSpPr>
        <p:spPr>
          <a:xfrm>
            <a:off x="819150" y="1275060"/>
            <a:ext cx="4605834" cy="416520"/>
          </a:xfrm>
          <a:custGeom>
            <a:avLst/>
            <a:gdLst/>
            <a:ahLst/>
            <a:cxnLst/>
            <a:rect l="l" t="t" r="r" b="b"/>
            <a:pathLst>
              <a:path w="4605834" h="416520">
                <a:moveTo>
                  <a:pt x="0" y="95250"/>
                </a:moveTo>
                <a:arcTo hR="95250" wR="95250" stAng="10800000" swAng="5400000"/>
                <a:lnTo>
                  <a:pt x="4510584" y="0"/>
                </a:lnTo>
                <a:arcTo hR="95250" wR="95250" stAng="16200000" swAng="5400000"/>
                <a:lnTo>
                  <a:pt x="4605834" y="416520"/>
                </a:lnTo>
                <a:lnTo>
                  <a:pt x="0" y="416520"/>
                </a:lnTo>
                <a:close/>
              </a:path>
            </a:pathLst>
          </a:custGeom>
          <a:solidFill>
            <a:srgbClr val="C2570C"/>
          </a:solidFill>
          <a:ln/>
        </p:spPr>
        <p:txBody>
          <a:bodyPr wrap="square" lIns="177800" tIns="101600" rIns="50293" bIns="76200" rtlCol="0" anchor="t">
            <a:normAutofit/>
          </a:bodyPr>
          <a:lstStyle/>
          <a:p>
            <a:pPr algn="l" indent="0" marL="0">
              <a:lnSpc>
                <a:spcPts val="1680"/>
              </a:lnSpc>
              <a:buNone/>
            </a:pPr>
            <a:r>
              <a:rPr lang="en-US" sz="1400" b="1" dirty="0">
                <a:solidFill>
                  <a:srgbClr val="FFFFFF"/>
                </a:solidFill>
                <a:latin typeface="Arial" pitchFamily="34" charset="0"/>
                <a:ea typeface="Arial" pitchFamily="34" charset="-122"/>
                <a:cs typeface="Arial" pitchFamily="34" charset="-120"/>
              </a:rPr>
              <a:t>Tầng 3 · Ba ràng buộc</a:t>
            </a:r>
            <a:endParaRPr lang="en-US" sz="1400" dirty="0"/>
          </a:p>
        </p:txBody>
      </p:sp>
      <p:sp>
        <p:nvSpPr>
          <p:cNvPr id="6" name="Text 4"/>
          <p:cNvSpPr/>
          <p:nvPr/>
        </p:nvSpPr>
        <p:spPr>
          <a:xfrm>
            <a:off x="996950" y="1843980"/>
            <a:ext cx="437774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4A12"/>
                </a:solidFill>
                <a:latin typeface="Arial" pitchFamily="34" charset="0"/>
                <a:ea typeface="Arial" pitchFamily="34" charset="-122"/>
                <a:cs typeface="Arial" pitchFamily="34" charset="-120"/>
              </a:rPr>
              <a:t>① Đầu vào</a:t>
            </a:r>
            <a:endParaRPr lang="en-US" sz="1400" dirty="0"/>
          </a:p>
        </p:txBody>
      </p:sp>
      <p:sp>
        <p:nvSpPr>
          <p:cNvPr id="7" name="Text 5"/>
          <p:cNvSpPr/>
          <p:nvPr/>
        </p:nvSpPr>
        <p:spPr>
          <a:xfrm>
            <a:off x="996950" y="2118221"/>
            <a:ext cx="437774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33A"/>
                </a:solidFill>
                <a:latin typeface="Arial" pitchFamily="34" charset="0"/>
                <a:ea typeface="Arial" pitchFamily="34" charset="-122"/>
                <a:cs typeface="Arial" pitchFamily="34" charset="-120"/>
              </a:rPr>
              <a:t>Mô hình </a:t>
            </a:r>
            <a:r>
              <a:rPr lang="en-US" sz="1400" b="1" dirty="0">
                <a:solidFill>
                  <a:srgbClr val="13233A"/>
                </a:solidFill>
                <a:latin typeface="Arial" pitchFamily="34" charset="0"/>
                <a:ea typeface="Arial" pitchFamily="34" charset="-122"/>
                <a:cs typeface="Arial" pitchFamily="34" charset="-120"/>
              </a:rPr>
              <a:t>được cho sẵn</a:t>
            </a:r>
            <a:r>
              <a:rPr lang="en-US" sz="1400" dirty="0">
                <a:solidFill>
                  <a:srgbClr val="13233A"/>
                </a:solidFill>
                <a:latin typeface="Arial" pitchFamily="34" charset="0"/>
                <a:ea typeface="Arial" pitchFamily="34" charset="-122"/>
                <a:cs typeface="Arial" pitchFamily="34" charset="-120"/>
              </a:rPr>
              <a:t> nhãn, không bao giờ phải tự suy ra</a:t>
            </a:r>
            <a:endParaRPr lang="en-US" sz="1400" dirty="0"/>
          </a:p>
        </p:txBody>
      </p:sp>
      <p:sp>
        <p:nvSpPr>
          <p:cNvPr id="8" name="Text 6"/>
          <p:cNvSpPr/>
          <p:nvPr/>
        </p:nvSpPr>
        <p:spPr>
          <a:xfrm>
            <a:off x="996950" y="2737941"/>
            <a:ext cx="437774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4A12"/>
                </a:solidFill>
                <a:latin typeface="Arial" pitchFamily="34" charset="0"/>
                <a:ea typeface="Arial" pitchFamily="34" charset="-122"/>
                <a:cs typeface="Arial" pitchFamily="34" charset="-120"/>
              </a:rPr>
              <a:t>② Nội dung</a:t>
            </a:r>
            <a:endParaRPr lang="en-US" sz="1400" dirty="0"/>
          </a:p>
        </p:txBody>
      </p:sp>
      <p:sp>
        <p:nvSpPr>
          <p:cNvPr id="9" name="Text 7"/>
          <p:cNvSpPr/>
          <p:nvPr/>
        </p:nvSpPr>
        <p:spPr>
          <a:xfrm>
            <a:off x="996950" y="3012182"/>
            <a:ext cx="4377741"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33A"/>
                </a:solidFill>
                <a:latin typeface="Arial" pitchFamily="34" charset="0"/>
                <a:ea typeface="Arial" pitchFamily="34" charset="-122"/>
                <a:cs typeface="Arial" pitchFamily="34" charset="-120"/>
              </a:rPr>
              <a:t>Không tên bệnh, nguyên nhân, thuốc hay liều lượng</a:t>
            </a:r>
            <a:endParaRPr lang="en-US" sz="1400" dirty="0"/>
          </a:p>
        </p:txBody>
      </p:sp>
      <p:sp>
        <p:nvSpPr>
          <p:cNvPr id="10" name="Text 8"/>
          <p:cNvSpPr/>
          <p:nvPr/>
        </p:nvSpPr>
        <p:spPr>
          <a:xfrm>
            <a:off x="996950" y="3391892"/>
            <a:ext cx="437774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4A12"/>
                </a:solidFill>
                <a:latin typeface="Arial" pitchFamily="34" charset="0"/>
                <a:ea typeface="Arial" pitchFamily="34" charset="-122"/>
                <a:cs typeface="Arial" pitchFamily="34" charset="-120"/>
              </a:rPr>
              <a:t>③ Đầu ra</a:t>
            </a:r>
            <a:endParaRPr lang="en-US" sz="1400" dirty="0"/>
          </a:p>
        </p:txBody>
      </p:sp>
      <p:sp>
        <p:nvSpPr>
          <p:cNvPr id="11" name="Text 9"/>
          <p:cNvSpPr/>
          <p:nvPr/>
        </p:nvSpPr>
        <p:spPr>
          <a:xfrm>
            <a:off x="996950" y="3666133"/>
            <a:ext cx="437774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33A"/>
                </a:solidFill>
                <a:latin typeface="Arial" pitchFamily="34" charset="0"/>
                <a:ea typeface="Arial" pitchFamily="34" charset="-122"/>
                <a:cs typeface="Arial" pitchFamily="34" charset="-120"/>
              </a:rPr>
              <a:t>Bắt buộc theo khuôn JSON cố định (máy kiểm tra được)</a:t>
            </a:r>
            <a:endParaRPr lang="en-US" sz="1400" dirty="0"/>
          </a:p>
        </p:txBody>
      </p:sp>
      <p:sp>
        <p:nvSpPr>
          <p:cNvPr id="12" name="Shape 10"/>
          <p:cNvSpPr/>
          <p:nvPr/>
        </p:nvSpPr>
        <p:spPr>
          <a:xfrm>
            <a:off x="5612309" y="1271885"/>
            <a:ext cx="5763716" cy="3029843"/>
          </a:xfrm>
          <a:prstGeom prst="roundRect">
            <a:avLst>
              <a:gd name="adj" fmla="val 3249"/>
            </a:avLst>
          </a:prstGeom>
          <a:solidFill>
            <a:srgbClr val="FFFFFF"/>
          </a:solidFill>
          <a:ln w="6350">
            <a:solidFill>
              <a:srgbClr val="D9E2EC"/>
            </a:solidFill>
            <a:prstDash val="solid"/>
          </a:ln>
        </p:spPr>
        <p:txBody>
          <a:bodyPr/>
          <a:p/>
        </p:txBody>
      </p:sp>
      <p:sp>
        <p:nvSpPr>
          <p:cNvPr id="13" name="Text 11"/>
          <p:cNvSpPr/>
          <p:nvPr/>
        </p:nvSpPr>
        <p:spPr>
          <a:xfrm>
            <a:off x="5615484" y="1275060"/>
            <a:ext cx="5757366" cy="416520"/>
          </a:xfrm>
          <a:custGeom>
            <a:avLst/>
            <a:gdLst/>
            <a:ahLst/>
            <a:cxnLst/>
            <a:rect l="l" t="t" r="r" b="b"/>
            <a:pathLst>
              <a:path w="5757366" h="416520">
                <a:moveTo>
                  <a:pt x="0" y="95250"/>
                </a:moveTo>
                <a:arcTo hR="95250" wR="95250" stAng="10800000" swAng="5400000"/>
                <a:lnTo>
                  <a:pt x="5662116" y="0"/>
                </a:lnTo>
                <a:arcTo hR="95250" wR="95250" stAng="16200000" swAng="5400000"/>
                <a:lnTo>
                  <a:pt x="5757366" y="416520"/>
                </a:lnTo>
                <a:lnTo>
                  <a:pt x="0" y="416520"/>
                </a:lnTo>
                <a:close/>
              </a:path>
            </a:pathLst>
          </a:custGeom>
          <a:solidFill>
            <a:srgbClr val="1E5FB4"/>
          </a:solidFill>
          <a:ln/>
        </p:spPr>
        <p:txBody>
          <a:bodyPr wrap="square" lIns="177800" tIns="101600" rIns="15747" bIns="76200" rtlCol="0" anchor="t">
            <a:normAutofit/>
          </a:bodyPr>
          <a:lstStyle/>
          <a:p>
            <a:pPr algn="l" indent="0" marL="0">
              <a:lnSpc>
                <a:spcPts val="1680"/>
              </a:lnSpc>
              <a:buNone/>
            </a:pPr>
            <a:r>
              <a:rPr lang="en-US" sz="1400" b="1" dirty="0">
                <a:solidFill>
                  <a:srgbClr val="FFFFFF"/>
                </a:solidFill>
                <a:latin typeface="Arial" pitchFamily="34" charset="0"/>
                <a:ea typeface="Arial" pitchFamily="34" charset="-122"/>
                <a:cs typeface="Arial" pitchFamily="34" charset="-120"/>
              </a:rPr>
              <a:t>Tầng 4 · Kiểm tra sáu loại lỗi</a:t>
            </a:r>
            <a:endParaRPr lang="en-US" sz="1400" dirty="0"/>
          </a:p>
        </p:txBody>
      </p:sp>
      <p:sp>
        <p:nvSpPr>
          <p:cNvPr id="14" name="Text 12"/>
          <p:cNvSpPr/>
          <p:nvPr/>
        </p:nvSpPr>
        <p:spPr>
          <a:xfrm>
            <a:off x="5793284" y="1818580"/>
            <a:ext cx="5563819"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E5FB4"/>
                </a:solidFill>
                <a:latin typeface="Arial" pitchFamily="34" charset="0"/>
                <a:ea typeface="Arial" pitchFamily="34" charset="-122"/>
                <a:cs typeface="Arial" pitchFamily="34" charset="-120"/>
              </a:rPr>
              <a:t>1 Chiều lệch</a:t>
            </a:r>
            <a:r>
              <a:rPr lang="en-US" sz="1400" dirty="0">
                <a:solidFill>
                  <a:srgbClr val="13233A"/>
                </a:solidFill>
                <a:latin typeface="Arial" pitchFamily="34" charset="0"/>
                <a:ea typeface="Arial" pitchFamily="34" charset="-122"/>
                <a:cs typeface="Arial" pitchFamily="34" charset="-120"/>
              </a:rPr>
              <a:t> — cao/thấp có khớp nhãn tầng 2?</a:t>
            </a:r>
            <a:endParaRPr lang="en-US" sz="1400" dirty="0"/>
          </a:p>
        </p:txBody>
      </p:sp>
      <p:sp>
        <p:nvSpPr>
          <p:cNvPr id="15" name="Text 13"/>
          <p:cNvSpPr/>
          <p:nvPr/>
        </p:nvSpPr>
        <p:spPr>
          <a:xfrm>
            <a:off x="5793284" y="2134791"/>
            <a:ext cx="5563819"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E5FB4"/>
                </a:solidFill>
                <a:latin typeface="Arial" pitchFamily="34" charset="0"/>
                <a:ea typeface="Arial" pitchFamily="34" charset="-122"/>
                <a:cs typeface="Arial" pitchFamily="34" charset="-120"/>
              </a:rPr>
              <a:t>2 Mâu thuẫn</a:t>
            </a:r>
            <a:r>
              <a:rPr lang="en-US" sz="1400" dirty="0">
                <a:solidFill>
                  <a:srgbClr val="13233A"/>
                </a:solidFill>
                <a:latin typeface="Arial" pitchFamily="34" charset="0"/>
                <a:ea typeface="Arial" pitchFamily="34" charset="-122"/>
                <a:cs typeface="Arial" pitchFamily="34" charset="-120"/>
              </a:rPr>
              <a:t> — câu văn có nói ngược nhãn?</a:t>
            </a:r>
            <a:endParaRPr lang="en-US" sz="1400" dirty="0"/>
          </a:p>
        </p:txBody>
      </p:sp>
      <p:sp>
        <p:nvSpPr>
          <p:cNvPr id="16" name="Text 14"/>
          <p:cNvSpPr/>
          <p:nvPr/>
        </p:nvSpPr>
        <p:spPr>
          <a:xfrm>
            <a:off x="5793284" y="2451001"/>
            <a:ext cx="5563819"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E5FB4"/>
                </a:solidFill>
                <a:latin typeface="Arial" pitchFamily="34" charset="0"/>
                <a:ea typeface="Arial" pitchFamily="34" charset="-122"/>
                <a:cs typeface="Arial" pitchFamily="34" charset="-120"/>
              </a:rPr>
              <a:t>3 Từ bị cấm</a:t>
            </a:r>
            <a:r>
              <a:rPr lang="en-US" sz="1400" dirty="0">
                <a:solidFill>
                  <a:srgbClr val="13233A"/>
                </a:solidFill>
                <a:latin typeface="Arial" pitchFamily="34" charset="0"/>
                <a:ea typeface="Arial" pitchFamily="34" charset="-122"/>
                <a:cs typeface="Arial" pitchFamily="34" charset="-120"/>
              </a:rPr>
              <a:t> — có xuất hiện không?</a:t>
            </a:r>
            <a:endParaRPr lang="en-US" sz="1400" dirty="0"/>
          </a:p>
        </p:txBody>
      </p:sp>
      <p:sp>
        <p:nvSpPr>
          <p:cNvPr id="17" name="Text 15"/>
          <p:cNvSpPr/>
          <p:nvPr/>
        </p:nvSpPr>
        <p:spPr>
          <a:xfrm>
            <a:off x="5793284" y="2767211"/>
            <a:ext cx="5563819"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E5FB4"/>
                </a:solidFill>
                <a:latin typeface="Arial" pitchFamily="34" charset="0"/>
                <a:ea typeface="Arial" pitchFamily="34" charset="-122"/>
                <a:cs typeface="Arial" pitchFamily="34" charset="-120"/>
              </a:rPr>
              <a:t>4 Bịa chỉ số</a:t>
            </a:r>
            <a:r>
              <a:rPr lang="en-US" sz="1400" dirty="0">
                <a:solidFill>
                  <a:srgbClr val="13233A"/>
                </a:solidFill>
                <a:latin typeface="Arial" pitchFamily="34" charset="0"/>
                <a:ea typeface="Arial" pitchFamily="34" charset="-122"/>
                <a:cs typeface="Arial" pitchFamily="34" charset="-120"/>
              </a:rPr>
              <a:t> — có chỉ số nào bị bịa ra?</a:t>
            </a:r>
            <a:endParaRPr lang="en-US" sz="1400" dirty="0"/>
          </a:p>
        </p:txBody>
      </p:sp>
      <p:sp>
        <p:nvSpPr>
          <p:cNvPr id="18" name="Text 16"/>
          <p:cNvSpPr/>
          <p:nvPr/>
        </p:nvSpPr>
        <p:spPr>
          <a:xfrm>
            <a:off x="5793284" y="3083421"/>
            <a:ext cx="5563819"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E5FB4"/>
                </a:solidFill>
                <a:latin typeface="Arial" pitchFamily="34" charset="0"/>
                <a:ea typeface="Arial" pitchFamily="34" charset="-122"/>
                <a:cs typeface="Arial" pitchFamily="34" charset="-120"/>
              </a:rPr>
              <a:t>5 Bỏ sót</a:t>
            </a:r>
            <a:r>
              <a:rPr lang="en-US" sz="1400" dirty="0">
                <a:solidFill>
                  <a:srgbClr val="13233A"/>
                </a:solidFill>
                <a:latin typeface="Arial" pitchFamily="34" charset="0"/>
                <a:ea typeface="Arial" pitchFamily="34" charset="-122"/>
                <a:cs typeface="Arial" pitchFamily="34" charset="-120"/>
              </a:rPr>
              <a:t> — có chỉ số nào bị bỏ sót?</a:t>
            </a:r>
            <a:endParaRPr lang="en-US" sz="1400" dirty="0"/>
          </a:p>
        </p:txBody>
      </p:sp>
      <p:sp>
        <p:nvSpPr>
          <p:cNvPr id="19" name="Text 17"/>
          <p:cNvSpPr/>
          <p:nvPr/>
        </p:nvSpPr>
        <p:spPr>
          <a:xfrm>
            <a:off x="5793284" y="3399631"/>
            <a:ext cx="5563819"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C2570C"/>
                </a:solidFill>
                <a:latin typeface="Arial" pitchFamily="34" charset="0"/>
                <a:ea typeface="Arial" pitchFamily="34" charset="-122"/>
                <a:cs typeface="Arial" pitchFamily="34" charset="-120"/>
              </a:rPr>
              <a:t>6 Trấn an sai</a:t>
            </a:r>
            <a:r>
              <a:rPr lang="en-US" sz="1400" dirty="0">
                <a:solidFill>
                  <a:srgbClr val="13233A"/>
                </a:solidFill>
                <a:latin typeface="Arial" pitchFamily="34" charset="0"/>
                <a:ea typeface="Arial" pitchFamily="34" charset="-122"/>
                <a:cs typeface="Arial" pitchFamily="34" charset="-120"/>
              </a:rPr>
              <a:t> — câu kết có trấn an sai?</a:t>
            </a:r>
            <a:endParaRPr lang="en-US" sz="1400" dirty="0"/>
          </a:p>
        </p:txBody>
      </p:sp>
      <p:sp>
        <p:nvSpPr>
          <p:cNvPr id="20" name="Shape 18"/>
          <p:cNvSpPr/>
          <p:nvPr/>
        </p:nvSpPr>
        <p:spPr>
          <a:xfrm>
            <a:off x="812800" y="4482703"/>
            <a:ext cx="10566400" cy="789781"/>
          </a:xfrm>
          <a:prstGeom prst="roundRect">
            <a:avLst>
              <a:gd name="adj" fmla="val 12864"/>
            </a:avLst>
          </a:prstGeom>
          <a:solidFill>
            <a:srgbClr val="0B2545"/>
          </a:solidFill>
          <a:ln/>
        </p:spPr>
        <p:txBody>
          <a:bodyPr/>
          <a:p/>
        </p:txBody>
      </p:sp>
      <p:sp>
        <p:nvSpPr>
          <p:cNvPr id="21" name="Text 19"/>
          <p:cNvSpPr/>
          <p:nvPr/>
        </p:nvSpPr>
        <p:spPr>
          <a:xfrm>
            <a:off x="1016000" y="4609703"/>
            <a:ext cx="104648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Arial" pitchFamily="34" charset="0"/>
                <a:ea typeface="Arial" pitchFamily="34" charset="-122"/>
                <a:cs typeface="Arial" pitchFamily="34" charset="-120"/>
              </a:rPr>
              <a:t>Mô hình: </a:t>
            </a:r>
            <a:r>
              <a:rPr lang="en-US" sz="1400" b="1" dirty="0">
                <a:solidFill>
                  <a:srgbClr val="5EEAD4"/>
                </a:solidFill>
                <a:latin typeface="Arial" pitchFamily="34" charset="0"/>
                <a:ea typeface="Arial" pitchFamily="34" charset="-122"/>
                <a:cs typeface="Arial" pitchFamily="34" charset="-120"/>
              </a:rPr>
              <a:t>Qwen2.5-3B</a:t>
            </a:r>
            <a:r>
              <a:rPr lang="en-US" sz="1400" b="1" dirty="0">
                <a:solidFill>
                  <a:srgbClr val="FFFFFF"/>
                </a:solidFill>
                <a:latin typeface="Arial" pitchFamily="34" charset="0"/>
                <a:ea typeface="Arial" pitchFamily="34" charset="-122"/>
                <a:cs typeface="Arial" pitchFamily="34" charset="-120"/>
              </a:rPr>
              <a:t> chạy tại chỗ qua Ollama — dữ liệu không rời khỏi đơn vị, không cần GPU.</a:t>
            </a:r>
            <a:endParaRPr lang="en-US" sz="1400" dirty="0"/>
          </a:p>
        </p:txBody>
      </p:sp>
      <p:sp>
        <p:nvSpPr>
          <p:cNvPr id="22" name="Text 20"/>
          <p:cNvSpPr/>
          <p:nvPr/>
        </p:nvSpPr>
        <p:spPr>
          <a:xfrm>
            <a:off x="1016000" y="4896644"/>
            <a:ext cx="10464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7DA"/>
                </a:solidFill>
                <a:latin typeface="Arial" pitchFamily="34" charset="0"/>
                <a:ea typeface="Arial" pitchFamily="34" charset="-122"/>
                <a:cs typeface="Arial" pitchFamily="34" charset="-120"/>
              </a:rPr>
              <a:t>Qwen2.5-3B: mô hình ngôn ngữ mở, 3 tỷ tham số · Ollama: phần mềm chạy mô hình trên máy cục bộ</a:t>
            </a:r>
            <a:endParaRPr lang="en-US" sz="1400" dirty="0"/>
          </a:p>
        </p:txBody>
      </p:sp>
      <p:sp>
        <p:nvSpPr>
          <p:cNvPr id="23" name="Text 21"/>
          <p:cNvSpPr/>
          <p:nvPr/>
        </p:nvSpPr>
        <p:spPr>
          <a:xfrm>
            <a:off x="812800" y="6202759"/>
            <a:ext cx="784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HEALTHINFO IV · Trương Quang Đại, HUTECH · Bài HI26-0013</a:t>
            </a:r>
            <a:endParaRPr lang="en-US" sz="1400" dirty="0"/>
          </a:p>
        </p:txBody>
      </p:sp>
      <p:sp>
        <p:nvSpPr>
          <p:cNvPr id="24" name="Text 22"/>
          <p:cNvSpPr/>
          <p:nvPr/>
        </p:nvSpPr>
        <p:spPr>
          <a:xfrm>
            <a:off x="10058400" y="6202759"/>
            <a:ext cx="132080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B6B80"/>
                </a:solidFill>
                <a:latin typeface="Arial" pitchFamily="34" charset="0"/>
                <a:ea typeface="Arial" pitchFamily="34" charset="-122"/>
                <a:cs typeface="Arial" pitchFamily="34" charset="-120"/>
              </a:rPr>
              <a:t>10 / 19</a:t>
            </a:r>
            <a:endParaRPr lang="en-US" sz="14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2000" cy="63500"/>
          </a:xfrm>
          <a:prstGeom prst="rect">
            <a:avLst/>
          </a:prstGeom>
          <a:solidFill>
            <a:srgbClr val="0B7A6E"/>
          </a:solidFill>
          <a:ln/>
        </p:spPr>
        <p:txBody>
          <a:bodyPr/>
          <a:p/>
        </p:txBody>
      </p:sp>
      <p:sp>
        <p:nvSpPr>
          <p:cNvPr id="3" name="Text 1"/>
          <p:cNvSpPr/>
          <p:nvPr>
            <p:ph type="title"/>
          </p:nvPr>
        </p:nvSpPr>
        <p:spPr>
          <a:xfrm>
            <a:off x="812800" y="71120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B7A6E"/>
                </a:solidFill>
                <a:latin typeface="Arial" pitchFamily="34" charset="0"/>
                <a:ea typeface="Arial" pitchFamily="34" charset="-122"/>
                <a:cs typeface="Arial" pitchFamily="34" charset="-120"/>
              </a:rPr>
              <a:t>10 Căn cứ của các quyết định</a:t>
            </a:r>
            <a:endParaRPr lang="en-US" sz="2600" dirty="0"/>
          </a:p>
        </p:txBody>
      </p:sp>
      <p:sp>
        <p:nvSpPr>
          <p:cNvPr id="4" name="Shape 2"/>
          <p:cNvSpPr/>
          <p:nvPr/>
        </p:nvSpPr>
        <p:spPr>
          <a:xfrm>
            <a:off x="815975" y="1297285"/>
            <a:ext cx="3397250" cy="2395728"/>
          </a:xfrm>
          <a:prstGeom prst="roundRect">
            <a:avLst>
              <a:gd name="adj" fmla="val 4294"/>
            </a:avLst>
          </a:prstGeom>
          <a:solidFill>
            <a:srgbClr val="FFFFFF"/>
          </a:solidFill>
          <a:ln w="6350">
            <a:solidFill>
              <a:srgbClr val="D9E2EC"/>
            </a:solidFill>
            <a:prstDash val="solid"/>
          </a:ln>
        </p:spPr>
        <p:txBody>
          <a:bodyPr/>
          <a:p/>
        </p:txBody>
      </p:sp>
      <p:sp>
        <p:nvSpPr>
          <p:cNvPr id="5" name="Text 3"/>
          <p:cNvSpPr/>
          <p:nvPr/>
        </p:nvSpPr>
        <p:spPr>
          <a:xfrm>
            <a:off x="1022350" y="1503660"/>
            <a:ext cx="3074035" cy="472380"/>
          </a:xfrm>
          <a:prstGeom prst="rect">
            <a:avLst/>
          </a:prstGeom>
          <a:noFill/>
          <a:ln/>
        </p:spPr>
        <p:txBody>
          <a:bodyPr wrap="none" lIns="0" tIns="0" rIns="0" bIns="0" rtlCol="0" anchor="t">
            <a:normAutofit/>
          </a:bodyPr>
          <a:lstStyle/>
          <a:p>
            <a:pPr algn="l" indent="0" marL="0">
              <a:lnSpc>
                <a:spcPts val="3520"/>
              </a:lnSpc>
              <a:buNone/>
            </a:pPr>
            <a:r>
              <a:rPr lang="en-US" sz="2000" b="1" dirty="0">
                <a:solidFill>
                  <a:srgbClr val="0B7A6E"/>
                </a:solidFill>
                <a:latin typeface="Arial" pitchFamily="34" charset="0"/>
                <a:ea typeface="Arial" pitchFamily="34" charset="-122"/>
                <a:cs typeface="Arial" pitchFamily="34" charset="-120"/>
              </a:rPr>
              <a:t>Khoảng tham chiếu</a:t>
            </a:r>
            <a:endParaRPr lang="en-US" sz="3200" dirty="0"/>
          </a:p>
        </p:txBody>
      </p:sp>
      <p:sp>
        <p:nvSpPr>
          <p:cNvPr id="6" name="Text 4"/>
          <p:cNvSpPr/>
          <p:nvPr/>
        </p:nvSpPr>
        <p:spPr>
          <a:xfrm>
            <a:off x="1022350" y="2039541"/>
            <a:ext cx="3074035" cy="284460"/>
          </a:xfrm>
          <a:prstGeom prst="rect">
            <a:avLst/>
          </a:prstGeom>
          <a:noFill/>
          <a:ln/>
        </p:spPr>
        <p:txBody>
          <a:bodyPr wrap="square" lIns="0" tIns="0" rIns="0" bIns="0" rtlCol="0" anchor="t">
            <a:normAutofit/>
          </a:bodyPr>
          <a:lstStyle/>
          <a:p>
            <a:pPr algn="l" indent="0" marL="0">
              <a:lnSpc>
                <a:spcPts val="2040"/>
              </a:lnSpc>
              <a:buNone/>
            </a:pPr>
            <a:r>
              <a:rPr lang="en-US" sz="1500" b="1" dirty="0">
                <a:solidFill>
                  <a:srgbClr val="0B2545"/>
                </a:solidFill>
                <a:latin typeface="Arial" pitchFamily="34" charset="0"/>
                <a:ea typeface="Arial" pitchFamily="34" charset="-122"/>
                <a:cs typeface="Arial" pitchFamily="34" charset="-120"/>
              </a:rPr>
              <a:t>Do phòng xét nghiệm công bố</a:t>
            </a:r>
            <a:endParaRPr lang="en-US" sz="1700" dirty="0"/>
          </a:p>
        </p:txBody>
      </p:sp>
      <p:sp>
        <p:nvSpPr>
          <p:cNvPr id="7" name="Text 5"/>
          <p:cNvSpPr/>
          <p:nvPr/>
        </p:nvSpPr>
        <p:spPr>
          <a:xfrm>
            <a:off x="1022350" y="2387501"/>
            <a:ext cx="3074035" cy="1170432"/>
          </a:xfrm>
          <a:prstGeom prst="rect">
            <a:avLst/>
          </a:prstGeom>
          <a:noFill/>
          <a:ln/>
        </p:spPr>
        <p:txBody>
          <a:bodyPr wrap="square" lIns="0" tIns="0" rIns="0" bIns="0" rtlCol="0" anchor="t">
            <a:normAutofit/>
          </a:bodyPr>
          <a:lstStyle/>
          <a:p>
            <a:pPr algn="l" indent="0" marL="0">
              <a:lnSpc>
                <a:spcPts val="1960"/>
              </a:lnSpc>
              <a:buNone/>
            </a:pPr>
            <a:r>
              <a:rPr lang="en-US" sz="1250" dirty="0">
                <a:solidFill>
                  <a:srgbClr val="3A4A5E"/>
                </a:solidFill>
                <a:latin typeface="Arial" pitchFamily="34" charset="0"/>
                <a:ea typeface="Arial" pitchFamily="34" charset="-122"/>
                <a:cs typeface="Arial" pitchFamily="34" charset="-120"/>
              </a:rPr>
              <a:t>Hệ thống lấy nguyên khoảng in trên phiếu, không tự đặt ra. ISO 15189:2022 buộc mỗi phòng xét nghiệm tự thiết lập khoảng tham chiếu và ngưỡng báo động.</a:t>
            </a:r>
            <a:endParaRPr lang="en-US" sz="1400" dirty="0"/>
          </a:p>
        </p:txBody>
      </p:sp>
      <p:sp>
        <p:nvSpPr>
          <p:cNvPr id="8" name="Shape 6"/>
          <p:cNvSpPr/>
          <p:nvPr/>
        </p:nvSpPr>
        <p:spPr>
          <a:xfrm>
            <a:off x="4397375" y="1297285"/>
            <a:ext cx="3397250" cy="2395728"/>
          </a:xfrm>
          <a:prstGeom prst="roundRect">
            <a:avLst>
              <a:gd name="adj" fmla="val 4294"/>
            </a:avLst>
          </a:prstGeom>
          <a:solidFill>
            <a:srgbClr val="FFFFFF"/>
          </a:solidFill>
          <a:ln w="6350">
            <a:solidFill>
              <a:srgbClr val="D9E2EC"/>
            </a:solidFill>
            <a:prstDash val="solid"/>
          </a:ln>
        </p:spPr>
        <p:txBody>
          <a:bodyPr/>
          <a:p/>
        </p:txBody>
      </p:sp>
      <p:sp>
        <p:nvSpPr>
          <p:cNvPr id="9" name="Text 7"/>
          <p:cNvSpPr/>
          <p:nvPr/>
        </p:nvSpPr>
        <p:spPr>
          <a:xfrm>
            <a:off x="4603750" y="1503660"/>
            <a:ext cx="3074035" cy="472380"/>
          </a:xfrm>
          <a:prstGeom prst="rect">
            <a:avLst/>
          </a:prstGeom>
          <a:noFill/>
          <a:ln/>
        </p:spPr>
        <p:txBody>
          <a:bodyPr wrap="none" lIns="0" tIns="0" rIns="0" bIns="0" rtlCol="0" anchor="t">
            <a:normAutofit/>
          </a:bodyPr>
          <a:lstStyle/>
          <a:p>
            <a:pPr algn="l" indent="0" marL="0">
              <a:lnSpc>
                <a:spcPts val="3520"/>
              </a:lnSpc>
              <a:buNone/>
            </a:pPr>
            <a:r>
              <a:rPr lang="en-US" sz="2000" b="1" dirty="0">
                <a:solidFill>
                  <a:srgbClr val="8A5A12"/>
                </a:solidFill>
                <a:latin typeface="Arial" pitchFamily="34" charset="0"/>
                <a:ea typeface="Arial" pitchFamily="34" charset="-122"/>
                <a:cs typeface="Arial" pitchFamily="34" charset="-120"/>
              </a:rPr>
              <a:t>Ngưỡng nặng nhẹ</a:t>
            </a:r>
            <a:endParaRPr lang="en-US" sz="3200" dirty="0"/>
          </a:p>
        </p:txBody>
      </p:sp>
      <p:sp>
        <p:nvSpPr>
          <p:cNvPr id="10" name="Text 8"/>
          <p:cNvSpPr/>
          <p:nvPr/>
        </p:nvSpPr>
        <p:spPr>
          <a:xfrm>
            <a:off x="4603750" y="2039541"/>
            <a:ext cx="3074035" cy="284460"/>
          </a:xfrm>
          <a:prstGeom prst="rect">
            <a:avLst/>
          </a:prstGeom>
          <a:noFill/>
          <a:ln/>
        </p:spPr>
        <p:txBody>
          <a:bodyPr wrap="square" lIns="0" tIns="0" rIns="0" bIns="0" rtlCol="0" anchor="t">
            <a:normAutofit/>
          </a:bodyPr>
          <a:lstStyle/>
          <a:p>
            <a:pPr algn="l" indent="0" marL="0">
              <a:lnSpc>
                <a:spcPts val="2040"/>
              </a:lnSpc>
              <a:buNone/>
            </a:pPr>
            <a:r>
              <a:rPr lang="en-US" sz="1500" b="1" dirty="0">
                <a:solidFill>
                  <a:srgbClr val="0B2545"/>
                </a:solidFill>
                <a:latin typeface="Arial" pitchFamily="34" charset="0"/>
                <a:ea typeface="Arial" pitchFamily="34" charset="-122"/>
                <a:cs typeface="Arial" pitchFamily="34" charset="-120"/>
              </a:rPr>
              <a:t>Nhóm tự đặt, là hạn chế</a:t>
            </a:r>
            <a:endParaRPr lang="en-US" sz="1700" dirty="0"/>
          </a:p>
        </p:txBody>
      </p:sp>
      <p:sp>
        <p:nvSpPr>
          <p:cNvPr id="11" name="Text 9"/>
          <p:cNvSpPr/>
          <p:nvPr/>
        </p:nvSpPr>
        <p:spPr>
          <a:xfrm>
            <a:off x="4603750" y="2387501"/>
            <a:ext cx="3074035" cy="1170432"/>
          </a:xfrm>
          <a:prstGeom prst="rect">
            <a:avLst/>
          </a:prstGeom>
          <a:noFill/>
          <a:ln/>
        </p:spPr>
        <p:txBody>
          <a:bodyPr wrap="square" lIns="0" tIns="0" rIns="0" bIns="0" rtlCol="0" anchor="t">
            <a:normAutofit/>
          </a:bodyPr>
          <a:lstStyle/>
          <a:p>
            <a:pPr algn="l" indent="0" marL="0">
              <a:lnSpc>
                <a:spcPts val="1960"/>
              </a:lnSpc>
              <a:buNone/>
            </a:pPr>
            <a:r>
              <a:rPr lang="en-US" sz="1250" dirty="0">
                <a:solidFill>
                  <a:srgbClr val="3A4A5E"/>
                </a:solidFill>
                <a:latin typeface="Arial" pitchFamily="34" charset="0"/>
                <a:ea typeface="Arial" pitchFamily="34" charset="-122"/>
                <a:cs typeface="Arial" pitchFamily="34" charset="-120"/>
              </a:rPr>
              <a:t>Hệ số 0,15–0,50 nhân biên độ khoảng, đặt theo kinh nghiệm, chưa dựa trên y văn. Thay bằng danh mục giá trị nguy hiểm của phòng xét nghiệm thì chỉ đổi nhãn.</a:t>
            </a:r>
            <a:endParaRPr lang="en-US" sz="1400" dirty="0"/>
          </a:p>
        </p:txBody>
      </p:sp>
      <p:sp>
        <p:nvSpPr>
          <p:cNvPr id="12" name="Shape 10"/>
          <p:cNvSpPr/>
          <p:nvPr/>
        </p:nvSpPr>
        <p:spPr>
          <a:xfrm>
            <a:off x="7978775" y="1297285"/>
            <a:ext cx="3397250" cy="2395728"/>
          </a:xfrm>
          <a:prstGeom prst="roundRect">
            <a:avLst>
              <a:gd name="adj" fmla="val 4294"/>
            </a:avLst>
          </a:prstGeom>
          <a:solidFill>
            <a:srgbClr val="FFFFFF"/>
          </a:solidFill>
          <a:ln w="6350">
            <a:solidFill>
              <a:srgbClr val="D9E2EC"/>
            </a:solidFill>
            <a:prstDash val="solid"/>
          </a:ln>
        </p:spPr>
        <p:txBody>
          <a:bodyPr/>
          <a:p/>
        </p:txBody>
      </p:sp>
      <p:sp>
        <p:nvSpPr>
          <p:cNvPr id="13" name="Text 11"/>
          <p:cNvSpPr/>
          <p:nvPr/>
        </p:nvSpPr>
        <p:spPr>
          <a:xfrm>
            <a:off x="8185150" y="1503660"/>
            <a:ext cx="3074035" cy="472380"/>
          </a:xfrm>
          <a:prstGeom prst="rect">
            <a:avLst/>
          </a:prstGeom>
          <a:noFill/>
          <a:ln/>
        </p:spPr>
        <p:txBody>
          <a:bodyPr wrap="none" lIns="0" tIns="0" rIns="0" bIns="0" rtlCol="0" anchor="t">
            <a:normAutofit/>
          </a:bodyPr>
          <a:lstStyle/>
          <a:p>
            <a:pPr algn="l" indent="0" marL="0">
              <a:lnSpc>
                <a:spcPts val="3520"/>
              </a:lnSpc>
              <a:buNone/>
            </a:pPr>
            <a:r>
              <a:rPr lang="en-US" sz="2000" b="1" dirty="0">
                <a:solidFill>
                  <a:srgbClr val="1E5FB4"/>
                </a:solidFill>
                <a:latin typeface="Arial" pitchFamily="34" charset="0"/>
                <a:ea typeface="Arial" pitchFamily="34" charset="-122"/>
                <a:cs typeface="Arial" pitchFamily="34" charset="-120"/>
              </a:rPr>
              <a:t>Từ cấm</a:t>
            </a:r>
            <a:endParaRPr lang="en-US" sz="3200" dirty="0"/>
          </a:p>
        </p:txBody>
      </p:sp>
      <p:sp>
        <p:nvSpPr>
          <p:cNvPr id="14" name="Text 12"/>
          <p:cNvSpPr/>
          <p:nvPr/>
        </p:nvSpPr>
        <p:spPr>
          <a:xfrm>
            <a:off x="8185150" y="2039541"/>
            <a:ext cx="3074035" cy="284460"/>
          </a:xfrm>
          <a:prstGeom prst="rect">
            <a:avLst/>
          </a:prstGeom>
          <a:noFill/>
          <a:ln/>
        </p:spPr>
        <p:txBody>
          <a:bodyPr wrap="square" lIns="0" tIns="0" rIns="0" bIns="0" rtlCol="0" anchor="t">
            <a:normAutofit/>
          </a:bodyPr>
          <a:lstStyle/>
          <a:p>
            <a:pPr algn="l" indent="0" marL="0">
              <a:lnSpc>
                <a:spcPts val="2040"/>
              </a:lnSpc>
              <a:buNone/>
            </a:pPr>
            <a:r>
              <a:rPr lang="en-US" sz="1500" b="1" dirty="0">
                <a:solidFill>
                  <a:srgbClr val="0B2545"/>
                </a:solidFill>
                <a:latin typeface="Arial" pitchFamily="34" charset="0"/>
                <a:ea typeface="Arial" pitchFamily="34" charset="-122"/>
                <a:cs typeface="Arial" pitchFamily="34" charset="-120"/>
              </a:rPr>
              <a:t>Theo ranh giới hành nghề</a:t>
            </a:r>
            <a:endParaRPr lang="en-US" sz="1700" dirty="0"/>
          </a:p>
        </p:txBody>
      </p:sp>
      <p:sp>
        <p:nvSpPr>
          <p:cNvPr id="15" name="Text 13"/>
          <p:cNvSpPr/>
          <p:nvPr/>
        </p:nvSpPr>
        <p:spPr>
          <a:xfrm>
            <a:off x="8185150" y="2387501"/>
            <a:ext cx="3074035" cy="1170432"/>
          </a:xfrm>
          <a:prstGeom prst="rect">
            <a:avLst/>
          </a:prstGeom>
          <a:noFill/>
          <a:ln/>
        </p:spPr>
        <p:txBody>
          <a:bodyPr wrap="square" lIns="0" tIns="0" rIns="0" bIns="0" rtlCol="0" anchor="t">
            <a:normAutofit/>
          </a:bodyPr>
          <a:lstStyle/>
          <a:p>
            <a:pPr algn="l" indent="0" marL="0">
              <a:lnSpc>
                <a:spcPts val="1960"/>
              </a:lnSpc>
              <a:buNone/>
            </a:pPr>
            <a:r>
              <a:rPr lang="en-US" sz="1250" dirty="0">
                <a:solidFill>
                  <a:srgbClr val="3A4A5E"/>
                </a:solidFill>
                <a:latin typeface="Arial" pitchFamily="34" charset="0"/>
                <a:ea typeface="Arial" pitchFamily="34" charset="-122"/>
                <a:cs typeface="Arial" pitchFamily="34" charset="-120"/>
              </a:rPr>
              <a:t>Cấm tên bệnh, quy nguyên nhân, thuốc và liều lượng. Luật Khám bệnh, chữa bệnh 15/2023/QH15: chẩn đoán và kê đơn phải do người có giấy phép hành nghề.</a:t>
            </a:r>
            <a:endParaRPr lang="en-US" sz="1400" dirty="0"/>
          </a:p>
        </p:txBody>
      </p:sp>
      <p:sp>
        <p:nvSpPr>
          <p:cNvPr id="16" name="Shape 14"/>
          <p:cNvSpPr/>
          <p:nvPr/>
        </p:nvSpPr>
        <p:spPr>
          <a:xfrm>
            <a:off x="815975" y="3981668"/>
            <a:ext cx="10560050" cy="1083072"/>
          </a:xfrm>
          <a:prstGeom prst="roundRect">
            <a:avLst>
              <a:gd name="adj" fmla="val 9088"/>
            </a:avLst>
          </a:prstGeom>
          <a:solidFill>
            <a:srgbClr val="FFF8E6"/>
          </a:solidFill>
          <a:ln w="6350">
            <a:solidFill>
              <a:srgbClr val="F1D9A0"/>
            </a:solidFill>
            <a:prstDash val="solid"/>
          </a:ln>
        </p:spPr>
        <p:txBody>
          <a:bodyPr/>
          <a:p/>
        </p:txBody>
      </p:sp>
      <p:sp>
        <p:nvSpPr>
          <p:cNvPr id="17" name="Text 15"/>
          <p:cNvSpPr/>
          <p:nvPr/>
        </p:nvSpPr>
        <p:spPr>
          <a:xfrm>
            <a:off x="1022350" y="4124543"/>
            <a:ext cx="10451719" cy="274241"/>
          </a:xfrm>
          <a:prstGeom prst="rect">
            <a:avLst/>
          </a:prstGeom>
          <a:noFill/>
          <a:ln/>
        </p:spPr>
        <p:txBody>
          <a:bodyPr wrap="square" lIns="0" tIns="0" rIns="0" bIns="0" rtlCol="0" anchor="t">
            <a:normAutofit/>
          </a:bodyPr>
          <a:lstStyle/>
          <a:p>
            <a:pPr algn="l" indent="0" marL="0">
              <a:lnSpc>
                <a:spcPts val="1960"/>
              </a:lnSpc>
              <a:buNone/>
            </a:pPr>
            <a:r>
              <a:rPr lang="en-US" sz="1400" b="1" spc="50" kern="0" dirty="0">
                <a:solidFill>
                  <a:srgbClr val="8A5A12"/>
                </a:solidFill>
                <a:latin typeface="Arial" pitchFamily="34" charset="0"/>
                <a:ea typeface="Arial" pitchFamily="34" charset="-122"/>
                <a:cs typeface="Arial" pitchFamily="34" charset="-120"/>
              </a:rPr>
              <a:t>ĐIỂM MẠNH VÀ ĐIỂM YẾU</a:t>
            </a:r>
            <a:endParaRPr lang="en-US" sz="1400" dirty="0"/>
          </a:p>
        </p:txBody>
      </p:sp>
      <p:sp>
        <p:nvSpPr>
          <p:cNvPr id="18" name="Text 16"/>
          <p:cNvSpPr/>
          <p:nvPr/>
        </p:nvSpPr>
        <p:spPr>
          <a:xfrm>
            <a:off x="1022350" y="4424184"/>
            <a:ext cx="10451719" cy="523081"/>
          </a:xfrm>
          <a:prstGeom prst="rect">
            <a:avLst/>
          </a:prstGeom>
          <a:noFill/>
          <a:ln/>
        </p:spPr>
        <p:txBody>
          <a:bodyPr wrap="square" lIns="0" tIns="0" rIns="0" bIns="0" rtlCol="0" anchor="t">
            <a:normAutofit/>
          </a:bodyPr>
          <a:lstStyle/>
          <a:p>
            <a:pPr algn="l" indent="0" marL="0">
              <a:lnSpc>
                <a:spcPts val="1960"/>
              </a:lnSpc>
              <a:buNone/>
            </a:pPr>
            <a:r>
              <a:rPr lang="en-US" sz="1300" dirty="0">
                <a:solidFill>
                  <a:srgbClr val="13233A"/>
                </a:solidFill>
                <a:latin typeface="Arial" pitchFamily="34" charset="0"/>
                <a:ea typeface="Arial" pitchFamily="34" charset="-122"/>
                <a:cs typeface="Arial" pitchFamily="34" charset="-120"/>
              </a:rPr>
              <a:t>Khoảng tham chiếu và từ cấm đều có căn cứ bên ngoài. Hệ số nặng nhẹ thì chưa, và bài báo ghi rõ điều đó. Vì phân loại nằm ở tầng luật nên thay ngưỡng không phải sửa kiến trúc.</a:t>
            </a:r>
            <a:endParaRPr lang="en-US" sz="1400" dirty="0"/>
          </a:p>
        </p:txBody>
      </p:sp>
      <p:sp>
        <p:nvSpPr>
          <p:cNvPr id="19" name="Text 17"/>
          <p:cNvSpPr/>
          <p:nvPr/>
        </p:nvSpPr>
        <p:spPr>
          <a:xfrm>
            <a:off x="812800" y="6199632"/>
            <a:ext cx="784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HEALTHINFO IV · Trương Quang Đại, HUTECH · Bài HI26-0013</a:t>
            </a:r>
            <a:endParaRPr lang="en-US" sz="1400" dirty="0"/>
          </a:p>
        </p:txBody>
      </p:sp>
      <p:sp>
        <p:nvSpPr>
          <p:cNvPr id="20" name="Text 18"/>
          <p:cNvSpPr/>
          <p:nvPr/>
        </p:nvSpPr>
        <p:spPr>
          <a:xfrm>
            <a:off x="10058400" y="6199632"/>
            <a:ext cx="132080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B6B80"/>
                </a:solidFill>
                <a:latin typeface="Arial" pitchFamily="34" charset="0"/>
                <a:ea typeface="Arial" pitchFamily="34" charset="-122"/>
                <a:cs typeface="Arial" pitchFamily="34" charset="-120"/>
              </a:rPr>
              <a:t>11 / 19</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3F6FA"/>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0B7A6E"/>
          </a:solidFill>
          <a:ln/>
        </p:spPr>
        <p:txBody>
          <a:bodyPr/>
          <a:p/>
        </p:txBody>
      </p:sp>
      <p:sp>
        <p:nvSpPr>
          <p:cNvPr id="3" name="Text 1"/>
          <p:cNvSpPr/>
          <p:nvPr>
            <p:ph type="title"/>
          </p:nvPr>
        </p:nvSpPr>
        <p:spPr>
          <a:xfrm>
            <a:off x="812800" y="71120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B7A6E"/>
                </a:solidFill>
                <a:latin typeface="Arial" pitchFamily="34" charset="0"/>
                <a:ea typeface="Arial" pitchFamily="34" charset="-122"/>
                <a:cs typeface="Arial" pitchFamily="34" charset="-120"/>
              </a:rPr>
              <a:t>11</a:t>
            </a:r>
            <a:r>
              <a:rPr lang="en-US" sz="2600" b="1" i="0" dirty="0">
                <a:solidFill>
                  <a:srgbClr val="0B2545"/>
                </a:solidFill>
                <a:latin typeface="Arial" pitchFamily="34" charset="0"/>
                <a:ea typeface="Arial" pitchFamily="34" charset="-122"/>
                <a:cs typeface="Arial" pitchFamily="34" charset="-120"/>
              </a:rPr>
              <a:t> Thiết kế thử nghiệm</a:t>
            </a:r>
            <a:endParaRPr lang="en-US" sz="2600" dirty="0"/>
          </a:p>
        </p:txBody>
      </p:sp>
      <p:sp>
        <p:nvSpPr>
          <p:cNvPr id="4" name="Shape 2"/>
          <p:cNvSpPr/>
          <p:nvPr/>
        </p:nvSpPr>
        <p:spPr>
          <a:xfrm>
            <a:off x="815975" y="1259185"/>
            <a:ext cx="5187950" cy="1613793"/>
          </a:xfrm>
          <a:prstGeom prst="roundRect">
            <a:avLst>
              <a:gd name="adj" fmla="val 6099"/>
            </a:avLst>
          </a:prstGeom>
          <a:solidFill>
            <a:srgbClr val="FFFFFF"/>
          </a:solidFill>
          <a:ln w="6350">
            <a:solidFill>
              <a:srgbClr val="D9E2EC"/>
            </a:solidFill>
            <a:prstDash val="solid"/>
          </a:ln>
        </p:spPr>
        <p:txBody>
          <a:bodyPr/>
          <a:p/>
        </p:txBody>
      </p:sp>
      <p:sp>
        <p:nvSpPr>
          <p:cNvPr id="5" name="Text 3"/>
          <p:cNvSpPr/>
          <p:nvPr/>
        </p:nvSpPr>
        <p:spPr>
          <a:xfrm>
            <a:off x="1022350" y="1414760"/>
            <a:ext cx="491845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Arial" pitchFamily="34" charset="0"/>
                <a:ea typeface="Arial" pitchFamily="34" charset="-122"/>
                <a:cs typeface="Arial" pitchFamily="34" charset="-120"/>
              </a:rPr>
              <a:t>Dữ liệu</a:t>
            </a:r>
            <a:endParaRPr lang="en-US" sz="1600" dirty="0"/>
          </a:p>
        </p:txBody>
      </p:sp>
      <p:sp>
        <p:nvSpPr>
          <p:cNvPr id="6" name="Text 4"/>
          <p:cNvSpPr/>
          <p:nvPr/>
        </p:nvSpPr>
        <p:spPr>
          <a:xfrm>
            <a:off x="1068832" y="1722041"/>
            <a:ext cx="4865878" cy="1020763"/>
          </a:xfrm>
          <a:prstGeom prst="rect">
            <a:avLst/>
          </a:prstGeom>
          <a:noFill/>
          <a:ln/>
        </p:spPr>
        <p:txBody>
          <a:bodyPr wrap="square" lIns="0" tIns="0" rIns="0" bIns="0" rtlCol="0" anchor="t">
            <a:normAutofit/>
          </a:bodyPr>
          <a:lstStyle/>
          <a:p>
            <a:pPr algn="l" marL="156718" indent="-156718">
              <a:lnSpc>
                <a:spcPts val="1960"/>
              </a:lnSpc>
              <a:buSzPct val="100000"/>
              <a:buChar char="•"/>
            </a:pPr>
            <a:r>
              <a:rPr lang="en-US" sz="1400" b="1" dirty="0">
                <a:solidFill>
                  <a:srgbClr val="13233A"/>
                </a:solidFill>
                <a:latin typeface="Arial" pitchFamily="34" charset="0"/>
                <a:ea typeface="Arial" pitchFamily="34" charset="-122"/>
                <a:cs typeface="Arial" pitchFamily="34" charset="-120"/>
              </a:rPr>
              <a:t>150</a:t>
            </a:r>
            <a:r>
              <a:rPr lang="en-US" sz="1400" dirty="0">
                <a:solidFill>
                  <a:srgbClr val="13233A"/>
                </a:solidFill>
                <a:latin typeface="Arial" pitchFamily="34" charset="0"/>
                <a:ea typeface="Arial" pitchFamily="34" charset="-122"/>
                <a:cs typeface="Arial" pitchFamily="34" charset="-120"/>
              </a:rPr>
              <a:t> phiếu công thức máu tự tạo</a:t>
            </a:r>
            <a:endParaRPr lang="en-US" sz="1400" dirty="0"/>
          </a:p>
          <a:p>
            <a:pPr algn="l" marL="156718" indent="-156718">
              <a:lnSpc>
                <a:spcPts val="1960"/>
              </a:lnSpc>
              <a:buSzPct val="100000"/>
              <a:buChar char="•"/>
            </a:pPr>
            <a:r>
              <a:rPr lang="en-US" sz="1400" dirty="0">
                <a:solidFill>
                  <a:srgbClr val="13233A"/>
                </a:solidFill>
                <a:latin typeface="Arial" pitchFamily="34" charset="0"/>
                <a:ea typeface="Arial" pitchFamily="34" charset="-122"/>
                <a:cs typeface="Arial" pitchFamily="34" charset="-120"/>
              </a:rPr>
              <a:t>10–18 chỉ số mỗi phiếu</a:t>
            </a:r>
            <a:endParaRPr lang="en-US" sz="1400" dirty="0"/>
          </a:p>
          <a:p>
            <a:pPr algn="l" marL="156718" indent="-156718">
              <a:lnSpc>
                <a:spcPts val="1960"/>
              </a:lnSpc>
              <a:buSzPct val="100000"/>
              <a:buChar char="•"/>
            </a:pPr>
            <a:r>
              <a:rPr lang="en-US" sz="1400" dirty="0">
                <a:solidFill>
                  <a:srgbClr val="13233A"/>
                </a:solidFill>
                <a:latin typeface="Arial" pitchFamily="34" charset="0"/>
                <a:ea typeface="Arial" pitchFamily="34" charset="-122"/>
                <a:cs typeface="Arial" pitchFamily="34" charset="-120"/>
              </a:rPr>
              <a:t>Chia đều cho 3 mức nặng nhẹ</a:t>
            </a:r>
            <a:endParaRPr lang="en-US" sz="1400" dirty="0"/>
          </a:p>
          <a:p>
            <a:pPr algn="l" marL="156718" indent="-156718">
              <a:lnSpc>
                <a:spcPts val="1960"/>
              </a:lnSpc>
              <a:buSzPct val="100000"/>
              <a:buChar char="•"/>
            </a:pPr>
            <a:r>
              <a:rPr lang="en-US" sz="1400" dirty="0">
                <a:solidFill>
                  <a:srgbClr val="13233A"/>
                </a:solidFill>
                <a:latin typeface="Arial" pitchFamily="34" charset="0"/>
                <a:ea typeface="Arial" pitchFamily="34" charset="-122"/>
                <a:cs typeface="Arial" pitchFamily="34" charset="-120"/>
              </a:rPr>
              <a:t>Tên gọi và đơn vị ngẫu nhiên cho mỗi chỉ số</a:t>
            </a:r>
            <a:endParaRPr lang="en-US" sz="1400" dirty="0"/>
          </a:p>
        </p:txBody>
      </p:sp>
      <p:sp>
        <p:nvSpPr>
          <p:cNvPr id="7" name="Shape 5"/>
          <p:cNvSpPr/>
          <p:nvPr/>
        </p:nvSpPr>
        <p:spPr>
          <a:xfrm>
            <a:off x="6188075" y="1259185"/>
            <a:ext cx="5187950" cy="1613793"/>
          </a:xfrm>
          <a:prstGeom prst="roundRect">
            <a:avLst>
              <a:gd name="adj" fmla="val 6099"/>
            </a:avLst>
          </a:prstGeom>
          <a:solidFill>
            <a:srgbClr val="FFFFFF"/>
          </a:solidFill>
          <a:ln w="6350">
            <a:solidFill>
              <a:srgbClr val="D9E2EC"/>
            </a:solidFill>
            <a:prstDash val="solid"/>
          </a:ln>
        </p:spPr>
        <p:txBody>
          <a:bodyPr/>
          <a:p/>
        </p:txBody>
      </p:sp>
      <p:sp>
        <p:nvSpPr>
          <p:cNvPr id="8" name="Text 6"/>
          <p:cNvSpPr/>
          <p:nvPr/>
        </p:nvSpPr>
        <p:spPr>
          <a:xfrm>
            <a:off x="6394450" y="1414760"/>
            <a:ext cx="491845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Arial" pitchFamily="34" charset="0"/>
                <a:ea typeface="Arial" pitchFamily="34" charset="-122"/>
                <a:cs typeface="Arial" pitchFamily="34" charset="-120"/>
              </a:rPr>
              <a:t>Vì sao dùng dữ liệu tự tạo</a:t>
            </a:r>
            <a:endParaRPr lang="en-US" sz="1600" dirty="0"/>
          </a:p>
        </p:txBody>
      </p:sp>
      <p:sp>
        <p:nvSpPr>
          <p:cNvPr id="9" name="Text 7"/>
          <p:cNvSpPr/>
          <p:nvPr/>
        </p:nvSpPr>
        <p:spPr>
          <a:xfrm>
            <a:off x="6440932" y="1722041"/>
            <a:ext cx="4865878" cy="771922"/>
          </a:xfrm>
          <a:prstGeom prst="rect">
            <a:avLst/>
          </a:prstGeom>
          <a:noFill/>
          <a:ln/>
        </p:spPr>
        <p:txBody>
          <a:bodyPr wrap="square" lIns="0" tIns="0" rIns="0" bIns="0" rtlCol="0" anchor="t">
            <a:normAutofit/>
          </a:bodyPr>
          <a:lstStyle/>
          <a:p>
            <a:pPr algn="l" marL="156718" indent="-156718">
              <a:lnSpc>
                <a:spcPts val="1960"/>
              </a:lnSpc>
              <a:buSzPct val="100000"/>
              <a:buChar char="•"/>
            </a:pPr>
            <a:r>
              <a:rPr lang="en-US" sz="1400" dirty="0">
                <a:solidFill>
                  <a:srgbClr val="13233A"/>
                </a:solidFill>
                <a:latin typeface="Arial" pitchFamily="34" charset="0"/>
                <a:ea typeface="Arial" pitchFamily="34" charset="-122"/>
                <a:cs typeface="Arial" pitchFamily="34" charset="-120"/>
              </a:rPr>
              <a:t>Cần đáp án đúng để chấm; phiếu thật không có sẵn</a:t>
            </a:r>
            <a:endParaRPr lang="en-US" sz="1400" dirty="0"/>
          </a:p>
          <a:p>
            <a:pPr algn="l" marL="156718" indent="-156718">
              <a:lnSpc>
                <a:spcPts val="1960"/>
              </a:lnSpc>
              <a:buSzPct val="100000"/>
              <a:buChar char="•"/>
            </a:pPr>
            <a:r>
              <a:rPr lang="en-US" sz="1400" dirty="0">
                <a:solidFill>
                  <a:srgbClr val="13233A"/>
                </a:solidFill>
                <a:latin typeface="Arial" pitchFamily="34" charset="0"/>
                <a:ea typeface="Arial" pitchFamily="34" charset="-122"/>
                <a:cs typeface="Arial" pitchFamily="34" charset="-120"/>
              </a:rPr>
              <a:t>Cần cân bằng các mức; phiếu thật hầu hết bình thường</a:t>
            </a:r>
            <a:endParaRPr lang="en-US" sz="1400" dirty="0"/>
          </a:p>
          <a:p>
            <a:pPr algn="l" marL="156718" indent="-156718">
              <a:lnSpc>
                <a:spcPts val="1960"/>
              </a:lnSpc>
              <a:buSzPct val="100000"/>
              <a:buChar char="•"/>
            </a:pPr>
            <a:r>
              <a:rPr lang="en-US" sz="1400" dirty="0">
                <a:solidFill>
                  <a:srgbClr val="13233A"/>
                </a:solidFill>
                <a:latin typeface="Arial" pitchFamily="34" charset="0"/>
                <a:ea typeface="Arial" pitchFamily="34" charset="-122"/>
                <a:cs typeface="Arial" pitchFamily="34" charset="-120"/>
              </a:rPr>
              <a:t>Không đụng tới dữ liệu người bệnh</a:t>
            </a:r>
            <a:endParaRPr lang="en-US" sz="1400" dirty="0"/>
          </a:p>
        </p:txBody>
      </p:sp>
      <p:sp>
        <p:nvSpPr>
          <p:cNvPr id="10" name="Text 8"/>
          <p:cNvSpPr/>
          <p:nvPr/>
        </p:nvSpPr>
        <p:spPr>
          <a:xfrm>
            <a:off x="812800" y="3041253"/>
            <a:ext cx="108833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Arial" pitchFamily="34" charset="0"/>
                <a:ea typeface="Arial" pitchFamily="34" charset="-122"/>
                <a:cs typeface="Arial" pitchFamily="34" charset="-120"/>
              </a:rPr>
              <a:t>So sánh ba cấu hình</a:t>
            </a:r>
            <a:endParaRPr lang="en-US" sz="1600" dirty="0"/>
          </a:p>
        </p:txBody>
      </p:sp>
      <p:sp>
        <p:nvSpPr>
          <p:cNvPr id="11" name="Shape 9"/>
          <p:cNvSpPr/>
          <p:nvPr/>
        </p:nvSpPr>
        <p:spPr>
          <a:xfrm>
            <a:off x="815975" y="3453309"/>
            <a:ext cx="3414117" cy="1691481"/>
          </a:xfrm>
          <a:prstGeom prst="roundRect">
            <a:avLst>
              <a:gd name="adj" fmla="val 5819"/>
            </a:avLst>
          </a:prstGeom>
          <a:solidFill>
            <a:srgbClr val="FFFFFF"/>
          </a:solidFill>
          <a:ln w="6350">
            <a:solidFill>
              <a:srgbClr val="D9E2EC"/>
            </a:solidFill>
            <a:prstDash val="solid"/>
          </a:ln>
        </p:spPr>
        <p:txBody>
          <a:bodyPr/>
          <a:p/>
        </p:txBody>
      </p:sp>
      <p:sp>
        <p:nvSpPr>
          <p:cNvPr id="12" name="Text 10"/>
          <p:cNvSpPr/>
          <p:nvPr/>
        </p:nvSpPr>
        <p:spPr>
          <a:xfrm>
            <a:off x="996950" y="3596184"/>
            <a:ext cx="314373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A4A5E"/>
                </a:solidFill>
                <a:latin typeface="Arial" pitchFamily="34" charset="0"/>
                <a:ea typeface="Arial" pitchFamily="34" charset="-122"/>
                <a:cs typeface="Arial" pitchFamily="34" charset="-120"/>
              </a:rPr>
              <a:t>baseline</a:t>
            </a:r>
            <a:endParaRPr lang="en-US" sz="1600" dirty="0"/>
          </a:p>
        </p:txBody>
      </p:sp>
      <p:sp>
        <p:nvSpPr>
          <p:cNvPr id="13" name="Text 11"/>
          <p:cNvSpPr/>
          <p:nvPr/>
        </p:nvSpPr>
        <p:spPr>
          <a:xfrm>
            <a:off x="996950" y="3956844"/>
            <a:ext cx="3143732"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33A"/>
                </a:solidFill>
                <a:latin typeface="Arial" pitchFamily="34" charset="0"/>
                <a:ea typeface="Arial" pitchFamily="34" charset="-122"/>
                <a:cs typeface="Arial" pitchFamily="34" charset="-120"/>
              </a:rPr>
              <a:t>Đưa thẳng số liệu cho mô hình. Không nhãn, không ràng buộc, không kiểm chứng.</a:t>
            </a:r>
            <a:endParaRPr lang="en-US" sz="1400" dirty="0"/>
          </a:p>
        </p:txBody>
      </p:sp>
      <p:sp>
        <p:nvSpPr>
          <p:cNvPr id="14" name="Text 12"/>
          <p:cNvSpPr/>
          <p:nvPr/>
        </p:nvSpPr>
        <p:spPr>
          <a:xfrm>
            <a:off x="996950" y="4753074"/>
            <a:ext cx="314373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6B80"/>
                </a:solidFill>
                <a:latin typeface="Arial" pitchFamily="34" charset="0"/>
                <a:ea typeface="Arial" pitchFamily="34" charset="-122"/>
                <a:cs typeface="Arial" pitchFamily="34" charset="-120"/>
              </a:rPr>
              <a:t>Tầng dùng: không có (chỉ LLM)</a:t>
            </a:r>
            <a:endParaRPr lang="en-US" sz="1400" dirty="0"/>
          </a:p>
        </p:txBody>
      </p:sp>
      <p:sp>
        <p:nvSpPr>
          <p:cNvPr id="15" name="Shape 13"/>
          <p:cNvSpPr/>
          <p:nvPr/>
        </p:nvSpPr>
        <p:spPr>
          <a:xfrm>
            <a:off x="4388842" y="3453309"/>
            <a:ext cx="3414216" cy="1691481"/>
          </a:xfrm>
          <a:prstGeom prst="roundRect">
            <a:avLst>
              <a:gd name="adj" fmla="val 5819"/>
            </a:avLst>
          </a:prstGeom>
          <a:solidFill>
            <a:srgbClr val="FFFFFF"/>
          </a:solidFill>
          <a:ln w="6350">
            <a:solidFill>
              <a:srgbClr val="D9E2EC"/>
            </a:solidFill>
            <a:prstDash val="solid"/>
          </a:ln>
        </p:spPr>
        <p:txBody>
          <a:bodyPr/>
          <a:p/>
        </p:txBody>
      </p:sp>
      <p:sp>
        <p:nvSpPr>
          <p:cNvPr id="16" name="Text 14"/>
          <p:cNvSpPr/>
          <p:nvPr/>
        </p:nvSpPr>
        <p:spPr>
          <a:xfrm>
            <a:off x="4569817" y="3596184"/>
            <a:ext cx="314383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2570C"/>
                </a:solidFill>
                <a:latin typeface="Arial" pitchFamily="34" charset="0"/>
                <a:ea typeface="Arial" pitchFamily="34" charset="-122"/>
                <a:cs typeface="Arial" pitchFamily="34" charset="-120"/>
              </a:rPr>
              <a:t>constrained</a:t>
            </a:r>
            <a:endParaRPr lang="en-US" sz="1600" dirty="0"/>
          </a:p>
        </p:txBody>
      </p:sp>
      <p:sp>
        <p:nvSpPr>
          <p:cNvPr id="17" name="Text 15"/>
          <p:cNvSpPr/>
          <p:nvPr/>
        </p:nvSpPr>
        <p:spPr>
          <a:xfrm>
            <a:off x="4569817" y="3956844"/>
            <a:ext cx="314383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33A"/>
                </a:solidFill>
                <a:latin typeface="Arial" pitchFamily="34" charset="0"/>
                <a:ea typeface="Arial" pitchFamily="34" charset="-122"/>
                <a:cs typeface="Arial" pitchFamily="34" charset="-120"/>
              </a:rPr>
              <a:t>Có nhãn và ràng buộc, nhưng đầu ra không được kiểm chứng.</a:t>
            </a:r>
            <a:endParaRPr lang="en-US" sz="1400" dirty="0"/>
          </a:p>
        </p:txBody>
      </p:sp>
      <p:sp>
        <p:nvSpPr>
          <p:cNvPr id="18" name="Text 16"/>
          <p:cNvSpPr/>
          <p:nvPr/>
        </p:nvSpPr>
        <p:spPr>
          <a:xfrm>
            <a:off x="4569817" y="4513064"/>
            <a:ext cx="314383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4A12"/>
                </a:solidFill>
                <a:latin typeface="Arial" pitchFamily="34" charset="0"/>
                <a:ea typeface="Arial" pitchFamily="34" charset="-122"/>
                <a:cs typeface="Arial" pitchFamily="34" charset="-120"/>
              </a:rPr>
              <a:t>Tầng dùng: T1 · T2 · T3</a:t>
            </a:r>
            <a:endParaRPr lang="en-US" sz="1400" dirty="0"/>
          </a:p>
        </p:txBody>
      </p:sp>
      <p:sp>
        <p:nvSpPr>
          <p:cNvPr id="19" name="Shape 17"/>
          <p:cNvSpPr/>
          <p:nvPr/>
        </p:nvSpPr>
        <p:spPr>
          <a:xfrm>
            <a:off x="7961809" y="3453309"/>
            <a:ext cx="3414216" cy="1691481"/>
          </a:xfrm>
          <a:prstGeom prst="roundRect">
            <a:avLst>
              <a:gd name="adj" fmla="val 5819"/>
            </a:avLst>
          </a:prstGeom>
          <a:solidFill>
            <a:srgbClr val="FFFFFF"/>
          </a:solidFill>
          <a:ln w="6350">
            <a:solidFill>
              <a:srgbClr val="D9E2EC"/>
            </a:solidFill>
            <a:prstDash val="solid"/>
          </a:ln>
        </p:spPr>
        <p:txBody>
          <a:bodyPr/>
          <a:p/>
        </p:txBody>
      </p:sp>
      <p:sp>
        <p:nvSpPr>
          <p:cNvPr id="20" name="Text 18"/>
          <p:cNvSpPr/>
          <p:nvPr/>
        </p:nvSpPr>
        <p:spPr>
          <a:xfrm>
            <a:off x="8142784" y="3596184"/>
            <a:ext cx="314383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7A6E"/>
                </a:solidFill>
                <a:latin typeface="Arial" pitchFamily="34" charset="0"/>
                <a:ea typeface="Arial" pitchFamily="34" charset="-122"/>
                <a:cs typeface="Arial" pitchFamily="34" charset="-120"/>
              </a:rPr>
              <a:t>full</a:t>
            </a:r>
            <a:endParaRPr lang="en-US" sz="1600" dirty="0"/>
          </a:p>
        </p:txBody>
      </p:sp>
      <p:sp>
        <p:nvSpPr>
          <p:cNvPr id="21" name="Text 19"/>
          <p:cNvSpPr/>
          <p:nvPr/>
        </p:nvSpPr>
        <p:spPr>
          <a:xfrm>
            <a:off x="8142784" y="3956844"/>
            <a:ext cx="314383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33A"/>
                </a:solidFill>
                <a:latin typeface="Arial" pitchFamily="34" charset="0"/>
                <a:ea typeface="Arial" pitchFamily="34" charset="-122"/>
                <a:cs typeface="Arial" pitchFamily="34" charset="-120"/>
              </a:rPr>
              <a:t>Đầy đủ, có viết lại và dự phòng bằng câu mẫu.</a:t>
            </a:r>
            <a:endParaRPr lang="en-US" sz="1400" dirty="0"/>
          </a:p>
        </p:txBody>
      </p:sp>
      <p:sp>
        <p:nvSpPr>
          <p:cNvPr id="22" name="Text 20"/>
          <p:cNvSpPr/>
          <p:nvPr/>
        </p:nvSpPr>
        <p:spPr>
          <a:xfrm>
            <a:off x="8142784" y="4513064"/>
            <a:ext cx="314383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7A6E"/>
                </a:solidFill>
                <a:latin typeface="Arial" pitchFamily="34" charset="0"/>
                <a:ea typeface="Arial" pitchFamily="34" charset="-122"/>
                <a:cs typeface="Arial" pitchFamily="34" charset="-120"/>
              </a:rPr>
              <a:t>Tầng dùng: T1 · T2 · T3 · T4</a:t>
            </a:r>
            <a:endParaRPr lang="en-US" sz="1400" dirty="0"/>
          </a:p>
        </p:txBody>
      </p:sp>
      <p:sp>
        <p:nvSpPr>
          <p:cNvPr id="23" name="Text 21"/>
          <p:cNvSpPr/>
          <p:nvPr/>
        </p:nvSpPr>
        <p:spPr>
          <a:xfrm>
            <a:off x="812800" y="6202759"/>
            <a:ext cx="784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HEALTHINFO IV · Trương Quang Đại, HUTECH · Bài HI26-0013</a:t>
            </a:r>
            <a:endParaRPr lang="en-US" sz="1400" dirty="0"/>
          </a:p>
        </p:txBody>
      </p:sp>
      <p:sp>
        <p:nvSpPr>
          <p:cNvPr id="24" name="Text 22"/>
          <p:cNvSpPr/>
          <p:nvPr/>
        </p:nvSpPr>
        <p:spPr>
          <a:xfrm>
            <a:off x="10058400" y="6202759"/>
            <a:ext cx="132080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B6B80"/>
                </a:solidFill>
                <a:latin typeface="Arial" pitchFamily="34" charset="0"/>
                <a:ea typeface="Arial" pitchFamily="34" charset="-122"/>
                <a:cs typeface="Arial" pitchFamily="34" charset="-120"/>
              </a:rPr>
              <a:t>12 / 19</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3F6FA"/>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0B7A6E"/>
          </a:solidFill>
          <a:ln/>
        </p:spPr>
        <p:txBody>
          <a:bodyPr/>
          <a:p/>
        </p:txBody>
      </p:sp>
      <p:sp>
        <p:nvSpPr>
          <p:cNvPr id="3" name="Text 1"/>
          <p:cNvSpPr/>
          <p:nvPr>
            <p:ph type="title"/>
          </p:nvPr>
        </p:nvSpPr>
        <p:spPr>
          <a:xfrm>
            <a:off x="812800" y="71120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B7A6E"/>
                </a:solidFill>
                <a:latin typeface="Arial" pitchFamily="34" charset="0"/>
                <a:ea typeface="Arial" pitchFamily="34" charset="-122"/>
                <a:cs typeface="Arial" pitchFamily="34" charset="-120"/>
              </a:rPr>
              <a:t>12</a:t>
            </a:r>
            <a:r>
              <a:rPr lang="en-US" sz="2600" b="1" i="0" dirty="0">
                <a:solidFill>
                  <a:srgbClr val="0B2545"/>
                </a:solidFill>
                <a:latin typeface="Arial" pitchFamily="34" charset="0"/>
                <a:ea typeface="Arial" pitchFamily="34" charset="-122"/>
                <a:cs typeface="Arial" pitchFamily="34" charset="-120"/>
              </a:rPr>
              <a:t> Kết quả: mọi lỗi về 0 ở cấu hình </a:t>
            </a:r>
            <a:r>
              <a:rPr lang="en-US" sz="2600" b="1" i="0" dirty="0">
                <a:solidFill>
                  <a:srgbClr val="0B7A6E"/>
                </a:solidFill>
                <a:latin typeface="Arial" pitchFamily="34" charset="0"/>
                <a:ea typeface="Arial" pitchFamily="34" charset="-122"/>
                <a:cs typeface="Arial" pitchFamily="34" charset="-120"/>
              </a:rPr>
              <a:t>full</a:t>
            </a:r>
            <a:endParaRPr lang="en-US" sz="2600" dirty="0"/>
          </a:p>
        </p:txBody>
      </p:sp>
      <p:sp>
        <p:nvSpPr>
          <p:cNvPr id="4" name="Shape 2"/>
          <p:cNvSpPr/>
          <p:nvPr/>
        </p:nvSpPr>
        <p:spPr>
          <a:xfrm>
            <a:off x="812800" y="1230610"/>
            <a:ext cx="10566400" cy="2018903"/>
          </a:xfrm>
          <a:prstGeom prst="rect">
            <a:avLst/>
          </a:prstGeom>
          <a:solidFill>
            <a:srgbClr val="FFFFFF"/>
          </a:solidFill>
          <a:ln/>
        </p:spPr>
        <p:txBody>
          <a:bodyPr/>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243310"/>
          <a:ext cx="10553700" cy="2006203"/>
        </p:xfrm>
        <a:graphic>
          <a:graphicData uri="http://schemas.openxmlformats.org/drawingml/2006/table">
            <a:tbl>
              <a:tblPr/>
              <a:tblGrid>
                <a:gridCol w="1623646"/>
                <a:gridCol w="1116257"/>
                <a:gridCol w="1116257"/>
                <a:gridCol w="1116257"/>
                <a:gridCol w="1116257"/>
                <a:gridCol w="1116257"/>
                <a:gridCol w="1116257"/>
                <a:gridCol w="1116257"/>
                <a:gridCol w="1116257"/>
              </a:tblGrid>
              <a:tr h="688181">
                <a:tc>
                  <a:txBody>
                    <a:bodyPr/>
                    <a:lstStyle/>
                    <a:p>
                      <a:pPr indent="0" marL="0">
                        <a:lnSpc>
                          <a:spcPts val="1960"/>
                        </a:lnSpc>
                        <a:buNone/>
                      </a:pPr>
                      <a:r>
                        <a:rPr lang="en-US" sz="1400" b="1" dirty="0">
                          <a:solidFill>
                            <a:srgbClr val="FFFFFF"/>
                          </a:solidFill>
                          <a:latin typeface="Arial" pitchFamily="34" charset="0"/>
                          <a:ea typeface="Arial" pitchFamily="34" charset="-122"/>
                          <a:cs typeface="Arial" pitchFamily="34" charset="-120"/>
                        </a:rPr>
                        <a:t>Cấu hình</a:t>
                      </a:r>
                      <a:endParaRPr lang="en-US" sz="1400" dirty="0">
                        <a:latin typeface="Arial" charset="0"/>
                        <a:ea typeface="Arial" charset="0"/>
                        <a:cs typeface="Arial" charset="0"/>
                      </a:endParaRPr>
                    </a:p>
                  </a:txBody>
                  <a:tcPr marL="63500" marR="63500" marT="88900" marB="88900" anchor="t">
                    <a:lnL w="12700" cap="flat" cmpd="sng" algn="ctr">
                      <a:solidFill>
                        <a:srgbClr val="CBCBCB"/>
                      </a:solidFill>
                      <a:prstDash val="solid"/>
                      <a:round/>
                      <a:headEnd type="none" w="med" len="med"/>
                      <a:tailEnd type="none" w="med" len="med"/>
                    </a:lnL>
                    <a:lnR w="12700" cap="flat" cmpd="sng" algn="ctr">
                      <a:solidFill>
                        <a:srgbClr val="0D213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213A"/>
                      </a:solidFill>
                      <a:prstDash val="solid"/>
                      <a:round/>
                      <a:headEnd type="none" w="med" len="med"/>
                      <a:tailEnd type="none" w="med" len="med"/>
                    </a:lnB>
                    <a:solidFill>
                      <a:srgbClr val="0B2545"/>
                    </a:solidFill>
                  </a:tcPr>
                </a:tc>
                <a:tc>
                  <a:txBody>
                    <a:bodyPr/>
                    <a:lstStyle/>
                    <a:p>
                      <a:pPr algn="ctr" indent="0" marL="0">
                        <a:lnSpc>
                          <a:spcPts val="1960"/>
                        </a:lnSpc>
                        <a:buNone/>
                      </a:pPr>
                      <a:r>
                        <a:rPr lang="en-US" sz="1400" b="1" dirty="0">
                          <a:solidFill>
                            <a:srgbClr val="5EEAD4"/>
                          </a:solidFill>
                          <a:latin typeface="Arial" pitchFamily="34" charset="0"/>
                          <a:ea typeface="Arial" pitchFamily="34" charset="-122"/>
                          <a:cs typeface="Arial" pitchFamily="34" charset="-120"/>
                        </a:rPr>
                        <a:t>An toàn ↑</a:t>
                      </a:r>
                      <a:endParaRPr lang="en-US" sz="1400" dirty="0">
                        <a:latin typeface="Arial" charset="0"/>
                        <a:ea typeface="Arial" charset="0"/>
                        <a:cs typeface="Arial" charset="0"/>
                      </a:endParaRPr>
                    </a:p>
                  </a:txBody>
                  <a:tcPr marL="63500" marR="63500" marT="88900" marB="88900" anchor="t">
                    <a:lnL w="12700" cap="flat" cmpd="sng" algn="ctr">
                      <a:solidFill>
                        <a:srgbClr val="0D213A"/>
                      </a:solidFill>
                      <a:prstDash val="solid"/>
                      <a:round/>
                      <a:headEnd type="none" w="med" len="med"/>
                      <a:tailEnd type="none" w="med" len="med"/>
                    </a:lnL>
                    <a:lnR w="12700" cap="flat" cmpd="sng" algn="ctr">
                      <a:solidFill>
                        <a:srgbClr val="0D213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213A"/>
                      </a:solidFill>
                      <a:prstDash val="solid"/>
                      <a:round/>
                      <a:headEnd type="none" w="med" len="med"/>
                      <a:tailEnd type="none" w="med" len="med"/>
                    </a:lnB>
                    <a:solidFill>
                      <a:srgbClr val="0B2545"/>
                    </a:solidFill>
                  </a:tcPr>
                </a:tc>
                <a:tc>
                  <a:txBody>
                    <a:bodyPr/>
                    <a:lstStyle/>
                    <a:p>
                      <a:pPr algn="ctr" indent="0" marL="0">
                        <a:lnSpc>
                          <a:spcPts val="1960"/>
                        </a:lnSpc>
                        <a:buNone/>
                      </a:pPr>
                      <a:r>
                        <a:rPr lang="en-US" sz="1400" b="1" dirty="0">
                          <a:solidFill>
                            <a:srgbClr val="5EEAD4"/>
                          </a:solidFill>
                          <a:latin typeface="Arial" pitchFamily="34" charset="0"/>
                          <a:ea typeface="Arial" pitchFamily="34" charset="-122"/>
                          <a:cs typeface="Arial" pitchFamily="34" charset="-120"/>
                        </a:rPr>
                        <a:t>Mô hình đạt ↑</a:t>
                      </a:r>
                      <a:endParaRPr lang="en-US" sz="1400" dirty="0">
                        <a:latin typeface="Arial" charset="0"/>
                        <a:ea typeface="Arial" charset="0"/>
                        <a:cs typeface="Arial" charset="0"/>
                      </a:endParaRPr>
                    </a:p>
                  </a:txBody>
                  <a:tcPr marL="63500" marR="63500" marT="88900" marB="88900" anchor="t">
                    <a:lnL w="12700" cap="flat" cmpd="sng" algn="ctr">
                      <a:solidFill>
                        <a:srgbClr val="0D213A"/>
                      </a:solidFill>
                      <a:prstDash val="solid"/>
                      <a:round/>
                      <a:headEnd type="none" w="med" len="med"/>
                      <a:tailEnd type="none" w="med" len="med"/>
                    </a:lnL>
                    <a:lnR w="12700" cap="flat" cmpd="sng" algn="ctr">
                      <a:solidFill>
                        <a:srgbClr val="0D213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213A"/>
                      </a:solidFill>
                      <a:prstDash val="solid"/>
                      <a:round/>
                      <a:headEnd type="none" w="med" len="med"/>
                      <a:tailEnd type="none" w="med" len="med"/>
                    </a:lnB>
                    <a:solidFill>
                      <a:srgbClr val="0B2545"/>
                    </a:solidFill>
                  </a:tcPr>
                </a:tc>
                <a:tc>
                  <a:txBody>
                    <a:bodyPr/>
                    <a:lstStyle/>
                    <a:p>
                      <a:pPr algn="ctr" indent="0" marL="0">
                        <a:lnSpc>
                          <a:spcPts val="1960"/>
                        </a:lnSpc>
                        <a:buNone/>
                      </a:pPr>
                      <a:r>
                        <a:rPr lang="en-US" sz="1400" b="1" dirty="0">
                          <a:solidFill>
                            <a:srgbClr val="FDBA74"/>
                          </a:solidFill>
                          <a:latin typeface="Arial" pitchFamily="34" charset="0"/>
                          <a:ea typeface="Arial" pitchFamily="34" charset="-122"/>
                          <a:cs typeface="Arial" pitchFamily="34" charset="-120"/>
                        </a:rPr>
                        <a:t>Trấn an sai ↓</a:t>
                      </a:r>
                      <a:endParaRPr lang="en-US" sz="1400" dirty="0">
                        <a:latin typeface="Arial" charset="0"/>
                        <a:ea typeface="Arial" charset="0"/>
                        <a:cs typeface="Arial" charset="0"/>
                      </a:endParaRPr>
                    </a:p>
                  </a:txBody>
                  <a:tcPr marL="63500" marR="63500" marT="88900" marB="88900" anchor="t">
                    <a:lnL w="12700" cap="flat" cmpd="sng" algn="ctr">
                      <a:solidFill>
                        <a:srgbClr val="0D213A"/>
                      </a:solidFill>
                      <a:prstDash val="solid"/>
                      <a:round/>
                      <a:headEnd type="none" w="med" len="med"/>
                      <a:tailEnd type="none" w="med" len="med"/>
                    </a:lnL>
                    <a:lnR w="12700" cap="flat" cmpd="sng" algn="ctr">
                      <a:solidFill>
                        <a:srgbClr val="0D213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213A"/>
                      </a:solidFill>
                      <a:prstDash val="solid"/>
                      <a:round/>
                      <a:headEnd type="none" w="med" len="med"/>
                      <a:tailEnd type="none" w="med" len="med"/>
                    </a:lnB>
                    <a:solidFill>
                      <a:srgbClr val="0B2545"/>
                    </a:solidFill>
                  </a:tcPr>
                </a:tc>
                <a:tc>
                  <a:txBody>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Sai chiều lệch ↓</a:t>
                      </a:r>
                      <a:endParaRPr lang="en-US" sz="1400" dirty="0">
                        <a:latin typeface="Arial" charset="0"/>
                        <a:ea typeface="Arial" charset="0"/>
                        <a:cs typeface="Arial" charset="0"/>
                      </a:endParaRPr>
                    </a:p>
                  </a:txBody>
                  <a:tcPr marL="63500" marR="63500" marT="88900" marB="88900" anchor="t">
                    <a:lnL w="12700" cap="flat" cmpd="sng" algn="ctr">
                      <a:solidFill>
                        <a:srgbClr val="0D213A"/>
                      </a:solidFill>
                      <a:prstDash val="solid"/>
                      <a:round/>
                      <a:headEnd type="none" w="med" len="med"/>
                      <a:tailEnd type="none" w="med" len="med"/>
                    </a:lnL>
                    <a:lnR w="12700" cap="flat" cmpd="sng" algn="ctr">
                      <a:solidFill>
                        <a:srgbClr val="0D213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213A"/>
                      </a:solidFill>
                      <a:prstDash val="solid"/>
                      <a:round/>
                      <a:headEnd type="none" w="med" len="med"/>
                      <a:tailEnd type="none" w="med" len="med"/>
                    </a:lnB>
                    <a:solidFill>
                      <a:srgbClr val="0B2545"/>
                    </a:solidFill>
                  </a:tcPr>
                </a:tc>
                <a:tc>
                  <a:txBody>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Nói ngược nhãn ↓</a:t>
                      </a:r>
                      <a:endParaRPr lang="en-US" sz="1400" dirty="0">
                        <a:latin typeface="Arial" charset="0"/>
                        <a:ea typeface="Arial" charset="0"/>
                        <a:cs typeface="Arial" charset="0"/>
                      </a:endParaRPr>
                    </a:p>
                  </a:txBody>
                  <a:tcPr marL="63500" marR="63500" marT="88900" marB="88900" anchor="t">
                    <a:lnL w="12700" cap="flat" cmpd="sng" algn="ctr">
                      <a:solidFill>
                        <a:srgbClr val="0D213A"/>
                      </a:solidFill>
                      <a:prstDash val="solid"/>
                      <a:round/>
                      <a:headEnd type="none" w="med" len="med"/>
                      <a:tailEnd type="none" w="med" len="med"/>
                    </a:lnL>
                    <a:lnR w="12700" cap="flat" cmpd="sng" algn="ctr">
                      <a:solidFill>
                        <a:srgbClr val="0D213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213A"/>
                      </a:solidFill>
                      <a:prstDash val="solid"/>
                      <a:round/>
                      <a:headEnd type="none" w="med" len="med"/>
                      <a:tailEnd type="none" w="med" len="med"/>
                    </a:lnB>
                    <a:solidFill>
                      <a:srgbClr val="0B2545"/>
                    </a:solidFill>
                  </a:tcPr>
                </a:tc>
                <a:tc>
                  <a:txBody>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Từ bị cấm ↓</a:t>
                      </a:r>
                      <a:endParaRPr lang="en-US" sz="1400" dirty="0">
                        <a:latin typeface="Arial" charset="0"/>
                        <a:ea typeface="Arial" charset="0"/>
                        <a:cs typeface="Arial" charset="0"/>
                      </a:endParaRPr>
                    </a:p>
                  </a:txBody>
                  <a:tcPr marL="63500" marR="63500" marT="88900" marB="88900" anchor="t">
                    <a:lnL w="12700" cap="flat" cmpd="sng" algn="ctr">
                      <a:solidFill>
                        <a:srgbClr val="0D213A"/>
                      </a:solidFill>
                      <a:prstDash val="solid"/>
                      <a:round/>
                      <a:headEnd type="none" w="med" len="med"/>
                      <a:tailEnd type="none" w="med" len="med"/>
                    </a:lnL>
                    <a:lnR w="12700" cap="flat" cmpd="sng" algn="ctr">
                      <a:solidFill>
                        <a:srgbClr val="0D213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213A"/>
                      </a:solidFill>
                      <a:prstDash val="solid"/>
                      <a:round/>
                      <a:headEnd type="none" w="med" len="med"/>
                      <a:tailEnd type="none" w="med" len="med"/>
                    </a:lnB>
                    <a:solidFill>
                      <a:srgbClr val="0B2545"/>
                    </a:solidFill>
                  </a:tcPr>
                </a:tc>
                <a:tc>
                  <a:txBody>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Bịa chỉ số ↓</a:t>
                      </a:r>
                      <a:endParaRPr lang="en-US" sz="1400" dirty="0">
                        <a:latin typeface="Arial" charset="0"/>
                        <a:ea typeface="Arial" charset="0"/>
                        <a:cs typeface="Arial" charset="0"/>
                      </a:endParaRPr>
                    </a:p>
                  </a:txBody>
                  <a:tcPr marL="63500" marR="63500" marT="88900" marB="88900" anchor="t">
                    <a:lnL w="12700" cap="flat" cmpd="sng" algn="ctr">
                      <a:solidFill>
                        <a:srgbClr val="0D213A"/>
                      </a:solidFill>
                      <a:prstDash val="solid"/>
                      <a:round/>
                      <a:headEnd type="none" w="med" len="med"/>
                      <a:tailEnd type="none" w="med" len="med"/>
                    </a:lnL>
                    <a:lnR w="12700" cap="flat" cmpd="sng" algn="ctr">
                      <a:solidFill>
                        <a:srgbClr val="0D213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213A"/>
                      </a:solidFill>
                      <a:prstDash val="solid"/>
                      <a:round/>
                      <a:headEnd type="none" w="med" len="med"/>
                      <a:tailEnd type="none" w="med" len="med"/>
                    </a:lnB>
                    <a:solidFill>
                      <a:srgbClr val="0B2545"/>
                    </a:solidFill>
                  </a:tcPr>
                </a:tc>
                <a:tc>
                  <a:txBody>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Bỏ sót chỉ số ↓</a:t>
                      </a:r>
                      <a:endParaRPr lang="en-US" sz="1400" dirty="0">
                        <a:latin typeface="Arial" charset="0"/>
                        <a:ea typeface="Arial" charset="0"/>
                        <a:cs typeface="Arial" charset="0"/>
                      </a:endParaRPr>
                    </a:p>
                  </a:txBody>
                  <a:tcPr marL="63500" marR="63500" marT="88900" marB="88900" anchor="t">
                    <a:lnL w="12700" cap="flat" cmpd="sng" algn="ctr">
                      <a:solidFill>
                        <a:srgbClr val="0D213A"/>
                      </a:solidFill>
                      <a:prstDash val="solid"/>
                      <a:round/>
                      <a:headEnd type="none" w="med" len="med"/>
                      <a:tailEnd type="none" w="med" len="med"/>
                    </a:lnL>
                    <a:lnR w="12700" cap="flat" cmpd="sng" algn="ctr">
                      <a:solidFill>
                        <a:srgbClr val="0D213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213A"/>
                      </a:solidFill>
                      <a:prstDash val="solid"/>
                      <a:round/>
                      <a:headEnd type="none" w="med" len="med"/>
                      <a:tailEnd type="none" w="med" len="med"/>
                    </a:lnB>
                    <a:solidFill>
                      <a:srgbClr val="0B2545"/>
                    </a:solidFill>
                  </a:tcPr>
                </a:tc>
              </a:tr>
              <a:tr h="439341">
                <a:tc>
                  <a:txBody>
                    <a:bodyPr/>
                    <a:lstStyle/>
                    <a:p>
                      <a:pPr indent="0" marL="0">
                        <a:lnSpc>
                          <a:spcPts val="1960"/>
                        </a:lnSpc>
                        <a:buNone/>
                      </a:pPr>
                      <a:r>
                        <a:rPr lang="en-US" sz="1400" dirty="0">
                          <a:solidFill>
                            <a:srgbClr val="3A4A5E"/>
                          </a:solidFill>
                          <a:latin typeface="Arial" pitchFamily="34" charset="0"/>
                          <a:ea typeface="Arial" pitchFamily="34" charset="-122"/>
                          <a:cs typeface="Arial" pitchFamily="34" charset="-120"/>
                        </a:rPr>
                        <a:t>baseline</a:t>
                      </a:r>
                      <a:endParaRPr lang="en-US" sz="1400" dirty="0">
                        <a:latin typeface="Arial" charset="0"/>
                        <a:ea typeface="Arial" charset="0"/>
                        <a:cs typeface="Arial" charset="0"/>
                      </a:endParaRPr>
                    </a:p>
                  </a:txBody>
                  <a:tcPr marL="63500" marR="635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213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33A"/>
                          </a:solidFill>
                          <a:latin typeface="Arial" pitchFamily="34" charset="0"/>
                          <a:ea typeface="Arial" pitchFamily="34" charset="-122"/>
                          <a:cs typeface="Arial" pitchFamily="34" charset="-120"/>
                        </a:rPr>
                        <a:t>0,0</a:t>
                      </a:r>
                      <a:endParaRPr lang="en-US" sz="1400" dirty="0">
                        <a:latin typeface="Arial" charset="0"/>
                        <a:ea typeface="Arial" charset="0"/>
                        <a:cs typeface="Arial" charset="0"/>
                      </a:endParaRPr>
                    </a:p>
                  </a:txBody>
                  <a:tcPr marL="63500" marR="635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213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33A"/>
                          </a:solidFill>
                          <a:latin typeface="Arial" pitchFamily="34" charset="0"/>
                          <a:ea typeface="Arial" pitchFamily="34" charset="-122"/>
                          <a:cs typeface="Arial" pitchFamily="34" charset="-120"/>
                        </a:rPr>
                        <a:t>0,0</a:t>
                      </a:r>
                      <a:endParaRPr lang="en-US" sz="1400" dirty="0">
                        <a:latin typeface="Arial" charset="0"/>
                        <a:ea typeface="Arial" charset="0"/>
                        <a:cs typeface="Arial" charset="0"/>
                      </a:endParaRPr>
                    </a:p>
                  </a:txBody>
                  <a:tcPr marL="63500" marR="635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213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C2570C"/>
                          </a:solidFill>
                          <a:latin typeface="Arial" pitchFamily="34" charset="0"/>
                          <a:ea typeface="Arial" pitchFamily="34" charset="-122"/>
                          <a:cs typeface="Arial" pitchFamily="34" charset="-120"/>
                        </a:rPr>
                        <a:t>32,0</a:t>
                      </a:r>
                      <a:endParaRPr lang="en-US" sz="1400" dirty="0">
                        <a:latin typeface="Arial" charset="0"/>
                        <a:ea typeface="Arial" charset="0"/>
                        <a:cs typeface="Arial" charset="0"/>
                      </a:endParaRPr>
                    </a:p>
                  </a:txBody>
                  <a:tcPr marL="63500" marR="635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213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C2570C"/>
                          </a:solidFill>
                          <a:latin typeface="Arial" pitchFamily="34" charset="0"/>
                          <a:ea typeface="Arial" pitchFamily="34" charset="-122"/>
                          <a:cs typeface="Arial" pitchFamily="34" charset="-120"/>
                        </a:rPr>
                        <a:t>91,3</a:t>
                      </a:r>
                      <a:endParaRPr lang="en-US" sz="1400" dirty="0">
                        <a:latin typeface="Arial" charset="0"/>
                        <a:ea typeface="Arial" charset="0"/>
                        <a:cs typeface="Arial" charset="0"/>
                      </a:endParaRPr>
                    </a:p>
                  </a:txBody>
                  <a:tcPr marL="63500" marR="635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213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C2570C"/>
                          </a:solidFill>
                          <a:latin typeface="Arial" pitchFamily="34" charset="0"/>
                          <a:ea typeface="Arial" pitchFamily="34" charset="-122"/>
                          <a:cs typeface="Arial" pitchFamily="34" charset="-120"/>
                        </a:rPr>
                        <a:t>56,0</a:t>
                      </a:r>
                      <a:endParaRPr lang="en-US" sz="1400" dirty="0">
                        <a:latin typeface="Arial" charset="0"/>
                        <a:ea typeface="Arial" charset="0"/>
                        <a:cs typeface="Arial" charset="0"/>
                      </a:endParaRPr>
                    </a:p>
                  </a:txBody>
                  <a:tcPr marL="63500" marR="635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213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C2570C"/>
                          </a:solidFill>
                          <a:latin typeface="Arial" pitchFamily="34" charset="0"/>
                          <a:ea typeface="Arial" pitchFamily="34" charset="-122"/>
                          <a:cs typeface="Arial" pitchFamily="34" charset="-120"/>
                        </a:rPr>
                        <a:t>79,3</a:t>
                      </a:r>
                      <a:endParaRPr lang="en-US" sz="1400" dirty="0">
                        <a:latin typeface="Arial" charset="0"/>
                        <a:ea typeface="Arial" charset="0"/>
                        <a:cs typeface="Arial" charset="0"/>
                      </a:endParaRPr>
                    </a:p>
                  </a:txBody>
                  <a:tcPr marL="63500" marR="635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213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C2570C"/>
                          </a:solidFill>
                          <a:latin typeface="Arial" pitchFamily="34" charset="0"/>
                          <a:ea typeface="Arial" pitchFamily="34" charset="-122"/>
                          <a:cs typeface="Arial" pitchFamily="34" charset="-120"/>
                        </a:rPr>
                        <a:t>32,0</a:t>
                      </a:r>
                      <a:endParaRPr lang="en-US" sz="1400" dirty="0">
                        <a:latin typeface="Arial" charset="0"/>
                        <a:ea typeface="Arial" charset="0"/>
                        <a:cs typeface="Arial" charset="0"/>
                      </a:endParaRPr>
                    </a:p>
                  </a:txBody>
                  <a:tcPr marL="63500" marR="635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213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C2570C"/>
                          </a:solidFill>
                          <a:latin typeface="Arial" pitchFamily="34" charset="0"/>
                          <a:ea typeface="Arial" pitchFamily="34" charset="-122"/>
                          <a:cs typeface="Arial" pitchFamily="34" charset="-120"/>
                        </a:rPr>
                        <a:t>71,3</a:t>
                      </a:r>
                      <a:endParaRPr lang="en-US" sz="1400" dirty="0">
                        <a:latin typeface="Arial" charset="0"/>
                        <a:ea typeface="Arial" charset="0"/>
                        <a:cs typeface="Arial" charset="0"/>
                      </a:endParaRPr>
                    </a:p>
                  </a:txBody>
                  <a:tcPr marL="63500" marR="635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213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C2570C"/>
                          </a:solidFill>
                          <a:latin typeface="Arial" pitchFamily="34" charset="0"/>
                          <a:ea typeface="Arial" pitchFamily="34" charset="-122"/>
                          <a:cs typeface="Arial" pitchFamily="34" charset="-120"/>
                        </a:rPr>
                        <a:t>constrained</a:t>
                      </a:r>
                      <a:endParaRPr lang="en-US" sz="1400" dirty="0">
                        <a:latin typeface="Arial" charset="0"/>
                        <a:ea typeface="Arial" charset="0"/>
                        <a:cs typeface="Arial" charset="0"/>
                      </a:endParaRPr>
                    </a:p>
                  </a:txBody>
                  <a:tcPr marL="63500" marR="635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33A"/>
                          </a:solidFill>
                          <a:latin typeface="Arial" pitchFamily="34" charset="0"/>
                          <a:ea typeface="Arial" pitchFamily="34" charset="-122"/>
                          <a:cs typeface="Arial" pitchFamily="34" charset="-120"/>
                        </a:rPr>
                        <a:t>48,0</a:t>
                      </a:r>
                      <a:endParaRPr lang="en-US" sz="1400" dirty="0">
                        <a:latin typeface="Arial" charset="0"/>
                        <a:ea typeface="Arial" charset="0"/>
                        <a:cs typeface="Arial" charset="0"/>
                      </a:endParaRPr>
                    </a:p>
                  </a:txBody>
                  <a:tcPr marL="63500" marR="635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33A"/>
                          </a:solidFill>
                          <a:latin typeface="Arial" pitchFamily="34" charset="0"/>
                          <a:ea typeface="Arial" pitchFamily="34" charset="-122"/>
                          <a:cs typeface="Arial" pitchFamily="34" charset="-120"/>
                        </a:rPr>
                        <a:t>48,0</a:t>
                      </a:r>
                      <a:endParaRPr lang="en-US" sz="1400" dirty="0">
                        <a:latin typeface="Arial" charset="0"/>
                        <a:ea typeface="Arial" charset="0"/>
                        <a:cs typeface="Arial" charset="0"/>
                      </a:endParaRPr>
                    </a:p>
                  </a:txBody>
                  <a:tcPr marL="63500" marR="635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33A"/>
                          </a:solidFill>
                          <a:latin typeface="Arial" pitchFamily="34" charset="0"/>
                          <a:ea typeface="Arial" pitchFamily="34" charset="-122"/>
                          <a:cs typeface="Arial" pitchFamily="34" charset="-120"/>
                        </a:rPr>
                        <a:t>8,0</a:t>
                      </a:r>
                      <a:endParaRPr lang="en-US" sz="1400" dirty="0">
                        <a:latin typeface="Arial" charset="0"/>
                        <a:ea typeface="Arial" charset="0"/>
                        <a:cs typeface="Arial" charset="0"/>
                      </a:endParaRPr>
                    </a:p>
                  </a:txBody>
                  <a:tcPr marL="63500" marR="635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33A"/>
                          </a:solidFill>
                          <a:latin typeface="Arial" pitchFamily="34" charset="0"/>
                          <a:ea typeface="Arial" pitchFamily="34" charset="-122"/>
                          <a:cs typeface="Arial" pitchFamily="34" charset="-120"/>
                        </a:rPr>
                        <a:t>12,7</a:t>
                      </a:r>
                      <a:endParaRPr lang="en-US" sz="1400" dirty="0">
                        <a:latin typeface="Arial" charset="0"/>
                        <a:ea typeface="Arial" charset="0"/>
                        <a:cs typeface="Arial" charset="0"/>
                      </a:endParaRPr>
                    </a:p>
                  </a:txBody>
                  <a:tcPr marL="63500" marR="635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33A"/>
                          </a:solidFill>
                          <a:latin typeface="Arial" pitchFamily="34" charset="0"/>
                          <a:ea typeface="Arial" pitchFamily="34" charset="-122"/>
                          <a:cs typeface="Arial" pitchFamily="34" charset="-120"/>
                        </a:rPr>
                        <a:t>5,3</a:t>
                      </a:r>
                      <a:endParaRPr lang="en-US" sz="1400" dirty="0">
                        <a:latin typeface="Arial" charset="0"/>
                        <a:ea typeface="Arial" charset="0"/>
                        <a:cs typeface="Arial" charset="0"/>
                      </a:endParaRPr>
                    </a:p>
                  </a:txBody>
                  <a:tcPr marL="63500" marR="635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33A"/>
                          </a:solidFill>
                          <a:latin typeface="Arial" pitchFamily="34" charset="0"/>
                          <a:ea typeface="Arial" pitchFamily="34" charset="-122"/>
                          <a:cs typeface="Arial" pitchFamily="34" charset="-120"/>
                        </a:rPr>
                        <a:t>15,3</a:t>
                      </a:r>
                      <a:endParaRPr lang="en-US" sz="1400" dirty="0">
                        <a:latin typeface="Arial" charset="0"/>
                        <a:ea typeface="Arial" charset="0"/>
                        <a:cs typeface="Arial" charset="0"/>
                      </a:endParaRPr>
                    </a:p>
                  </a:txBody>
                  <a:tcPr marL="63500" marR="635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33A"/>
                          </a:solidFill>
                          <a:latin typeface="Arial" pitchFamily="34" charset="0"/>
                          <a:ea typeface="Arial" pitchFamily="34" charset="-122"/>
                          <a:cs typeface="Arial" pitchFamily="34" charset="-120"/>
                        </a:rPr>
                        <a:t>10,0</a:t>
                      </a:r>
                      <a:endParaRPr lang="en-US" sz="1400" dirty="0">
                        <a:latin typeface="Arial" charset="0"/>
                        <a:ea typeface="Arial" charset="0"/>
                        <a:cs typeface="Arial" charset="0"/>
                      </a:endParaRPr>
                    </a:p>
                  </a:txBody>
                  <a:tcPr marL="63500" marR="635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3233A"/>
                          </a:solidFill>
                          <a:latin typeface="Arial" pitchFamily="34" charset="0"/>
                          <a:ea typeface="Arial" pitchFamily="34" charset="-122"/>
                          <a:cs typeface="Arial" pitchFamily="34" charset="-120"/>
                        </a:rPr>
                        <a:t>28,7</a:t>
                      </a:r>
                      <a:endParaRPr lang="en-US" sz="1400" dirty="0">
                        <a:latin typeface="Arial" charset="0"/>
                        <a:ea typeface="Arial" charset="0"/>
                        <a:cs typeface="Arial" charset="0"/>
                      </a:endParaRPr>
                    </a:p>
                  </a:txBody>
                  <a:tcPr marL="63500" marR="635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0B7A6E"/>
                          </a:solidFill>
                          <a:latin typeface="Arial" pitchFamily="34" charset="0"/>
                          <a:ea typeface="Arial" pitchFamily="34" charset="-122"/>
                          <a:cs typeface="Arial" pitchFamily="34" charset="-120"/>
                        </a:rPr>
                        <a:t>full</a:t>
                      </a:r>
                      <a:endParaRPr lang="en-US" sz="1400" dirty="0">
                        <a:latin typeface="Arial" charset="0"/>
                        <a:ea typeface="Arial" charset="0"/>
                        <a:cs typeface="Arial" charset="0"/>
                      </a:endParaRPr>
                    </a:p>
                  </a:txBody>
                  <a:tcPr marL="63500" marR="63500" marT="88900" marB="88900" anchor="t">
                    <a:lnL w="12700" cap="flat" cmpd="sng" algn="ctr">
                      <a:solidFill>
                        <a:srgbClr val="CBCBCB"/>
                      </a:solidFill>
                      <a:prstDash val="solid"/>
                      <a:round/>
                      <a:headEnd type="none" w="med" len="med"/>
                      <a:tailEnd type="none" w="med" len="med"/>
                    </a:lnL>
                    <a:lnR w="12700" cap="flat" cmpd="sng" algn="ctr">
                      <a:solidFill>
                        <a:srgbClr val="B5C4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5C4C0"/>
                      </a:solidFill>
                      <a:prstDash val="solid"/>
                      <a:round/>
                      <a:headEnd type="none" w="med" len="med"/>
                      <a:tailEnd type="none" w="med" len="med"/>
                    </a:lnB>
                    <a:solidFill>
                      <a:srgbClr val="E3F5F1"/>
                    </a:solidFill>
                  </a:tcPr>
                </a:tc>
                <a:tc>
                  <a:txBody>
                    <a:bodyPr/>
                    <a:lstStyle/>
                    <a:p>
                      <a:pPr algn="ctr" indent="0" marL="0">
                        <a:lnSpc>
                          <a:spcPts val="1960"/>
                        </a:lnSpc>
                        <a:buNone/>
                      </a:pPr>
                      <a:r>
                        <a:rPr lang="en-US" sz="1400" dirty="0">
                          <a:solidFill>
                            <a:srgbClr val="0B7A6E"/>
                          </a:solidFill>
                          <a:latin typeface="Arial" pitchFamily="34" charset="0"/>
                          <a:ea typeface="Arial" pitchFamily="34" charset="-122"/>
                          <a:cs typeface="Arial" pitchFamily="34" charset="-120"/>
                        </a:rPr>
                        <a:t>100,0</a:t>
                      </a:r>
                      <a:endParaRPr lang="en-US" sz="1400" dirty="0">
                        <a:latin typeface="Arial" charset="0"/>
                        <a:ea typeface="Arial" charset="0"/>
                        <a:cs typeface="Arial" charset="0"/>
                      </a:endParaRPr>
                    </a:p>
                  </a:txBody>
                  <a:tcPr marL="63500" marR="63500" marT="88900" marB="88900" anchor="t">
                    <a:lnL w="12700" cap="flat" cmpd="sng" algn="ctr">
                      <a:solidFill>
                        <a:srgbClr val="B5C4C0"/>
                      </a:solidFill>
                      <a:prstDash val="solid"/>
                      <a:round/>
                      <a:headEnd type="none" w="med" len="med"/>
                      <a:tailEnd type="none" w="med" len="med"/>
                    </a:lnL>
                    <a:lnR w="12700" cap="flat" cmpd="sng" algn="ctr">
                      <a:solidFill>
                        <a:srgbClr val="B5C4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5C4C0"/>
                      </a:solidFill>
                      <a:prstDash val="solid"/>
                      <a:round/>
                      <a:headEnd type="none" w="med" len="med"/>
                      <a:tailEnd type="none" w="med" len="med"/>
                    </a:lnB>
                    <a:solidFill>
                      <a:srgbClr val="E3F5F1"/>
                    </a:solidFill>
                  </a:tcPr>
                </a:tc>
                <a:tc>
                  <a:txBody>
                    <a:bodyPr/>
                    <a:lstStyle/>
                    <a:p>
                      <a:pPr algn="ctr" indent="0" marL="0">
                        <a:lnSpc>
                          <a:spcPts val="1960"/>
                        </a:lnSpc>
                        <a:buNone/>
                      </a:pPr>
                      <a:r>
                        <a:rPr lang="en-US" sz="1400" dirty="0">
                          <a:solidFill>
                            <a:srgbClr val="0B7A6E"/>
                          </a:solidFill>
                          <a:latin typeface="Arial" pitchFamily="34" charset="0"/>
                          <a:ea typeface="Arial" pitchFamily="34" charset="-122"/>
                          <a:cs typeface="Arial" pitchFamily="34" charset="-120"/>
                        </a:rPr>
                        <a:t>64,0</a:t>
                      </a:r>
                      <a:endParaRPr lang="en-US" sz="1400" dirty="0">
                        <a:latin typeface="Arial" charset="0"/>
                        <a:ea typeface="Arial" charset="0"/>
                        <a:cs typeface="Arial" charset="0"/>
                      </a:endParaRPr>
                    </a:p>
                  </a:txBody>
                  <a:tcPr marL="63500" marR="63500" marT="88900" marB="88900" anchor="t">
                    <a:lnL w="12700" cap="flat" cmpd="sng" algn="ctr">
                      <a:solidFill>
                        <a:srgbClr val="B5C4C0"/>
                      </a:solidFill>
                      <a:prstDash val="solid"/>
                      <a:round/>
                      <a:headEnd type="none" w="med" len="med"/>
                      <a:tailEnd type="none" w="med" len="med"/>
                    </a:lnL>
                    <a:lnR w="12700" cap="flat" cmpd="sng" algn="ctr">
                      <a:solidFill>
                        <a:srgbClr val="B5C4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5C4C0"/>
                      </a:solidFill>
                      <a:prstDash val="solid"/>
                      <a:round/>
                      <a:headEnd type="none" w="med" len="med"/>
                      <a:tailEnd type="none" w="med" len="med"/>
                    </a:lnB>
                    <a:solidFill>
                      <a:srgbClr val="E3F5F1"/>
                    </a:solidFill>
                  </a:tcPr>
                </a:tc>
                <a:tc>
                  <a:txBody>
                    <a:bodyPr/>
                    <a:lstStyle/>
                    <a:p>
                      <a:pPr algn="ctr" indent="0" marL="0">
                        <a:lnSpc>
                          <a:spcPts val="1960"/>
                        </a:lnSpc>
                        <a:buNone/>
                      </a:pPr>
                      <a:r>
                        <a:rPr lang="en-US" sz="1400" dirty="0">
                          <a:solidFill>
                            <a:srgbClr val="0B7A6E"/>
                          </a:solidFill>
                          <a:latin typeface="Arial" pitchFamily="34" charset="0"/>
                          <a:ea typeface="Arial" pitchFamily="34" charset="-122"/>
                          <a:cs typeface="Arial" pitchFamily="34" charset="-120"/>
                        </a:rPr>
                        <a:t>0,0</a:t>
                      </a:r>
                      <a:endParaRPr lang="en-US" sz="1400" dirty="0">
                        <a:latin typeface="Arial" charset="0"/>
                        <a:ea typeface="Arial" charset="0"/>
                        <a:cs typeface="Arial" charset="0"/>
                      </a:endParaRPr>
                    </a:p>
                  </a:txBody>
                  <a:tcPr marL="63500" marR="63500" marT="88900" marB="88900" anchor="t">
                    <a:lnL w="12700" cap="flat" cmpd="sng" algn="ctr">
                      <a:solidFill>
                        <a:srgbClr val="B5C4C0"/>
                      </a:solidFill>
                      <a:prstDash val="solid"/>
                      <a:round/>
                      <a:headEnd type="none" w="med" len="med"/>
                      <a:tailEnd type="none" w="med" len="med"/>
                    </a:lnL>
                    <a:lnR w="12700" cap="flat" cmpd="sng" algn="ctr">
                      <a:solidFill>
                        <a:srgbClr val="B5C4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5C4C0"/>
                      </a:solidFill>
                      <a:prstDash val="solid"/>
                      <a:round/>
                      <a:headEnd type="none" w="med" len="med"/>
                      <a:tailEnd type="none" w="med" len="med"/>
                    </a:lnB>
                    <a:solidFill>
                      <a:srgbClr val="E3F5F1"/>
                    </a:solidFill>
                  </a:tcPr>
                </a:tc>
                <a:tc>
                  <a:txBody>
                    <a:bodyPr/>
                    <a:lstStyle/>
                    <a:p>
                      <a:pPr algn="ctr" indent="0" marL="0">
                        <a:lnSpc>
                          <a:spcPts val="1960"/>
                        </a:lnSpc>
                        <a:buNone/>
                      </a:pPr>
                      <a:r>
                        <a:rPr lang="en-US" sz="1400" dirty="0">
                          <a:solidFill>
                            <a:srgbClr val="0B7A6E"/>
                          </a:solidFill>
                          <a:latin typeface="Arial" pitchFamily="34" charset="0"/>
                          <a:ea typeface="Arial" pitchFamily="34" charset="-122"/>
                          <a:cs typeface="Arial" pitchFamily="34" charset="-120"/>
                        </a:rPr>
                        <a:t>0,0</a:t>
                      </a:r>
                      <a:endParaRPr lang="en-US" sz="1400" dirty="0">
                        <a:latin typeface="Arial" charset="0"/>
                        <a:ea typeface="Arial" charset="0"/>
                        <a:cs typeface="Arial" charset="0"/>
                      </a:endParaRPr>
                    </a:p>
                  </a:txBody>
                  <a:tcPr marL="63500" marR="63500" marT="88900" marB="88900" anchor="t">
                    <a:lnL w="12700" cap="flat" cmpd="sng" algn="ctr">
                      <a:solidFill>
                        <a:srgbClr val="B5C4C0"/>
                      </a:solidFill>
                      <a:prstDash val="solid"/>
                      <a:round/>
                      <a:headEnd type="none" w="med" len="med"/>
                      <a:tailEnd type="none" w="med" len="med"/>
                    </a:lnL>
                    <a:lnR w="12700" cap="flat" cmpd="sng" algn="ctr">
                      <a:solidFill>
                        <a:srgbClr val="B5C4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5C4C0"/>
                      </a:solidFill>
                      <a:prstDash val="solid"/>
                      <a:round/>
                      <a:headEnd type="none" w="med" len="med"/>
                      <a:tailEnd type="none" w="med" len="med"/>
                    </a:lnB>
                    <a:solidFill>
                      <a:srgbClr val="E3F5F1"/>
                    </a:solidFill>
                  </a:tcPr>
                </a:tc>
                <a:tc>
                  <a:txBody>
                    <a:bodyPr/>
                    <a:lstStyle/>
                    <a:p>
                      <a:pPr algn="ctr" indent="0" marL="0">
                        <a:lnSpc>
                          <a:spcPts val="1960"/>
                        </a:lnSpc>
                        <a:buNone/>
                      </a:pPr>
                      <a:r>
                        <a:rPr lang="en-US" sz="1400" dirty="0">
                          <a:solidFill>
                            <a:srgbClr val="0B7A6E"/>
                          </a:solidFill>
                          <a:latin typeface="Arial" pitchFamily="34" charset="0"/>
                          <a:ea typeface="Arial" pitchFamily="34" charset="-122"/>
                          <a:cs typeface="Arial" pitchFamily="34" charset="-120"/>
                        </a:rPr>
                        <a:t>0,0</a:t>
                      </a:r>
                      <a:endParaRPr lang="en-US" sz="1400" dirty="0">
                        <a:latin typeface="Arial" charset="0"/>
                        <a:ea typeface="Arial" charset="0"/>
                        <a:cs typeface="Arial" charset="0"/>
                      </a:endParaRPr>
                    </a:p>
                  </a:txBody>
                  <a:tcPr marL="63500" marR="63500" marT="88900" marB="88900" anchor="t">
                    <a:lnL w="12700" cap="flat" cmpd="sng" algn="ctr">
                      <a:solidFill>
                        <a:srgbClr val="B5C4C0"/>
                      </a:solidFill>
                      <a:prstDash val="solid"/>
                      <a:round/>
                      <a:headEnd type="none" w="med" len="med"/>
                      <a:tailEnd type="none" w="med" len="med"/>
                    </a:lnL>
                    <a:lnR w="12700" cap="flat" cmpd="sng" algn="ctr">
                      <a:solidFill>
                        <a:srgbClr val="B5C4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5C4C0"/>
                      </a:solidFill>
                      <a:prstDash val="solid"/>
                      <a:round/>
                      <a:headEnd type="none" w="med" len="med"/>
                      <a:tailEnd type="none" w="med" len="med"/>
                    </a:lnB>
                    <a:solidFill>
                      <a:srgbClr val="E3F5F1"/>
                    </a:solidFill>
                  </a:tcPr>
                </a:tc>
                <a:tc>
                  <a:txBody>
                    <a:bodyPr/>
                    <a:lstStyle/>
                    <a:p>
                      <a:pPr algn="ctr" indent="0" marL="0">
                        <a:lnSpc>
                          <a:spcPts val="1960"/>
                        </a:lnSpc>
                        <a:buNone/>
                      </a:pPr>
                      <a:r>
                        <a:rPr lang="en-US" sz="1400" dirty="0">
                          <a:solidFill>
                            <a:srgbClr val="0B7A6E"/>
                          </a:solidFill>
                          <a:latin typeface="Arial" pitchFamily="34" charset="0"/>
                          <a:ea typeface="Arial" pitchFamily="34" charset="-122"/>
                          <a:cs typeface="Arial" pitchFamily="34" charset="-120"/>
                        </a:rPr>
                        <a:t>0,0</a:t>
                      </a:r>
                      <a:endParaRPr lang="en-US" sz="1400" dirty="0">
                        <a:latin typeface="Arial" charset="0"/>
                        <a:ea typeface="Arial" charset="0"/>
                        <a:cs typeface="Arial" charset="0"/>
                      </a:endParaRPr>
                    </a:p>
                  </a:txBody>
                  <a:tcPr marL="63500" marR="63500" marT="88900" marB="88900" anchor="t">
                    <a:lnL w="12700" cap="flat" cmpd="sng" algn="ctr">
                      <a:solidFill>
                        <a:srgbClr val="B5C4C0"/>
                      </a:solidFill>
                      <a:prstDash val="solid"/>
                      <a:round/>
                      <a:headEnd type="none" w="med" len="med"/>
                      <a:tailEnd type="none" w="med" len="med"/>
                    </a:lnL>
                    <a:lnR w="12700" cap="flat" cmpd="sng" algn="ctr">
                      <a:solidFill>
                        <a:srgbClr val="B5C4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5C4C0"/>
                      </a:solidFill>
                      <a:prstDash val="solid"/>
                      <a:round/>
                      <a:headEnd type="none" w="med" len="med"/>
                      <a:tailEnd type="none" w="med" len="med"/>
                    </a:lnB>
                    <a:solidFill>
                      <a:srgbClr val="E3F5F1"/>
                    </a:solidFill>
                  </a:tcPr>
                </a:tc>
                <a:tc>
                  <a:txBody>
                    <a:bodyPr/>
                    <a:lstStyle/>
                    <a:p>
                      <a:pPr algn="ctr" indent="0" marL="0">
                        <a:lnSpc>
                          <a:spcPts val="1960"/>
                        </a:lnSpc>
                        <a:buNone/>
                      </a:pPr>
                      <a:r>
                        <a:rPr lang="en-US" sz="1400" dirty="0">
                          <a:solidFill>
                            <a:srgbClr val="0B7A6E"/>
                          </a:solidFill>
                          <a:latin typeface="Arial" pitchFamily="34" charset="0"/>
                          <a:ea typeface="Arial" pitchFamily="34" charset="-122"/>
                          <a:cs typeface="Arial" pitchFamily="34" charset="-120"/>
                        </a:rPr>
                        <a:t>0,0</a:t>
                      </a:r>
                      <a:endParaRPr lang="en-US" sz="1400" dirty="0">
                        <a:latin typeface="Arial" charset="0"/>
                        <a:ea typeface="Arial" charset="0"/>
                        <a:cs typeface="Arial" charset="0"/>
                      </a:endParaRPr>
                    </a:p>
                  </a:txBody>
                  <a:tcPr marL="63500" marR="63500" marT="88900" marB="88900" anchor="t">
                    <a:lnL w="12700" cap="flat" cmpd="sng" algn="ctr">
                      <a:solidFill>
                        <a:srgbClr val="B5C4C0"/>
                      </a:solidFill>
                      <a:prstDash val="solid"/>
                      <a:round/>
                      <a:headEnd type="none" w="med" len="med"/>
                      <a:tailEnd type="none" w="med" len="med"/>
                    </a:lnL>
                    <a:lnR w="12700" cap="flat" cmpd="sng" algn="ctr">
                      <a:solidFill>
                        <a:srgbClr val="B5C4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5C4C0"/>
                      </a:solidFill>
                      <a:prstDash val="solid"/>
                      <a:round/>
                      <a:headEnd type="none" w="med" len="med"/>
                      <a:tailEnd type="none" w="med" len="med"/>
                    </a:lnB>
                    <a:solidFill>
                      <a:srgbClr val="E3F5F1"/>
                    </a:solidFill>
                  </a:tcPr>
                </a:tc>
                <a:tc>
                  <a:txBody>
                    <a:bodyPr/>
                    <a:lstStyle/>
                    <a:p>
                      <a:pPr algn="ctr" indent="0" marL="0">
                        <a:lnSpc>
                          <a:spcPts val="1960"/>
                        </a:lnSpc>
                        <a:buNone/>
                      </a:pPr>
                      <a:r>
                        <a:rPr lang="en-US" sz="1400" dirty="0">
                          <a:solidFill>
                            <a:srgbClr val="0B7A6E"/>
                          </a:solidFill>
                          <a:latin typeface="Arial" pitchFamily="34" charset="0"/>
                          <a:ea typeface="Arial" pitchFamily="34" charset="-122"/>
                          <a:cs typeface="Arial" pitchFamily="34" charset="-120"/>
                        </a:rPr>
                        <a:t>0,0</a:t>
                      </a:r>
                      <a:endParaRPr lang="en-US" sz="1400" dirty="0">
                        <a:latin typeface="Arial" charset="0"/>
                        <a:ea typeface="Arial" charset="0"/>
                        <a:cs typeface="Arial" charset="0"/>
                      </a:endParaRPr>
                    </a:p>
                  </a:txBody>
                  <a:tcPr marL="63500" marR="63500" marT="88900" marB="88900" anchor="t">
                    <a:lnL w="12700" cap="flat" cmpd="sng" algn="ctr">
                      <a:solidFill>
                        <a:srgbClr val="B5C4C0"/>
                      </a:solidFill>
                      <a:prstDash val="solid"/>
                      <a:round/>
                      <a:headEnd type="none" w="med" len="med"/>
                      <a:tailEnd type="none" w="med" len="med"/>
                    </a:lnL>
                    <a:lnR w="12700" cap="flat" cmpd="sng" algn="ctr">
                      <a:solidFill>
                        <a:srgbClr val="B5C4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5C4C0"/>
                      </a:solidFill>
                      <a:prstDash val="solid"/>
                      <a:round/>
                      <a:headEnd type="none" w="med" len="med"/>
                      <a:tailEnd type="none" w="med" len="med"/>
                    </a:lnB>
                    <a:solidFill>
                      <a:srgbClr val="E3F5F1"/>
                    </a:solidFill>
                  </a:tcPr>
                </a:tc>
              </a:tr>
            </a:tbl>
          </a:graphicData>
        </a:graphic>
      </p:graphicFrame>
      <p:sp>
        <p:nvSpPr>
          <p:cNvPr id="6" name="Text 3"/>
          <p:cNvSpPr/>
          <p:nvPr/>
        </p:nvSpPr>
        <p:spPr>
          <a:xfrm>
            <a:off x="812800" y="338921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Đơn vị: % số phiếu · n = 150 · ↑ càng cao càng tốt · ↓ càng thấp càng tốt</a:t>
            </a:r>
            <a:endParaRPr lang="en-US" sz="1400" dirty="0"/>
          </a:p>
        </p:txBody>
      </p:sp>
      <p:sp>
        <p:nvSpPr>
          <p:cNvPr id="7" name="Shape 4"/>
          <p:cNvSpPr/>
          <p:nvPr/>
        </p:nvSpPr>
        <p:spPr>
          <a:xfrm>
            <a:off x="815975" y="3780929"/>
            <a:ext cx="10560050" cy="1220391"/>
          </a:xfrm>
          <a:prstGeom prst="roundRect">
            <a:avLst>
              <a:gd name="adj" fmla="val 8065"/>
            </a:avLst>
          </a:prstGeom>
          <a:solidFill>
            <a:srgbClr val="FFFFFF"/>
          </a:solidFill>
          <a:ln w="6350">
            <a:solidFill>
              <a:srgbClr val="D9E2EC"/>
            </a:solidFill>
            <a:prstDash val="solid"/>
          </a:ln>
        </p:spPr>
        <p:txBody>
          <a:bodyPr/>
          <a:p/>
        </p:txBody>
      </p:sp>
      <p:sp>
        <p:nvSpPr>
          <p:cNvPr id="8" name="Text 5"/>
          <p:cNvSpPr/>
          <p:nvPr/>
        </p:nvSpPr>
        <p:spPr>
          <a:xfrm>
            <a:off x="996950" y="3911104"/>
            <a:ext cx="525202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3233A"/>
                </a:solidFill>
                <a:latin typeface="Arial" pitchFamily="34" charset="0"/>
                <a:ea typeface="Arial" pitchFamily="34" charset="-122"/>
                <a:cs typeface="Arial" pitchFamily="34" charset="-120"/>
              </a:rPr>
              <a:t>An toàn</a:t>
            </a:r>
            <a:r>
              <a:rPr lang="en-US" sz="1400" dirty="0">
                <a:solidFill>
                  <a:srgbClr val="13233A"/>
                </a:solidFill>
                <a:latin typeface="Arial" pitchFamily="34" charset="0"/>
                <a:ea typeface="Arial" pitchFamily="34" charset="-122"/>
                <a:cs typeface="Arial" pitchFamily="34" charset="-120"/>
              </a:rPr>
              <a:t>: câu đã kiểm chứng được hiện cho người bệnh</a:t>
            </a:r>
            <a:endParaRPr lang="en-US" sz="1400" dirty="0"/>
          </a:p>
        </p:txBody>
      </p:sp>
      <p:sp>
        <p:nvSpPr>
          <p:cNvPr id="9" name="Text 6"/>
          <p:cNvSpPr/>
          <p:nvPr/>
        </p:nvSpPr>
        <p:spPr>
          <a:xfrm>
            <a:off x="6096000" y="3911104"/>
            <a:ext cx="525202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3233A"/>
                </a:solidFill>
                <a:latin typeface="Arial" pitchFamily="34" charset="0"/>
                <a:ea typeface="Arial" pitchFamily="34" charset="-122"/>
                <a:cs typeface="Arial" pitchFamily="34" charset="-120"/>
              </a:rPr>
              <a:t>Mô hình đạt</a:t>
            </a:r>
            <a:r>
              <a:rPr lang="en-US" sz="1400" dirty="0">
                <a:solidFill>
                  <a:srgbClr val="13233A"/>
                </a:solidFill>
                <a:latin typeface="Arial" pitchFamily="34" charset="0"/>
                <a:ea typeface="Arial" pitchFamily="34" charset="-122"/>
                <a:cs typeface="Arial" pitchFamily="34" charset="-120"/>
              </a:rPr>
              <a:t>: câu của mô hình đạt, không cần câu mẫu</a:t>
            </a:r>
            <a:endParaRPr lang="en-US" sz="1400" dirty="0"/>
          </a:p>
        </p:txBody>
      </p:sp>
      <p:sp>
        <p:nvSpPr>
          <p:cNvPr id="10" name="Text 7"/>
          <p:cNvSpPr/>
          <p:nvPr/>
        </p:nvSpPr>
        <p:spPr>
          <a:xfrm>
            <a:off x="996950" y="4151114"/>
            <a:ext cx="525202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3233A"/>
                </a:solidFill>
                <a:latin typeface="Arial" pitchFamily="34" charset="0"/>
                <a:ea typeface="Arial" pitchFamily="34" charset="-122"/>
                <a:cs typeface="Arial" pitchFamily="34" charset="-120"/>
              </a:rPr>
              <a:t>Trấn an sai</a:t>
            </a:r>
            <a:r>
              <a:rPr lang="en-US" sz="1400" dirty="0">
                <a:solidFill>
                  <a:srgbClr val="13233A"/>
                </a:solidFill>
                <a:latin typeface="Arial" pitchFamily="34" charset="0"/>
                <a:ea typeface="Arial" pitchFamily="34" charset="-122"/>
                <a:cs typeface="Arial" pitchFamily="34" charset="-120"/>
              </a:rPr>
              <a:t>: nói “đều bình thường” trên phiếu bất thường</a:t>
            </a:r>
            <a:endParaRPr lang="en-US" sz="1400" dirty="0"/>
          </a:p>
        </p:txBody>
      </p:sp>
      <p:sp>
        <p:nvSpPr>
          <p:cNvPr id="11" name="Text 8"/>
          <p:cNvSpPr/>
          <p:nvPr/>
        </p:nvSpPr>
        <p:spPr>
          <a:xfrm>
            <a:off x="6096000" y="4151114"/>
            <a:ext cx="525202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3233A"/>
                </a:solidFill>
                <a:latin typeface="Arial" pitchFamily="34" charset="0"/>
                <a:ea typeface="Arial" pitchFamily="34" charset="-122"/>
                <a:cs typeface="Arial" pitchFamily="34" charset="-120"/>
              </a:rPr>
              <a:t>Sai chiều lệch</a:t>
            </a:r>
            <a:r>
              <a:rPr lang="en-US" sz="1400" dirty="0">
                <a:solidFill>
                  <a:srgbClr val="13233A"/>
                </a:solidFill>
                <a:latin typeface="Arial" pitchFamily="34" charset="0"/>
                <a:ea typeface="Arial" pitchFamily="34" charset="-122"/>
                <a:cs typeface="Arial" pitchFamily="34" charset="-120"/>
              </a:rPr>
              <a:t>: nói cao/thấp ngược với nhãn</a:t>
            </a:r>
            <a:endParaRPr lang="en-US" sz="1400" dirty="0"/>
          </a:p>
        </p:txBody>
      </p:sp>
      <p:sp>
        <p:nvSpPr>
          <p:cNvPr id="12" name="Text 9"/>
          <p:cNvSpPr/>
          <p:nvPr/>
        </p:nvSpPr>
        <p:spPr>
          <a:xfrm>
            <a:off x="996950" y="4391124"/>
            <a:ext cx="525202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3233A"/>
                </a:solidFill>
                <a:latin typeface="Arial" pitchFamily="34" charset="0"/>
                <a:ea typeface="Arial" pitchFamily="34" charset="-122"/>
                <a:cs typeface="Arial" pitchFamily="34" charset="-120"/>
              </a:rPr>
              <a:t>Nói ngược nhãn</a:t>
            </a:r>
            <a:r>
              <a:rPr lang="en-US" sz="1400" dirty="0">
                <a:solidFill>
                  <a:srgbClr val="13233A"/>
                </a:solidFill>
                <a:latin typeface="Arial" pitchFamily="34" charset="0"/>
                <a:ea typeface="Arial" pitchFamily="34" charset="-122"/>
                <a:cs typeface="Arial" pitchFamily="34" charset="-120"/>
              </a:rPr>
              <a:t>: câu văn mâu thuẫn với nhãn</a:t>
            </a:r>
            <a:endParaRPr lang="en-US" sz="1400" dirty="0"/>
          </a:p>
        </p:txBody>
      </p:sp>
      <p:sp>
        <p:nvSpPr>
          <p:cNvPr id="13" name="Text 10"/>
          <p:cNvSpPr/>
          <p:nvPr/>
        </p:nvSpPr>
        <p:spPr>
          <a:xfrm>
            <a:off x="6096000" y="4391124"/>
            <a:ext cx="525202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3233A"/>
                </a:solidFill>
                <a:latin typeface="Arial" pitchFamily="34" charset="0"/>
                <a:ea typeface="Arial" pitchFamily="34" charset="-122"/>
                <a:cs typeface="Arial" pitchFamily="34" charset="-120"/>
              </a:rPr>
              <a:t>Từ bị cấm</a:t>
            </a:r>
            <a:r>
              <a:rPr lang="en-US" sz="1400" dirty="0">
                <a:solidFill>
                  <a:srgbClr val="13233A"/>
                </a:solidFill>
                <a:latin typeface="Arial" pitchFamily="34" charset="0"/>
                <a:ea typeface="Arial" pitchFamily="34" charset="-122"/>
                <a:cs typeface="Arial" pitchFamily="34" charset="-120"/>
              </a:rPr>
              <a:t>: tên bệnh, nguyên nhân, thuốc, liều</a:t>
            </a:r>
            <a:endParaRPr lang="en-US" sz="1400" dirty="0"/>
          </a:p>
        </p:txBody>
      </p:sp>
      <p:sp>
        <p:nvSpPr>
          <p:cNvPr id="14" name="Text 11"/>
          <p:cNvSpPr/>
          <p:nvPr/>
        </p:nvSpPr>
        <p:spPr>
          <a:xfrm>
            <a:off x="996950" y="4631134"/>
            <a:ext cx="525202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3233A"/>
                </a:solidFill>
                <a:latin typeface="Arial" pitchFamily="34" charset="0"/>
                <a:ea typeface="Arial" pitchFamily="34" charset="-122"/>
                <a:cs typeface="Arial" pitchFamily="34" charset="-120"/>
              </a:rPr>
              <a:t>Bịa chỉ số</a:t>
            </a:r>
            <a:r>
              <a:rPr lang="en-US" sz="1400" dirty="0">
                <a:solidFill>
                  <a:srgbClr val="13233A"/>
                </a:solidFill>
                <a:latin typeface="Arial" pitchFamily="34" charset="0"/>
                <a:ea typeface="Arial" pitchFamily="34" charset="-122"/>
                <a:cs typeface="Arial" pitchFamily="34" charset="-120"/>
              </a:rPr>
              <a:t>: nhắc chỉ số không có trong phiếu</a:t>
            </a:r>
            <a:endParaRPr lang="en-US" sz="1400" dirty="0"/>
          </a:p>
        </p:txBody>
      </p:sp>
      <p:sp>
        <p:nvSpPr>
          <p:cNvPr id="15" name="Text 12"/>
          <p:cNvSpPr/>
          <p:nvPr/>
        </p:nvSpPr>
        <p:spPr>
          <a:xfrm>
            <a:off x="6096000" y="4631134"/>
            <a:ext cx="525202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3233A"/>
                </a:solidFill>
                <a:latin typeface="Arial" pitchFamily="34" charset="0"/>
                <a:ea typeface="Arial" pitchFamily="34" charset="-122"/>
                <a:cs typeface="Arial" pitchFamily="34" charset="-120"/>
              </a:rPr>
              <a:t>Bỏ sót</a:t>
            </a:r>
            <a:r>
              <a:rPr lang="en-US" sz="1400" dirty="0">
                <a:solidFill>
                  <a:srgbClr val="13233A"/>
                </a:solidFill>
                <a:latin typeface="Arial" pitchFamily="34" charset="0"/>
                <a:ea typeface="Arial" pitchFamily="34" charset="-122"/>
                <a:cs typeface="Arial" pitchFamily="34" charset="-120"/>
              </a:rPr>
              <a:t>: bỏ qua chỉ số có trong phiếu</a:t>
            </a:r>
            <a:endParaRPr lang="en-US" sz="1400" dirty="0"/>
          </a:p>
        </p:txBody>
      </p:sp>
      <p:sp>
        <p:nvSpPr>
          <p:cNvPr id="16" name="Text 13"/>
          <p:cNvSpPr/>
          <p:nvPr/>
        </p:nvSpPr>
        <p:spPr>
          <a:xfrm>
            <a:off x="812800" y="5144195"/>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2545"/>
                </a:solidFill>
                <a:latin typeface="Arial" pitchFamily="34" charset="0"/>
                <a:ea typeface="Arial" pitchFamily="34" charset="-122"/>
                <a:cs typeface="Arial" pitchFamily="34" charset="-120"/>
              </a:rPr>
              <a:t>Mọi chỉ số lỗi đều giảm dần: baseline → constrained → full.</a:t>
            </a:r>
            <a:endParaRPr lang="en-US" sz="1400" dirty="0"/>
          </a:p>
        </p:txBody>
      </p:sp>
      <p:sp>
        <p:nvSpPr>
          <p:cNvPr id="17" name="Text 14"/>
          <p:cNvSpPr/>
          <p:nvPr/>
        </p:nvSpPr>
        <p:spPr>
          <a:xfrm>
            <a:off x="812800" y="6202759"/>
            <a:ext cx="784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HEALTHINFO IV · Trương Quang Đại, HUTECH · Bài HI26-0013</a:t>
            </a:r>
            <a:endParaRPr lang="en-US" sz="1400" dirty="0"/>
          </a:p>
        </p:txBody>
      </p:sp>
      <p:sp>
        <p:nvSpPr>
          <p:cNvPr id="18" name="Text 15"/>
          <p:cNvSpPr/>
          <p:nvPr/>
        </p:nvSpPr>
        <p:spPr>
          <a:xfrm>
            <a:off x="10058400" y="6202759"/>
            <a:ext cx="132080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B6B80"/>
                </a:solidFill>
                <a:latin typeface="Arial" pitchFamily="34" charset="0"/>
                <a:ea typeface="Arial" pitchFamily="34" charset="-122"/>
                <a:cs typeface="Arial" pitchFamily="34" charset="-120"/>
              </a:rPr>
              <a:t>13 / 19</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3F6FA"/>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0B7A6E"/>
          </a:solidFill>
          <a:ln/>
        </p:spPr>
        <p:txBody>
          <a:bodyPr/>
          <a:p/>
        </p:txBody>
      </p:sp>
      <p:sp>
        <p:nvSpPr>
          <p:cNvPr id="3" name="Text 1"/>
          <p:cNvSpPr/>
          <p:nvPr>
            <p:ph type="title"/>
          </p:nvPr>
        </p:nvSpPr>
        <p:spPr>
          <a:xfrm>
            <a:off x="812800" y="71120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B7A6E"/>
                </a:solidFill>
                <a:latin typeface="Arial" pitchFamily="34" charset="0"/>
                <a:ea typeface="Arial" pitchFamily="34" charset="-122"/>
                <a:cs typeface="Arial" pitchFamily="34" charset="-120"/>
              </a:rPr>
              <a:t>13</a:t>
            </a:r>
            <a:r>
              <a:rPr lang="en-US" sz="2600" b="1" i="0" dirty="0">
                <a:solidFill>
                  <a:srgbClr val="0B2545"/>
                </a:solidFill>
                <a:latin typeface="Arial" pitchFamily="34" charset="0"/>
                <a:ea typeface="Arial" pitchFamily="34" charset="-122"/>
                <a:cs typeface="Arial" pitchFamily="34" charset="-120"/>
              </a:rPr>
              <a:t> Cùng kết quả đó, nhìn bằng biểu đồ</a:t>
            </a:r>
            <a:endParaRPr lang="en-US" sz="2600" dirty="0"/>
          </a:p>
        </p:txBody>
      </p:sp>
      <p:sp>
        <p:nvSpPr>
          <p:cNvPr id="4" name="Shape 2"/>
          <p:cNvSpPr/>
          <p:nvPr/>
        </p:nvSpPr>
        <p:spPr>
          <a:xfrm>
            <a:off x="812800" y="1278830"/>
            <a:ext cx="177800" cy="177800"/>
          </a:xfrm>
          <a:prstGeom prst="roundRect">
            <a:avLst>
              <a:gd name="adj" fmla="val 14286"/>
            </a:avLst>
          </a:prstGeom>
          <a:solidFill>
            <a:srgbClr val="C2570C"/>
          </a:solidFill>
          <a:ln/>
        </p:spPr>
        <p:txBody>
          <a:bodyPr/>
          <a:p/>
        </p:txBody>
      </p:sp>
      <p:sp>
        <p:nvSpPr>
          <p:cNvPr id="5" name="Text 3"/>
          <p:cNvSpPr/>
          <p:nvPr/>
        </p:nvSpPr>
        <p:spPr>
          <a:xfrm>
            <a:off x="1054100" y="1243310"/>
            <a:ext cx="85391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Arial" pitchFamily="34" charset="0"/>
                <a:ea typeface="Arial" pitchFamily="34" charset="-122"/>
                <a:cs typeface="Arial" pitchFamily="34" charset="-120"/>
              </a:rPr>
              <a:t>baseline</a:t>
            </a:r>
            <a:endParaRPr lang="en-US" sz="1400" dirty="0"/>
          </a:p>
        </p:txBody>
      </p:sp>
      <p:sp>
        <p:nvSpPr>
          <p:cNvPr id="6" name="Shape 4"/>
          <p:cNvSpPr/>
          <p:nvPr/>
        </p:nvSpPr>
        <p:spPr>
          <a:xfrm>
            <a:off x="2019697" y="1278830"/>
            <a:ext cx="177800" cy="177800"/>
          </a:xfrm>
          <a:prstGeom prst="roundRect">
            <a:avLst>
              <a:gd name="adj" fmla="val 14286"/>
            </a:avLst>
          </a:prstGeom>
          <a:solidFill>
            <a:srgbClr val="3F7FD0"/>
          </a:solidFill>
          <a:ln/>
        </p:spPr>
        <p:txBody>
          <a:bodyPr/>
          <a:p/>
        </p:txBody>
      </p:sp>
      <p:sp>
        <p:nvSpPr>
          <p:cNvPr id="7" name="Text 5"/>
          <p:cNvSpPr/>
          <p:nvPr/>
        </p:nvSpPr>
        <p:spPr>
          <a:xfrm>
            <a:off x="2260997" y="1243310"/>
            <a:ext cx="120931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Arial" pitchFamily="34" charset="0"/>
                <a:ea typeface="Arial" pitchFamily="34" charset="-122"/>
                <a:cs typeface="Arial" pitchFamily="34" charset="-120"/>
              </a:rPr>
              <a:t>constrained</a:t>
            </a:r>
            <a:endParaRPr lang="en-US" sz="1400" dirty="0"/>
          </a:p>
        </p:txBody>
      </p:sp>
      <p:sp>
        <p:nvSpPr>
          <p:cNvPr id="8" name="Shape 6"/>
          <p:cNvSpPr/>
          <p:nvPr/>
        </p:nvSpPr>
        <p:spPr>
          <a:xfrm>
            <a:off x="3522762" y="1278830"/>
            <a:ext cx="177800" cy="177800"/>
          </a:xfrm>
          <a:prstGeom prst="roundRect">
            <a:avLst>
              <a:gd name="adj" fmla="val 14286"/>
            </a:avLst>
          </a:prstGeom>
          <a:solidFill>
            <a:srgbClr val="0E9A8A"/>
          </a:solidFill>
          <a:ln/>
        </p:spPr>
        <p:txBody>
          <a:bodyPr/>
          <a:p/>
        </p:txBody>
      </p:sp>
      <p:sp>
        <p:nvSpPr>
          <p:cNvPr id="9" name="Text 7"/>
          <p:cNvSpPr/>
          <p:nvPr/>
        </p:nvSpPr>
        <p:spPr>
          <a:xfrm>
            <a:off x="3764062" y="1243310"/>
            <a:ext cx="32004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Arial" pitchFamily="34" charset="0"/>
                <a:ea typeface="Arial" pitchFamily="34" charset="-122"/>
                <a:cs typeface="Arial" pitchFamily="34" charset="-120"/>
              </a:rPr>
              <a:t>full</a:t>
            </a:r>
            <a:endParaRPr lang="en-US" sz="1400" dirty="0"/>
          </a:p>
        </p:txBody>
      </p:sp>
      <p:sp>
        <p:nvSpPr>
          <p:cNvPr id="10" name="Text 8"/>
          <p:cNvSpPr/>
          <p:nvPr/>
        </p:nvSpPr>
        <p:spPr>
          <a:xfrm>
            <a:off x="4284762" y="1243310"/>
            <a:ext cx="358771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Số trên mỗi cột = % số phiếu có lỗi đó</a:t>
            </a:r>
            <a:endParaRPr lang="en-US" sz="1400" dirty="0"/>
          </a:p>
        </p:txBody>
      </p:sp>
      <p:sp>
        <p:nvSpPr>
          <p:cNvPr id="11" name="Shape 9"/>
          <p:cNvSpPr/>
          <p:nvPr/>
        </p:nvSpPr>
        <p:spPr>
          <a:xfrm>
            <a:off x="815975" y="1647726"/>
            <a:ext cx="10560050" cy="3430191"/>
          </a:xfrm>
          <a:prstGeom prst="roundRect">
            <a:avLst>
              <a:gd name="adj" fmla="val 2869"/>
            </a:avLst>
          </a:prstGeom>
          <a:solidFill>
            <a:srgbClr val="FFFFFF"/>
          </a:solidFill>
          <a:ln w="6350">
            <a:solidFill>
              <a:srgbClr val="D9E2EC"/>
            </a:solidFill>
            <a:prstDash val="solid"/>
          </a:ln>
        </p:spPr>
        <p:txBody>
          <a:bodyPr/>
          <a:p/>
        </p:txBody>
      </p:sp>
      <p:sp>
        <p:nvSpPr>
          <p:cNvPr id="12" name="Shape 10"/>
          <p:cNvSpPr/>
          <p:nvPr/>
        </p:nvSpPr>
        <p:spPr>
          <a:xfrm>
            <a:off x="996950" y="4590951"/>
            <a:ext cx="1614984" cy="0"/>
          </a:xfrm>
          <a:prstGeom prst="line">
            <a:avLst/>
          </a:prstGeom>
          <a:noFill/>
          <a:ln w="12700">
            <a:solidFill>
              <a:srgbClr val="8A97A8"/>
            </a:solidFill>
            <a:prstDash val="solid"/>
          </a:ln>
        </p:spPr>
        <p:txBody>
          <a:bodyPr/>
          <a:p/>
        </p:txBody>
      </p:sp>
      <p:sp>
        <p:nvSpPr>
          <p:cNvPr id="13" name="Text 11"/>
          <p:cNvSpPr/>
          <p:nvPr/>
        </p:nvSpPr>
        <p:spPr>
          <a:xfrm>
            <a:off x="1152247" y="3484860"/>
            <a:ext cx="41529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33A"/>
                </a:solidFill>
                <a:latin typeface="Arial" pitchFamily="34" charset="0"/>
                <a:ea typeface="Arial" pitchFamily="34" charset="-122"/>
                <a:cs typeface="Arial" pitchFamily="34" charset="-120"/>
              </a:rPr>
              <a:t>32,0</a:t>
            </a:r>
            <a:endParaRPr lang="en-US" sz="1400" dirty="0"/>
          </a:p>
        </p:txBody>
      </p:sp>
      <p:sp>
        <p:nvSpPr>
          <p:cNvPr id="14" name="Shape 12"/>
          <p:cNvSpPr/>
          <p:nvPr/>
        </p:nvSpPr>
        <p:spPr>
          <a:xfrm>
            <a:off x="1156692" y="3771801"/>
            <a:ext cx="406400" cy="812800"/>
          </a:xfrm>
          <a:custGeom>
            <a:avLst/>
            <a:gdLst/>
            <a:ahLst/>
            <a:cxnLst/>
            <a:rect l="l" t="t" r="r" b="b"/>
            <a:pathLst>
              <a:path w="406400" h="812800">
                <a:moveTo>
                  <a:pt x="25400" y="0"/>
                </a:moveTo>
                <a:lnTo>
                  <a:pt x="381000" y="0"/>
                </a:lnTo>
                <a:arcTo hR="25400" wR="25400" stAng="16200000" swAng="5400000"/>
                <a:lnTo>
                  <a:pt x="406400" y="812800"/>
                </a:lnTo>
                <a:lnTo>
                  <a:pt x="0" y="812800"/>
                </a:lnTo>
                <a:lnTo>
                  <a:pt x="0" y="25400"/>
                </a:lnTo>
                <a:arcTo hR="25400" wR="25400" stAng="10800000" swAng="5400000"/>
                <a:close/>
              </a:path>
            </a:pathLst>
          </a:custGeom>
          <a:solidFill>
            <a:srgbClr val="C2570C"/>
          </a:solidFill>
          <a:ln/>
        </p:spPr>
        <p:txBody>
          <a:bodyPr/>
          <a:p/>
        </p:txBody>
      </p:sp>
      <p:sp>
        <p:nvSpPr>
          <p:cNvPr id="15" name="Text 13"/>
          <p:cNvSpPr/>
          <p:nvPr/>
        </p:nvSpPr>
        <p:spPr>
          <a:xfrm>
            <a:off x="1655366" y="4094460"/>
            <a:ext cx="298053"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33A"/>
                </a:solidFill>
                <a:latin typeface="Arial" pitchFamily="34" charset="0"/>
                <a:ea typeface="Arial" pitchFamily="34" charset="-122"/>
                <a:cs typeface="Arial" pitchFamily="34" charset="-120"/>
              </a:rPr>
              <a:t>8,0</a:t>
            </a:r>
            <a:endParaRPr lang="en-US" sz="1400" dirty="0"/>
          </a:p>
        </p:txBody>
      </p:sp>
      <p:sp>
        <p:nvSpPr>
          <p:cNvPr id="16" name="Shape 14"/>
          <p:cNvSpPr/>
          <p:nvPr/>
        </p:nvSpPr>
        <p:spPr>
          <a:xfrm>
            <a:off x="1601192" y="4381401"/>
            <a:ext cx="406400" cy="203200"/>
          </a:xfrm>
          <a:custGeom>
            <a:avLst/>
            <a:gdLst/>
            <a:ahLst/>
            <a:cxnLst/>
            <a:rect l="l" t="t" r="r" b="b"/>
            <a:pathLst>
              <a:path w="406400" h="203200">
                <a:moveTo>
                  <a:pt x="25400" y="0"/>
                </a:moveTo>
                <a:lnTo>
                  <a:pt x="381000" y="0"/>
                </a:lnTo>
                <a:arcTo hR="25400" wR="25400" stAng="16200000" swAng="5400000"/>
                <a:lnTo>
                  <a:pt x="406400" y="203200"/>
                </a:lnTo>
                <a:lnTo>
                  <a:pt x="0" y="203200"/>
                </a:lnTo>
                <a:lnTo>
                  <a:pt x="0" y="25400"/>
                </a:lnTo>
                <a:arcTo hR="25400" wR="25400" stAng="10800000" swAng="5400000"/>
                <a:close/>
              </a:path>
            </a:pathLst>
          </a:custGeom>
          <a:solidFill>
            <a:srgbClr val="3F7FD0"/>
          </a:solidFill>
          <a:ln/>
        </p:spPr>
        <p:txBody>
          <a:bodyPr/>
          <a:p/>
        </p:txBody>
      </p:sp>
      <p:sp>
        <p:nvSpPr>
          <p:cNvPr id="17" name="Text 15"/>
          <p:cNvSpPr/>
          <p:nvPr/>
        </p:nvSpPr>
        <p:spPr>
          <a:xfrm>
            <a:off x="2173982" y="4335760"/>
            <a:ext cx="149721"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33A"/>
                </a:solidFill>
                <a:latin typeface="Arial" pitchFamily="34" charset="0"/>
                <a:ea typeface="Arial" pitchFamily="34" charset="-122"/>
                <a:cs typeface="Arial" pitchFamily="34" charset="-120"/>
              </a:rPr>
              <a:t>0</a:t>
            </a:r>
            <a:endParaRPr lang="en-US" sz="1400" dirty="0"/>
          </a:p>
        </p:txBody>
      </p:sp>
      <p:sp>
        <p:nvSpPr>
          <p:cNvPr id="18" name="Text 16"/>
          <p:cNvSpPr/>
          <p:nvPr/>
        </p:nvSpPr>
        <p:spPr>
          <a:xfrm>
            <a:off x="971550" y="4673501"/>
            <a:ext cx="1665784"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3A4A5E"/>
                </a:solidFill>
                <a:latin typeface="Arial" pitchFamily="34" charset="0"/>
                <a:ea typeface="Arial" pitchFamily="34" charset="-122"/>
                <a:cs typeface="Arial" pitchFamily="34" charset="-120"/>
              </a:rPr>
              <a:t>Trấn an sai</a:t>
            </a:r>
            <a:endParaRPr lang="en-US" sz="1400" dirty="0"/>
          </a:p>
        </p:txBody>
      </p:sp>
      <p:sp>
        <p:nvSpPr>
          <p:cNvPr id="19" name="Shape 17"/>
          <p:cNvSpPr/>
          <p:nvPr/>
        </p:nvSpPr>
        <p:spPr>
          <a:xfrm>
            <a:off x="2713534" y="4590951"/>
            <a:ext cx="1615083" cy="0"/>
          </a:xfrm>
          <a:prstGeom prst="line">
            <a:avLst/>
          </a:prstGeom>
          <a:noFill/>
          <a:ln w="12700">
            <a:solidFill>
              <a:srgbClr val="8A97A8"/>
            </a:solidFill>
            <a:prstDash val="solid"/>
          </a:ln>
        </p:spPr>
        <p:txBody>
          <a:bodyPr/>
          <a:p/>
        </p:txBody>
      </p:sp>
      <p:sp>
        <p:nvSpPr>
          <p:cNvPr id="20" name="Text 18"/>
          <p:cNvSpPr/>
          <p:nvPr/>
        </p:nvSpPr>
        <p:spPr>
          <a:xfrm>
            <a:off x="2868930" y="1979910"/>
            <a:ext cx="41529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33A"/>
                </a:solidFill>
                <a:latin typeface="Arial" pitchFamily="34" charset="0"/>
                <a:ea typeface="Arial" pitchFamily="34" charset="-122"/>
                <a:cs typeface="Arial" pitchFamily="34" charset="-120"/>
              </a:rPr>
              <a:t>91,3</a:t>
            </a:r>
            <a:endParaRPr lang="en-US" sz="1400" dirty="0"/>
          </a:p>
        </p:txBody>
      </p:sp>
      <p:sp>
        <p:nvSpPr>
          <p:cNvPr id="21" name="Shape 19"/>
          <p:cNvSpPr/>
          <p:nvPr/>
        </p:nvSpPr>
        <p:spPr>
          <a:xfrm>
            <a:off x="2873375" y="2266851"/>
            <a:ext cx="406400" cy="2317750"/>
          </a:xfrm>
          <a:custGeom>
            <a:avLst/>
            <a:gdLst/>
            <a:ahLst/>
            <a:cxnLst/>
            <a:rect l="l" t="t" r="r" b="b"/>
            <a:pathLst>
              <a:path w="406400" h="2317750">
                <a:moveTo>
                  <a:pt x="25400" y="0"/>
                </a:moveTo>
                <a:lnTo>
                  <a:pt x="381000" y="0"/>
                </a:lnTo>
                <a:arcTo hR="25400" wR="25400" stAng="16200000" swAng="5400000"/>
                <a:lnTo>
                  <a:pt x="406400" y="2317750"/>
                </a:lnTo>
                <a:lnTo>
                  <a:pt x="0" y="2317750"/>
                </a:lnTo>
                <a:lnTo>
                  <a:pt x="0" y="25400"/>
                </a:lnTo>
                <a:arcTo hR="25400" wR="25400" stAng="10800000" swAng="5400000"/>
                <a:close/>
              </a:path>
            </a:pathLst>
          </a:custGeom>
          <a:solidFill>
            <a:srgbClr val="C2570C"/>
          </a:solidFill>
          <a:ln/>
        </p:spPr>
        <p:txBody>
          <a:bodyPr/>
          <a:p/>
        </p:txBody>
      </p:sp>
      <p:sp>
        <p:nvSpPr>
          <p:cNvPr id="22" name="Text 20"/>
          <p:cNvSpPr/>
          <p:nvPr/>
        </p:nvSpPr>
        <p:spPr>
          <a:xfrm>
            <a:off x="3313430" y="3973810"/>
            <a:ext cx="41529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33A"/>
                </a:solidFill>
                <a:latin typeface="Arial" pitchFamily="34" charset="0"/>
                <a:ea typeface="Arial" pitchFamily="34" charset="-122"/>
                <a:cs typeface="Arial" pitchFamily="34" charset="-120"/>
              </a:rPr>
              <a:t>12,7</a:t>
            </a:r>
            <a:endParaRPr lang="en-US" sz="1400" dirty="0"/>
          </a:p>
        </p:txBody>
      </p:sp>
      <p:sp>
        <p:nvSpPr>
          <p:cNvPr id="23" name="Shape 21"/>
          <p:cNvSpPr/>
          <p:nvPr/>
        </p:nvSpPr>
        <p:spPr>
          <a:xfrm>
            <a:off x="3317875" y="4260751"/>
            <a:ext cx="406400" cy="323850"/>
          </a:xfrm>
          <a:custGeom>
            <a:avLst/>
            <a:gdLst/>
            <a:ahLst/>
            <a:cxnLst/>
            <a:rect l="l" t="t" r="r" b="b"/>
            <a:pathLst>
              <a:path w="406400" h="323850">
                <a:moveTo>
                  <a:pt x="25400" y="0"/>
                </a:moveTo>
                <a:lnTo>
                  <a:pt x="381000" y="0"/>
                </a:lnTo>
                <a:arcTo hR="25400" wR="25400" stAng="16200000" swAng="5400000"/>
                <a:lnTo>
                  <a:pt x="406400" y="323850"/>
                </a:lnTo>
                <a:lnTo>
                  <a:pt x="0" y="323850"/>
                </a:lnTo>
                <a:lnTo>
                  <a:pt x="0" y="25400"/>
                </a:lnTo>
                <a:arcTo hR="25400" wR="25400" stAng="10800000" swAng="5400000"/>
                <a:close/>
              </a:path>
            </a:pathLst>
          </a:custGeom>
          <a:solidFill>
            <a:srgbClr val="3F7FD0"/>
          </a:solidFill>
          <a:ln/>
        </p:spPr>
        <p:txBody>
          <a:bodyPr/>
          <a:p/>
        </p:txBody>
      </p:sp>
      <p:sp>
        <p:nvSpPr>
          <p:cNvPr id="24" name="Text 22"/>
          <p:cNvSpPr/>
          <p:nvPr/>
        </p:nvSpPr>
        <p:spPr>
          <a:xfrm>
            <a:off x="3890665" y="4335760"/>
            <a:ext cx="149721"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33A"/>
                </a:solidFill>
                <a:latin typeface="Arial" pitchFamily="34" charset="0"/>
                <a:ea typeface="Arial" pitchFamily="34" charset="-122"/>
                <a:cs typeface="Arial" pitchFamily="34" charset="-120"/>
              </a:rPr>
              <a:t>0</a:t>
            </a:r>
            <a:endParaRPr lang="en-US" sz="1400" dirty="0"/>
          </a:p>
        </p:txBody>
      </p:sp>
      <p:sp>
        <p:nvSpPr>
          <p:cNvPr id="25" name="Text 23"/>
          <p:cNvSpPr/>
          <p:nvPr/>
        </p:nvSpPr>
        <p:spPr>
          <a:xfrm>
            <a:off x="2688134" y="4673501"/>
            <a:ext cx="1665883"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3A4A5E"/>
                </a:solidFill>
                <a:latin typeface="Arial" pitchFamily="34" charset="0"/>
                <a:ea typeface="Arial" pitchFamily="34" charset="-122"/>
                <a:cs typeface="Arial" pitchFamily="34" charset="-120"/>
              </a:rPr>
              <a:t>Sai chiều lệch</a:t>
            </a:r>
            <a:endParaRPr lang="en-US" sz="1400" dirty="0"/>
          </a:p>
        </p:txBody>
      </p:sp>
      <p:sp>
        <p:nvSpPr>
          <p:cNvPr id="26" name="Shape 24"/>
          <p:cNvSpPr/>
          <p:nvPr/>
        </p:nvSpPr>
        <p:spPr>
          <a:xfrm>
            <a:off x="4430216" y="4590951"/>
            <a:ext cx="1614984" cy="0"/>
          </a:xfrm>
          <a:prstGeom prst="line">
            <a:avLst/>
          </a:prstGeom>
          <a:noFill/>
          <a:ln w="12700">
            <a:solidFill>
              <a:srgbClr val="8A97A8"/>
            </a:solidFill>
            <a:prstDash val="solid"/>
          </a:ln>
        </p:spPr>
        <p:txBody>
          <a:bodyPr/>
          <a:p/>
        </p:txBody>
      </p:sp>
      <p:sp>
        <p:nvSpPr>
          <p:cNvPr id="27" name="Text 25"/>
          <p:cNvSpPr/>
          <p:nvPr/>
        </p:nvSpPr>
        <p:spPr>
          <a:xfrm>
            <a:off x="4585514" y="2875260"/>
            <a:ext cx="41529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33A"/>
                </a:solidFill>
                <a:latin typeface="Arial" pitchFamily="34" charset="0"/>
                <a:ea typeface="Arial" pitchFamily="34" charset="-122"/>
                <a:cs typeface="Arial" pitchFamily="34" charset="-120"/>
              </a:rPr>
              <a:t>56,0</a:t>
            </a:r>
            <a:endParaRPr lang="en-US" sz="1400" dirty="0"/>
          </a:p>
        </p:txBody>
      </p:sp>
      <p:sp>
        <p:nvSpPr>
          <p:cNvPr id="28" name="Shape 26"/>
          <p:cNvSpPr/>
          <p:nvPr/>
        </p:nvSpPr>
        <p:spPr>
          <a:xfrm>
            <a:off x="4589959" y="3162201"/>
            <a:ext cx="406400" cy="1422400"/>
          </a:xfrm>
          <a:custGeom>
            <a:avLst/>
            <a:gdLst/>
            <a:ahLst/>
            <a:cxnLst/>
            <a:rect l="l" t="t" r="r" b="b"/>
            <a:pathLst>
              <a:path w="406400" h="1422400">
                <a:moveTo>
                  <a:pt x="25400" y="0"/>
                </a:moveTo>
                <a:lnTo>
                  <a:pt x="381000" y="0"/>
                </a:lnTo>
                <a:arcTo hR="25400" wR="25400" stAng="16200000" swAng="5400000"/>
                <a:lnTo>
                  <a:pt x="406400" y="1422400"/>
                </a:lnTo>
                <a:lnTo>
                  <a:pt x="0" y="1422400"/>
                </a:lnTo>
                <a:lnTo>
                  <a:pt x="0" y="25400"/>
                </a:lnTo>
                <a:arcTo hR="25400" wR="25400" stAng="10800000" swAng="5400000"/>
                <a:close/>
              </a:path>
            </a:pathLst>
          </a:custGeom>
          <a:solidFill>
            <a:srgbClr val="C2570C"/>
          </a:solidFill>
          <a:ln/>
        </p:spPr>
        <p:txBody>
          <a:bodyPr/>
          <a:p/>
        </p:txBody>
      </p:sp>
      <p:sp>
        <p:nvSpPr>
          <p:cNvPr id="29" name="Text 27"/>
          <p:cNvSpPr/>
          <p:nvPr/>
        </p:nvSpPr>
        <p:spPr>
          <a:xfrm>
            <a:off x="5088632" y="4164310"/>
            <a:ext cx="298053"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33A"/>
                </a:solidFill>
                <a:latin typeface="Arial" pitchFamily="34" charset="0"/>
                <a:ea typeface="Arial" pitchFamily="34" charset="-122"/>
                <a:cs typeface="Arial" pitchFamily="34" charset="-120"/>
              </a:rPr>
              <a:t>5,3</a:t>
            </a:r>
            <a:endParaRPr lang="en-US" sz="1400" dirty="0"/>
          </a:p>
        </p:txBody>
      </p:sp>
      <p:sp>
        <p:nvSpPr>
          <p:cNvPr id="30" name="Shape 28"/>
          <p:cNvSpPr/>
          <p:nvPr/>
        </p:nvSpPr>
        <p:spPr>
          <a:xfrm>
            <a:off x="5034459" y="4451251"/>
            <a:ext cx="406400" cy="133350"/>
          </a:xfrm>
          <a:custGeom>
            <a:avLst/>
            <a:gdLst/>
            <a:ahLst/>
            <a:cxnLst/>
            <a:rect l="l" t="t" r="r" b="b"/>
            <a:pathLst>
              <a:path w="406400" h="133350">
                <a:moveTo>
                  <a:pt x="25400" y="0"/>
                </a:moveTo>
                <a:lnTo>
                  <a:pt x="381000" y="0"/>
                </a:lnTo>
                <a:arcTo hR="25400" wR="25400" stAng="16200000" swAng="5400000"/>
                <a:lnTo>
                  <a:pt x="406400" y="133350"/>
                </a:lnTo>
                <a:lnTo>
                  <a:pt x="0" y="133350"/>
                </a:lnTo>
                <a:lnTo>
                  <a:pt x="0" y="25400"/>
                </a:lnTo>
                <a:arcTo hR="25400" wR="25400" stAng="10800000" swAng="5400000"/>
                <a:close/>
              </a:path>
            </a:pathLst>
          </a:custGeom>
          <a:solidFill>
            <a:srgbClr val="3F7FD0"/>
          </a:solidFill>
          <a:ln/>
        </p:spPr>
        <p:txBody>
          <a:bodyPr/>
          <a:p/>
        </p:txBody>
      </p:sp>
      <p:sp>
        <p:nvSpPr>
          <p:cNvPr id="31" name="Text 29"/>
          <p:cNvSpPr/>
          <p:nvPr/>
        </p:nvSpPr>
        <p:spPr>
          <a:xfrm>
            <a:off x="5607248" y="4335760"/>
            <a:ext cx="149721"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33A"/>
                </a:solidFill>
                <a:latin typeface="Arial" pitchFamily="34" charset="0"/>
                <a:ea typeface="Arial" pitchFamily="34" charset="-122"/>
                <a:cs typeface="Arial" pitchFamily="34" charset="-120"/>
              </a:rPr>
              <a:t>0</a:t>
            </a:r>
            <a:endParaRPr lang="en-US" sz="1400" dirty="0"/>
          </a:p>
        </p:txBody>
      </p:sp>
      <p:sp>
        <p:nvSpPr>
          <p:cNvPr id="32" name="Text 30"/>
          <p:cNvSpPr/>
          <p:nvPr/>
        </p:nvSpPr>
        <p:spPr>
          <a:xfrm>
            <a:off x="4404816" y="4673501"/>
            <a:ext cx="1665784"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3A4A5E"/>
                </a:solidFill>
                <a:latin typeface="Arial" pitchFamily="34" charset="0"/>
                <a:ea typeface="Arial" pitchFamily="34" charset="-122"/>
                <a:cs typeface="Arial" pitchFamily="34" charset="-120"/>
              </a:rPr>
              <a:t>Nói ngược nhãn</a:t>
            </a:r>
            <a:endParaRPr lang="en-US" sz="1400" dirty="0"/>
          </a:p>
        </p:txBody>
      </p:sp>
      <p:sp>
        <p:nvSpPr>
          <p:cNvPr id="33" name="Shape 31"/>
          <p:cNvSpPr/>
          <p:nvPr/>
        </p:nvSpPr>
        <p:spPr>
          <a:xfrm>
            <a:off x="6146800" y="4590951"/>
            <a:ext cx="1615083" cy="0"/>
          </a:xfrm>
          <a:prstGeom prst="line">
            <a:avLst/>
          </a:prstGeom>
          <a:noFill/>
          <a:ln w="12700">
            <a:solidFill>
              <a:srgbClr val="8A97A8"/>
            </a:solidFill>
            <a:prstDash val="solid"/>
          </a:ln>
        </p:spPr>
        <p:txBody>
          <a:bodyPr/>
          <a:p/>
        </p:txBody>
      </p:sp>
      <p:sp>
        <p:nvSpPr>
          <p:cNvPr id="34" name="Text 32"/>
          <p:cNvSpPr/>
          <p:nvPr/>
        </p:nvSpPr>
        <p:spPr>
          <a:xfrm>
            <a:off x="6302196" y="2284710"/>
            <a:ext cx="41529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33A"/>
                </a:solidFill>
                <a:latin typeface="Arial" pitchFamily="34" charset="0"/>
                <a:ea typeface="Arial" pitchFamily="34" charset="-122"/>
                <a:cs typeface="Arial" pitchFamily="34" charset="-120"/>
              </a:rPr>
              <a:t>79,3</a:t>
            </a:r>
            <a:endParaRPr lang="en-US" sz="1400" dirty="0"/>
          </a:p>
        </p:txBody>
      </p:sp>
      <p:sp>
        <p:nvSpPr>
          <p:cNvPr id="35" name="Shape 33"/>
          <p:cNvSpPr/>
          <p:nvPr/>
        </p:nvSpPr>
        <p:spPr>
          <a:xfrm>
            <a:off x="6306641" y="2571651"/>
            <a:ext cx="406400" cy="2012950"/>
          </a:xfrm>
          <a:custGeom>
            <a:avLst/>
            <a:gdLst/>
            <a:ahLst/>
            <a:cxnLst/>
            <a:rect l="l" t="t" r="r" b="b"/>
            <a:pathLst>
              <a:path w="406400" h="2012950">
                <a:moveTo>
                  <a:pt x="25400" y="0"/>
                </a:moveTo>
                <a:lnTo>
                  <a:pt x="381000" y="0"/>
                </a:lnTo>
                <a:arcTo hR="25400" wR="25400" stAng="16200000" swAng="5400000"/>
                <a:lnTo>
                  <a:pt x="406400" y="2012950"/>
                </a:lnTo>
                <a:lnTo>
                  <a:pt x="0" y="2012950"/>
                </a:lnTo>
                <a:lnTo>
                  <a:pt x="0" y="25400"/>
                </a:lnTo>
                <a:arcTo hR="25400" wR="25400" stAng="10800000" swAng="5400000"/>
                <a:close/>
              </a:path>
            </a:pathLst>
          </a:custGeom>
          <a:solidFill>
            <a:srgbClr val="C2570C"/>
          </a:solidFill>
          <a:ln/>
        </p:spPr>
        <p:txBody>
          <a:bodyPr/>
          <a:p/>
        </p:txBody>
      </p:sp>
      <p:sp>
        <p:nvSpPr>
          <p:cNvPr id="36" name="Text 34"/>
          <p:cNvSpPr/>
          <p:nvPr/>
        </p:nvSpPr>
        <p:spPr>
          <a:xfrm>
            <a:off x="6746696" y="3910310"/>
            <a:ext cx="41529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33A"/>
                </a:solidFill>
                <a:latin typeface="Arial" pitchFamily="34" charset="0"/>
                <a:ea typeface="Arial" pitchFamily="34" charset="-122"/>
                <a:cs typeface="Arial" pitchFamily="34" charset="-120"/>
              </a:rPr>
              <a:t>15,3</a:t>
            </a:r>
            <a:endParaRPr lang="en-US" sz="1400" dirty="0"/>
          </a:p>
        </p:txBody>
      </p:sp>
      <p:sp>
        <p:nvSpPr>
          <p:cNvPr id="37" name="Shape 35"/>
          <p:cNvSpPr/>
          <p:nvPr/>
        </p:nvSpPr>
        <p:spPr>
          <a:xfrm>
            <a:off x="6751141" y="4197251"/>
            <a:ext cx="406400" cy="387350"/>
          </a:xfrm>
          <a:custGeom>
            <a:avLst/>
            <a:gdLst/>
            <a:ahLst/>
            <a:cxnLst/>
            <a:rect l="l" t="t" r="r" b="b"/>
            <a:pathLst>
              <a:path w="406400" h="387350">
                <a:moveTo>
                  <a:pt x="25400" y="0"/>
                </a:moveTo>
                <a:lnTo>
                  <a:pt x="381000" y="0"/>
                </a:lnTo>
                <a:arcTo hR="25400" wR="25400" stAng="16200000" swAng="5400000"/>
                <a:lnTo>
                  <a:pt x="406400" y="387350"/>
                </a:lnTo>
                <a:lnTo>
                  <a:pt x="0" y="387350"/>
                </a:lnTo>
                <a:lnTo>
                  <a:pt x="0" y="25400"/>
                </a:lnTo>
                <a:arcTo hR="25400" wR="25400" stAng="10800000" swAng="5400000"/>
                <a:close/>
              </a:path>
            </a:pathLst>
          </a:custGeom>
          <a:solidFill>
            <a:srgbClr val="3F7FD0"/>
          </a:solidFill>
          <a:ln/>
        </p:spPr>
        <p:txBody>
          <a:bodyPr/>
          <a:p/>
        </p:txBody>
      </p:sp>
      <p:sp>
        <p:nvSpPr>
          <p:cNvPr id="38" name="Text 36"/>
          <p:cNvSpPr/>
          <p:nvPr/>
        </p:nvSpPr>
        <p:spPr>
          <a:xfrm>
            <a:off x="7323931" y="4335760"/>
            <a:ext cx="149721"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33A"/>
                </a:solidFill>
                <a:latin typeface="Arial" pitchFamily="34" charset="0"/>
                <a:ea typeface="Arial" pitchFamily="34" charset="-122"/>
                <a:cs typeface="Arial" pitchFamily="34" charset="-120"/>
              </a:rPr>
              <a:t>0</a:t>
            </a:r>
            <a:endParaRPr lang="en-US" sz="1400" dirty="0"/>
          </a:p>
        </p:txBody>
      </p:sp>
      <p:sp>
        <p:nvSpPr>
          <p:cNvPr id="39" name="Text 37"/>
          <p:cNvSpPr/>
          <p:nvPr/>
        </p:nvSpPr>
        <p:spPr>
          <a:xfrm>
            <a:off x="6121400" y="4673501"/>
            <a:ext cx="1665883"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3A4A5E"/>
                </a:solidFill>
                <a:latin typeface="Arial" pitchFamily="34" charset="0"/>
                <a:ea typeface="Arial" pitchFamily="34" charset="-122"/>
                <a:cs typeface="Arial" pitchFamily="34" charset="-120"/>
              </a:rPr>
              <a:t>Từ bị cấm</a:t>
            </a:r>
            <a:endParaRPr lang="en-US" sz="1400" dirty="0"/>
          </a:p>
        </p:txBody>
      </p:sp>
      <p:sp>
        <p:nvSpPr>
          <p:cNvPr id="40" name="Shape 38"/>
          <p:cNvSpPr/>
          <p:nvPr/>
        </p:nvSpPr>
        <p:spPr>
          <a:xfrm>
            <a:off x="7863483" y="4590951"/>
            <a:ext cx="1614984" cy="0"/>
          </a:xfrm>
          <a:prstGeom prst="line">
            <a:avLst/>
          </a:prstGeom>
          <a:noFill/>
          <a:ln w="12700">
            <a:solidFill>
              <a:srgbClr val="8A97A8"/>
            </a:solidFill>
            <a:prstDash val="solid"/>
          </a:ln>
        </p:spPr>
        <p:txBody>
          <a:bodyPr/>
          <a:p/>
        </p:txBody>
      </p:sp>
      <p:sp>
        <p:nvSpPr>
          <p:cNvPr id="41" name="Text 39"/>
          <p:cNvSpPr/>
          <p:nvPr/>
        </p:nvSpPr>
        <p:spPr>
          <a:xfrm>
            <a:off x="8018780" y="3484860"/>
            <a:ext cx="41529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33A"/>
                </a:solidFill>
                <a:latin typeface="Arial" pitchFamily="34" charset="0"/>
                <a:ea typeface="Arial" pitchFamily="34" charset="-122"/>
                <a:cs typeface="Arial" pitchFamily="34" charset="-120"/>
              </a:rPr>
              <a:t>32,0</a:t>
            </a:r>
            <a:endParaRPr lang="en-US" sz="1400" dirty="0"/>
          </a:p>
        </p:txBody>
      </p:sp>
      <p:sp>
        <p:nvSpPr>
          <p:cNvPr id="42" name="Shape 40"/>
          <p:cNvSpPr/>
          <p:nvPr/>
        </p:nvSpPr>
        <p:spPr>
          <a:xfrm>
            <a:off x="8023225" y="3771801"/>
            <a:ext cx="406400" cy="812800"/>
          </a:xfrm>
          <a:custGeom>
            <a:avLst/>
            <a:gdLst/>
            <a:ahLst/>
            <a:cxnLst/>
            <a:rect l="l" t="t" r="r" b="b"/>
            <a:pathLst>
              <a:path w="406400" h="812800">
                <a:moveTo>
                  <a:pt x="25400" y="0"/>
                </a:moveTo>
                <a:lnTo>
                  <a:pt x="381000" y="0"/>
                </a:lnTo>
                <a:arcTo hR="25400" wR="25400" stAng="16200000" swAng="5400000"/>
                <a:lnTo>
                  <a:pt x="406400" y="812800"/>
                </a:lnTo>
                <a:lnTo>
                  <a:pt x="0" y="812800"/>
                </a:lnTo>
                <a:lnTo>
                  <a:pt x="0" y="25400"/>
                </a:lnTo>
                <a:arcTo hR="25400" wR="25400" stAng="10800000" swAng="5400000"/>
                <a:close/>
              </a:path>
            </a:pathLst>
          </a:custGeom>
          <a:solidFill>
            <a:srgbClr val="C2570C"/>
          </a:solidFill>
          <a:ln/>
        </p:spPr>
        <p:txBody>
          <a:bodyPr/>
          <a:p/>
        </p:txBody>
      </p:sp>
      <p:sp>
        <p:nvSpPr>
          <p:cNvPr id="43" name="Text 41"/>
          <p:cNvSpPr/>
          <p:nvPr/>
        </p:nvSpPr>
        <p:spPr>
          <a:xfrm>
            <a:off x="8463280" y="4043660"/>
            <a:ext cx="41529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33A"/>
                </a:solidFill>
                <a:latin typeface="Arial" pitchFamily="34" charset="0"/>
                <a:ea typeface="Arial" pitchFamily="34" charset="-122"/>
                <a:cs typeface="Arial" pitchFamily="34" charset="-120"/>
              </a:rPr>
              <a:t>10,0</a:t>
            </a:r>
            <a:endParaRPr lang="en-US" sz="1400" dirty="0"/>
          </a:p>
        </p:txBody>
      </p:sp>
      <p:sp>
        <p:nvSpPr>
          <p:cNvPr id="44" name="Shape 42"/>
          <p:cNvSpPr/>
          <p:nvPr/>
        </p:nvSpPr>
        <p:spPr>
          <a:xfrm>
            <a:off x="8467725" y="4330601"/>
            <a:ext cx="406400" cy="254000"/>
          </a:xfrm>
          <a:custGeom>
            <a:avLst/>
            <a:gdLst/>
            <a:ahLst/>
            <a:cxnLst/>
            <a:rect l="l" t="t" r="r" b="b"/>
            <a:pathLst>
              <a:path w="406400" h="254000">
                <a:moveTo>
                  <a:pt x="25400" y="0"/>
                </a:moveTo>
                <a:lnTo>
                  <a:pt x="381000" y="0"/>
                </a:lnTo>
                <a:arcTo hR="25400" wR="25400" stAng="16200000" swAng="5400000"/>
                <a:lnTo>
                  <a:pt x="406400" y="254000"/>
                </a:lnTo>
                <a:lnTo>
                  <a:pt x="0" y="254000"/>
                </a:lnTo>
                <a:lnTo>
                  <a:pt x="0" y="25400"/>
                </a:lnTo>
                <a:arcTo hR="25400" wR="25400" stAng="10800000" swAng="5400000"/>
                <a:close/>
              </a:path>
            </a:pathLst>
          </a:custGeom>
          <a:solidFill>
            <a:srgbClr val="3F7FD0"/>
          </a:solidFill>
          <a:ln/>
        </p:spPr>
        <p:txBody>
          <a:bodyPr/>
          <a:p/>
        </p:txBody>
      </p:sp>
      <p:sp>
        <p:nvSpPr>
          <p:cNvPr id="45" name="Text 43"/>
          <p:cNvSpPr/>
          <p:nvPr/>
        </p:nvSpPr>
        <p:spPr>
          <a:xfrm>
            <a:off x="9040515" y="4335760"/>
            <a:ext cx="149721"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33A"/>
                </a:solidFill>
                <a:latin typeface="Arial" pitchFamily="34" charset="0"/>
                <a:ea typeface="Arial" pitchFamily="34" charset="-122"/>
                <a:cs typeface="Arial" pitchFamily="34" charset="-120"/>
              </a:rPr>
              <a:t>0</a:t>
            </a:r>
            <a:endParaRPr lang="en-US" sz="1400" dirty="0"/>
          </a:p>
        </p:txBody>
      </p:sp>
      <p:sp>
        <p:nvSpPr>
          <p:cNvPr id="46" name="Text 44"/>
          <p:cNvSpPr/>
          <p:nvPr/>
        </p:nvSpPr>
        <p:spPr>
          <a:xfrm>
            <a:off x="7838083" y="4673501"/>
            <a:ext cx="1665784"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3A4A5E"/>
                </a:solidFill>
                <a:latin typeface="Arial" pitchFamily="34" charset="0"/>
                <a:ea typeface="Arial" pitchFamily="34" charset="-122"/>
                <a:cs typeface="Arial" pitchFamily="34" charset="-120"/>
              </a:rPr>
              <a:t>Bịa chỉ số</a:t>
            </a:r>
            <a:endParaRPr lang="en-US" sz="1400" dirty="0"/>
          </a:p>
        </p:txBody>
      </p:sp>
      <p:sp>
        <p:nvSpPr>
          <p:cNvPr id="47" name="Shape 45"/>
          <p:cNvSpPr/>
          <p:nvPr/>
        </p:nvSpPr>
        <p:spPr>
          <a:xfrm>
            <a:off x="9580066" y="4590951"/>
            <a:ext cx="1614984" cy="0"/>
          </a:xfrm>
          <a:prstGeom prst="line">
            <a:avLst/>
          </a:prstGeom>
          <a:noFill/>
          <a:ln w="12700">
            <a:solidFill>
              <a:srgbClr val="8A97A8"/>
            </a:solidFill>
            <a:prstDash val="solid"/>
          </a:ln>
        </p:spPr>
        <p:txBody>
          <a:bodyPr/>
          <a:p/>
        </p:txBody>
      </p:sp>
      <p:sp>
        <p:nvSpPr>
          <p:cNvPr id="48" name="Text 46"/>
          <p:cNvSpPr/>
          <p:nvPr/>
        </p:nvSpPr>
        <p:spPr>
          <a:xfrm>
            <a:off x="9735364" y="2487910"/>
            <a:ext cx="41529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33A"/>
                </a:solidFill>
                <a:latin typeface="Arial" pitchFamily="34" charset="0"/>
                <a:ea typeface="Arial" pitchFamily="34" charset="-122"/>
                <a:cs typeface="Arial" pitchFamily="34" charset="-120"/>
              </a:rPr>
              <a:t>71,3</a:t>
            </a:r>
            <a:endParaRPr lang="en-US" sz="1400" dirty="0"/>
          </a:p>
        </p:txBody>
      </p:sp>
      <p:sp>
        <p:nvSpPr>
          <p:cNvPr id="49" name="Shape 47"/>
          <p:cNvSpPr/>
          <p:nvPr/>
        </p:nvSpPr>
        <p:spPr>
          <a:xfrm>
            <a:off x="9739809" y="2774851"/>
            <a:ext cx="406400" cy="1809750"/>
          </a:xfrm>
          <a:custGeom>
            <a:avLst/>
            <a:gdLst/>
            <a:ahLst/>
            <a:cxnLst/>
            <a:rect l="l" t="t" r="r" b="b"/>
            <a:pathLst>
              <a:path w="406400" h="1809750">
                <a:moveTo>
                  <a:pt x="25400" y="0"/>
                </a:moveTo>
                <a:lnTo>
                  <a:pt x="381000" y="0"/>
                </a:lnTo>
                <a:arcTo hR="25400" wR="25400" stAng="16200000" swAng="5400000"/>
                <a:lnTo>
                  <a:pt x="406400" y="1809750"/>
                </a:lnTo>
                <a:lnTo>
                  <a:pt x="0" y="1809750"/>
                </a:lnTo>
                <a:lnTo>
                  <a:pt x="0" y="25400"/>
                </a:lnTo>
                <a:arcTo hR="25400" wR="25400" stAng="10800000" swAng="5400000"/>
                <a:close/>
              </a:path>
            </a:pathLst>
          </a:custGeom>
          <a:solidFill>
            <a:srgbClr val="C2570C"/>
          </a:solidFill>
          <a:ln/>
        </p:spPr>
        <p:txBody>
          <a:bodyPr/>
          <a:p/>
        </p:txBody>
      </p:sp>
      <p:sp>
        <p:nvSpPr>
          <p:cNvPr id="50" name="Text 48"/>
          <p:cNvSpPr/>
          <p:nvPr/>
        </p:nvSpPr>
        <p:spPr>
          <a:xfrm>
            <a:off x="10179864" y="3567410"/>
            <a:ext cx="41529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33A"/>
                </a:solidFill>
                <a:latin typeface="Arial" pitchFamily="34" charset="0"/>
                <a:ea typeface="Arial" pitchFamily="34" charset="-122"/>
                <a:cs typeface="Arial" pitchFamily="34" charset="-120"/>
              </a:rPr>
              <a:t>28,7</a:t>
            </a:r>
            <a:endParaRPr lang="en-US" sz="1400" dirty="0"/>
          </a:p>
        </p:txBody>
      </p:sp>
      <p:sp>
        <p:nvSpPr>
          <p:cNvPr id="51" name="Shape 49"/>
          <p:cNvSpPr/>
          <p:nvPr/>
        </p:nvSpPr>
        <p:spPr>
          <a:xfrm>
            <a:off x="10184309" y="3854351"/>
            <a:ext cx="406400" cy="730250"/>
          </a:xfrm>
          <a:custGeom>
            <a:avLst/>
            <a:gdLst/>
            <a:ahLst/>
            <a:cxnLst/>
            <a:rect l="l" t="t" r="r" b="b"/>
            <a:pathLst>
              <a:path w="406400" h="730250">
                <a:moveTo>
                  <a:pt x="25400" y="0"/>
                </a:moveTo>
                <a:lnTo>
                  <a:pt x="381000" y="0"/>
                </a:lnTo>
                <a:arcTo hR="25400" wR="25400" stAng="16200000" swAng="5400000"/>
                <a:lnTo>
                  <a:pt x="406400" y="730250"/>
                </a:lnTo>
                <a:lnTo>
                  <a:pt x="0" y="730250"/>
                </a:lnTo>
                <a:lnTo>
                  <a:pt x="0" y="25400"/>
                </a:lnTo>
                <a:arcTo hR="25400" wR="25400" stAng="10800000" swAng="5400000"/>
                <a:close/>
              </a:path>
            </a:pathLst>
          </a:custGeom>
          <a:solidFill>
            <a:srgbClr val="3F7FD0"/>
          </a:solidFill>
          <a:ln/>
        </p:spPr>
        <p:txBody>
          <a:bodyPr/>
          <a:p/>
        </p:txBody>
      </p:sp>
      <p:sp>
        <p:nvSpPr>
          <p:cNvPr id="52" name="Text 50"/>
          <p:cNvSpPr/>
          <p:nvPr/>
        </p:nvSpPr>
        <p:spPr>
          <a:xfrm>
            <a:off x="10757098" y="4335760"/>
            <a:ext cx="149721"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3233A"/>
                </a:solidFill>
                <a:latin typeface="Arial" pitchFamily="34" charset="0"/>
                <a:ea typeface="Arial" pitchFamily="34" charset="-122"/>
                <a:cs typeface="Arial" pitchFamily="34" charset="-120"/>
              </a:rPr>
              <a:t>0</a:t>
            </a:r>
            <a:endParaRPr lang="en-US" sz="1400" dirty="0"/>
          </a:p>
        </p:txBody>
      </p:sp>
      <p:sp>
        <p:nvSpPr>
          <p:cNvPr id="53" name="Text 51"/>
          <p:cNvSpPr/>
          <p:nvPr/>
        </p:nvSpPr>
        <p:spPr>
          <a:xfrm>
            <a:off x="9554666" y="4673501"/>
            <a:ext cx="1665784"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3A4A5E"/>
                </a:solidFill>
                <a:latin typeface="Arial" pitchFamily="34" charset="0"/>
                <a:ea typeface="Arial" pitchFamily="34" charset="-122"/>
                <a:cs typeface="Arial" pitchFamily="34" charset="-120"/>
              </a:rPr>
              <a:t>Bỏ sót chỉ số</a:t>
            </a:r>
            <a:endParaRPr lang="en-US" sz="1400" dirty="0"/>
          </a:p>
        </p:txBody>
      </p:sp>
      <p:sp>
        <p:nvSpPr>
          <p:cNvPr id="54" name="Text 52"/>
          <p:cNvSpPr/>
          <p:nvPr/>
        </p:nvSpPr>
        <p:spPr>
          <a:xfrm>
            <a:off x="812800" y="523349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A5E"/>
                </a:solidFill>
                <a:latin typeface="Arial" pitchFamily="34" charset="0"/>
                <a:ea typeface="Arial" pitchFamily="34" charset="-122"/>
                <a:cs typeface="Arial" pitchFamily="34" charset="-120"/>
              </a:rPr>
              <a:t>Trục dọc: % số phiếu mắc lỗi (n = 150). Càng thấp càng tốt. Cấu hình </a:t>
            </a:r>
            <a:r>
              <a:rPr lang="en-US" sz="1400" b="1" dirty="0">
                <a:solidFill>
                  <a:srgbClr val="0B7A6E"/>
                </a:solidFill>
                <a:latin typeface="Arial" pitchFamily="34" charset="0"/>
                <a:ea typeface="Arial" pitchFamily="34" charset="-122"/>
                <a:cs typeface="Arial" pitchFamily="34" charset="-120"/>
              </a:rPr>
              <a:t>full</a:t>
            </a:r>
            <a:r>
              <a:rPr lang="en-US" sz="1400" dirty="0">
                <a:solidFill>
                  <a:srgbClr val="3A4A5E"/>
                </a:solidFill>
                <a:latin typeface="Arial" pitchFamily="34" charset="0"/>
                <a:ea typeface="Arial" pitchFamily="34" charset="-122"/>
                <a:cs typeface="Arial" pitchFamily="34" charset="-120"/>
              </a:rPr>
              <a:t> bằng 0 ở cả sáu loại lỗi.</a:t>
            </a:r>
            <a:endParaRPr lang="en-US" sz="1400" dirty="0"/>
          </a:p>
        </p:txBody>
      </p:sp>
      <p:sp>
        <p:nvSpPr>
          <p:cNvPr id="55" name="Text 53"/>
          <p:cNvSpPr/>
          <p:nvPr/>
        </p:nvSpPr>
        <p:spPr>
          <a:xfrm>
            <a:off x="812800" y="6202759"/>
            <a:ext cx="784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HEALTHINFO IV · Trương Quang Đại, HUTECH · Bài HI26-0013</a:t>
            </a:r>
            <a:endParaRPr lang="en-US" sz="1400" dirty="0"/>
          </a:p>
        </p:txBody>
      </p:sp>
      <p:sp>
        <p:nvSpPr>
          <p:cNvPr id="56" name="Text 54"/>
          <p:cNvSpPr/>
          <p:nvPr/>
        </p:nvSpPr>
        <p:spPr>
          <a:xfrm>
            <a:off x="10058400" y="6202759"/>
            <a:ext cx="132080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B6B80"/>
                </a:solidFill>
                <a:latin typeface="Arial" pitchFamily="34" charset="0"/>
                <a:ea typeface="Arial" pitchFamily="34" charset="-122"/>
                <a:cs typeface="Arial" pitchFamily="34" charset="-120"/>
              </a:rPr>
              <a:t>14 / 19</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3F6FA"/>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0B7A6E"/>
          </a:solidFill>
          <a:ln/>
        </p:spPr>
        <p:txBody>
          <a:bodyPr/>
          <a:p/>
        </p:txBody>
      </p:sp>
      <p:sp>
        <p:nvSpPr>
          <p:cNvPr id="3" name="Text 1"/>
          <p:cNvSpPr/>
          <p:nvPr>
            <p:ph type="title"/>
          </p:nvPr>
        </p:nvSpPr>
        <p:spPr>
          <a:xfrm>
            <a:off x="812800" y="71120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B7A6E"/>
                </a:solidFill>
                <a:latin typeface="Arial" pitchFamily="34" charset="0"/>
                <a:ea typeface="Arial" pitchFamily="34" charset="-122"/>
                <a:cs typeface="Arial" pitchFamily="34" charset="-120"/>
              </a:rPr>
              <a:t>14</a:t>
            </a:r>
            <a:r>
              <a:rPr lang="en-US" sz="2600" b="1" i="0" dirty="0">
                <a:solidFill>
                  <a:srgbClr val="0B2545"/>
                </a:solidFill>
                <a:latin typeface="Arial" pitchFamily="34" charset="0"/>
                <a:ea typeface="Arial" pitchFamily="34" charset="-122"/>
                <a:cs typeface="Arial" pitchFamily="34" charset="-120"/>
              </a:rPr>
              <a:t> Ba phát hiện chính</a:t>
            </a:r>
            <a:endParaRPr lang="en-US" sz="2600" dirty="0"/>
          </a:p>
        </p:txBody>
      </p:sp>
      <p:sp>
        <p:nvSpPr>
          <p:cNvPr id="4" name="Shape 2"/>
          <p:cNvSpPr/>
          <p:nvPr/>
        </p:nvSpPr>
        <p:spPr>
          <a:xfrm>
            <a:off x="815975" y="1297285"/>
            <a:ext cx="3397250" cy="2291953"/>
          </a:xfrm>
          <a:prstGeom prst="roundRect">
            <a:avLst>
              <a:gd name="adj" fmla="val 4294"/>
            </a:avLst>
          </a:prstGeom>
          <a:solidFill>
            <a:srgbClr val="FFFFFF"/>
          </a:solidFill>
          <a:ln w="6350">
            <a:solidFill>
              <a:srgbClr val="D9E2EC"/>
            </a:solidFill>
            <a:prstDash val="solid"/>
          </a:ln>
        </p:spPr>
        <p:txBody>
          <a:bodyPr/>
          <a:p/>
        </p:txBody>
      </p:sp>
      <p:sp>
        <p:nvSpPr>
          <p:cNvPr id="5" name="Text 3"/>
          <p:cNvSpPr/>
          <p:nvPr/>
        </p:nvSpPr>
        <p:spPr>
          <a:xfrm>
            <a:off x="1022350" y="1503660"/>
            <a:ext cx="3074035" cy="472380"/>
          </a:xfrm>
          <a:prstGeom prst="rect">
            <a:avLst/>
          </a:prstGeom>
          <a:noFill/>
          <a:ln/>
        </p:spPr>
        <p:txBody>
          <a:bodyPr wrap="none" lIns="0" tIns="0" rIns="0" bIns="0" rtlCol="0" anchor="t">
            <a:normAutofit/>
          </a:bodyPr>
          <a:lstStyle/>
          <a:p>
            <a:pPr algn="l" indent="0" marL="0">
              <a:lnSpc>
                <a:spcPts val="3520"/>
              </a:lnSpc>
              <a:buNone/>
            </a:pPr>
            <a:r>
              <a:rPr lang="en-US" sz="3200" b="1" dirty="0">
                <a:solidFill>
                  <a:srgbClr val="C2570C"/>
                </a:solidFill>
                <a:latin typeface="Arial" pitchFamily="34" charset="0"/>
                <a:ea typeface="Arial" pitchFamily="34" charset="-122"/>
                <a:cs typeface="Arial" pitchFamily="34" charset="-120"/>
              </a:rPr>
              <a:t>32% </a:t>
            </a:r>
            <a:r>
              <a:rPr lang="en-US" sz="3200" b="1" dirty="0">
                <a:solidFill>
                  <a:srgbClr val="5B6B80"/>
                </a:solidFill>
                <a:latin typeface="Arial" pitchFamily="34" charset="0"/>
                <a:ea typeface="Arial" pitchFamily="34" charset="-122"/>
                <a:cs typeface="Arial" pitchFamily="34" charset="-120"/>
              </a:rPr>
              <a:t>→</a:t>
            </a:r>
            <a:r>
              <a:rPr lang="en-US" sz="3200" b="1" dirty="0">
                <a:solidFill>
                  <a:srgbClr val="C2570C"/>
                </a:solidFill>
                <a:latin typeface="Arial" pitchFamily="34" charset="0"/>
                <a:ea typeface="Arial" pitchFamily="34" charset="-122"/>
                <a:cs typeface="Arial" pitchFamily="34" charset="-120"/>
              </a:rPr>
              <a:t> </a:t>
            </a:r>
            <a:r>
              <a:rPr lang="en-US" sz="3200" b="1" dirty="0">
                <a:solidFill>
                  <a:srgbClr val="0B7A6E"/>
                </a:solidFill>
                <a:latin typeface="Arial" pitchFamily="34" charset="0"/>
                <a:ea typeface="Arial" pitchFamily="34" charset="-122"/>
                <a:cs typeface="Arial" pitchFamily="34" charset="-120"/>
              </a:rPr>
              <a:t>0%</a:t>
            </a:r>
            <a:endParaRPr lang="en-US" sz="3200" dirty="0"/>
          </a:p>
        </p:txBody>
      </p:sp>
      <p:sp>
        <p:nvSpPr>
          <p:cNvPr id="6" name="Text 4"/>
          <p:cNvSpPr/>
          <p:nvPr/>
        </p:nvSpPr>
        <p:spPr>
          <a:xfrm>
            <a:off x="1022350" y="2039541"/>
            <a:ext cx="30740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B2545"/>
                </a:solidFill>
                <a:latin typeface="Arial" pitchFamily="34" charset="0"/>
                <a:ea typeface="Arial" pitchFamily="34" charset="-122"/>
                <a:cs typeface="Arial" pitchFamily="34" charset="-120"/>
              </a:rPr>
              <a:t>Trấn an sai</a:t>
            </a:r>
            <a:endParaRPr lang="en-US" sz="1700" dirty="0"/>
          </a:p>
        </p:txBody>
      </p:sp>
      <p:sp>
        <p:nvSpPr>
          <p:cNvPr id="7" name="Text 5"/>
          <p:cNvSpPr/>
          <p:nvPr/>
        </p:nvSpPr>
        <p:spPr>
          <a:xfrm>
            <a:off x="1022350" y="2387501"/>
            <a:ext cx="307403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5E"/>
                </a:solidFill>
                <a:latin typeface="Arial" pitchFamily="34" charset="0"/>
                <a:ea typeface="Arial" pitchFamily="34" charset="-122"/>
                <a:cs typeface="Arial" pitchFamily="34" charset="-120"/>
              </a:rPr>
              <a:t>Không ràng buộc: cứ khoảng </a:t>
            </a:r>
            <a:r>
              <a:rPr lang="en-US" sz="1400" b="1" dirty="0">
                <a:solidFill>
                  <a:srgbClr val="3A4A5E"/>
                </a:solidFill>
                <a:latin typeface="Arial" pitchFamily="34" charset="0"/>
                <a:ea typeface="Arial" pitchFamily="34" charset="-122"/>
                <a:cs typeface="Arial" pitchFamily="34" charset="-120"/>
              </a:rPr>
              <a:t>ba người</a:t>
            </a:r>
            <a:r>
              <a:rPr lang="en-US" sz="1400" dirty="0">
                <a:solidFill>
                  <a:srgbClr val="3A4A5E"/>
                </a:solidFill>
                <a:latin typeface="Arial" pitchFamily="34" charset="0"/>
                <a:ea typeface="Arial" pitchFamily="34" charset="-122"/>
                <a:cs typeface="Arial" pitchFamily="34" charset="-120"/>
              </a:rPr>
              <a:t> có kết quả bất thường thì một người bị bảo là không có gì đáng lo.</a:t>
            </a:r>
            <a:endParaRPr lang="en-US" sz="1400" dirty="0"/>
          </a:p>
        </p:txBody>
      </p:sp>
      <p:sp>
        <p:nvSpPr>
          <p:cNvPr id="8" name="Shape 6"/>
          <p:cNvSpPr/>
          <p:nvPr/>
        </p:nvSpPr>
        <p:spPr>
          <a:xfrm>
            <a:off x="4397375" y="1297285"/>
            <a:ext cx="3397250" cy="2291953"/>
          </a:xfrm>
          <a:prstGeom prst="roundRect">
            <a:avLst>
              <a:gd name="adj" fmla="val 4294"/>
            </a:avLst>
          </a:prstGeom>
          <a:solidFill>
            <a:srgbClr val="FFFFFF"/>
          </a:solidFill>
          <a:ln w="6350">
            <a:solidFill>
              <a:srgbClr val="D9E2EC"/>
            </a:solidFill>
            <a:prstDash val="solid"/>
          </a:ln>
        </p:spPr>
        <p:txBody>
          <a:bodyPr/>
          <a:p/>
        </p:txBody>
      </p:sp>
      <p:sp>
        <p:nvSpPr>
          <p:cNvPr id="9" name="Text 7"/>
          <p:cNvSpPr/>
          <p:nvPr/>
        </p:nvSpPr>
        <p:spPr>
          <a:xfrm>
            <a:off x="4603750" y="1503660"/>
            <a:ext cx="3074035" cy="472380"/>
          </a:xfrm>
          <a:prstGeom prst="rect">
            <a:avLst/>
          </a:prstGeom>
          <a:noFill/>
          <a:ln/>
        </p:spPr>
        <p:txBody>
          <a:bodyPr wrap="none" lIns="0" tIns="0" rIns="0" bIns="0" rtlCol="0" anchor="t">
            <a:normAutofit/>
          </a:bodyPr>
          <a:lstStyle/>
          <a:p>
            <a:pPr algn="l" indent="0" marL="0">
              <a:lnSpc>
                <a:spcPts val="3520"/>
              </a:lnSpc>
              <a:buNone/>
            </a:pPr>
            <a:r>
              <a:rPr lang="en-US" sz="3200" b="1" dirty="0">
                <a:solidFill>
                  <a:srgbClr val="1E5FB4"/>
                </a:solidFill>
                <a:latin typeface="Arial" pitchFamily="34" charset="0"/>
                <a:ea typeface="Arial" pitchFamily="34" charset="-122"/>
                <a:cs typeface="Arial" pitchFamily="34" charset="-120"/>
              </a:rPr>
              <a:t>91,3% </a:t>
            </a:r>
            <a:r>
              <a:rPr lang="en-US" sz="3200" b="1" dirty="0">
                <a:solidFill>
                  <a:srgbClr val="5B6B80"/>
                </a:solidFill>
                <a:latin typeface="Arial" pitchFamily="34" charset="0"/>
                <a:ea typeface="Arial" pitchFamily="34" charset="-122"/>
                <a:cs typeface="Arial" pitchFamily="34" charset="-120"/>
              </a:rPr>
              <a:t>→</a:t>
            </a:r>
            <a:r>
              <a:rPr lang="en-US" sz="3200" b="1" dirty="0">
                <a:solidFill>
                  <a:srgbClr val="1E5FB4"/>
                </a:solidFill>
                <a:latin typeface="Arial" pitchFamily="34" charset="0"/>
                <a:ea typeface="Arial" pitchFamily="34" charset="-122"/>
                <a:cs typeface="Arial" pitchFamily="34" charset="-120"/>
              </a:rPr>
              <a:t> </a:t>
            </a:r>
            <a:r>
              <a:rPr lang="en-US" sz="3200" b="1" dirty="0">
                <a:solidFill>
                  <a:srgbClr val="0B7A6E"/>
                </a:solidFill>
                <a:latin typeface="Arial" pitchFamily="34" charset="0"/>
                <a:ea typeface="Arial" pitchFamily="34" charset="-122"/>
                <a:cs typeface="Arial" pitchFamily="34" charset="-120"/>
              </a:rPr>
              <a:t>0%</a:t>
            </a:r>
            <a:endParaRPr lang="en-US" sz="3200" dirty="0"/>
          </a:p>
        </p:txBody>
      </p:sp>
      <p:sp>
        <p:nvSpPr>
          <p:cNvPr id="10" name="Text 8"/>
          <p:cNvSpPr/>
          <p:nvPr/>
        </p:nvSpPr>
        <p:spPr>
          <a:xfrm>
            <a:off x="4603750" y="2039541"/>
            <a:ext cx="30740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B2545"/>
                </a:solidFill>
                <a:latin typeface="Arial" pitchFamily="34" charset="0"/>
                <a:ea typeface="Arial" pitchFamily="34" charset="-122"/>
                <a:cs typeface="Arial" pitchFamily="34" charset="-120"/>
              </a:rPr>
              <a:t>Sai chiều lệch</a:t>
            </a:r>
            <a:endParaRPr lang="en-US" sz="1700" dirty="0"/>
          </a:p>
        </p:txBody>
      </p:sp>
      <p:sp>
        <p:nvSpPr>
          <p:cNvPr id="11" name="Text 9"/>
          <p:cNvSpPr/>
          <p:nvPr/>
        </p:nvSpPr>
        <p:spPr>
          <a:xfrm>
            <a:off x="4603750" y="2387501"/>
            <a:ext cx="307403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5E"/>
                </a:solidFill>
                <a:latin typeface="Arial" pitchFamily="34" charset="0"/>
                <a:ea typeface="Arial" pitchFamily="34" charset="-122"/>
                <a:cs typeface="Arial" pitchFamily="34" charset="-120"/>
              </a:rPr>
              <a:t>Mô hình tự phán đoán thì sai gần như luôn. Giao cho tầng luật, </a:t>
            </a:r>
            <a:r>
              <a:rPr lang="en-US" sz="1400" b="1" dirty="0">
                <a:solidFill>
                  <a:srgbClr val="3A4A5E"/>
                </a:solidFill>
                <a:latin typeface="Arial" pitchFamily="34" charset="0"/>
                <a:ea typeface="Arial" pitchFamily="34" charset="-122"/>
                <a:cs typeface="Arial" pitchFamily="34" charset="-120"/>
              </a:rPr>
              <a:t>phân loại chính xác tuyệt đối</a:t>
            </a:r>
            <a:r>
              <a:rPr lang="en-US" sz="1400" dirty="0">
                <a:solidFill>
                  <a:srgbClr val="3A4A5E"/>
                </a:solidFill>
                <a:latin typeface="Arial" pitchFamily="34" charset="0"/>
                <a:ea typeface="Arial" pitchFamily="34" charset="-122"/>
                <a:cs typeface="Arial" pitchFamily="34" charset="-120"/>
              </a:rPr>
              <a:t>.</a:t>
            </a:r>
            <a:endParaRPr lang="en-US" sz="1400" dirty="0"/>
          </a:p>
        </p:txBody>
      </p:sp>
      <p:sp>
        <p:nvSpPr>
          <p:cNvPr id="12" name="Shape 10"/>
          <p:cNvSpPr/>
          <p:nvPr/>
        </p:nvSpPr>
        <p:spPr>
          <a:xfrm>
            <a:off x="7978775" y="1297285"/>
            <a:ext cx="3397250" cy="2291953"/>
          </a:xfrm>
          <a:prstGeom prst="roundRect">
            <a:avLst>
              <a:gd name="adj" fmla="val 4294"/>
            </a:avLst>
          </a:prstGeom>
          <a:solidFill>
            <a:srgbClr val="FFFFFF"/>
          </a:solidFill>
          <a:ln w="6350">
            <a:solidFill>
              <a:srgbClr val="D9E2EC"/>
            </a:solidFill>
            <a:prstDash val="solid"/>
          </a:ln>
        </p:spPr>
        <p:txBody>
          <a:bodyPr/>
          <a:p/>
        </p:txBody>
      </p:sp>
      <p:sp>
        <p:nvSpPr>
          <p:cNvPr id="13" name="Text 11"/>
          <p:cNvSpPr/>
          <p:nvPr/>
        </p:nvSpPr>
        <p:spPr>
          <a:xfrm>
            <a:off x="8185150" y="1503660"/>
            <a:ext cx="3074035" cy="472380"/>
          </a:xfrm>
          <a:prstGeom prst="rect">
            <a:avLst/>
          </a:prstGeom>
          <a:noFill/>
          <a:ln/>
        </p:spPr>
        <p:txBody>
          <a:bodyPr wrap="none" lIns="0" tIns="0" rIns="0" bIns="0" rtlCol="0" anchor="t">
            <a:normAutofit/>
          </a:bodyPr>
          <a:lstStyle/>
          <a:p>
            <a:pPr algn="l" indent="0" marL="0">
              <a:lnSpc>
                <a:spcPts val="3520"/>
              </a:lnSpc>
              <a:buNone/>
            </a:pPr>
            <a:r>
              <a:rPr lang="en-US" sz="3200" b="1" dirty="0">
                <a:solidFill>
                  <a:srgbClr val="8A5A12"/>
                </a:solidFill>
                <a:latin typeface="Arial" pitchFamily="34" charset="0"/>
                <a:ea typeface="Arial" pitchFamily="34" charset="-122"/>
                <a:cs typeface="Arial" pitchFamily="34" charset="-120"/>
              </a:rPr>
              <a:t>48%</a:t>
            </a:r>
            <a:endParaRPr lang="en-US" sz="3200" dirty="0"/>
          </a:p>
        </p:txBody>
      </p:sp>
      <p:sp>
        <p:nvSpPr>
          <p:cNvPr id="14" name="Text 12"/>
          <p:cNvSpPr/>
          <p:nvPr/>
        </p:nvSpPr>
        <p:spPr>
          <a:xfrm>
            <a:off x="8185150" y="2039541"/>
            <a:ext cx="30740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B2545"/>
                </a:solidFill>
                <a:latin typeface="Arial" pitchFamily="34" charset="0"/>
                <a:ea typeface="Arial" pitchFamily="34" charset="-122"/>
                <a:cs typeface="Arial" pitchFamily="34" charset="-120"/>
              </a:rPr>
              <a:t>Ràng buộc chưa đủ</a:t>
            </a:r>
            <a:endParaRPr lang="en-US" sz="1700" dirty="0"/>
          </a:p>
        </p:txBody>
      </p:sp>
      <p:sp>
        <p:nvSpPr>
          <p:cNvPr id="15" name="Text 13"/>
          <p:cNvSpPr/>
          <p:nvPr/>
        </p:nvSpPr>
        <p:spPr>
          <a:xfrm>
            <a:off x="8185150" y="2387501"/>
            <a:ext cx="3074035"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5E"/>
                </a:solidFill>
                <a:latin typeface="Arial" pitchFamily="34" charset="0"/>
                <a:ea typeface="Arial" pitchFamily="34" charset="-122"/>
                <a:cs typeface="Arial" pitchFamily="34" charset="-120"/>
              </a:rPr>
              <a:t>Chỉ 48% câu có ràng buộc đạt; hơn một nửa không qua kiểm chứng. </a:t>
            </a:r>
            <a:r>
              <a:rPr lang="en-US" sz="1400" b="1" dirty="0">
                <a:solidFill>
                  <a:srgbClr val="3A4A5E"/>
                </a:solidFill>
                <a:latin typeface="Arial" pitchFamily="34" charset="0"/>
                <a:ea typeface="Arial" pitchFamily="34" charset="-122"/>
                <a:cs typeface="Arial" pitchFamily="34" charset="-120"/>
              </a:rPr>
              <a:t>Dặn dò không bảo đảm mô hình làm theo.</a:t>
            </a:r>
            <a:endParaRPr lang="en-US" sz="1400" dirty="0"/>
          </a:p>
        </p:txBody>
      </p:sp>
      <p:sp>
        <p:nvSpPr>
          <p:cNvPr id="16" name="Shape 14"/>
          <p:cNvSpPr/>
          <p:nvPr/>
        </p:nvSpPr>
        <p:spPr>
          <a:xfrm>
            <a:off x="815975" y="3798788"/>
            <a:ext cx="10560050" cy="1083072"/>
          </a:xfrm>
          <a:prstGeom prst="roundRect">
            <a:avLst>
              <a:gd name="adj" fmla="val 9088"/>
            </a:avLst>
          </a:prstGeom>
          <a:solidFill>
            <a:srgbClr val="FFF8E6"/>
          </a:solidFill>
          <a:ln w="6350">
            <a:solidFill>
              <a:srgbClr val="F1D9A0"/>
            </a:solidFill>
            <a:prstDash val="solid"/>
          </a:ln>
        </p:spPr>
        <p:txBody>
          <a:bodyPr/>
          <a:p/>
        </p:txBody>
      </p:sp>
      <p:sp>
        <p:nvSpPr>
          <p:cNvPr id="17" name="Text 15"/>
          <p:cNvSpPr/>
          <p:nvPr/>
        </p:nvSpPr>
        <p:spPr>
          <a:xfrm>
            <a:off x="1022350" y="3941663"/>
            <a:ext cx="10451719" cy="274241"/>
          </a:xfrm>
          <a:prstGeom prst="rect">
            <a:avLst/>
          </a:prstGeom>
          <a:noFill/>
          <a:ln/>
        </p:spPr>
        <p:txBody>
          <a:bodyPr wrap="square" lIns="0" tIns="0" rIns="0" bIns="0" rtlCol="0" anchor="t">
            <a:normAutofit/>
          </a:bodyPr>
          <a:lstStyle/>
          <a:p>
            <a:pPr algn="l" indent="0" marL="0">
              <a:lnSpc>
                <a:spcPts val="1960"/>
              </a:lnSpc>
              <a:buNone/>
            </a:pPr>
            <a:r>
              <a:rPr lang="en-US" sz="1400" b="1" spc="50" kern="0" dirty="0">
                <a:solidFill>
                  <a:srgbClr val="8A5A12"/>
                </a:solidFill>
                <a:latin typeface="Arial" pitchFamily="34" charset="0"/>
                <a:ea typeface="Arial" pitchFamily="34" charset="-122"/>
                <a:cs typeface="Arial" pitchFamily="34" charset="-120"/>
              </a:rPr>
              <a:t>LƯU Ý QUAN TRỌNG</a:t>
            </a:r>
            <a:endParaRPr lang="en-US" sz="1400" dirty="0"/>
          </a:p>
        </p:txBody>
      </p:sp>
      <p:sp>
        <p:nvSpPr>
          <p:cNvPr id="18" name="Text 16"/>
          <p:cNvSpPr/>
          <p:nvPr/>
        </p:nvSpPr>
        <p:spPr>
          <a:xfrm>
            <a:off x="1022350" y="4241304"/>
            <a:ext cx="1045171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Arial" pitchFamily="34" charset="0"/>
                <a:ea typeface="Arial" pitchFamily="34" charset="-122"/>
                <a:cs typeface="Arial" pitchFamily="34" charset="-120"/>
              </a:rPr>
              <a:t>100% an toàn = </a:t>
            </a:r>
            <a:r>
              <a:rPr lang="en-US" sz="1400" b="1" dirty="0">
                <a:solidFill>
                  <a:srgbClr val="13233A"/>
                </a:solidFill>
                <a:latin typeface="Arial" pitchFamily="34" charset="0"/>
                <a:ea typeface="Arial" pitchFamily="34" charset="-122"/>
                <a:cs typeface="Arial" pitchFamily="34" charset="-120"/>
              </a:rPr>
              <a:t>64% câu do mô hình viết + 36% câu mẫu cố định</a:t>
            </a:r>
            <a:r>
              <a:rPr lang="en-US" sz="1400" dirty="0">
                <a:solidFill>
                  <a:srgbClr val="13233A"/>
                </a:solidFill>
                <a:latin typeface="Arial" pitchFamily="34" charset="0"/>
                <a:ea typeface="Arial" pitchFamily="34" charset="-122"/>
                <a:cs typeface="Arial" pitchFamily="34" charset="-120"/>
              </a:rPr>
              <a:t>. Đảm bảo này đến từ quy trình, không phải bằng chứng rằng mô hình 3 tỷ tham số làm tốt việc này.</a:t>
            </a:r>
            <a:endParaRPr lang="en-US" sz="1400" dirty="0"/>
          </a:p>
        </p:txBody>
      </p:sp>
      <p:sp>
        <p:nvSpPr>
          <p:cNvPr id="19" name="Text 17"/>
          <p:cNvSpPr/>
          <p:nvPr/>
        </p:nvSpPr>
        <p:spPr>
          <a:xfrm>
            <a:off x="812800" y="6202759"/>
            <a:ext cx="784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HEALTHINFO IV · Trương Quang Đại, HUTECH · Bài HI26-0013</a:t>
            </a:r>
            <a:endParaRPr lang="en-US" sz="1400" dirty="0"/>
          </a:p>
        </p:txBody>
      </p:sp>
      <p:sp>
        <p:nvSpPr>
          <p:cNvPr id="20" name="Text 18"/>
          <p:cNvSpPr/>
          <p:nvPr/>
        </p:nvSpPr>
        <p:spPr>
          <a:xfrm>
            <a:off x="10058400" y="6202759"/>
            <a:ext cx="132080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B6B80"/>
                </a:solidFill>
                <a:latin typeface="Arial" pitchFamily="34" charset="0"/>
                <a:ea typeface="Arial" pitchFamily="34" charset="-122"/>
                <a:cs typeface="Arial" pitchFamily="34" charset="-120"/>
              </a:rPr>
              <a:t>15 / 19</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3F6FA"/>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0B7A6E"/>
          </a:solidFill>
          <a:ln/>
        </p:spPr>
        <p:txBody>
          <a:bodyPr/>
          <a:p/>
        </p:txBody>
      </p:sp>
      <p:sp>
        <p:nvSpPr>
          <p:cNvPr id="3" name="Text 1"/>
          <p:cNvSpPr/>
          <p:nvPr>
            <p:ph type="title"/>
          </p:nvPr>
        </p:nvSpPr>
        <p:spPr>
          <a:xfrm>
            <a:off x="812800" y="71120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B7A6E"/>
                </a:solidFill>
                <a:latin typeface="Arial" pitchFamily="34" charset="0"/>
                <a:ea typeface="Arial" pitchFamily="34" charset="-122"/>
                <a:cs typeface="Arial" pitchFamily="34" charset="-120"/>
              </a:rPr>
              <a:t>15</a:t>
            </a:r>
            <a:r>
              <a:rPr lang="en-US" sz="2600" b="1" i="0" dirty="0">
                <a:solidFill>
                  <a:srgbClr val="0B2545"/>
                </a:solidFill>
                <a:latin typeface="Arial" pitchFamily="34" charset="0"/>
                <a:ea typeface="Arial" pitchFamily="34" charset="-122"/>
                <a:cs typeface="Arial" pitchFamily="34" charset="-120"/>
              </a:rPr>
              <a:t> Thảo luận — hai điều rút ra</a:t>
            </a:r>
            <a:endParaRPr lang="en-US" sz="2600" dirty="0"/>
          </a:p>
        </p:txBody>
      </p:sp>
      <p:sp>
        <p:nvSpPr>
          <p:cNvPr id="4" name="Shape 2"/>
          <p:cNvSpPr/>
          <p:nvPr/>
        </p:nvSpPr>
        <p:spPr>
          <a:xfrm>
            <a:off x="815975" y="1271885"/>
            <a:ext cx="10560050" cy="1182191"/>
          </a:xfrm>
          <a:prstGeom prst="roundRect">
            <a:avLst>
              <a:gd name="adj" fmla="val 8326"/>
            </a:avLst>
          </a:prstGeom>
          <a:solidFill>
            <a:srgbClr val="FFFFFF"/>
          </a:solidFill>
          <a:ln w="6350">
            <a:solidFill>
              <a:srgbClr val="D9E2EC"/>
            </a:solidFill>
            <a:prstDash val="solid"/>
          </a:ln>
        </p:spPr>
        <p:txBody>
          <a:bodyPr/>
          <a:p/>
        </p:txBody>
      </p:sp>
      <p:sp>
        <p:nvSpPr>
          <p:cNvPr id="5" name="Text 3"/>
          <p:cNvSpPr/>
          <p:nvPr/>
        </p:nvSpPr>
        <p:spPr>
          <a:xfrm>
            <a:off x="1047750" y="1452860"/>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C2570C"/>
          </a:solidFill>
          <a:ln/>
        </p:spPr>
        <p:txBody>
          <a:bodyPr wrap="square" lIns="0" tIns="0" rIns="0" bIns="0" rtlCol="0" anchor="t">
            <a:normAutofit/>
          </a:bodyPr>
          <a:lstStyle/>
          <a:p>
            <a:pPr algn="ctr" indent="0" marL="0">
              <a:lnSpc>
                <a:spcPts val="3600"/>
              </a:lnSpc>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6" name="Text 4"/>
          <p:cNvSpPr/>
          <p:nvPr/>
        </p:nvSpPr>
        <p:spPr>
          <a:xfrm>
            <a:off x="1682750" y="1452860"/>
            <a:ext cx="974534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B2545"/>
                </a:solidFill>
                <a:latin typeface="Arial" pitchFamily="34" charset="0"/>
                <a:ea typeface="Arial" pitchFamily="34" charset="-122"/>
                <a:cs typeface="Arial" pitchFamily="34" charset="-120"/>
              </a:rPr>
              <a:t>Trấn an sai cần có chỉ số đo riêng</a:t>
            </a:r>
            <a:endParaRPr lang="en-US" sz="1700" dirty="0"/>
          </a:p>
        </p:txBody>
      </p:sp>
      <p:sp>
        <p:nvSpPr>
          <p:cNvPr id="7" name="Text 5"/>
          <p:cNvSpPr/>
          <p:nvPr/>
        </p:nvSpPr>
        <p:spPr>
          <a:xfrm>
            <a:off x="1682750" y="1775420"/>
            <a:ext cx="974534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5E"/>
                </a:solidFill>
                <a:latin typeface="Arial" pitchFamily="34" charset="0"/>
                <a:ea typeface="Arial" pitchFamily="34" charset="-122"/>
                <a:cs typeface="Arial" pitchFamily="34" charset="-120"/>
              </a:rPr>
              <a:t>Các đánh giá hiện nay báo cáo độ dễ đọc và độ chính xác thông tin. Một câu trấn an sai vẫn có thể được chấm dễ đọc </a:t>
            </a:r>
            <a:r>
              <a:rPr lang="en-US" sz="1400" b="1" dirty="0">
                <a:solidFill>
                  <a:srgbClr val="3A4A5E"/>
                </a:solidFill>
                <a:latin typeface="Arial" pitchFamily="34" charset="0"/>
                <a:ea typeface="Arial" pitchFamily="34" charset="-122"/>
                <a:cs typeface="Arial" pitchFamily="34" charset="-120"/>
              </a:rPr>
              <a:t>RẤT CAO</a:t>
            </a:r>
            <a:r>
              <a:rPr lang="en-US" sz="1400" dirty="0">
                <a:solidFill>
                  <a:srgbClr val="3A4A5E"/>
                </a:solidFill>
                <a:latin typeface="Arial" pitchFamily="34" charset="0"/>
                <a:ea typeface="Arial" pitchFamily="34" charset="-122"/>
                <a:cs typeface="Arial" pitchFamily="34" charset="-120"/>
              </a:rPr>
              <a:t>, vì nó đơn giản và êm tai. Cái hại: người đọc không đi khám.</a:t>
            </a:r>
            <a:endParaRPr lang="en-US" sz="1400" dirty="0"/>
          </a:p>
        </p:txBody>
      </p:sp>
      <p:sp>
        <p:nvSpPr>
          <p:cNvPr id="8" name="Shape 6"/>
          <p:cNvSpPr/>
          <p:nvPr/>
        </p:nvSpPr>
        <p:spPr>
          <a:xfrm>
            <a:off x="815975" y="2638227"/>
            <a:ext cx="10560050" cy="1182191"/>
          </a:xfrm>
          <a:prstGeom prst="roundRect">
            <a:avLst>
              <a:gd name="adj" fmla="val 8326"/>
            </a:avLst>
          </a:prstGeom>
          <a:solidFill>
            <a:srgbClr val="FFFFFF"/>
          </a:solidFill>
          <a:ln w="6350">
            <a:solidFill>
              <a:srgbClr val="D9E2EC"/>
            </a:solidFill>
            <a:prstDash val="solid"/>
          </a:ln>
        </p:spPr>
        <p:txBody>
          <a:bodyPr/>
          <a:p/>
        </p:txBody>
      </p:sp>
      <p:sp>
        <p:nvSpPr>
          <p:cNvPr id="9" name="Text 7"/>
          <p:cNvSpPr/>
          <p:nvPr/>
        </p:nvSpPr>
        <p:spPr>
          <a:xfrm>
            <a:off x="1047750" y="2819202"/>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1E5FB4"/>
          </a:solidFill>
          <a:ln/>
        </p:spPr>
        <p:txBody>
          <a:bodyPr wrap="square" lIns="0" tIns="0" rIns="0" bIns="0" rtlCol="0" anchor="t">
            <a:normAutofit/>
          </a:bodyPr>
          <a:lstStyle/>
          <a:p>
            <a:pPr algn="ctr" indent="0" marL="0">
              <a:lnSpc>
                <a:spcPts val="3600"/>
              </a:lnSpc>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0" name="Text 8"/>
          <p:cNvSpPr/>
          <p:nvPr/>
        </p:nvSpPr>
        <p:spPr>
          <a:xfrm>
            <a:off x="1682750" y="2819202"/>
            <a:ext cx="974534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B2545"/>
                </a:solidFill>
                <a:latin typeface="Arial" pitchFamily="34" charset="0"/>
                <a:ea typeface="Arial" pitchFamily="34" charset="-122"/>
                <a:cs typeface="Arial" pitchFamily="34" charset="-120"/>
              </a:rPr>
              <a:t>Chuẩn hóa đơn vị là điều kiện cần về an toàn</a:t>
            </a:r>
            <a:endParaRPr lang="en-US" sz="1700" dirty="0"/>
          </a:p>
        </p:txBody>
      </p:sp>
      <p:sp>
        <p:nvSpPr>
          <p:cNvPr id="11" name="Text 9"/>
          <p:cNvSpPr/>
          <p:nvPr/>
        </p:nvSpPr>
        <p:spPr>
          <a:xfrm>
            <a:off x="1682750" y="3141762"/>
            <a:ext cx="974534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5E"/>
                </a:solidFill>
                <a:latin typeface="Arial" pitchFamily="34" charset="0"/>
                <a:ea typeface="Arial" pitchFamily="34" charset="-122"/>
                <a:cs typeface="Arial" pitchFamily="34" charset="-120"/>
              </a:rPr>
              <a:t>Lỗi đơn vị xảy ra </a:t>
            </a:r>
            <a:r>
              <a:rPr lang="en-US" sz="1400" b="1" dirty="0">
                <a:solidFill>
                  <a:srgbClr val="3A4A5E"/>
                </a:solidFill>
                <a:latin typeface="Arial" pitchFamily="34" charset="0"/>
                <a:ea typeface="Arial" pitchFamily="34" charset="-122"/>
                <a:cs typeface="Arial" pitchFamily="34" charset="-120"/>
              </a:rPr>
              <a:t>ngay trong tầng luật</a:t>
            </a:r>
            <a:r>
              <a:rPr lang="en-US" sz="1400" dirty="0">
                <a:solidFill>
                  <a:srgbClr val="3A4A5E"/>
                </a:solidFill>
                <a:latin typeface="Arial" pitchFamily="34" charset="0"/>
                <a:ea typeface="Arial" pitchFamily="34" charset="-122"/>
                <a:cs typeface="Arial" pitchFamily="34" charset="-120"/>
              </a:rPr>
              <a:t>, tầng được coi là chính xác. Các bước kiểm chứng sau không phát hiện được, vì tầng nào cũng chép lại y nguyên một nhãn sai.</a:t>
            </a:r>
            <a:endParaRPr lang="en-US" sz="1400" dirty="0"/>
          </a:p>
        </p:txBody>
      </p:sp>
      <p:sp>
        <p:nvSpPr>
          <p:cNvPr id="12" name="Shape 10"/>
          <p:cNvSpPr/>
          <p:nvPr/>
        </p:nvSpPr>
        <p:spPr>
          <a:xfrm>
            <a:off x="812800" y="4001393"/>
            <a:ext cx="10566400" cy="1064022"/>
          </a:xfrm>
          <a:prstGeom prst="roundRect">
            <a:avLst>
              <a:gd name="adj" fmla="val 9549"/>
            </a:avLst>
          </a:prstGeom>
          <a:solidFill>
            <a:srgbClr val="0B2545"/>
          </a:solidFill>
          <a:ln/>
        </p:spPr>
        <p:txBody>
          <a:bodyPr/>
          <a:p/>
        </p:txBody>
      </p:sp>
      <p:sp>
        <p:nvSpPr>
          <p:cNvPr id="13" name="Text 11"/>
          <p:cNvSpPr/>
          <p:nvPr/>
        </p:nvSpPr>
        <p:spPr>
          <a:xfrm>
            <a:off x="1041400" y="4141093"/>
            <a:ext cx="1041247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Arial" pitchFamily="34" charset="0"/>
                <a:ea typeface="Arial" pitchFamily="34" charset="-122"/>
                <a:cs typeface="Arial" pitchFamily="34" charset="-120"/>
              </a:rPr>
              <a:t>Vì vậy chuẩn hóa dữ liệu (</a:t>
            </a:r>
            <a:r>
              <a:rPr lang="en-US" sz="1400" dirty="0">
                <a:solidFill>
                  <a:srgbClr val="5EEAD4"/>
                </a:solidFill>
                <a:latin typeface="Arial" pitchFamily="34" charset="0"/>
                <a:ea typeface="Arial" pitchFamily="34" charset="-122"/>
                <a:cs typeface="Arial" pitchFamily="34" charset="-120"/>
              </a:rPr>
              <a:t>LOINC, HL7 FHIR</a:t>
            </a:r>
            <a:r>
              <a:rPr lang="en-US" sz="1400" dirty="0">
                <a:solidFill>
                  <a:srgbClr val="FFFFFF"/>
                </a:solidFill>
                <a:latin typeface="Arial" pitchFamily="34" charset="0"/>
                <a:ea typeface="Arial" pitchFamily="34" charset="-122"/>
                <a:cs typeface="Arial" pitchFamily="34" charset="-120"/>
              </a:rPr>
              <a:t>) là điều kiện tiên quyết cho logic lâm sàng dựa trên luật, không chỉ là chuyện tái sử dụng dữ liệu.</a:t>
            </a:r>
            <a:endParaRPr lang="en-US" sz="1400" dirty="0"/>
          </a:p>
        </p:txBody>
      </p:sp>
      <p:sp>
        <p:nvSpPr>
          <p:cNvPr id="14" name="Text 12"/>
          <p:cNvSpPr/>
          <p:nvPr/>
        </p:nvSpPr>
        <p:spPr>
          <a:xfrm>
            <a:off x="1041400" y="4676874"/>
            <a:ext cx="1041247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7DA"/>
                </a:solidFill>
                <a:latin typeface="Arial" pitchFamily="34" charset="0"/>
                <a:ea typeface="Arial" pitchFamily="34" charset="-122"/>
                <a:cs typeface="Arial" pitchFamily="34" charset="-120"/>
              </a:rPr>
              <a:t>LOINC: bộ mã chuẩn cho xét nghiệm · HL7 FHIR: chuẩn trao đổi dữ liệu y tế</a:t>
            </a:r>
            <a:endParaRPr lang="en-US" sz="1400" dirty="0"/>
          </a:p>
        </p:txBody>
      </p:sp>
      <p:sp>
        <p:nvSpPr>
          <p:cNvPr id="15" name="Text 13"/>
          <p:cNvSpPr/>
          <p:nvPr/>
        </p:nvSpPr>
        <p:spPr>
          <a:xfrm>
            <a:off x="812800" y="6202759"/>
            <a:ext cx="784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HEALTHINFO IV · Trương Quang Đại, HUTECH · Bài HI26-0013</a:t>
            </a:r>
            <a:endParaRPr lang="en-US" sz="1400" dirty="0"/>
          </a:p>
        </p:txBody>
      </p:sp>
      <p:sp>
        <p:nvSpPr>
          <p:cNvPr id="16" name="Text 14"/>
          <p:cNvSpPr/>
          <p:nvPr/>
        </p:nvSpPr>
        <p:spPr>
          <a:xfrm>
            <a:off x="10058400" y="6202759"/>
            <a:ext cx="132080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B6B80"/>
                </a:solidFill>
                <a:latin typeface="Arial" pitchFamily="34" charset="0"/>
                <a:ea typeface="Arial" pitchFamily="34" charset="-122"/>
                <a:cs typeface="Arial" pitchFamily="34" charset="-120"/>
              </a:rPr>
              <a:t>16 / 19</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3F6FA"/>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0B7A6E"/>
          </a:solidFill>
          <a:ln/>
        </p:spPr>
        <p:txBody>
          <a:bodyPr/>
          <a:p/>
        </p:txBody>
      </p:sp>
      <p:sp>
        <p:nvSpPr>
          <p:cNvPr id="3" name="Text 1"/>
          <p:cNvSpPr/>
          <p:nvPr>
            <p:ph type="title"/>
          </p:nvPr>
        </p:nvSpPr>
        <p:spPr>
          <a:xfrm>
            <a:off x="812800" y="71120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B7A6E"/>
                </a:solidFill>
                <a:latin typeface="Arial" pitchFamily="34" charset="0"/>
                <a:ea typeface="Arial" pitchFamily="34" charset="-122"/>
                <a:cs typeface="Arial" pitchFamily="34" charset="-120"/>
              </a:rPr>
              <a:t>16</a:t>
            </a:r>
            <a:r>
              <a:rPr lang="en-US" sz="2600" b="1" i="0" dirty="0">
                <a:solidFill>
                  <a:srgbClr val="0B2545"/>
                </a:solidFill>
                <a:latin typeface="Arial" pitchFamily="34" charset="0"/>
                <a:ea typeface="Arial" pitchFamily="34" charset="-122"/>
                <a:cs typeface="Arial" pitchFamily="34" charset="-120"/>
              </a:rPr>
              <a:t> Hạn chế</a:t>
            </a:r>
            <a:endParaRPr lang="en-US" sz="2600" dirty="0"/>
          </a:p>
        </p:txBody>
      </p:sp>
      <p:sp>
        <p:nvSpPr>
          <p:cNvPr id="4" name="Shape 2"/>
          <p:cNvSpPr/>
          <p:nvPr/>
        </p:nvSpPr>
        <p:spPr>
          <a:xfrm>
            <a:off x="815975" y="1271885"/>
            <a:ext cx="5200650" cy="1728093"/>
          </a:xfrm>
          <a:prstGeom prst="roundRect">
            <a:avLst>
              <a:gd name="adj" fmla="val 5696"/>
            </a:avLst>
          </a:prstGeom>
          <a:solidFill>
            <a:srgbClr val="FFFFFF"/>
          </a:solidFill>
          <a:ln w="6350">
            <a:solidFill>
              <a:srgbClr val="D9E2EC"/>
            </a:solidFill>
            <a:prstDash val="solid"/>
          </a:ln>
        </p:spPr>
        <p:txBody>
          <a:bodyPr/>
          <a:p/>
        </p:txBody>
      </p:sp>
      <p:sp>
        <p:nvSpPr>
          <p:cNvPr id="5" name="Text 3"/>
          <p:cNvSpPr/>
          <p:nvPr/>
        </p:nvSpPr>
        <p:spPr>
          <a:xfrm>
            <a:off x="1022350" y="1440160"/>
            <a:ext cx="493153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Arial" pitchFamily="34" charset="0"/>
                <a:ea typeface="Arial" pitchFamily="34" charset="-122"/>
                <a:cs typeface="Arial" pitchFamily="34" charset="-120"/>
              </a:rPr>
              <a:t>① Chưa kiểm chứng lâm sàng</a:t>
            </a:r>
            <a:endParaRPr lang="en-US" sz="1600" dirty="0"/>
          </a:p>
        </p:txBody>
      </p:sp>
      <p:sp>
        <p:nvSpPr>
          <p:cNvPr id="6" name="Text 4"/>
          <p:cNvSpPr/>
          <p:nvPr/>
        </p:nvSpPr>
        <p:spPr>
          <a:xfrm>
            <a:off x="1022350" y="1760141"/>
            <a:ext cx="493153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5E"/>
                </a:solidFill>
                <a:latin typeface="Arial" pitchFamily="34" charset="0"/>
                <a:ea typeface="Arial" pitchFamily="34" charset="-122"/>
                <a:cs typeface="Arial" pitchFamily="34" charset="-120"/>
              </a:rPr>
              <a:t>Toàn bộ đánh giá là tự động. Chưa có nhân viên y tế nào đọc lại các câu giải thích.</a:t>
            </a:r>
            <a:endParaRPr lang="en-US" sz="1400" dirty="0"/>
          </a:p>
        </p:txBody>
      </p:sp>
      <p:sp>
        <p:nvSpPr>
          <p:cNvPr id="7" name="Text 5"/>
          <p:cNvSpPr/>
          <p:nvPr/>
        </p:nvSpPr>
        <p:spPr>
          <a:xfrm>
            <a:off x="1022350" y="2334022"/>
            <a:ext cx="493153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7A6E"/>
                </a:solidFill>
                <a:latin typeface="Arial" pitchFamily="34" charset="0"/>
                <a:ea typeface="Arial" pitchFamily="34" charset="-122"/>
                <a:cs typeface="Arial" pitchFamily="34" charset="-120"/>
              </a:rPr>
              <a:t>→ Tiếp theo: nhờ người trong ngành y đánh giá</a:t>
            </a:r>
            <a:endParaRPr lang="en-US" sz="1400" dirty="0"/>
          </a:p>
        </p:txBody>
      </p:sp>
      <p:sp>
        <p:nvSpPr>
          <p:cNvPr id="8" name="Shape 6"/>
          <p:cNvSpPr/>
          <p:nvPr/>
        </p:nvSpPr>
        <p:spPr>
          <a:xfrm>
            <a:off x="6175375" y="1271885"/>
            <a:ext cx="5200650" cy="1728093"/>
          </a:xfrm>
          <a:prstGeom prst="roundRect">
            <a:avLst>
              <a:gd name="adj" fmla="val 5696"/>
            </a:avLst>
          </a:prstGeom>
          <a:solidFill>
            <a:srgbClr val="FFFFFF"/>
          </a:solidFill>
          <a:ln w="6350">
            <a:solidFill>
              <a:srgbClr val="D9E2EC"/>
            </a:solidFill>
            <a:prstDash val="solid"/>
          </a:ln>
        </p:spPr>
        <p:txBody>
          <a:bodyPr/>
          <a:p/>
        </p:txBody>
      </p:sp>
      <p:sp>
        <p:nvSpPr>
          <p:cNvPr id="9" name="Text 7"/>
          <p:cNvSpPr/>
          <p:nvPr/>
        </p:nvSpPr>
        <p:spPr>
          <a:xfrm>
            <a:off x="6381750" y="1440160"/>
            <a:ext cx="493153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Arial" pitchFamily="34" charset="0"/>
                <a:ea typeface="Arial" pitchFamily="34" charset="-122"/>
                <a:cs typeface="Arial" pitchFamily="34" charset="-120"/>
              </a:rPr>
              <a:t>② Ngưỡng chưa có căn cứ</a:t>
            </a:r>
            <a:endParaRPr lang="en-US" sz="1600" dirty="0"/>
          </a:p>
        </p:txBody>
      </p:sp>
      <p:sp>
        <p:nvSpPr>
          <p:cNvPr id="10" name="Text 8"/>
          <p:cNvSpPr/>
          <p:nvPr/>
        </p:nvSpPr>
        <p:spPr>
          <a:xfrm>
            <a:off x="6381750" y="1760141"/>
            <a:ext cx="493153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5E"/>
                </a:solidFill>
                <a:latin typeface="Arial" pitchFamily="34" charset="0"/>
                <a:ea typeface="Arial" pitchFamily="34" charset="-122"/>
                <a:cs typeface="Arial" pitchFamily="34" charset="-120"/>
              </a:rPr>
              <a:t>Hệ số phân biệt “theo dõi” với “nên đi khám” được đặt theo kinh nghiệm, chưa dựa trên danh mục giá trị nguy hiểm.</a:t>
            </a:r>
            <a:endParaRPr lang="en-US" sz="1400" dirty="0"/>
          </a:p>
        </p:txBody>
      </p:sp>
      <p:sp>
        <p:nvSpPr>
          <p:cNvPr id="11" name="Text 9"/>
          <p:cNvSpPr/>
          <p:nvPr/>
        </p:nvSpPr>
        <p:spPr>
          <a:xfrm>
            <a:off x="6381750" y="2334022"/>
            <a:ext cx="4931537"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7A6E"/>
                </a:solidFill>
                <a:latin typeface="Arial" pitchFamily="34" charset="0"/>
                <a:ea typeface="Arial" pitchFamily="34" charset="-122"/>
                <a:cs typeface="Arial" pitchFamily="34" charset="-120"/>
              </a:rPr>
              <a:t>→ Tiếp theo: dùng danh mục giá trị nguy hiểm của phòng xét nghiệm</a:t>
            </a:r>
            <a:endParaRPr lang="en-US" sz="1400" dirty="0"/>
          </a:p>
        </p:txBody>
      </p:sp>
      <p:sp>
        <p:nvSpPr>
          <p:cNvPr id="12" name="Shape 10"/>
          <p:cNvSpPr/>
          <p:nvPr/>
        </p:nvSpPr>
        <p:spPr>
          <a:xfrm>
            <a:off x="815975" y="3158728"/>
            <a:ext cx="5200650" cy="1479252"/>
          </a:xfrm>
          <a:prstGeom prst="roundRect">
            <a:avLst>
              <a:gd name="adj" fmla="val 6654"/>
            </a:avLst>
          </a:prstGeom>
          <a:solidFill>
            <a:srgbClr val="FFFFFF"/>
          </a:solidFill>
          <a:ln w="6350">
            <a:solidFill>
              <a:srgbClr val="D9E2EC"/>
            </a:solidFill>
            <a:prstDash val="solid"/>
          </a:ln>
        </p:spPr>
        <p:txBody>
          <a:bodyPr/>
          <a:p/>
        </p:txBody>
      </p:sp>
      <p:sp>
        <p:nvSpPr>
          <p:cNvPr id="13" name="Text 11"/>
          <p:cNvSpPr/>
          <p:nvPr/>
        </p:nvSpPr>
        <p:spPr>
          <a:xfrm>
            <a:off x="1022350" y="3327003"/>
            <a:ext cx="493153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Arial" pitchFamily="34" charset="0"/>
                <a:ea typeface="Arial" pitchFamily="34" charset="-122"/>
                <a:cs typeface="Arial" pitchFamily="34" charset="-120"/>
              </a:rPr>
              <a:t>③ Dữ liệu tự tạo</a:t>
            </a:r>
            <a:endParaRPr lang="en-US" sz="1600" dirty="0"/>
          </a:p>
        </p:txBody>
      </p:sp>
      <p:sp>
        <p:nvSpPr>
          <p:cNvPr id="14" name="Text 12"/>
          <p:cNvSpPr/>
          <p:nvPr/>
        </p:nvSpPr>
        <p:spPr>
          <a:xfrm>
            <a:off x="1022350" y="3646984"/>
            <a:ext cx="493153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5E"/>
                </a:solidFill>
                <a:latin typeface="Arial" pitchFamily="34" charset="0"/>
                <a:ea typeface="Arial" pitchFamily="34" charset="-122"/>
                <a:cs typeface="Arial" pitchFamily="34" charset="-120"/>
              </a:rPr>
              <a:t>Phiếu thật có nhiễu, ô trống và cách trình bày khác nhau mà nghiên cứu này chưa phản ánh.</a:t>
            </a:r>
            <a:endParaRPr lang="en-US" sz="1400" dirty="0"/>
          </a:p>
        </p:txBody>
      </p:sp>
      <p:sp>
        <p:nvSpPr>
          <p:cNvPr id="15" name="Text 13"/>
          <p:cNvSpPr/>
          <p:nvPr/>
        </p:nvSpPr>
        <p:spPr>
          <a:xfrm>
            <a:off x="1022350" y="4220865"/>
            <a:ext cx="493153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7A6E"/>
                </a:solidFill>
                <a:latin typeface="Arial" pitchFamily="34" charset="0"/>
                <a:ea typeface="Arial" pitchFamily="34" charset="-122"/>
                <a:cs typeface="Arial" pitchFamily="34" charset="-120"/>
              </a:rPr>
              <a:t>→ Tiếp theo: phiếu thật từ nhiều phòng xét nghiệm</a:t>
            </a:r>
            <a:endParaRPr lang="en-US" sz="1400" dirty="0"/>
          </a:p>
        </p:txBody>
      </p:sp>
      <p:sp>
        <p:nvSpPr>
          <p:cNvPr id="16" name="Shape 14"/>
          <p:cNvSpPr/>
          <p:nvPr/>
        </p:nvSpPr>
        <p:spPr>
          <a:xfrm>
            <a:off x="6175375" y="3158728"/>
            <a:ext cx="5200650" cy="1479252"/>
          </a:xfrm>
          <a:prstGeom prst="roundRect">
            <a:avLst>
              <a:gd name="adj" fmla="val 6654"/>
            </a:avLst>
          </a:prstGeom>
          <a:solidFill>
            <a:srgbClr val="FFFFFF"/>
          </a:solidFill>
          <a:ln w="6350">
            <a:solidFill>
              <a:srgbClr val="D9E2EC"/>
            </a:solidFill>
            <a:prstDash val="solid"/>
          </a:ln>
        </p:spPr>
        <p:txBody>
          <a:bodyPr/>
          <a:p/>
        </p:txBody>
      </p:sp>
      <p:sp>
        <p:nvSpPr>
          <p:cNvPr id="17" name="Text 15"/>
          <p:cNvSpPr/>
          <p:nvPr/>
        </p:nvSpPr>
        <p:spPr>
          <a:xfrm>
            <a:off x="6381750" y="3327003"/>
            <a:ext cx="493153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Arial" pitchFamily="34" charset="0"/>
                <a:ea typeface="Arial" pitchFamily="34" charset="-122"/>
                <a:cs typeface="Arial" pitchFamily="34" charset="-120"/>
              </a:rPr>
              <a:t>④ Phạm vi hẹp</a:t>
            </a:r>
            <a:endParaRPr lang="en-US" sz="1600" dirty="0"/>
          </a:p>
        </p:txBody>
      </p:sp>
      <p:sp>
        <p:nvSpPr>
          <p:cNvPr id="18" name="Text 16"/>
          <p:cNvSpPr/>
          <p:nvPr/>
        </p:nvSpPr>
        <p:spPr>
          <a:xfrm>
            <a:off x="6381750" y="3646984"/>
            <a:ext cx="493153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5E"/>
                </a:solidFill>
                <a:latin typeface="Arial" pitchFamily="34" charset="0"/>
                <a:ea typeface="Arial" pitchFamily="34" charset="-122"/>
                <a:cs typeface="Arial" pitchFamily="34" charset="-120"/>
              </a:rPr>
              <a:t>Chỉ công thức máu. Chưa có sinh hóa, khoảng tham chiếu một phía, kết quả định tính, hay đọc ảnh chụp phiếu (OCR).</a:t>
            </a:r>
            <a:endParaRPr lang="en-US" sz="1400" dirty="0"/>
          </a:p>
        </p:txBody>
      </p:sp>
      <p:sp>
        <p:nvSpPr>
          <p:cNvPr id="19" name="Text 17"/>
          <p:cNvSpPr/>
          <p:nvPr/>
        </p:nvSpPr>
        <p:spPr>
          <a:xfrm>
            <a:off x="6381750" y="4220865"/>
            <a:ext cx="493153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7A6E"/>
                </a:solidFill>
                <a:latin typeface="Arial" pitchFamily="34" charset="0"/>
                <a:ea typeface="Arial" pitchFamily="34" charset="-122"/>
                <a:cs typeface="Arial" pitchFamily="34" charset="-120"/>
              </a:rPr>
              <a:t>→ Tiếp theo: sinh hóa và kết quả định tính</a:t>
            </a:r>
            <a:endParaRPr lang="en-US" sz="1400" dirty="0"/>
          </a:p>
        </p:txBody>
      </p:sp>
      <p:sp>
        <p:nvSpPr>
          <p:cNvPr id="20" name="Text 18"/>
          <p:cNvSpPr/>
          <p:nvPr/>
        </p:nvSpPr>
        <p:spPr>
          <a:xfrm>
            <a:off x="812800" y="6202759"/>
            <a:ext cx="784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HEALTHINFO IV · Trương Quang Đại, HUTECH · Bài HI26-0013</a:t>
            </a:r>
            <a:endParaRPr lang="en-US" sz="1400" dirty="0"/>
          </a:p>
        </p:txBody>
      </p:sp>
      <p:sp>
        <p:nvSpPr>
          <p:cNvPr id="21" name="Text 19"/>
          <p:cNvSpPr/>
          <p:nvPr/>
        </p:nvSpPr>
        <p:spPr>
          <a:xfrm>
            <a:off x="10058400" y="6202759"/>
            <a:ext cx="132080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B6B80"/>
                </a:solidFill>
                <a:latin typeface="Arial" pitchFamily="34" charset="0"/>
                <a:ea typeface="Arial" pitchFamily="34" charset="-122"/>
                <a:cs typeface="Arial" pitchFamily="34" charset="-120"/>
              </a:rPr>
              <a:t>17 / 19</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3F6FA"/>
        </a:solidFill>
      </p:bgPr>
    </p:bg>
    <p:spTree>
      <p:nvGrpSpPr>
        <p:cNvPr id="1" name=""/>
        <p:cNvGrpSpPr/>
        <p:nvPr/>
      </p:nvGrpSpPr>
      <p:grpSpPr>
        <a:xfrm>
          <a:off x="0" y="0"/>
          <a:ext cx="0" cy="0"/>
          <a:chOff x="0" y="0"/>
          <a:chExt cx="0" cy="0"/>
        </a:xfrm>
      </p:grpSpPr>
      <p:sp>
        <p:nvSpPr>
          <p:cNvPr id="2" name="Shape 0"/>
          <p:cNvSpPr/>
          <p:nvPr/>
        </p:nvSpPr>
        <p:spPr>
          <a:xfrm>
            <a:off x="0" y="0"/>
            <a:ext cx="12192000" cy="63500"/>
          </a:xfrm>
          <a:prstGeom prst="rect">
            <a:avLst/>
          </a:prstGeom>
          <a:solidFill>
            <a:srgbClr val="0B7A6E"/>
          </a:solidFill>
          <a:ln/>
        </p:spPr>
        <p:txBody>
          <a:bodyPr/>
          <a:p/>
        </p:txBody>
      </p:sp>
      <p:sp>
        <p:nvSpPr>
          <p:cNvPr id="3" name="Text 1"/>
          <p:cNvSpPr/>
          <p:nvPr>
            <p:ph type="title"/>
          </p:nvPr>
        </p:nvSpPr>
        <p:spPr>
          <a:xfrm>
            <a:off x="812800" y="71120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B7A6E"/>
                </a:solidFill>
                <a:latin typeface="Arial" pitchFamily="34" charset="0"/>
                <a:ea typeface="Arial" pitchFamily="34" charset="-122"/>
                <a:cs typeface="Arial" pitchFamily="34" charset="-120"/>
              </a:rPr>
              <a:t>17</a:t>
            </a:r>
            <a:r>
              <a:rPr lang="en-US" sz="2600" b="1" i="0" dirty="0">
                <a:solidFill>
                  <a:srgbClr val="0B2545"/>
                </a:solidFill>
                <a:latin typeface="Arial" pitchFamily="34" charset="0"/>
                <a:ea typeface="Arial" pitchFamily="34" charset="-122"/>
                <a:cs typeface="Arial" pitchFamily="34" charset="-120"/>
              </a:rPr>
              <a:t> Kết luận và hướng phát triển</a:t>
            </a:r>
            <a:endParaRPr lang="en-US" sz="2600" dirty="0"/>
          </a:p>
        </p:txBody>
      </p:sp>
      <p:sp>
        <p:nvSpPr>
          <p:cNvPr id="4" name="Text 2"/>
          <p:cNvSpPr/>
          <p:nvPr/>
        </p:nvSpPr>
        <p:spPr>
          <a:xfrm>
            <a:off x="812800" y="1256010"/>
            <a:ext cx="10566400" cy="802481"/>
          </a:xfrm>
          <a:prstGeom prst="roundRect">
            <a:avLst>
              <a:gd name="adj" fmla="val 12661"/>
            </a:avLst>
          </a:prstGeom>
          <a:solidFill>
            <a:srgbClr val="0B2545"/>
          </a:solidFill>
          <a:ln/>
        </p:spPr>
        <p:txBody>
          <a:bodyPr wrap="square" lIns="198842" tIns="122642" rIns="0" bIns="97242" rtlCol="0" anchor="t">
            <a:normAutofit/>
          </a:bodyPr>
          <a:lstStyle/>
          <a:p>
            <a:pPr algn="l" indent="0" marL="0">
              <a:lnSpc>
                <a:spcPts val="1960"/>
              </a:lnSpc>
              <a:buNone/>
            </a:pPr>
            <a:r>
              <a:rPr lang="en-US" sz="1400" dirty="0">
                <a:solidFill>
                  <a:srgbClr val="FFFFFF"/>
                </a:solidFill>
                <a:latin typeface="Arial" pitchFamily="34" charset="0"/>
                <a:ea typeface="Arial" pitchFamily="34" charset="-122"/>
                <a:cs typeface="Arial" pitchFamily="34" charset="-120"/>
              </a:rPr>
              <a:t>Mô hình ngôn ngữ </a:t>
            </a:r>
            <a:r>
              <a:rPr lang="en-US" sz="1400" b="1" dirty="0">
                <a:solidFill>
                  <a:srgbClr val="5EEAD4"/>
                </a:solidFill>
                <a:latin typeface="Arial" pitchFamily="34" charset="0"/>
                <a:ea typeface="Arial" pitchFamily="34" charset="-122"/>
                <a:cs typeface="Arial" pitchFamily="34" charset="-120"/>
              </a:rPr>
              <a:t>không được phép phán đoán</a:t>
            </a:r>
            <a:r>
              <a:rPr lang="en-US" sz="1400" dirty="0">
                <a:solidFill>
                  <a:srgbClr val="FFFFFF"/>
                </a:solidFill>
                <a:latin typeface="Arial" pitchFamily="34" charset="0"/>
                <a:ea typeface="Arial" pitchFamily="34" charset="-122"/>
                <a:cs typeface="Arial" pitchFamily="34" charset="-120"/>
              </a:rPr>
              <a:t> một giá trị có bất thường hay không. Luật quyết định trước, mô hình diễn đạt lại, bộ kiểm chứng đối chiếu hai bên.</a:t>
            </a:r>
            <a:endParaRPr lang="en-US" sz="1400" dirty="0"/>
          </a:p>
        </p:txBody>
      </p:sp>
      <p:sp>
        <p:nvSpPr>
          <p:cNvPr id="5" name="Shape 3"/>
          <p:cNvSpPr/>
          <p:nvPr/>
        </p:nvSpPr>
        <p:spPr>
          <a:xfrm>
            <a:off x="815975" y="2226766"/>
            <a:ext cx="3414117" cy="758130"/>
          </a:xfrm>
          <a:prstGeom prst="roundRect">
            <a:avLst>
              <a:gd name="adj" fmla="val 12983"/>
            </a:avLst>
          </a:prstGeom>
          <a:solidFill>
            <a:srgbClr val="FFFFFF"/>
          </a:solidFill>
          <a:ln w="6350">
            <a:solidFill>
              <a:srgbClr val="D9E2EC"/>
            </a:solidFill>
            <a:prstDash val="solid"/>
          </a:ln>
        </p:spPr>
        <p:txBody>
          <a:bodyPr/>
          <a:p/>
        </p:txBody>
      </p:sp>
      <p:sp>
        <p:nvSpPr>
          <p:cNvPr id="6" name="Text 4"/>
          <p:cNvSpPr/>
          <p:nvPr/>
        </p:nvSpPr>
        <p:spPr>
          <a:xfrm>
            <a:off x="996950" y="2356941"/>
            <a:ext cx="1632148" cy="523180"/>
          </a:xfrm>
          <a:prstGeom prst="rect">
            <a:avLst/>
          </a:prstGeom>
          <a:noFill/>
          <a:ln/>
        </p:spPr>
        <p:txBody>
          <a:bodyPr wrap="none" lIns="0" tIns="0" rIns="0" bIns="0" rtlCol="0" anchor="t">
            <a:normAutofit/>
          </a:bodyPr>
          <a:lstStyle/>
          <a:p>
            <a:pPr algn="l" indent="0" marL="0">
              <a:lnSpc>
                <a:spcPts val="3920"/>
              </a:lnSpc>
              <a:buNone/>
            </a:pPr>
            <a:r>
              <a:rPr lang="en-US" sz="2800" b="1" dirty="0">
                <a:solidFill>
                  <a:srgbClr val="0B7A6E"/>
                </a:solidFill>
                <a:latin typeface="Arial" pitchFamily="34" charset="0"/>
                <a:ea typeface="Arial" pitchFamily="34" charset="-122"/>
                <a:cs typeface="Arial" pitchFamily="34" charset="-120"/>
              </a:rPr>
              <a:t>32%→0%</a:t>
            </a:r>
            <a:endParaRPr lang="en-US" sz="2800" dirty="0"/>
          </a:p>
        </p:txBody>
      </p:sp>
      <p:sp>
        <p:nvSpPr>
          <p:cNvPr id="7" name="Text 5"/>
          <p:cNvSpPr/>
          <p:nvPr/>
        </p:nvSpPr>
        <p:spPr>
          <a:xfrm>
            <a:off x="2730698" y="2481362"/>
            <a:ext cx="99631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5E"/>
                </a:solidFill>
                <a:latin typeface="Arial" pitchFamily="34" charset="0"/>
                <a:ea typeface="Arial" pitchFamily="34" charset="-122"/>
                <a:cs typeface="Arial" pitchFamily="34" charset="-120"/>
              </a:rPr>
              <a:t>trấn an sai</a:t>
            </a:r>
            <a:endParaRPr lang="en-US" sz="1400" dirty="0"/>
          </a:p>
        </p:txBody>
      </p:sp>
      <p:sp>
        <p:nvSpPr>
          <p:cNvPr id="8" name="Shape 6"/>
          <p:cNvSpPr/>
          <p:nvPr/>
        </p:nvSpPr>
        <p:spPr>
          <a:xfrm>
            <a:off x="4388842" y="2226766"/>
            <a:ext cx="3414216" cy="758130"/>
          </a:xfrm>
          <a:prstGeom prst="roundRect">
            <a:avLst>
              <a:gd name="adj" fmla="val 12983"/>
            </a:avLst>
          </a:prstGeom>
          <a:solidFill>
            <a:srgbClr val="FFFFFF"/>
          </a:solidFill>
          <a:ln w="6350">
            <a:solidFill>
              <a:srgbClr val="D9E2EC"/>
            </a:solidFill>
            <a:prstDash val="solid"/>
          </a:ln>
        </p:spPr>
        <p:txBody>
          <a:bodyPr/>
          <a:p/>
        </p:txBody>
      </p:sp>
      <p:sp>
        <p:nvSpPr>
          <p:cNvPr id="9" name="Text 7"/>
          <p:cNvSpPr/>
          <p:nvPr/>
        </p:nvSpPr>
        <p:spPr>
          <a:xfrm>
            <a:off x="4569817" y="2356941"/>
            <a:ext cx="960338" cy="523180"/>
          </a:xfrm>
          <a:prstGeom prst="rect">
            <a:avLst/>
          </a:prstGeom>
          <a:noFill/>
          <a:ln/>
        </p:spPr>
        <p:txBody>
          <a:bodyPr wrap="none" lIns="0" tIns="0" rIns="0" bIns="0" rtlCol="0" anchor="t">
            <a:normAutofit/>
          </a:bodyPr>
          <a:lstStyle/>
          <a:p>
            <a:pPr algn="l" indent="0" marL="0">
              <a:lnSpc>
                <a:spcPts val="3920"/>
              </a:lnSpc>
              <a:buNone/>
            </a:pPr>
            <a:r>
              <a:rPr lang="en-US" sz="2800" b="1" dirty="0">
                <a:solidFill>
                  <a:srgbClr val="0B7A6E"/>
                </a:solidFill>
                <a:latin typeface="Arial" pitchFamily="34" charset="0"/>
                <a:ea typeface="Arial" pitchFamily="34" charset="-122"/>
                <a:cs typeface="Arial" pitchFamily="34" charset="-120"/>
              </a:rPr>
              <a:t>100%</a:t>
            </a:r>
            <a:endParaRPr lang="en-US" sz="2800" dirty="0"/>
          </a:p>
        </p:txBody>
      </p:sp>
      <p:sp>
        <p:nvSpPr>
          <p:cNvPr id="10" name="Text 8"/>
          <p:cNvSpPr/>
          <p:nvPr/>
        </p:nvSpPr>
        <p:spPr>
          <a:xfrm>
            <a:off x="5631755" y="2481362"/>
            <a:ext cx="137612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5E"/>
                </a:solidFill>
                <a:latin typeface="Arial" pitchFamily="34" charset="0"/>
                <a:ea typeface="Arial" pitchFamily="34" charset="-122"/>
                <a:cs typeface="Arial" pitchFamily="34" charset="-120"/>
              </a:rPr>
              <a:t>đầu ra an toàn</a:t>
            </a:r>
            <a:endParaRPr lang="en-US" sz="1400" dirty="0"/>
          </a:p>
        </p:txBody>
      </p:sp>
      <p:sp>
        <p:nvSpPr>
          <p:cNvPr id="11" name="Shape 9"/>
          <p:cNvSpPr/>
          <p:nvPr/>
        </p:nvSpPr>
        <p:spPr>
          <a:xfrm>
            <a:off x="7961809" y="2226766"/>
            <a:ext cx="3414216" cy="758130"/>
          </a:xfrm>
          <a:prstGeom prst="roundRect">
            <a:avLst>
              <a:gd name="adj" fmla="val 12983"/>
            </a:avLst>
          </a:prstGeom>
          <a:solidFill>
            <a:srgbClr val="FFFFFF"/>
          </a:solidFill>
          <a:ln w="6350">
            <a:solidFill>
              <a:srgbClr val="D9E2EC"/>
            </a:solidFill>
            <a:prstDash val="solid"/>
          </a:ln>
        </p:spPr>
        <p:txBody>
          <a:bodyPr/>
          <a:p/>
        </p:txBody>
      </p:sp>
      <p:sp>
        <p:nvSpPr>
          <p:cNvPr id="12" name="Text 10"/>
          <p:cNvSpPr/>
          <p:nvPr/>
        </p:nvSpPr>
        <p:spPr>
          <a:xfrm>
            <a:off x="8142784" y="2356941"/>
            <a:ext cx="248642" cy="523180"/>
          </a:xfrm>
          <a:prstGeom prst="rect">
            <a:avLst/>
          </a:prstGeom>
          <a:noFill/>
          <a:ln/>
        </p:spPr>
        <p:txBody>
          <a:bodyPr wrap="none" lIns="0" tIns="0" rIns="0" bIns="0" rtlCol="0" anchor="t">
            <a:normAutofit/>
          </a:bodyPr>
          <a:lstStyle/>
          <a:p>
            <a:pPr algn="l" indent="0" marL="0">
              <a:lnSpc>
                <a:spcPts val="3920"/>
              </a:lnSpc>
              <a:buNone/>
            </a:pPr>
            <a:r>
              <a:rPr lang="en-US" sz="2800" b="1" dirty="0">
                <a:solidFill>
                  <a:srgbClr val="0B7A6E"/>
                </a:solidFill>
                <a:latin typeface="Arial" pitchFamily="34" charset="0"/>
                <a:ea typeface="Arial" pitchFamily="34" charset="-122"/>
                <a:cs typeface="Arial" pitchFamily="34" charset="-120"/>
              </a:rPr>
              <a:t>0</a:t>
            </a:r>
            <a:endParaRPr lang="en-US" sz="2800" dirty="0"/>
          </a:p>
        </p:txBody>
      </p:sp>
      <p:sp>
        <p:nvSpPr>
          <p:cNvPr id="13" name="Text 11"/>
          <p:cNvSpPr/>
          <p:nvPr/>
        </p:nvSpPr>
        <p:spPr>
          <a:xfrm>
            <a:off x="8493026" y="2481362"/>
            <a:ext cx="139958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5E"/>
                </a:solidFill>
                <a:latin typeface="Arial" pitchFamily="34" charset="0"/>
                <a:ea typeface="Arial" pitchFamily="34" charset="-122"/>
                <a:cs typeface="Arial" pitchFamily="34" charset="-120"/>
              </a:rPr>
              <a:t>GPU cần dùng</a:t>
            </a:r>
            <a:endParaRPr lang="en-US" sz="1400" dirty="0"/>
          </a:p>
        </p:txBody>
      </p:sp>
      <p:sp>
        <p:nvSpPr>
          <p:cNvPr id="14" name="Text 12"/>
          <p:cNvSpPr/>
          <p:nvPr/>
        </p:nvSpPr>
        <p:spPr>
          <a:xfrm>
            <a:off x="812800" y="3153172"/>
            <a:ext cx="108833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2545"/>
                </a:solidFill>
                <a:latin typeface="Arial" pitchFamily="34" charset="0"/>
                <a:ea typeface="Arial" pitchFamily="34" charset="-122"/>
                <a:cs typeface="Arial" pitchFamily="34" charset="-120"/>
              </a:rPr>
              <a:t>Hướng phát triển, theo thứ tự quan trọng</a:t>
            </a:r>
            <a:endParaRPr lang="en-US" sz="1600" dirty="0"/>
          </a:p>
        </p:txBody>
      </p:sp>
      <p:sp>
        <p:nvSpPr>
          <p:cNvPr id="15" name="Text 13"/>
          <p:cNvSpPr/>
          <p:nvPr/>
        </p:nvSpPr>
        <p:spPr>
          <a:xfrm>
            <a:off x="812800" y="3562052"/>
            <a:ext cx="10883392"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C2570C"/>
                </a:solidFill>
                <a:latin typeface="Arial" pitchFamily="34" charset="0"/>
                <a:ea typeface="Arial" pitchFamily="34" charset="-122"/>
                <a:cs typeface="Arial" pitchFamily="34" charset="-120"/>
              </a:rPr>
              <a:t>1</a:t>
            </a:r>
            <a:r>
              <a:rPr lang="en-US" sz="1400" dirty="0">
                <a:solidFill>
                  <a:srgbClr val="13233A"/>
                </a:solidFill>
                <a:latin typeface="Arial" pitchFamily="34" charset="0"/>
                <a:ea typeface="Arial" pitchFamily="34" charset="-122"/>
                <a:cs typeface="Arial" pitchFamily="34" charset="-120"/>
              </a:rPr>
              <a:t> </a:t>
            </a:r>
            <a:r>
              <a:rPr lang="en-US" sz="1400" b="1" dirty="0">
                <a:solidFill>
                  <a:srgbClr val="13233A"/>
                </a:solidFill>
                <a:latin typeface="Arial" pitchFamily="34" charset="0"/>
                <a:ea typeface="Arial" pitchFamily="34" charset="-122"/>
                <a:cs typeface="Arial" pitchFamily="34" charset="-120"/>
              </a:rPr>
              <a:t>Kiểm chứng lâm sàng bởi nhân viên y tế</a:t>
            </a:r>
            <a:r>
              <a:rPr lang="en-US" sz="1400" dirty="0">
                <a:solidFill>
                  <a:srgbClr val="13233A"/>
                </a:solidFill>
                <a:latin typeface="Arial" pitchFamily="34" charset="0"/>
                <a:ea typeface="Arial" pitchFamily="34" charset="-122"/>
                <a:cs typeface="Arial" pitchFamily="34" charset="-120"/>
              </a:rPr>
              <a:t> </a:t>
            </a:r>
            <a:r>
              <a:rPr lang="en-US" sz="1400" b="1" dirty="0">
                <a:solidFill>
                  <a:srgbClr val="9A4A12"/>
                </a:solidFill>
                <a:latin typeface="Arial" pitchFamily="34" charset="0"/>
                <a:ea typeface="Arial" pitchFamily="34" charset="-122"/>
                <a:cs typeface="Arial" pitchFamily="34" charset="-120"/>
              </a:rPr>
              <a:t>(cấp thiết nhất)</a:t>
            </a:r>
            <a:endParaRPr lang="en-US" sz="1400" dirty="0"/>
          </a:p>
        </p:txBody>
      </p:sp>
      <p:sp>
        <p:nvSpPr>
          <p:cNvPr id="16" name="Text 14"/>
          <p:cNvSpPr/>
          <p:nvPr/>
        </p:nvSpPr>
        <p:spPr>
          <a:xfrm>
            <a:off x="812800" y="3856633"/>
            <a:ext cx="10883392"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E5FB4"/>
                </a:solidFill>
                <a:latin typeface="Arial" pitchFamily="34" charset="0"/>
                <a:ea typeface="Arial" pitchFamily="34" charset="-122"/>
                <a:cs typeface="Arial" pitchFamily="34" charset="-120"/>
              </a:rPr>
              <a:t>2</a:t>
            </a:r>
            <a:r>
              <a:rPr lang="en-US" sz="1400" dirty="0">
                <a:solidFill>
                  <a:srgbClr val="13233A"/>
                </a:solidFill>
                <a:latin typeface="Arial" pitchFamily="34" charset="0"/>
                <a:ea typeface="Arial" pitchFamily="34" charset="-122"/>
                <a:cs typeface="Arial" pitchFamily="34" charset="-120"/>
              </a:rPr>
              <a:t> Thay ngưỡng tự đặt bằng danh mục giá trị nguy hiểm</a:t>
            </a:r>
            <a:endParaRPr lang="en-US" sz="1400" dirty="0"/>
          </a:p>
        </p:txBody>
      </p:sp>
      <p:sp>
        <p:nvSpPr>
          <p:cNvPr id="17" name="Text 15"/>
          <p:cNvSpPr/>
          <p:nvPr/>
        </p:nvSpPr>
        <p:spPr>
          <a:xfrm>
            <a:off x="812800" y="4151213"/>
            <a:ext cx="10883392"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E5FB4"/>
                </a:solidFill>
                <a:latin typeface="Arial" pitchFamily="34" charset="0"/>
                <a:ea typeface="Arial" pitchFamily="34" charset="-122"/>
                <a:cs typeface="Arial" pitchFamily="34" charset="-120"/>
              </a:rPr>
              <a:t>3</a:t>
            </a:r>
            <a:r>
              <a:rPr lang="en-US" sz="1400" dirty="0">
                <a:solidFill>
                  <a:srgbClr val="13233A"/>
                </a:solidFill>
                <a:latin typeface="Arial" pitchFamily="34" charset="0"/>
                <a:ea typeface="Arial" pitchFamily="34" charset="-122"/>
                <a:cs typeface="Arial" pitchFamily="34" charset="-120"/>
              </a:rPr>
              <a:t> Mở rộng sang sinh hóa và kết quả định tính</a:t>
            </a:r>
            <a:endParaRPr lang="en-US" sz="1400" dirty="0"/>
          </a:p>
        </p:txBody>
      </p:sp>
      <p:sp>
        <p:nvSpPr>
          <p:cNvPr id="18" name="Text 16"/>
          <p:cNvSpPr/>
          <p:nvPr/>
        </p:nvSpPr>
        <p:spPr>
          <a:xfrm>
            <a:off x="812800" y="4445794"/>
            <a:ext cx="10883392"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E5FB4"/>
                </a:solidFill>
                <a:latin typeface="Arial" pitchFamily="34" charset="0"/>
                <a:ea typeface="Arial" pitchFamily="34" charset="-122"/>
                <a:cs typeface="Arial" pitchFamily="34" charset="-120"/>
              </a:rPr>
              <a:t>4</a:t>
            </a:r>
            <a:r>
              <a:rPr lang="en-US" sz="1400" dirty="0">
                <a:solidFill>
                  <a:srgbClr val="13233A"/>
                </a:solidFill>
                <a:latin typeface="Arial" pitchFamily="34" charset="0"/>
                <a:ea typeface="Arial" pitchFamily="34" charset="-122"/>
                <a:cs typeface="Arial" pitchFamily="34" charset="-120"/>
              </a:rPr>
              <a:t> Thêm phần đọc thành tiếng cho người cao tuổi và người đọc kém</a:t>
            </a:r>
            <a:endParaRPr lang="en-US" sz="1400" dirty="0"/>
          </a:p>
        </p:txBody>
      </p:sp>
      <p:sp>
        <p:nvSpPr>
          <p:cNvPr id="19" name="Text 17"/>
          <p:cNvSpPr/>
          <p:nvPr/>
        </p:nvSpPr>
        <p:spPr>
          <a:xfrm>
            <a:off x="812800" y="4740374"/>
            <a:ext cx="10883392"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E5FB4"/>
                </a:solidFill>
                <a:latin typeface="Arial" pitchFamily="34" charset="0"/>
                <a:ea typeface="Arial" pitchFamily="34" charset="-122"/>
                <a:cs typeface="Arial" pitchFamily="34" charset="-120"/>
              </a:rPr>
              <a:t>5</a:t>
            </a:r>
            <a:r>
              <a:rPr lang="en-US" sz="1400" dirty="0">
                <a:solidFill>
                  <a:srgbClr val="13233A"/>
                </a:solidFill>
                <a:latin typeface="Arial" pitchFamily="34" charset="0"/>
                <a:ea typeface="Arial" pitchFamily="34" charset="-122"/>
                <a:cs typeface="Arial" pitchFamily="34" charset="-120"/>
              </a:rPr>
              <a:t> Đánh giá trên phiếu thật từ nhiều phòng xét nghiệm</a:t>
            </a:r>
            <a:endParaRPr lang="en-US" sz="1400" dirty="0"/>
          </a:p>
        </p:txBody>
      </p:sp>
      <p:sp>
        <p:nvSpPr>
          <p:cNvPr id="20" name="Text 18"/>
          <p:cNvSpPr/>
          <p:nvPr/>
        </p:nvSpPr>
        <p:spPr>
          <a:xfrm>
            <a:off x="812800" y="6202759"/>
            <a:ext cx="784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B80"/>
                </a:solidFill>
                <a:latin typeface="Arial" pitchFamily="34" charset="0"/>
                <a:ea typeface="Arial" pitchFamily="34" charset="-122"/>
                <a:cs typeface="Arial" pitchFamily="34" charset="-120"/>
              </a:rPr>
              <a:t>HEALTHINFO IV · Trương Quang Đại, HUTECH · Bài HI26-0013</a:t>
            </a:r>
            <a:endParaRPr lang="en-US" sz="1400" dirty="0"/>
          </a:p>
        </p:txBody>
      </p:sp>
      <p:sp>
        <p:nvSpPr>
          <p:cNvPr id="21" name="Text 19"/>
          <p:cNvSpPr/>
          <p:nvPr/>
        </p:nvSpPr>
        <p:spPr>
          <a:xfrm>
            <a:off x="10058400" y="6202759"/>
            <a:ext cx="132080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B6B80"/>
                </a:solidFill>
                <a:latin typeface="Arial" pitchFamily="34" charset="0"/>
                <a:ea typeface="Arial" pitchFamily="34" charset="-122"/>
                <a:cs typeface="Arial" pitchFamily="34" charset="-120"/>
              </a:rPr>
              <a:t>18 / 19</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4660900" y="1383109"/>
            <a:ext cx="2870200" cy="1358900"/>
          </a:xfrm>
          <a:prstGeom prst="roundRect">
            <a:avLst>
              <a:gd name="adj" fmla="val 9346"/>
            </a:avLst>
          </a:prstGeom>
          <a:solidFill>
            <a:srgbClr val="FFFFFF"/>
          </a:solidFill>
          <a:ln/>
        </p:spPr>
        <p:txBody>
          <a:bodyPr/>
          <a:p/>
        </p:txBody>
      </p:sp>
      <p:pic>
        <p:nvPicPr>
          <p:cNvPr id="3" name="Image 0" descr="Logo HEALTHINFO IV">    </p:cNvPr>
          <p:cNvPicPr>
            <a:picLocks noChangeAspect="1"/>
          </p:cNvPicPr>
          <p:nvPr/>
        </p:nvPicPr>
        <p:blipFill>
          <a:blip r:embed="rId1"/>
          <a:srcRect l="0" r="0" t="-174" b="-174"/>
          <a:stretch/>
        </p:blipFill>
        <p:spPr>
          <a:xfrm>
            <a:off x="4889500" y="1510109"/>
            <a:ext cx="2413000" cy="1104900"/>
          </a:xfrm>
          <a:prstGeom prst="rect">
            <a:avLst/>
          </a:prstGeom>
        </p:spPr>
      </p:pic>
      <p:sp>
        <p:nvSpPr>
          <p:cNvPr id="4" name="Text 1"/>
          <p:cNvSpPr/>
          <p:nvPr>
            <p:ph type="title"/>
          </p:nvPr>
        </p:nvSpPr>
        <p:spPr>
          <a:xfrm>
            <a:off x="3611285" y="2919809"/>
            <a:ext cx="4969431" cy="901700"/>
          </a:xfrm>
          <a:prstGeom prst="rect">
            <a:avLst/>
          </a:prstGeom>
          <a:noFill/>
          <a:ln/>
        </p:spPr>
        <p:txBody>
          <a:bodyPr wrap="square" lIns="0" tIns="0" rIns="0" bIns="0" rtlCol="0" anchor="t">
            <a:normAutofit/>
          </a:bodyPr>
          <a:lstStyle/>
          <a:p>
            <a:pPr algn="ctr" indent="0" marL="0">
              <a:lnSpc>
                <a:spcPts val="6900"/>
              </a:lnSpc>
              <a:buNone/>
            </a:pPr>
            <a:r>
              <a:rPr lang="en-US" sz="6000" b="1" i="0" dirty="0">
                <a:solidFill>
                  <a:srgbClr val="FFFFFF"/>
                </a:solidFill>
                <a:latin typeface="Arial" pitchFamily="34" charset="0"/>
                <a:ea typeface="Arial" pitchFamily="34" charset="-122"/>
                <a:cs typeface="Arial" pitchFamily="34" charset="-120"/>
              </a:rPr>
              <a:t>Xin cảm ơn</a:t>
            </a:r>
            <a:endParaRPr lang="en-US" sz="6000" dirty="0"/>
          </a:p>
        </p:txBody>
      </p:sp>
      <p:sp>
        <p:nvSpPr>
          <p:cNvPr id="5" name="Text 2"/>
          <p:cNvSpPr/>
          <p:nvPr/>
        </p:nvSpPr>
        <p:spPr>
          <a:xfrm>
            <a:off x="4558080" y="3973909"/>
            <a:ext cx="3075742" cy="416520"/>
          </a:xfrm>
          <a:prstGeom prst="rect">
            <a:avLst/>
          </a:prstGeom>
          <a:noFill/>
          <a:ln/>
        </p:spPr>
        <p:txBody>
          <a:bodyPr wrap="square" lIns="0" tIns="0" rIns="0" bIns="0" rtlCol="0" anchor="t">
            <a:normAutofit/>
          </a:bodyPr>
          <a:lstStyle/>
          <a:p>
            <a:pPr algn="ctr" indent="0" marL="0">
              <a:lnSpc>
                <a:spcPts val="3080"/>
              </a:lnSpc>
              <a:buNone/>
            </a:pPr>
            <a:r>
              <a:rPr lang="en-US" sz="2200" dirty="0">
                <a:solidFill>
                  <a:srgbClr val="5EEAD4"/>
                </a:solidFill>
                <a:latin typeface="Arial" pitchFamily="34" charset="0"/>
                <a:ea typeface="Arial" pitchFamily="34" charset="-122"/>
                <a:cs typeface="Arial" pitchFamily="34" charset="-120"/>
              </a:rPr>
              <a:t>Hỏi đáp và thảo luận</a:t>
            </a:r>
            <a:endParaRPr lang="en-US" sz="2200" dirty="0"/>
          </a:p>
        </p:txBody>
      </p:sp>
      <p:sp>
        <p:nvSpPr>
          <p:cNvPr id="6" name="Shape 3"/>
          <p:cNvSpPr/>
          <p:nvPr/>
        </p:nvSpPr>
        <p:spPr>
          <a:xfrm>
            <a:off x="5588000" y="4542830"/>
            <a:ext cx="1016000" cy="25400"/>
          </a:xfrm>
          <a:prstGeom prst="rect">
            <a:avLst/>
          </a:prstGeom>
          <a:solidFill>
            <a:srgbClr val="2DD4BF"/>
          </a:solidFill>
          <a:ln/>
        </p:spPr>
        <p:txBody>
          <a:bodyPr/>
          <a:p/>
        </p:txBody>
      </p:sp>
      <p:sp>
        <p:nvSpPr>
          <p:cNvPr id="7" name="Text 4"/>
          <p:cNvSpPr/>
          <p:nvPr/>
        </p:nvSpPr>
        <p:spPr>
          <a:xfrm>
            <a:off x="3700820" y="4746030"/>
            <a:ext cx="4790361" cy="327620"/>
          </a:xfrm>
          <a:prstGeom prst="rect">
            <a:avLst/>
          </a:prstGeom>
          <a:noFill/>
          <a:ln/>
        </p:spPr>
        <p:txBody>
          <a:bodyPr wrap="square" lIns="0" tIns="0" rIns="0" bIns="0" rtlCol="0" anchor="t">
            <a:normAutofit/>
          </a:bodyPr>
          <a:lstStyle/>
          <a:p>
            <a:pPr algn="ctr" indent="0" marL="0">
              <a:lnSpc>
                <a:spcPts val="2380"/>
              </a:lnSpc>
              <a:buNone/>
            </a:pPr>
            <a:r>
              <a:rPr lang="en-US" sz="1700" b="1" dirty="0">
                <a:solidFill>
                  <a:srgbClr val="FFFFFF"/>
                </a:solidFill>
                <a:latin typeface="Arial" pitchFamily="34" charset="0"/>
                <a:ea typeface="Arial" pitchFamily="34" charset="-122"/>
                <a:cs typeface="Arial" pitchFamily="34" charset="-120"/>
              </a:rPr>
              <a:t>Trương Quang Đại¹ · Võ Hoàng Khang¹</a:t>
            </a:r>
            <a:endParaRPr lang="en-US" sz="1700" dirty="0"/>
          </a:p>
        </p:txBody>
      </p:sp>
      <p:sp>
        <p:nvSpPr>
          <p:cNvPr id="8" name="Text 5"/>
          <p:cNvSpPr/>
          <p:nvPr/>
        </p:nvSpPr>
        <p:spPr>
          <a:xfrm>
            <a:off x="2525564" y="5226050"/>
            <a:ext cx="7140773"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B8C7DA"/>
                </a:solidFill>
                <a:latin typeface="Arial" pitchFamily="34" charset="0"/>
                <a:ea typeface="Arial" pitchFamily="34" charset="-122"/>
                <a:cs typeface="Arial" pitchFamily="34" charset="-120"/>
              </a:rPr>
              <a:t>¹ Trường Đại học HUTECH, TP. Hồ Chí Minh · Mã bài HI26-0013 · Nhánh B</a:t>
            </a:r>
            <a:endParaRPr lang="en-US" sz="1400" dirty="0"/>
          </a:p>
        </p:txBody>
      </p:sp>
    </p:spTree>
  </p:cSld>
  <p:clrMapOvr>
    <a:masterClrMapping/>
  </p:clrMapOvr>
</p:sld>
</file>

<file path=ppt/theme/theme1.xml><?xml version="1.0" encoding="utf-8"?>
<a:theme xmlns:a="http://schemas.openxmlformats.org/drawingml/2006/main" name="HEALTHINFO IV — Bản tiếng Việt">
  <a:themeElements>
    <a:clrScheme name="HEALTHINFO IV — Bản tiếng Việt">
      <a:dk1>
        <a:srgbClr val="0B2545"/>
      </a:dk1>
      <a:lt1>
        <a:srgbClr val="F3F6FA"/>
      </a:lt1>
      <a:dk2>
        <a:srgbClr val="455972"/>
      </a:dk2>
      <a:lt2>
        <a:srgbClr val="DCE1E8"/>
      </a:lt2>
      <a:accent1>
        <a:srgbClr val="0B7A6E"/>
      </a:accent1>
      <a:accent2>
        <a:srgbClr val="C2570C"/>
      </a:accent2>
      <a:accent3>
        <a:srgbClr val="1E5FB4"/>
      </a:accent3>
      <a:accent4>
        <a:srgbClr val="9A4A12"/>
      </a:accent4>
      <a:accent5>
        <a:srgbClr val="3F7FD0"/>
      </a:accent5>
      <a:accent6>
        <a:srgbClr val="5EEAD4"/>
      </a:accent6>
      <a:hlink>
        <a:srgbClr val="0563C1"/>
      </a:hlink>
      <a:folHlink>
        <a:srgbClr val="954F72"/>
      </a:folHlink>
    </a:clrScheme>
    <a:fontScheme name="HEALTHINFO IV — Bản tiếng Việ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HEALTHINFO IV — Bản tiếng Việt</dc:title>
  <dc:subject/>
  <dc:creator/>
  <cp:lastModifiedBy/>
  <cp:revision>1</cp:revision>
  <dcterms:created xsi:type="dcterms:W3CDTF">2026-10-03T05:14:38Z</dcterms:created>
  <dcterms:modified xsi:type="dcterms:W3CDTF">2026-10-03T05:14:38Z</dcterms:modified>
</cp:coreProperties>
</file>